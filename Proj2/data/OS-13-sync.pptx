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74"/>
  </p:notesMasterIdLst>
  <p:handoutMasterIdLst>
    <p:handoutMasterId r:id="rId75"/>
  </p:handoutMasterIdLst>
  <p:sldIdLst>
    <p:sldId id="2769" r:id="rId3"/>
    <p:sldId id="1359" r:id="rId4"/>
    <p:sldId id="2379" r:id="rId5"/>
    <p:sldId id="2390" r:id="rId6"/>
    <p:sldId id="1371" r:id="rId7"/>
    <p:sldId id="2325" r:id="rId8"/>
    <p:sldId id="2381" r:id="rId9"/>
    <p:sldId id="2330" r:id="rId10"/>
    <p:sldId id="2324" r:id="rId11"/>
    <p:sldId id="2322" r:id="rId12"/>
    <p:sldId id="2323" r:id="rId13"/>
    <p:sldId id="1387" r:id="rId14"/>
    <p:sldId id="2329" r:id="rId15"/>
    <p:sldId id="1366" r:id="rId16"/>
    <p:sldId id="2331" r:id="rId17"/>
    <p:sldId id="1386" r:id="rId18"/>
    <p:sldId id="2391" r:id="rId19"/>
    <p:sldId id="2392" r:id="rId20"/>
    <p:sldId id="2372" r:id="rId21"/>
    <p:sldId id="2373" r:id="rId22"/>
    <p:sldId id="2374" r:id="rId23"/>
    <p:sldId id="2375" r:id="rId24"/>
    <p:sldId id="2376" r:id="rId25"/>
    <p:sldId id="2393" r:id="rId26"/>
    <p:sldId id="1370" r:id="rId27"/>
    <p:sldId id="1412" r:id="rId28"/>
    <p:sldId id="1413" r:id="rId29"/>
    <p:sldId id="2335" r:id="rId30"/>
    <p:sldId id="2394" r:id="rId31"/>
    <p:sldId id="2336" r:id="rId32"/>
    <p:sldId id="2396" r:id="rId33"/>
    <p:sldId id="2337" r:id="rId34"/>
    <p:sldId id="1417" r:id="rId35"/>
    <p:sldId id="2399" r:id="rId36"/>
    <p:sldId id="2400" r:id="rId37"/>
    <p:sldId id="2395" r:id="rId38"/>
    <p:sldId id="2341" r:id="rId39"/>
    <p:sldId id="2342" r:id="rId40"/>
    <p:sldId id="2387" r:id="rId41"/>
    <p:sldId id="1372" r:id="rId42"/>
    <p:sldId id="1419" r:id="rId43"/>
    <p:sldId id="2344" r:id="rId44"/>
    <p:sldId id="1379" r:id="rId45"/>
    <p:sldId id="2402" r:id="rId46"/>
    <p:sldId id="2401" r:id="rId47"/>
    <p:sldId id="2377" r:id="rId48"/>
    <p:sldId id="2403" r:id="rId49"/>
    <p:sldId id="1377" r:id="rId50"/>
    <p:sldId id="1380" r:id="rId51"/>
    <p:sldId id="2382" r:id="rId52"/>
    <p:sldId id="1432" r:id="rId53"/>
    <p:sldId id="2383" r:id="rId54"/>
    <p:sldId id="2384" r:id="rId55"/>
    <p:sldId id="2348" r:id="rId56"/>
    <p:sldId id="1433" r:id="rId57"/>
    <p:sldId id="2349" r:id="rId58"/>
    <p:sldId id="1434" r:id="rId59"/>
    <p:sldId id="2385" r:id="rId60"/>
    <p:sldId id="2350" r:id="rId61"/>
    <p:sldId id="2369" r:id="rId62"/>
    <p:sldId id="2386" r:id="rId63"/>
    <p:sldId id="2347" r:id="rId64"/>
    <p:sldId id="1435" r:id="rId65"/>
    <p:sldId id="1438" r:id="rId66"/>
    <p:sldId id="1439" r:id="rId67"/>
    <p:sldId id="1437" r:id="rId68"/>
    <p:sldId id="1440" r:id="rId69"/>
    <p:sldId id="1441" r:id="rId70"/>
    <p:sldId id="1442" r:id="rId71"/>
    <p:sldId id="1443" r:id="rId72"/>
    <p:sldId id="1444" r:id="rId7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 autoAdjust="0"/>
    <p:restoredTop sz="74347" autoAdjust="0"/>
  </p:normalViewPr>
  <p:slideViewPr>
    <p:cSldViewPr>
      <p:cViewPr varScale="1">
        <p:scale>
          <a:sx n="106" d="100"/>
          <a:sy n="106" d="100"/>
        </p:scale>
        <p:origin x="2000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这个地方把竞争条件的介绍和解决方案留在下面说</a:t>
            </a:r>
            <a:r>
              <a:rPr lang="zh-CN" altLang="en-US" dirty="0"/>
              <a:t>，只是引入问题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75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回顾之前的多线程计数问题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936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126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31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53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83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解决解决竞争冒险，提出了一套协议</a:t>
            </a:r>
            <a:endParaRPr lang="en-US" altLang="zh-CN"/>
          </a:p>
          <a:p>
            <a:r>
              <a:rPr lang="zh-CN" altLang="en-US"/>
              <a:t>，提出了临界区的抽象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58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268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268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218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885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97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317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522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8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r>
              <a:rPr kumimoji="1" lang="zh-CN" altLang="en-US" dirty="0">
                <a:latin typeface="Courier" pitchFamily="2" charset="0"/>
              </a:rPr>
              <a:t>为了介绍信号量，先介绍生产者消费者问题的另一种实现</a:t>
            </a: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77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r>
              <a:rPr kumimoji="1" lang="zh-CN" altLang="en-US" dirty="0">
                <a:latin typeface="Courier" pitchFamily="2" charset="0"/>
              </a:rPr>
              <a:t>为了介绍信号量，先介绍生产者消费者问题的另一种实现</a:t>
            </a: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880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1965年提出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40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886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21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4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612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全局可利用资源：该向量代表某一时刻系统中每一类元素的可用个数。这个向量初始化时设置为系统中拥有的第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类资源的总量。</a:t>
            </a:r>
          </a:p>
          <a:p>
            <a:r>
              <a:rPr lang="zh-CN" altLang="en-US" dirty="0"/>
              <a:t>每线程最大需求量：该矩阵包含所有线程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类资源的最大需求量。</a:t>
            </a:r>
          </a:p>
          <a:p>
            <a:r>
              <a:rPr lang="zh-CN" altLang="en-US" dirty="0"/>
              <a:t>已分配资源：该矩阵包含已经分配给所有线程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的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种资源的数量。</a:t>
            </a:r>
          </a:p>
          <a:p>
            <a:r>
              <a:rPr lang="zh-CN" altLang="en-US" dirty="0"/>
              <a:t>还需要的资源：该矩阵包含所有线程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累资源还需要的资源数量。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5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CN" sz="4800" dirty="0"/>
              <a:t>同步</a:t>
            </a:r>
            <a:r>
              <a:rPr kumimoji="1" lang="zh-CN" altLang="en-US" sz="4800" dirty="0"/>
              <a:t>原语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D00A-7B3C-6944-A41B-19B8D054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/>
              <a:t>大纲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C2272-CA2E-C042-A632-9AFA7FF4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914121-B42F-5A48-9C2F-59BACB22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lang="en-CN" dirty="0"/>
              <a:t>多线程问题</a:t>
            </a:r>
            <a:r>
              <a:rPr lang="zh-CN" altLang="en-US" dirty="0"/>
              <a:t>：</a:t>
            </a:r>
            <a:r>
              <a:rPr lang="en-CN" dirty="0"/>
              <a:t>竞争条件</a:t>
            </a:r>
          </a:p>
          <a:p>
            <a:r>
              <a:rPr lang="zh-CN" altLang="en-US" dirty="0"/>
              <a:t>四种</a:t>
            </a:r>
            <a:r>
              <a:rPr lang="en-CN"/>
              <a:t>同步原语</a:t>
            </a:r>
            <a:endParaRPr lang="en-CN" dirty="0"/>
          </a:p>
          <a:p>
            <a:pPr lvl="1"/>
            <a:r>
              <a:rPr lang="en-CN" dirty="0"/>
              <a:t>互斥锁</a:t>
            </a:r>
            <a:r>
              <a:rPr lang="zh-CN" altLang="en-US" dirty="0"/>
              <a:t>：保证</a:t>
            </a:r>
            <a:r>
              <a:rPr lang="zh-CN" altLang="en-US" dirty="0">
                <a:solidFill>
                  <a:schemeClr val="accent1"/>
                </a:solidFill>
              </a:rPr>
              <a:t>互斥访问</a:t>
            </a:r>
            <a:endParaRPr lang="en-CN" dirty="0">
              <a:solidFill>
                <a:schemeClr val="accent1"/>
              </a:solidFill>
            </a:endParaRPr>
          </a:p>
          <a:p>
            <a:pPr lvl="1"/>
            <a:r>
              <a:rPr lang="en-CN" dirty="0"/>
              <a:t>条件变量</a:t>
            </a:r>
            <a:r>
              <a:rPr lang="zh-CN" altLang="en-US" dirty="0"/>
              <a:t>：提供</a:t>
            </a:r>
            <a:r>
              <a:rPr lang="zh-CN" altLang="en-US" dirty="0">
                <a:solidFill>
                  <a:schemeClr val="accent1"/>
                </a:solidFill>
              </a:rPr>
              <a:t>睡眠</a:t>
            </a:r>
            <a:r>
              <a:rPr lang="en-US" altLang="zh-CN" dirty="0">
                <a:solidFill>
                  <a:schemeClr val="accent1"/>
                </a:solidFill>
              </a:rPr>
              <a:t>/</a:t>
            </a:r>
            <a:r>
              <a:rPr lang="zh-CN" altLang="en-US" dirty="0">
                <a:solidFill>
                  <a:schemeClr val="accent1"/>
                </a:solidFill>
              </a:rPr>
              <a:t>唤醒</a:t>
            </a:r>
            <a:endParaRPr lang="en-CN" dirty="0">
              <a:solidFill>
                <a:schemeClr val="accent1"/>
              </a:solidFill>
            </a:endParaRPr>
          </a:p>
          <a:p>
            <a:pPr lvl="1"/>
            <a:r>
              <a:rPr lang="en-CN" dirty="0"/>
              <a:t>信号量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accent1"/>
                </a:solidFill>
              </a:rPr>
              <a:t>资源</a:t>
            </a:r>
            <a:r>
              <a:rPr lang="zh-CN" altLang="en-US" dirty="0"/>
              <a:t>管理</a:t>
            </a:r>
            <a:endParaRPr lang="en-CN" dirty="0"/>
          </a:p>
          <a:p>
            <a:pPr lvl="1"/>
            <a:r>
              <a:rPr lang="en-CN" dirty="0"/>
              <a:t>读写锁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accent1"/>
                </a:solidFill>
              </a:rPr>
              <a:t>区分读者</a:t>
            </a:r>
            <a:r>
              <a:rPr lang="zh-CN" altLang="en-US" dirty="0"/>
              <a:t>以提高并行度</a:t>
            </a:r>
            <a:endParaRPr lang="en-US" altLang="zh-CN" dirty="0"/>
          </a:p>
          <a:p>
            <a:r>
              <a:rPr lang="en-CN" altLang="zh-CN"/>
              <a:t>同步原语带来的问题</a:t>
            </a:r>
            <a:endParaRPr lang="en-US" altLang="zh-CN" dirty="0"/>
          </a:p>
          <a:p>
            <a:pPr lvl="1"/>
            <a:r>
              <a:rPr lang="zh-CN" altLang="en-US" dirty="0"/>
              <a:t>死锁的</a:t>
            </a:r>
            <a:r>
              <a:rPr lang="zh-CN" altLang="en-US" dirty="0">
                <a:solidFill>
                  <a:schemeClr val="accent1"/>
                </a:solidFill>
              </a:rPr>
              <a:t>检测、预防与避免</a:t>
            </a:r>
            <a:endParaRPr lang="en-US" altLang="zh-C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38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多核</a:t>
            </a:r>
            <a:r>
              <a:rPr lang="zh-CN" altLang="en-US"/>
              <a:t>不是免费的午餐</a:t>
            </a:r>
            <a:endParaRPr lang="en-CN"/>
          </a:p>
        </p:txBody>
      </p:sp>
      <p:pic>
        <p:nvPicPr>
          <p:cNvPr id="5" name="Picture 4" descr="A group of people standing in the sand&#10;&#10;Description automatically generated">
            <a:extLst>
              <a:ext uri="{FF2B5EF4-FFF2-40B4-BE49-F238E27FC236}">
                <a16:creationId xmlns:a16="http://schemas.microsoft.com/office/drawing/2014/main" id="{C2F6BEA9-92AB-F54F-ACB4-6B90A7C14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35349"/>
            <a:ext cx="3226912" cy="3626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7A445-DFFA-B34F-B2E9-29B6BF867132}"/>
              </a:ext>
            </a:extLst>
          </p:cNvPr>
          <p:cNvSpPr txBox="1"/>
          <p:nvPr/>
        </p:nvSpPr>
        <p:spPr>
          <a:xfrm>
            <a:off x="890409" y="4807851"/>
            <a:ext cx="2669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网图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：多核的真相</a:t>
            </a:r>
            <a:endParaRPr lang="en-CN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6B8B2DD-31CD-254D-A051-F645D5EA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930884"/>
            <a:ext cx="4546848" cy="56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CN" sz="1800" b="0" dirty="0"/>
              <a:t>面临</a:t>
            </a:r>
            <a:r>
              <a:rPr lang="zh-CN" altLang="en-US" sz="1800" b="0" dirty="0"/>
              <a:t>的两个问题：</a:t>
            </a:r>
            <a:endParaRPr lang="en-US" altLang="zh-CN" sz="1800" b="0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37BE16F2-E53E-E544-B3F2-77465D31DDF3}"/>
              </a:ext>
            </a:extLst>
          </p:cNvPr>
          <p:cNvSpPr txBox="1">
            <a:spLocks/>
          </p:cNvSpPr>
          <p:nvPr/>
        </p:nvSpPr>
        <p:spPr>
          <a:xfrm>
            <a:off x="4572000" y="1063406"/>
            <a:ext cx="4546848" cy="1585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800" b="0" dirty="0"/>
              <a:t>假设现在需要建房子：</a:t>
            </a:r>
            <a:endParaRPr lang="en-US" altLang="zh-CN" sz="1800" b="0" dirty="0"/>
          </a:p>
          <a:p>
            <a:r>
              <a:rPr lang="zh-CN" altLang="en-US" sz="1800" b="0" dirty="0"/>
              <a:t>工作量 </a:t>
            </a:r>
            <a:r>
              <a:rPr lang="en-US" altLang="zh-CN" sz="1800" b="0" dirty="0"/>
              <a:t>=</a:t>
            </a:r>
            <a:r>
              <a:rPr lang="zh-CN" altLang="en-US" sz="1800" b="0" dirty="0"/>
              <a:t> </a:t>
            </a:r>
            <a:r>
              <a:rPr lang="en-US" altLang="zh-CN" sz="1800" b="0" dirty="0"/>
              <a:t>1000</a:t>
            </a:r>
            <a:r>
              <a:rPr lang="zh-CN" altLang="en-US" sz="1800" b="0" dirty="0"/>
              <a:t>人</a:t>
            </a:r>
            <a:r>
              <a:rPr lang="en-US" altLang="zh-CN" sz="1800" b="0" dirty="0"/>
              <a:t>/</a:t>
            </a:r>
            <a:r>
              <a:rPr lang="zh-CN" altLang="en-US" sz="1800" b="0" dirty="0"/>
              <a:t>年</a:t>
            </a:r>
            <a:endParaRPr lang="en-US" altLang="zh-CN" sz="1800" b="0" dirty="0"/>
          </a:p>
          <a:p>
            <a:r>
              <a:rPr lang="zh-CN" altLang="en-US" sz="1800" b="0" dirty="0"/>
              <a:t>工头找了</a:t>
            </a:r>
            <a:r>
              <a:rPr lang="en-US" altLang="zh-CN" sz="1800" b="0" dirty="0"/>
              <a:t>10</a:t>
            </a:r>
            <a:r>
              <a:rPr lang="zh-CN" altLang="en-US" sz="1800" b="0" dirty="0"/>
              <a:t>万人，需要多久？</a:t>
            </a:r>
            <a:endParaRPr lang="en-US" altLang="zh-CN" sz="1800" b="0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EB6D4107-0F42-E54A-9D35-84EB552D14DC}"/>
              </a:ext>
            </a:extLst>
          </p:cNvPr>
          <p:cNvSpPr txBox="1">
            <a:spLocks/>
          </p:cNvSpPr>
          <p:nvPr/>
        </p:nvSpPr>
        <p:spPr>
          <a:xfrm>
            <a:off x="4572000" y="3494825"/>
            <a:ext cx="3888432" cy="1792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1800" b="0" dirty="0"/>
              <a:t>工人人多手杂，不听指挥，导致施工事故（</a:t>
            </a:r>
            <a:r>
              <a:rPr lang="zh-CN" altLang="en-US" sz="1800" dirty="0"/>
              <a:t>正确性</a:t>
            </a:r>
            <a:r>
              <a:rPr lang="zh-CN" altLang="en-US" sz="1800" b="0" dirty="0"/>
              <a:t>问题）</a:t>
            </a:r>
            <a:endParaRPr lang="en-US" altLang="zh-CN" sz="1800" b="0" dirty="0"/>
          </a:p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1800" b="0" dirty="0"/>
              <a:t>工具有限，大部分工人无事可干（</a:t>
            </a:r>
            <a:r>
              <a:rPr lang="zh-CN" altLang="en-US" sz="1800" dirty="0"/>
              <a:t>性能可扩展性</a:t>
            </a:r>
            <a:r>
              <a:rPr lang="zh-CN" altLang="en-US" sz="1800" b="0" dirty="0"/>
              <a:t>问题）</a:t>
            </a:r>
            <a:endParaRPr lang="en-US" altLang="zh-CN" sz="1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73170-6440-7149-9B4E-AF5C50862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957B-F40F-544C-9BF2-050CA0D1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8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并发带来的同步问题：竞争条件</a:t>
            </a:r>
            <a:br>
              <a:rPr kumimoji="1" lang="en-US" altLang="zh-CN" dirty="0"/>
            </a:br>
            <a:r>
              <a:rPr kumimoji="1" lang="en-US" altLang="zh-CN" dirty="0"/>
              <a:t>                          (race condition)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9194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多线程计数实例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73170-6440-7149-9B4E-AF5C50862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957B-F40F-544C-9BF2-050CA0D1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CDE43F-737C-A848-B50F-74935E98DDBA}"/>
              </a:ext>
            </a:extLst>
          </p:cNvPr>
          <p:cNvSpPr/>
          <p:nvPr/>
        </p:nvSpPr>
        <p:spPr>
          <a:xfrm>
            <a:off x="576702" y="1622501"/>
            <a:ext cx="5664968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long a =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*routine(void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1000000000;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a++;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NULL;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0AE39D-3BE4-E54C-B4E5-C465AF4927C4}"/>
              </a:ext>
            </a:extLst>
          </p:cNvPr>
          <p:cNvSpPr/>
          <p:nvPr/>
        </p:nvSpPr>
        <p:spPr>
          <a:xfrm>
            <a:off x="475362" y="1117115"/>
            <a:ext cx="3775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>
                <a:highlight>
                  <a:srgbClr val="FFFF00"/>
                </a:highlight>
              </a:rPr>
              <a:t>3</a:t>
            </a:r>
            <a:r>
              <a:rPr lang="zh-CN" altLang="en-US" dirty="0">
                <a:highlight>
                  <a:srgbClr val="FFFF00"/>
                </a:highlight>
              </a:rPr>
              <a:t>个线程</a:t>
            </a:r>
            <a:r>
              <a:rPr lang="zh-CN" altLang="en-US" dirty="0"/>
              <a:t>，同时执行下面程序：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709AE0-6C88-EC49-876F-8E074B909B79}"/>
              </a:ext>
            </a:extLst>
          </p:cNvPr>
          <p:cNvSpPr/>
          <p:nvPr/>
        </p:nvSpPr>
        <p:spPr>
          <a:xfrm>
            <a:off x="571069" y="388584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输出结果是多少？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1C05D4-5D9E-4840-8C1D-05559BB08E7E}"/>
              </a:ext>
            </a:extLst>
          </p:cNvPr>
          <p:cNvSpPr/>
          <p:nvPr/>
        </p:nvSpPr>
        <p:spPr>
          <a:xfrm>
            <a:off x="2803318" y="3885847"/>
            <a:ext cx="5346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理论上的结果：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1000000000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000000000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6E0C8-24E4-4643-B2F6-FDFCD53C7135}"/>
              </a:ext>
            </a:extLst>
          </p:cNvPr>
          <p:cNvSpPr/>
          <p:nvPr/>
        </p:nvSpPr>
        <p:spPr>
          <a:xfrm>
            <a:off x="2803318" y="4472399"/>
            <a:ext cx="5811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实际在</a:t>
            </a:r>
            <a:r>
              <a:rPr lang="en-US" altLang="zh-CN" dirty="0"/>
              <a:t>Intel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代</a:t>
            </a:r>
            <a:r>
              <a:rPr lang="en-US" altLang="zh-CN" dirty="0"/>
              <a:t>6</a:t>
            </a:r>
            <a:r>
              <a:rPr lang="zh-CN" altLang="en-US" dirty="0"/>
              <a:t>核</a:t>
            </a:r>
            <a:r>
              <a:rPr lang="en-US" altLang="zh-CN" dirty="0"/>
              <a:t>i7</a:t>
            </a:r>
            <a:r>
              <a:rPr lang="zh-CN" altLang="en-US" dirty="0"/>
              <a:t>中：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1040186238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（结果不唯一）</a:t>
            </a:r>
            <a:endParaRPr lang="en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D8DDE6-CF29-2247-8AFB-0B8780B759BB}"/>
              </a:ext>
            </a:extLst>
          </p:cNvPr>
          <p:cNvSpPr txBox="1"/>
          <p:nvPr/>
        </p:nvSpPr>
        <p:spPr>
          <a:xfrm>
            <a:off x="6372200" y="2424576"/>
            <a:ext cx="2059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个线程同时执行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046175-D423-A649-858F-C80927BE9C42}"/>
              </a:ext>
            </a:extLst>
          </p:cNvPr>
          <p:cNvSpPr txBox="1"/>
          <p:nvPr/>
        </p:nvSpPr>
        <p:spPr>
          <a:xfrm>
            <a:off x="6103533" y="468311"/>
            <a:ext cx="2779298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多个</a:t>
            </a:r>
            <a:r>
              <a:rPr lang="zh-CN" altLang="en-US" b="1" dirty="0">
                <a:solidFill>
                  <a:schemeClr val="accent1"/>
                </a:solidFill>
              </a:rPr>
              <a:t>进程</a:t>
            </a:r>
            <a:r>
              <a:rPr lang="zh-CN" altLang="en-US" dirty="0"/>
              <a:t>操作</a:t>
            </a:r>
            <a:r>
              <a:rPr lang="zh-CN" altLang="en-US" dirty="0">
                <a:solidFill>
                  <a:schemeClr val="accent1"/>
                </a:solidFill>
              </a:rPr>
              <a:t>共享内存</a:t>
            </a:r>
            <a:r>
              <a:rPr lang="zh-CN" altLang="en-US" dirty="0"/>
              <a:t>中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的变量，同样存在该问题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73212F-9BB8-3946-9E16-652E302D5E83}"/>
              </a:ext>
            </a:extLst>
          </p:cNvPr>
          <p:cNvSpPr txBox="1"/>
          <p:nvPr/>
        </p:nvSpPr>
        <p:spPr>
          <a:xfrm>
            <a:off x="5390795" y="518854"/>
            <a:ext cx="837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注意：</a:t>
            </a:r>
          </a:p>
        </p:txBody>
      </p:sp>
    </p:spTree>
    <p:extLst>
      <p:ext uri="{BB962C8B-B14F-4D97-AF65-F5344CB8AC3E}">
        <p14:creationId xmlns:p14="http://schemas.microsoft.com/office/powerpoint/2010/main" val="10697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5DF-6733-1F42-98AF-68CD47BC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多线程计数中的数据竞争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4D0C3-1A89-3647-91BF-F48745CB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3A968C-F12B-9144-85C3-5F1BB94EC522}"/>
              </a:ext>
            </a:extLst>
          </p:cNvPr>
          <p:cNvSpPr/>
          <p:nvPr/>
        </p:nvSpPr>
        <p:spPr>
          <a:xfrm>
            <a:off x="1869597" y="156135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a++;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B1312-0C23-384C-A945-D18D61C91C6A}"/>
              </a:ext>
            </a:extLst>
          </p:cNvPr>
          <p:cNvSpPr/>
          <p:nvPr/>
        </p:nvSpPr>
        <p:spPr>
          <a:xfrm>
            <a:off x="1892040" y="1128110"/>
            <a:ext cx="772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线程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B2A27-D565-2744-8F94-02E40241DCA2}"/>
              </a:ext>
            </a:extLst>
          </p:cNvPr>
          <p:cNvSpPr/>
          <p:nvPr/>
        </p:nvSpPr>
        <p:spPr>
          <a:xfrm>
            <a:off x="5485661" y="156135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a++;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AF6A2-A4B8-9541-9B6D-A16E457BACF2}"/>
              </a:ext>
            </a:extLst>
          </p:cNvPr>
          <p:cNvSpPr/>
          <p:nvPr/>
        </p:nvSpPr>
        <p:spPr>
          <a:xfrm>
            <a:off x="5508104" y="1128110"/>
            <a:ext cx="772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线程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9117FC-FADB-BC48-BE29-A94715B76E64}"/>
              </a:ext>
            </a:extLst>
          </p:cNvPr>
          <p:cNvSpPr/>
          <p:nvPr/>
        </p:nvSpPr>
        <p:spPr>
          <a:xfrm>
            <a:off x="539552" y="248816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AD8E2-A8FC-5449-9F1F-8C17B11E5636}"/>
              </a:ext>
            </a:extLst>
          </p:cNvPr>
          <p:cNvSpPr/>
          <p:nvPr/>
        </p:nvSpPr>
        <p:spPr>
          <a:xfrm>
            <a:off x="534064" y="3028469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03E973-DA90-B94F-B5AB-9A69663D2FD6}"/>
              </a:ext>
            </a:extLst>
          </p:cNvPr>
          <p:cNvSpPr/>
          <p:nvPr/>
        </p:nvSpPr>
        <p:spPr>
          <a:xfrm>
            <a:off x="534064" y="365162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DDC7A-4D4C-B34E-850C-2BA1A28FF1CB}"/>
              </a:ext>
            </a:extLst>
          </p:cNvPr>
          <p:cNvSpPr/>
          <p:nvPr/>
        </p:nvSpPr>
        <p:spPr>
          <a:xfrm>
            <a:off x="1763688" y="2428208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a; (3)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B77768-BE1A-224A-86F9-E5EECB0A07B3}"/>
              </a:ext>
            </a:extLst>
          </p:cNvPr>
          <p:cNvSpPr/>
          <p:nvPr/>
        </p:nvSpPr>
        <p:spPr>
          <a:xfrm>
            <a:off x="2705091" y="1956887"/>
            <a:ext cx="3126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a的初始值为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，结果应当为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654AA8-2D8F-5942-A89E-57259D45D4EA}"/>
              </a:ext>
            </a:extLst>
          </p:cNvPr>
          <p:cNvSpPr/>
          <p:nvPr/>
        </p:nvSpPr>
        <p:spPr>
          <a:xfrm>
            <a:off x="1776284" y="3028469"/>
            <a:ext cx="27238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9F0278-F8A9-3044-9798-813E0F18FA98}"/>
              </a:ext>
            </a:extLst>
          </p:cNvPr>
          <p:cNvSpPr/>
          <p:nvPr/>
        </p:nvSpPr>
        <p:spPr>
          <a:xfrm>
            <a:off x="5169068" y="3028469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a; (3)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F7FB31-D1F2-AB47-8D83-6D04EF20E575}"/>
              </a:ext>
            </a:extLst>
          </p:cNvPr>
          <p:cNvSpPr/>
          <p:nvPr/>
        </p:nvSpPr>
        <p:spPr>
          <a:xfrm>
            <a:off x="1776284" y="3606242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(4)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C7DDF-AB9E-7140-A9F9-1A4E0C33A95A}"/>
              </a:ext>
            </a:extLst>
          </p:cNvPr>
          <p:cNvSpPr/>
          <p:nvPr/>
        </p:nvSpPr>
        <p:spPr>
          <a:xfrm>
            <a:off x="5189316" y="3576134"/>
            <a:ext cx="27238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9E0836-B0C8-034A-AEB4-22F40DD8B001}"/>
              </a:ext>
            </a:extLst>
          </p:cNvPr>
          <p:cNvSpPr/>
          <p:nvPr/>
        </p:nvSpPr>
        <p:spPr>
          <a:xfrm>
            <a:off x="5189316" y="4126250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reg_a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7F407-669D-984B-8A1B-23DD82E99B64}"/>
              </a:ext>
            </a:extLst>
          </p:cNvPr>
          <p:cNvSpPr/>
          <p:nvPr/>
        </p:nvSpPr>
        <p:spPr>
          <a:xfrm>
            <a:off x="2324919" y="4719295"/>
            <a:ext cx="4451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最后结果a为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线程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"+1"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操作丢失了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792C67-2F5A-B24C-88EC-A2931B2ADAA7}"/>
              </a:ext>
            </a:extLst>
          </p:cNvPr>
          <p:cNvCxnSpPr/>
          <p:nvPr/>
        </p:nvCxnSpPr>
        <p:spPr>
          <a:xfrm>
            <a:off x="683568" y="2929508"/>
            <a:ext cx="7134280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51033C-4B6A-BF4B-87A4-F55C02A0D822}"/>
              </a:ext>
            </a:extLst>
          </p:cNvPr>
          <p:cNvCxnSpPr/>
          <p:nvPr/>
        </p:nvCxnSpPr>
        <p:spPr>
          <a:xfrm>
            <a:off x="683568" y="3560894"/>
            <a:ext cx="7134280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3BBDB85-895F-AB43-ADC2-DD04E50F310E}"/>
              </a:ext>
            </a:extLst>
          </p:cNvPr>
          <p:cNvCxnSpPr/>
          <p:nvPr/>
        </p:nvCxnSpPr>
        <p:spPr>
          <a:xfrm>
            <a:off x="683568" y="4133870"/>
            <a:ext cx="7134280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44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竞争条件 </a:t>
            </a:r>
            <a:r>
              <a:rPr lang="en-US" altLang="zh-CN" dirty="0"/>
              <a:t>Race</a:t>
            </a:r>
            <a:r>
              <a:rPr lang="zh-CN" altLang="en-US" dirty="0"/>
              <a:t> </a:t>
            </a:r>
            <a:r>
              <a:rPr lang="en-US" altLang="zh-CN" dirty="0"/>
              <a:t>Condition</a:t>
            </a:r>
            <a:endParaRPr lang="en-C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F46C99-194F-DC4A-B488-DAAFE03C2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542" y="1516316"/>
            <a:ext cx="3210947" cy="2057590"/>
          </a:xfr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E470DCBA-6355-4843-B922-3011D46729BB}"/>
              </a:ext>
            </a:extLst>
          </p:cNvPr>
          <p:cNvSpPr txBox="1">
            <a:spLocks/>
          </p:cNvSpPr>
          <p:nvPr/>
        </p:nvSpPr>
        <p:spPr>
          <a:xfrm>
            <a:off x="395536" y="1050621"/>
            <a:ext cx="8640960" cy="510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/>
              <a:t>如何确保他们</a:t>
            </a:r>
            <a:r>
              <a:rPr lang="zh-CN" altLang="en-US" sz="2000"/>
              <a:t>不会</a:t>
            </a:r>
            <a:r>
              <a:rPr lang="zh-CN" altLang="en-US" sz="2000" b="0"/>
              <a:t>将新产生的数据放入到同一个缓冲区中，造成</a:t>
            </a:r>
            <a:r>
              <a:rPr lang="zh-CN" altLang="en-US" sz="2000"/>
              <a:t>数据覆盖</a:t>
            </a:r>
            <a:r>
              <a:rPr lang="zh-CN" altLang="en-US" sz="2000" b="0"/>
              <a:t>？</a:t>
            </a:r>
            <a:endParaRPr lang="en-US" altLang="zh-CN" sz="2000" b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C30D858-A30E-0A44-8DCA-2BA5B33CF33D}"/>
              </a:ext>
            </a:extLst>
          </p:cNvPr>
          <p:cNvSpPr txBox="1">
            <a:spLocks/>
          </p:cNvSpPr>
          <p:nvPr/>
        </p:nvSpPr>
        <p:spPr>
          <a:xfrm>
            <a:off x="179512" y="3740630"/>
            <a:ext cx="6526574" cy="629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此时产生了</a:t>
            </a:r>
            <a:r>
              <a:rPr lang="zh-CN" altLang="en-US" sz="2000" dirty="0"/>
              <a:t>竞争条件</a:t>
            </a:r>
            <a:r>
              <a:rPr lang="zh-CN" altLang="en-US" sz="2000" b="0" dirty="0"/>
              <a:t>（又称竞争冒险、竞态条件）：</a:t>
            </a:r>
            <a:endParaRPr lang="en-US" altLang="zh-CN" sz="2000" b="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F4AF531-AB3E-1B43-85E4-5B9E66AE57D0}"/>
              </a:ext>
            </a:extLst>
          </p:cNvPr>
          <p:cNvSpPr txBox="1">
            <a:spLocks/>
          </p:cNvSpPr>
          <p:nvPr/>
        </p:nvSpPr>
        <p:spPr>
          <a:xfrm>
            <a:off x="539552" y="4291774"/>
            <a:ext cx="8496944" cy="1144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 dirty="0"/>
              <a:t>当</a:t>
            </a:r>
            <a:r>
              <a:rPr lang="en-US" altLang="zh-CN" sz="2000" b="0" dirty="0"/>
              <a:t>2</a:t>
            </a:r>
            <a:r>
              <a:rPr lang="zh-CN" altLang="en-US" sz="2000" b="0" dirty="0"/>
              <a:t>个或以上线程同时对共享的数据进行操作，其中至少有一个写操作</a:t>
            </a:r>
            <a:endParaRPr lang="en-US" altLang="zh-CN" sz="2000" b="0" dirty="0"/>
          </a:p>
          <a:p>
            <a:r>
              <a:rPr lang="zh-CN" altLang="en-US" sz="2000" b="0" dirty="0"/>
              <a:t>该共享数据最后的结果</a:t>
            </a:r>
            <a:r>
              <a:rPr lang="zh-CN" altLang="en-US" sz="2000" dirty="0"/>
              <a:t>依赖于这些线程特定的执行顺序</a:t>
            </a:r>
            <a:endParaRPr lang="en-US" altLang="zh-C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3445-94A8-B64D-95A7-540A4596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13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生产者消费者 </a:t>
            </a:r>
            <a:r>
              <a:rPr kumimoji="1" lang="en-US" altLang="zh-CN" dirty="0"/>
              <a:t>→</a:t>
            </a:r>
            <a:r>
              <a:rPr kumimoji="1" lang="zh-CN" altLang="en-US" dirty="0"/>
              <a:t> </a:t>
            </a:r>
            <a:r>
              <a:rPr kumimoji="1" lang="zh-CN" altLang="en-US" u="sng" dirty="0"/>
              <a:t>多</a:t>
            </a:r>
            <a:r>
              <a:rPr kumimoji="1" lang="zh-CN" altLang="en-US" dirty="0"/>
              <a:t>生产者消费者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0063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59DC03A-F71F-6248-B13E-9C5F340D8044}"/>
              </a:ext>
            </a:extLst>
          </p:cNvPr>
          <p:cNvSpPr/>
          <p:nvPr/>
        </p:nvSpPr>
        <p:spPr>
          <a:xfrm>
            <a:off x="971600" y="2274106"/>
            <a:ext cx="74408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while (true) {</a:t>
            </a:r>
            <a:br>
              <a:rPr lang="en-CN">
                <a:latin typeface="Courier" pitchFamily="2" charset="0"/>
              </a:rPr>
            </a:br>
            <a:r>
              <a:rPr lang="en-CN">
                <a:latin typeface="Courier" pitchFamily="2" charset="0"/>
              </a:rPr>
              <a:t>	/* Produce an item */</a:t>
            </a:r>
          </a:p>
          <a:p>
            <a:r>
              <a:rPr lang="en-CN">
                <a:latin typeface="Courier" pitchFamily="2" charset="0"/>
              </a:rPr>
              <a:t>	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-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BUFFER_SIZE)</a:t>
            </a:r>
          </a:p>
          <a:p>
            <a:r>
              <a:rPr lang="en-CN">
                <a:latin typeface="Courier" pitchFamily="2" charset="0"/>
              </a:rPr>
              <a:t>		;   /* do nothing -- no free buffers */</a:t>
            </a:r>
          </a:p>
          <a:p>
            <a:r>
              <a:rPr lang="en-CN">
                <a:latin typeface="Courier" pitchFamily="2" charset="0"/>
              </a:rPr>
              <a:t>	buffer[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BUFFER_SIZE] = item;</a:t>
            </a:r>
          </a:p>
          <a:p>
            <a:r>
              <a:rPr lang="en-CN">
                <a:latin typeface="Courier" pitchFamily="2" charset="0"/>
              </a:rPr>
              <a:t>	prodCnt = prodCnt + 1;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生产者消费者问题的基础实现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60099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生产者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30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56624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消费者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6E036-1E8C-4E4E-8470-0CEA15A244E6}"/>
              </a:ext>
            </a:extLst>
          </p:cNvPr>
          <p:cNvSpPr/>
          <p:nvPr/>
        </p:nvSpPr>
        <p:spPr>
          <a:xfrm>
            <a:off x="971600" y="2274106"/>
            <a:ext cx="7440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while (true) {</a:t>
            </a:r>
            <a:br>
              <a:rPr lang="en-CN" dirty="0">
                <a:latin typeface="Courier" pitchFamily="2" charset="0"/>
              </a:rPr>
            </a:br>
            <a:r>
              <a:rPr lang="en-CN" dirty="0">
                <a:latin typeface="Courier" pitchFamily="2" charset="0"/>
              </a:rPr>
              <a:t>	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en-CN" dirty="0">
                <a:latin typeface="Courier" pitchFamily="2" charset="0"/>
              </a:rPr>
              <a:t>)</a:t>
            </a:r>
          </a:p>
          <a:p>
            <a:r>
              <a:rPr lang="en-CN" dirty="0">
                <a:latin typeface="Courier" pitchFamily="2" charset="0"/>
              </a:rPr>
              <a:t>		;   /* do nothing */</a:t>
            </a:r>
          </a:p>
          <a:p>
            <a:r>
              <a:rPr lang="en-CN" dirty="0">
                <a:latin typeface="Courier" pitchFamily="2" charset="0"/>
              </a:rPr>
              <a:t>	item = [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;</a:t>
            </a:r>
          </a:p>
          <a:p>
            <a:r>
              <a:rPr lang="en-CN" dirty="0">
                <a:latin typeface="Courier" pitchFamily="2" charset="0"/>
              </a:rPr>
              <a:t>	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CN" dirty="0">
                <a:latin typeface="Courier" pitchFamily="2" charset="0"/>
              </a:rPr>
              <a:t>}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C24C7C2-130C-4545-B32E-7AE33A84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生产者消费者问题的基础实现</a:t>
            </a:r>
          </a:p>
        </p:txBody>
      </p:sp>
    </p:spTree>
    <p:extLst>
      <p:ext uri="{BB962C8B-B14F-4D97-AF65-F5344CB8AC3E}">
        <p14:creationId xmlns:p14="http://schemas.microsoft.com/office/powerpoint/2010/main" val="272795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12108D-DCB0-FA4E-A260-5CC8E1C33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58" y="1560571"/>
            <a:ext cx="3809643" cy="24482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D4C12B-B3DC-0648-B753-B642A1F544E0}"/>
              </a:ext>
            </a:extLst>
          </p:cNvPr>
          <p:cNvSpPr txBox="1"/>
          <p:nvPr/>
        </p:nvSpPr>
        <p:spPr>
          <a:xfrm>
            <a:off x="2799471" y="3798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579C248-C9DA-9749-A7A9-EA432EA3A691}"/>
              </a:ext>
            </a:extLst>
          </p:cNvPr>
          <p:cNvSpPr txBox="1">
            <a:spLocks/>
          </p:cNvSpPr>
          <p:nvPr/>
        </p:nvSpPr>
        <p:spPr>
          <a:xfrm>
            <a:off x="4355976" y="3427094"/>
            <a:ext cx="4608512" cy="1684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1800" b="0" dirty="0"/>
              <a:t>通过两个计数器来协调生产者与消费者，</a:t>
            </a:r>
            <a:endParaRPr lang="en-US" altLang="zh-CN" sz="18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1800" b="0" dirty="0"/>
              <a:t>是少数符合竞争定义却没有竞争问题的实现</a:t>
            </a:r>
            <a:endParaRPr lang="en-US" altLang="zh-CN" sz="18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F2D64-5FCC-BE44-B039-EDDCD94AC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DFBD01-503C-AE42-B084-FD89CE1D4B00}"/>
              </a:ext>
            </a:extLst>
          </p:cNvPr>
          <p:cNvCxnSpPr>
            <a:cxnSpLocks/>
          </p:cNvCxnSpPr>
          <p:nvPr/>
        </p:nvCxnSpPr>
        <p:spPr>
          <a:xfrm>
            <a:off x="3659886" y="1539353"/>
            <a:ext cx="0" cy="8337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CBE7D-DB31-7B4B-9BF9-82D00BBA0E56}"/>
              </a:ext>
            </a:extLst>
          </p:cNvPr>
          <p:cNvSpPr/>
          <p:nvPr/>
        </p:nvSpPr>
        <p:spPr>
          <a:xfrm>
            <a:off x="915334" y="4084472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consCnt %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3448E4-E818-0648-9C06-61DEE28372C2}"/>
              </a:ext>
            </a:extLst>
          </p:cNvPr>
          <p:cNvCxnSpPr>
            <a:cxnSpLocks/>
          </p:cNvCxnSpPr>
          <p:nvPr/>
        </p:nvCxnSpPr>
        <p:spPr>
          <a:xfrm flipV="1">
            <a:off x="1318027" y="3203792"/>
            <a:ext cx="0" cy="8262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4142875-A6E7-A448-B8AA-90FA6CF2B021}"/>
              </a:ext>
            </a:extLst>
          </p:cNvPr>
          <p:cNvSpPr/>
          <p:nvPr/>
        </p:nvSpPr>
        <p:spPr>
          <a:xfrm>
            <a:off x="888977" y="1106887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prodCnt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%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</a:t>
            </a:r>
            <a:endParaRPr lang="en-CN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4C0D04A5-5831-9B4E-9DEC-7A70B081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生产者消费者问题方案总结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B34D-C7BC-B143-A3AB-E5EFC135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97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-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BUFFER_SIZE)</a:t>
            </a:r>
          </a:p>
          <a:p>
            <a:r>
              <a:rPr lang="en-CN" dirty="0">
                <a:latin typeface="Courier" pitchFamily="2" charset="0"/>
              </a:rPr>
              <a:t>	;   /* do nothing -- no free buffers */</a:t>
            </a: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CN" dirty="0">
                <a:latin typeface="Courier" pitchFamily="2" charset="0"/>
              </a:rPr>
              <a:t>prodCnt = prodCnt + 1;</a:t>
            </a:r>
            <a:r>
              <a:rPr lang="zh-CN" altLang="en-US" dirty="0">
                <a:latin typeface="Courier" pitchFamily="2" charset="0"/>
              </a:rPr>
              <a:t>*</a:t>
            </a:r>
            <a:endParaRPr lang="en-CN" dirty="0">
              <a:latin typeface="Courier" pitchFamily="2" charset="0"/>
            </a:endParaRP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126A4-C355-7643-A037-A06303CE303C}"/>
              </a:ext>
            </a:extLst>
          </p:cNvPr>
          <p:cNvSpPr/>
          <p:nvPr/>
        </p:nvSpPr>
        <p:spPr>
          <a:xfrm>
            <a:off x="3917497" y="2329637"/>
            <a:ext cx="25282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prodCnt</a:t>
            </a:r>
            <a:r>
              <a:rPr lang="en-US" dirty="0">
                <a:latin typeface="Courier" pitchFamily="2" charset="0"/>
              </a:rPr>
              <a:t> = 3</a:t>
            </a:r>
            <a:r>
              <a:rPr lang="en-US" altLang="zh-CN" dirty="0">
                <a:latin typeface="Courier" pitchFamily="2" charset="0"/>
              </a:rPr>
              <a:t>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BA3E33-3B6E-304B-98E5-A0AE0167B903}"/>
              </a:ext>
            </a:extLst>
          </p:cNvPr>
          <p:cNvSpPr/>
          <p:nvPr/>
        </p:nvSpPr>
        <p:spPr>
          <a:xfrm>
            <a:off x="3959112" y="3949220"/>
            <a:ext cx="25282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prodCnt</a:t>
            </a:r>
            <a:r>
              <a:rPr lang="en-US" dirty="0">
                <a:latin typeface="Courier" pitchFamily="2" charset="0"/>
              </a:rPr>
              <a:t> = 3</a:t>
            </a:r>
            <a:r>
              <a:rPr lang="en-US" altLang="zh-CN" dirty="0">
                <a:latin typeface="Courier" pitchFamily="2" charset="0"/>
              </a:rPr>
              <a:t>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pkg2</a:t>
            </a:r>
            <a:r>
              <a:rPr lang="en-US" dirty="0">
                <a:latin typeface="Courier" pitchFamily="2" charset="0"/>
              </a:rPr>
              <a:t>;</a:t>
            </a:r>
            <a:endParaRPr lang="en-CN"/>
          </a:p>
        </p:txBody>
      </p:sp>
      <p:pic>
        <p:nvPicPr>
          <p:cNvPr id="31" name="图片 10">
            <a:extLst>
              <a:ext uri="{FF2B5EF4-FFF2-40B4-BE49-F238E27FC236}">
                <a16:creationId xmlns:a16="http://schemas.microsoft.com/office/drawing/2014/main" id="{281AE49E-3512-8E46-9A91-7913E08E66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D09E128-323B-C44D-85F5-74C88364B4DF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pic>
        <p:nvPicPr>
          <p:cNvPr id="33" name="图片 10">
            <a:extLst>
              <a:ext uri="{FF2B5EF4-FFF2-40B4-BE49-F238E27FC236}">
                <a16:creationId xmlns:a16="http://schemas.microsoft.com/office/drawing/2014/main" id="{905E0B90-3A50-F041-A6FD-F7CA34F37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17" y="3302626"/>
            <a:ext cx="547797" cy="54779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A008B01-3124-6A45-8E5F-FB68ECF212A7}"/>
              </a:ext>
            </a:extLst>
          </p:cNvPr>
          <p:cNvSpPr/>
          <p:nvPr/>
        </p:nvSpPr>
        <p:spPr>
          <a:xfrm>
            <a:off x="2987507" y="33799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2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1AD52EE-CF20-8442-B061-9F3B5B86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u="sng" dirty="0"/>
              <a:t>多</a:t>
            </a:r>
            <a:r>
              <a:rPr lang="zh-CN" altLang="en-US" dirty="0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56986-4AD9-FC48-B43D-96F12EC1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C958CB-B648-4143-B6BF-93FC365CB778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4BBA86-7723-7F44-B913-56F9FD96BE25}"/>
              </a:ext>
            </a:extLst>
          </p:cNvPr>
          <p:cNvSpPr txBox="1"/>
          <p:nvPr/>
        </p:nvSpPr>
        <p:spPr>
          <a:xfrm>
            <a:off x="3923226" y="2886166"/>
            <a:ext cx="4661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urier" pitchFamily="2" charset="0"/>
              </a:rPr>
              <a:t>prcdCnt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 = 4;</a:t>
            </a:r>
            <a:endParaRPr lang="en-CN" altLang="zh-CN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56BAE3-A567-D646-B79F-B94CF0A25CCB}"/>
              </a:ext>
            </a:extLst>
          </p:cNvPr>
          <p:cNvSpPr txBox="1"/>
          <p:nvPr/>
        </p:nvSpPr>
        <p:spPr>
          <a:xfrm>
            <a:off x="3959112" y="4475342"/>
            <a:ext cx="4661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urier" pitchFamily="2" charset="0"/>
              </a:rPr>
              <a:t>prodCnt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 = 5;</a:t>
            </a:r>
            <a:endParaRPr lang="en-CN" altLang="zh-CN">
              <a:solidFill>
                <a:srgbClr val="FF0000"/>
              </a:solidFill>
            </a:endParaRP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79A4141-AB61-3844-A5C0-BBED37588FB3}"/>
              </a:ext>
            </a:extLst>
          </p:cNvPr>
          <p:cNvSpPr txBox="1">
            <a:spLocks/>
          </p:cNvSpPr>
          <p:nvPr/>
        </p:nvSpPr>
        <p:spPr>
          <a:xfrm>
            <a:off x="361977" y="4852191"/>
            <a:ext cx="8458590" cy="564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800" b="0" dirty="0"/>
              <a:t>如何确保他们</a:t>
            </a:r>
            <a:r>
              <a:rPr lang="zh-CN" altLang="en-US" sz="1800" dirty="0"/>
              <a:t>不会</a:t>
            </a:r>
            <a:r>
              <a:rPr lang="zh-CN" altLang="en-US" sz="1800" b="0" dirty="0"/>
              <a:t>将新产生的数据放入到同一个缓冲区中，防止</a:t>
            </a:r>
            <a:r>
              <a:rPr lang="zh-CN" altLang="en-US" sz="1800" dirty="0"/>
              <a:t>数据覆盖</a:t>
            </a:r>
            <a:r>
              <a:rPr lang="zh-CN" altLang="en-US" sz="1800" b="0" dirty="0"/>
              <a:t>？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9040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新的抽象：</a:t>
            </a:r>
            <a:r>
              <a:rPr lang="zh-CN" altLang="en-CN" dirty="0"/>
              <a:t>临界区</a:t>
            </a:r>
            <a:r>
              <a:rPr lang="zh-CN" altLang="en-US" dirty="0"/>
              <a:t>（</a:t>
            </a:r>
            <a:r>
              <a:rPr lang="en-US" altLang="zh-CN" dirty="0"/>
              <a:t>Critical</a:t>
            </a:r>
            <a:r>
              <a:rPr lang="zh-CN" altLang="en-US" dirty="0"/>
              <a:t> </a:t>
            </a:r>
            <a:r>
              <a:rPr lang="en-US" altLang="zh-CN" dirty="0"/>
              <a:t>Section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561356"/>
            <a:ext cx="2474242" cy="33061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7F865-85C0-5542-B8D5-8083E4388994}"/>
              </a:ext>
            </a:extLst>
          </p:cNvPr>
          <p:cNvSpPr/>
          <p:nvPr/>
        </p:nvSpPr>
        <p:spPr>
          <a:xfrm>
            <a:off x="4451308" y="2517153"/>
            <a:ext cx="3888431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任意时刻，有且只有一个线程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可以进入临界区执行</a:t>
            </a:r>
            <a:endParaRPr lang="en-US" altLang="zh-CN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B5A5F1-7D1D-E942-A77B-E13B9AA30891}"/>
              </a:ext>
            </a:extLst>
          </p:cNvPr>
          <p:cNvCxnSpPr>
            <a:cxnSpLocks/>
          </p:cNvCxnSpPr>
          <p:nvPr/>
        </p:nvCxnSpPr>
        <p:spPr>
          <a:xfrm>
            <a:off x="4093914" y="2954132"/>
            <a:ext cx="68023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C9CD-5D25-154E-8803-B0A93BAE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7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  <a:r>
              <a:rPr lang="zh-CN" altLang="en-CN" dirty="0"/>
              <a:t>临界区</a:t>
            </a:r>
            <a:r>
              <a:rPr lang="zh-CN" altLang="en-US" dirty="0"/>
              <a:t>抽象的三个要求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1170628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2B2FED-F414-394D-85A0-392DF49CDCB4}"/>
              </a:ext>
            </a:extLst>
          </p:cNvPr>
          <p:cNvSpPr/>
          <p:nvPr/>
        </p:nvSpPr>
        <p:spPr>
          <a:xfrm>
            <a:off x="249560" y="1129307"/>
            <a:ext cx="4898503" cy="4480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互斥访问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：在同一时刻，</a:t>
            </a: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有且仅有一个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可以进入临界区</a:t>
            </a:r>
            <a:endParaRPr lang="en-CN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有限等待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：当一个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申请进入临界区之后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，必须在</a:t>
            </a: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有限的时间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内获得许可进入临界区而不能无限等待</a:t>
            </a:r>
            <a:endParaRPr lang="en-CN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空闲让进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：当没有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在临界区中时，必须在申请进入临界区的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选择一个进入临界区，保证执行临界区的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进展</a:t>
            </a:r>
            <a:endParaRPr lang="en-CN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5266-172F-D149-8B81-DB79E3EA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01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什么</a:t>
            </a:r>
            <a:r>
              <a:rPr lang="zh-CN" altLang="en-US"/>
              <a:t>是同步原语？</a:t>
            </a:r>
            <a:endParaRPr lang="en-C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778A70-29F2-444F-91CC-FE5DEF33A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1356"/>
            <a:ext cx="8363272" cy="900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同步原语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Synchronization Primitives</a:t>
            </a:r>
            <a:r>
              <a:rPr lang="zh-CN" altLang="en-US" sz="2000" b="0" dirty="0"/>
              <a:t>）是一个平台（如</a:t>
            </a:r>
            <a:r>
              <a:rPr lang="zh-CN" altLang="en-US" sz="2000" dirty="0"/>
              <a:t>操作系统</a:t>
            </a:r>
            <a:r>
              <a:rPr lang="zh-CN" altLang="en-US" sz="2000" b="0" dirty="0"/>
              <a:t>）提供的用于帮助开发者实现线程之间</a:t>
            </a:r>
            <a:r>
              <a:rPr lang="zh-CN" altLang="en-US" sz="2000" dirty="0"/>
              <a:t>同步</a:t>
            </a:r>
            <a:r>
              <a:rPr lang="zh-CN" altLang="en-US" sz="2000" b="0" dirty="0"/>
              <a:t>的</a:t>
            </a:r>
            <a:r>
              <a:rPr lang="zh-CN" altLang="en-US" sz="2000" dirty="0"/>
              <a:t>软件工具</a:t>
            </a:r>
            <a:endParaRPr lang="en-US" altLang="zh-CN" sz="20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672AC-87E6-814F-AD60-BECDFE7ABA14}"/>
              </a:ext>
            </a:extLst>
          </p:cNvPr>
          <p:cNvSpPr txBox="1">
            <a:spLocks/>
          </p:cNvSpPr>
          <p:nvPr/>
        </p:nvSpPr>
        <p:spPr>
          <a:xfrm>
            <a:off x="683568" y="3370367"/>
            <a:ext cx="30346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有限的共享资源上</a:t>
            </a:r>
            <a:endParaRPr lang="en-US" altLang="zh-CN" sz="20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正确的协同工作</a:t>
            </a:r>
            <a:endParaRPr lang="en-US" altLang="zh-CN" sz="2000" b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6E2742-3252-664B-90E8-3B538DE8C6A9}"/>
              </a:ext>
            </a:extLst>
          </p:cNvPr>
          <p:cNvCxnSpPr>
            <a:cxnSpLocks/>
          </p:cNvCxnSpPr>
          <p:nvPr/>
        </p:nvCxnSpPr>
        <p:spPr>
          <a:xfrm>
            <a:off x="3584366" y="3838760"/>
            <a:ext cx="10029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8C2E19-6D82-DD49-9D25-6261CC9CB47F}"/>
              </a:ext>
            </a:extLst>
          </p:cNvPr>
          <p:cNvSpPr txBox="1">
            <a:spLocks/>
          </p:cNvSpPr>
          <p:nvPr/>
        </p:nvSpPr>
        <p:spPr>
          <a:xfrm>
            <a:off x="4728238" y="3263379"/>
            <a:ext cx="3747002" cy="1466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有限的共享缓冲区；</a:t>
            </a:r>
            <a:endParaRPr lang="en-US" altLang="zh-CN" sz="20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生产者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消费者能有序地从</a:t>
            </a:r>
            <a:endParaRPr lang="en-US" altLang="zh-CN" sz="20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共享缓冲区中存放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拿取数据</a:t>
            </a:r>
            <a:endParaRPr lang="en-US" altLang="zh-CN" sz="2000" b="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E0F51DDB-8714-2C4D-A68E-B82A5B8ED580}"/>
              </a:ext>
            </a:extLst>
          </p:cNvPr>
          <p:cNvSpPr txBox="1">
            <a:spLocks/>
          </p:cNvSpPr>
          <p:nvPr/>
        </p:nvSpPr>
        <p:spPr>
          <a:xfrm>
            <a:off x="5084399" y="2594947"/>
            <a:ext cx="3034680" cy="453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CN" sz="1800" b="0"/>
              <a:t>在</a:t>
            </a:r>
            <a:r>
              <a:rPr lang="zh-CN" altLang="en-US" sz="1800" b="0"/>
              <a:t>生产者</a:t>
            </a:r>
            <a:r>
              <a:rPr lang="en-US" altLang="zh-CN" sz="1800" b="0"/>
              <a:t>/</a:t>
            </a:r>
            <a:r>
              <a:rPr lang="zh-CN" altLang="en-US" sz="1800" b="0"/>
              <a:t>消费者例子中：</a:t>
            </a:r>
            <a:endParaRPr lang="en-US" altLang="zh-CN" sz="18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5BDC8-7BF7-BF4C-AD19-9BB509252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7C5F6-F32F-684A-91A4-49C0B6E1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0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互斥锁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66507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A4C22-93DE-4B4A-8365-5B556FDE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互斥锁的接口：拿锁和放锁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3DB12-9E6E-E74B-90F3-D4AD80E66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互斥锁（</a:t>
            </a:r>
            <a:r>
              <a:rPr kumimoji="1" lang="en-US" altLang="zh-CN" dirty="0"/>
              <a:t>Mutual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Exclusive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）接口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Lock(lock)</a:t>
            </a:r>
            <a:r>
              <a:rPr kumimoji="1" lang="zh-CN" altLang="en-US" dirty="0"/>
              <a:t>：尝试拿到锁“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若当前没有其他线程拿着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，则拿到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，并继续往下执行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被其他线程拿着，则不断循环等待放锁（</a:t>
            </a:r>
            <a:r>
              <a:rPr kumimoji="1" lang="en-US" altLang="zh-CN" dirty="0"/>
              <a:t>busy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Unlock(lock)</a:t>
            </a:r>
          </a:p>
          <a:p>
            <a:pPr lvl="2"/>
            <a:r>
              <a:rPr kumimoji="1" lang="zh-CN" altLang="en-US" dirty="0"/>
              <a:t>释放锁</a:t>
            </a:r>
            <a:endParaRPr kumimoji="1" lang="en-US" altLang="zh-CN" dirty="0"/>
          </a:p>
          <a:p>
            <a:r>
              <a:rPr kumimoji="1" lang="zh-CN" altLang="en-US" dirty="0"/>
              <a:t>保证同时只有一个线程能够拿到锁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8E54F1-D4AF-5940-94D6-7996411D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500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-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BUFFER_SIZE)</a:t>
            </a:r>
          </a:p>
          <a:p>
            <a:r>
              <a:rPr lang="en-CN" dirty="0">
                <a:latin typeface="Courier" pitchFamily="2" charset="0"/>
              </a:rPr>
              <a:t>	;   /* do nothing -- no free buffers */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prodCnt = prodCnt + 1;*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1A0D55-7ADC-364A-834C-0F00F1CAA6D4}"/>
              </a:ext>
            </a:extLst>
          </p:cNvPr>
          <p:cNvSpPr/>
          <p:nvPr/>
        </p:nvSpPr>
        <p:spPr>
          <a:xfrm>
            <a:off x="3851920" y="1978028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申请进入临界区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85AB2A-09BE-4B48-912D-7226E073EB7C}"/>
              </a:ext>
            </a:extLst>
          </p:cNvPr>
          <p:cNvSpPr/>
          <p:nvPr/>
        </p:nvSpPr>
        <p:spPr>
          <a:xfrm>
            <a:off x="3851920" y="3349502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通知离开临界区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7D732-F0F7-1143-8903-3EE4C7E019BD}"/>
              </a:ext>
            </a:extLst>
          </p:cNvPr>
          <p:cNvSpPr/>
          <p:nvPr/>
        </p:nvSpPr>
        <p:spPr>
          <a:xfrm>
            <a:off x="457200" y="2425452"/>
            <a:ext cx="560878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345C9-F3C2-1743-BAFA-584CFC3DE416}"/>
              </a:ext>
            </a:extLst>
          </p:cNvPr>
          <p:cNvSpPr/>
          <p:nvPr/>
        </p:nvSpPr>
        <p:spPr>
          <a:xfrm>
            <a:off x="6372200" y="267283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临界区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00704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43238B-E873-3D4C-BF47-2A215400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C8F31A-E538-CC4B-B56A-B1B1DAC5A08E}"/>
              </a:ext>
            </a:extLst>
          </p:cNvPr>
          <p:cNvSpPr/>
          <p:nvPr/>
        </p:nvSpPr>
        <p:spPr>
          <a:xfrm>
            <a:off x="3917497" y="2329637"/>
            <a:ext cx="28039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  <a:endParaRPr lang="en-CN" dirty="0"/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38B403C9-BEB3-F240-A354-474FD43E68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E0BC6B-F098-9644-87D6-140C811AC344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5D1B-E7EE-564E-B998-2538C3664053}"/>
              </a:ext>
            </a:extLst>
          </p:cNvPr>
          <p:cNvSpPr/>
          <p:nvPr/>
        </p:nvSpPr>
        <p:spPr>
          <a:xfrm>
            <a:off x="2123728" y="3937620"/>
            <a:ext cx="179376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0FBD6-BAC2-2848-8C30-1EE6CF4392B7}"/>
              </a:ext>
            </a:extLst>
          </p:cNvPr>
          <p:cNvSpPr/>
          <p:nvPr/>
        </p:nvSpPr>
        <p:spPr>
          <a:xfrm>
            <a:off x="3978361" y="3980011"/>
            <a:ext cx="28039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1FA6A5-CC73-9E45-8380-0AF405896D5A}"/>
              </a:ext>
            </a:extLst>
          </p:cNvPr>
          <p:cNvSpPr/>
          <p:nvPr/>
        </p:nvSpPr>
        <p:spPr>
          <a:xfrm>
            <a:off x="7164288" y="2503895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获取互斥锁</a:t>
            </a:r>
          </a:p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3C6F3-4ACB-014D-8DF8-7AD150A99462}"/>
              </a:ext>
            </a:extLst>
          </p:cNvPr>
          <p:cNvSpPr/>
          <p:nvPr/>
        </p:nvSpPr>
        <p:spPr>
          <a:xfrm>
            <a:off x="7010320" y="411851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/>
              <a:t>没有获取互斥锁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在原地等待</a:t>
            </a:r>
            <a:endParaRPr lang="en-CN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4F63BF8-A0A8-B745-A65F-4FA97D9BEE72}"/>
              </a:ext>
            </a:extLst>
          </p:cNvPr>
          <p:cNvCxnSpPr/>
          <p:nvPr/>
        </p:nvCxnSpPr>
        <p:spPr>
          <a:xfrm>
            <a:off x="0" y="393762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24F47FE8-0A66-A64B-84E0-0E894495C535}"/>
              </a:ext>
            </a:extLst>
          </p:cNvPr>
          <p:cNvCxnSpPr/>
          <p:nvPr/>
        </p:nvCxnSpPr>
        <p:spPr>
          <a:xfrm>
            <a:off x="0" y="23296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36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43238B-E873-3D4C-BF47-2A215400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C8F31A-E538-CC4B-B56A-B1B1DAC5A08E}"/>
              </a:ext>
            </a:extLst>
          </p:cNvPr>
          <p:cNvSpPr/>
          <p:nvPr/>
        </p:nvSpPr>
        <p:spPr>
          <a:xfrm>
            <a:off x="3917497" y="2329637"/>
            <a:ext cx="307968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4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unlock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(&amp;buffer_lock);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38B403C9-BEB3-F240-A354-474FD43E68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E0BC6B-F098-9644-87D6-140C811AC344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5D1B-E7EE-564E-B998-2538C3664053}"/>
              </a:ext>
            </a:extLst>
          </p:cNvPr>
          <p:cNvSpPr/>
          <p:nvPr/>
        </p:nvSpPr>
        <p:spPr>
          <a:xfrm>
            <a:off x="2123728" y="3937620"/>
            <a:ext cx="179376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0FBD6-BAC2-2848-8C30-1EE6CF4392B7}"/>
              </a:ext>
            </a:extLst>
          </p:cNvPr>
          <p:cNvSpPr/>
          <p:nvPr/>
        </p:nvSpPr>
        <p:spPr>
          <a:xfrm>
            <a:off x="3978361" y="3980011"/>
            <a:ext cx="28039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4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1FA6A5-CC73-9E45-8380-0AF405896D5A}"/>
              </a:ext>
            </a:extLst>
          </p:cNvPr>
          <p:cNvSpPr/>
          <p:nvPr/>
        </p:nvSpPr>
        <p:spPr>
          <a:xfrm>
            <a:off x="7164288" y="2503895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获取互斥锁</a:t>
            </a:r>
          </a:p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3C6F3-4ACB-014D-8DF8-7AD150A99462}"/>
              </a:ext>
            </a:extLst>
          </p:cNvPr>
          <p:cNvSpPr/>
          <p:nvPr/>
        </p:nvSpPr>
        <p:spPr>
          <a:xfrm>
            <a:off x="7010320" y="411851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/>
              <a:t>没有获取互斥锁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在原地等待</a:t>
            </a:r>
            <a:endParaRPr lang="en-CN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82AC0340-F3F4-3743-8C2D-6A8D7FD2CF9B}"/>
              </a:ext>
            </a:extLst>
          </p:cNvPr>
          <p:cNvCxnSpPr/>
          <p:nvPr/>
        </p:nvCxnSpPr>
        <p:spPr>
          <a:xfrm>
            <a:off x="0" y="393762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68C22BC-9DAC-1A49-A59D-84E7CD6E2C58}"/>
              </a:ext>
            </a:extLst>
          </p:cNvPr>
          <p:cNvCxnSpPr/>
          <p:nvPr/>
        </p:nvCxnSpPr>
        <p:spPr>
          <a:xfrm>
            <a:off x="0" y="23296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10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43238B-E873-3D4C-BF47-2A215400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C8F31A-E538-CC4B-B56A-B1B1DAC5A08E}"/>
              </a:ext>
            </a:extLst>
          </p:cNvPr>
          <p:cNvSpPr/>
          <p:nvPr/>
        </p:nvSpPr>
        <p:spPr>
          <a:xfrm>
            <a:off x="3917497" y="2329637"/>
            <a:ext cx="307968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4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unlock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(&amp;buffer_lock);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38B403C9-BEB3-F240-A354-474FD43E68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E0BC6B-F098-9644-87D6-140C811AC344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5D1B-E7EE-564E-B998-2538C3664053}"/>
              </a:ext>
            </a:extLst>
          </p:cNvPr>
          <p:cNvSpPr/>
          <p:nvPr/>
        </p:nvSpPr>
        <p:spPr>
          <a:xfrm>
            <a:off x="2123728" y="3937620"/>
            <a:ext cx="179376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0FBD6-BAC2-2848-8C30-1EE6CF4392B7}"/>
              </a:ext>
            </a:extLst>
          </p:cNvPr>
          <p:cNvSpPr/>
          <p:nvPr/>
        </p:nvSpPr>
        <p:spPr>
          <a:xfrm>
            <a:off x="3978361" y="3980011"/>
            <a:ext cx="28039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4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  <a:p>
            <a:r>
              <a:rPr lang="en-US" dirty="0">
                <a:latin typeface="Courier" pitchFamily="2" charset="0"/>
              </a:rPr>
              <a:t>buffer[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4</a:t>
            </a:r>
            <a:r>
              <a:rPr lang="en-US" dirty="0">
                <a:latin typeface="Courier" pitchFamily="2" charset="0"/>
              </a:rPr>
              <a:t>] = pkg2;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F0AEB8-9065-844A-8730-91969F055BD6}"/>
              </a:ext>
            </a:extLst>
          </p:cNvPr>
          <p:cNvSpPr/>
          <p:nvPr/>
        </p:nvSpPr>
        <p:spPr>
          <a:xfrm>
            <a:off x="7126776" y="4257010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获取互斥锁</a:t>
            </a:r>
          </a:p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进入临界区</a:t>
            </a:r>
            <a:endParaRPr lang="en-CN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67C5CC-7F8D-8E4F-8052-A42A0DD3253A}"/>
              </a:ext>
            </a:extLst>
          </p:cNvPr>
          <p:cNvCxnSpPr/>
          <p:nvPr/>
        </p:nvCxnSpPr>
        <p:spPr>
          <a:xfrm>
            <a:off x="0" y="393762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E80C94AF-0FD4-7244-AD31-64212E52E4C6}"/>
              </a:ext>
            </a:extLst>
          </p:cNvPr>
          <p:cNvCxnSpPr/>
          <p:nvPr/>
        </p:nvCxnSpPr>
        <p:spPr>
          <a:xfrm>
            <a:off x="0" y="23296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717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用互斥锁解决多线程计数问题</a:t>
            </a:r>
            <a:endParaRPr lang="en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DC29E7-5169-9D47-8FBE-8B0C9A8C5027}"/>
              </a:ext>
            </a:extLst>
          </p:cNvPr>
          <p:cNvSpPr/>
          <p:nvPr/>
        </p:nvSpPr>
        <p:spPr>
          <a:xfrm>
            <a:off x="576702" y="1622501"/>
            <a:ext cx="5664968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long a =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*routine(void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1000000000;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global_lock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a++;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pthread_mutex_unlock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global_lock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NULL;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2770C-B4C1-7144-BE84-26BFA6D8D67B}"/>
              </a:ext>
            </a:extLst>
          </p:cNvPr>
          <p:cNvSpPr/>
          <p:nvPr/>
        </p:nvSpPr>
        <p:spPr>
          <a:xfrm>
            <a:off x="6676774" y="1897794"/>
            <a:ext cx="1874852" cy="78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pthread库提供的互斥锁实现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328E36-832A-2849-86D8-C50CB40A6D1E}"/>
              </a:ext>
            </a:extLst>
          </p:cNvPr>
          <p:cNvSpPr/>
          <p:nvPr/>
        </p:nvSpPr>
        <p:spPr>
          <a:xfrm>
            <a:off x="475362" y="1117115"/>
            <a:ext cx="3775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/>
              <a:t>3</a:t>
            </a:r>
            <a:r>
              <a:rPr lang="zh-CN" altLang="en-US" dirty="0"/>
              <a:t>个线程，同时执行下面程序：</a:t>
            </a:r>
            <a:endParaRPr lang="en-US" altLang="zh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93E645-C38F-E549-9387-895D48524AED}"/>
              </a:ext>
            </a:extLst>
          </p:cNvPr>
          <p:cNvSpPr/>
          <p:nvPr/>
        </p:nvSpPr>
        <p:spPr>
          <a:xfrm>
            <a:off x="577486" y="4419747"/>
            <a:ext cx="2962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输出结果为：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000000000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30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条件变量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43801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B6393-54AD-D04F-9860-5BB6FC578869}"/>
              </a:ext>
            </a:extLst>
          </p:cNvPr>
          <p:cNvSpPr/>
          <p:nvPr/>
        </p:nvSpPr>
        <p:spPr>
          <a:xfrm>
            <a:off x="2514021" y="1561356"/>
            <a:ext cx="411595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while(</a:t>
            </a:r>
            <a:r>
              <a:rPr lang="en-US" altLang="zh-CN" sz="1600" dirty="0">
                <a:latin typeface="Courier" pitchFamily="2" charset="0"/>
              </a:rPr>
              <a:t>locked</a:t>
            </a:r>
            <a:r>
              <a:rPr lang="en-US" sz="1600" dirty="0">
                <a:latin typeface="Courier" pitchFamily="2" charset="0"/>
              </a:rPr>
              <a:t>)	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	/* busy waiting */;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之前互斥锁的实现中：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F9E56-9CEF-F64A-A6A3-44ABBB07E253}"/>
              </a:ext>
            </a:extLst>
          </p:cNvPr>
          <p:cNvSpPr/>
          <p:nvPr/>
        </p:nvSpPr>
        <p:spPr>
          <a:xfrm>
            <a:off x="1671090" y="2505718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条件变量：利用睡眠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唤醒机制，避免无意义的等待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ADA1-3BC6-E341-B5B8-CB7193482BC5}"/>
              </a:ext>
            </a:extLst>
          </p:cNvPr>
          <p:cNvSpPr/>
          <p:nvPr/>
        </p:nvSpPr>
        <p:spPr>
          <a:xfrm>
            <a:off x="971562" y="3266196"/>
            <a:ext cx="308491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if(!some_condition)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wait(condition);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BFFCC-B428-B447-B2AE-B60FD81EE19A}"/>
              </a:ext>
            </a:extLst>
          </p:cNvPr>
          <p:cNvSpPr/>
          <p:nvPr/>
        </p:nvSpPr>
        <p:spPr>
          <a:xfrm>
            <a:off x="4972117" y="3937620"/>
            <a:ext cx="3315721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u</a:t>
            </a:r>
            <a:r>
              <a:rPr lang="en-CN" sz="1600">
                <a:latin typeface="Courier" pitchFamily="2" charset="0"/>
              </a:rPr>
              <a:t>pdate(some_condition);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s</a:t>
            </a:r>
            <a:r>
              <a:rPr lang="en-CN" sz="1600">
                <a:latin typeface="Courier" pitchFamily="2" charset="0"/>
              </a:rPr>
              <a:t>ignal(condition);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1FD2D-A576-4742-95F9-7AABC34B7B25}"/>
              </a:ext>
            </a:extLst>
          </p:cNvPr>
          <p:cNvCxnSpPr>
            <a:cxnSpLocks/>
          </p:cNvCxnSpPr>
          <p:nvPr/>
        </p:nvCxnSpPr>
        <p:spPr>
          <a:xfrm>
            <a:off x="4499992" y="3266196"/>
            <a:ext cx="0" cy="21829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D25CF8-8A23-3A47-85E8-9989487DA3B1}"/>
              </a:ext>
            </a:extLst>
          </p:cNvPr>
          <p:cNvSpPr/>
          <p:nvPr/>
        </p:nvSpPr>
        <p:spPr>
          <a:xfrm>
            <a:off x="1373145" y="3048196"/>
            <a:ext cx="1696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-0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C098B-068C-5241-8488-770C0C4992C1}"/>
              </a:ext>
            </a:extLst>
          </p:cNvPr>
          <p:cNvSpPr/>
          <p:nvPr/>
        </p:nvSpPr>
        <p:spPr>
          <a:xfrm>
            <a:off x="5365068" y="3037073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-1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08B54-3D14-8C42-9214-2258911A51A5}"/>
              </a:ext>
            </a:extLst>
          </p:cNvPr>
          <p:cNvSpPr/>
          <p:nvPr/>
        </p:nvSpPr>
        <p:spPr>
          <a:xfrm>
            <a:off x="971561" y="4662092"/>
            <a:ext cx="3240395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Wake up and check condition again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2E53A-53B1-284E-9035-AACCFF812345}"/>
              </a:ext>
            </a:extLst>
          </p:cNvPr>
          <p:cNvCxnSpPr/>
          <p:nvPr/>
        </p:nvCxnSpPr>
        <p:spPr>
          <a:xfrm>
            <a:off x="4056479" y="3937620"/>
            <a:ext cx="1308589" cy="12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41499-2852-A241-BC50-11D30E8F2E22}"/>
              </a:ext>
            </a:extLst>
          </p:cNvPr>
          <p:cNvCxnSpPr>
            <a:cxnSpLocks/>
          </p:cNvCxnSpPr>
          <p:nvPr/>
        </p:nvCxnSpPr>
        <p:spPr>
          <a:xfrm flipH="1">
            <a:off x="3189437" y="4662092"/>
            <a:ext cx="2030636" cy="13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0862589-F7D1-F740-A45B-128EA05A0574}"/>
              </a:ext>
            </a:extLst>
          </p:cNvPr>
          <p:cNvSpPr/>
          <p:nvPr/>
        </p:nvSpPr>
        <p:spPr>
          <a:xfrm>
            <a:off x="1930208" y="3742316"/>
            <a:ext cx="574105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D20E8-EC1A-6741-903D-5E62AB084EDA}"/>
              </a:ext>
            </a:extLst>
          </p:cNvPr>
          <p:cNvSpPr/>
          <p:nvPr/>
        </p:nvSpPr>
        <p:spPr>
          <a:xfrm>
            <a:off x="4934004" y="4433585"/>
            <a:ext cx="2503941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D4BAA0-3F33-034E-909B-09655632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7E6A03-D9A9-BB42-B6D7-EB6B9732BE67}"/>
              </a:ext>
            </a:extLst>
          </p:cNvPr>
          <p:cNvSpPr/>
          <p:nvPr/>
        </p:nvSpPr>
        <p:spPr>
          <a:xfrm>
            <a:off x="1087699" y="416558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调度到其他线程执行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902E30DE-F31F-934C-A5DA-59820D2E38F0}"/>
              </a:ext>
            </a:extLst>
          </p:cNvPr>
          <p:cNvSpPr/>
          <p:nvPr/>
        </p:nvSpPr>
        <p:spPr>
          <a:xfrm>
            <a:off x="3109326" y="529433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条件变量：利用</a:t>
            </a:r>
            <a:r>
              <a:rPr lang="zh-CN" altLang="en-US" b="1" dirty="0">
                <a:latin typeface="Courier" pitchFamily="2" charset="0"/>
              </a:rPr>
              <a:t>睡眠</a:t>
            </a:r>
            <a:r>
              <a:rPr lang="en-US" altLang="zh-CN" b="1" dirty="0">
                <a:latin typeface="Courier" pitchFamily="2" charset="0"/>
              </a:rPr>
              <a:t>/</a:t>
            </a:r>
            <a:r>
              <a:rPr lang="zh-CN" altLang="en-US" b="1" dirty="0">
                <a:latin typeface="Courier" pitchFamily="2" charset="0"/>
              </a:rPr>
              <a:t>唤醒</a:t>
            </a:r>
            <a:r>
              <a:rPr lang="zh-CN" altLang="en-US" dirty="0">
                <a:latin typeface="Courier" pitchFamily="2" charset="0"/>
              </a:rPr>
              <a:t>机制，避免无意义的等待</a:t>
            </a:r>
            <a:endParaRPr lang="en-CN" dirty="0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6101B5CB-F4FA-F549-AADB-D71E6FAFF9A8}"/>
              </a:ext>
            </a:extLst>
          </p:cNvPr>
          <p:cNvSpPr/>
          <p:nvPr/>
        </p:nvSpPr>
        <p:spPr>
          <a:xfrm>
            <a:off x="3653236" y="1058564"/>
            <a:ext cx="4634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rgbClr val="FF0000"/>
                </a:solidFill>
              </a:rPr>
              <a:t>让</a:t>
            </a:r>
            <a:r>
              <a:rPr lang="zh-CN" altLang="en-US" dirty="0">
                <a:solidFill>
                  <a:srgbClr val="FF0000"/>
                </a:solidFill>
              </a:rPr>
              <a:t>操作系统的</a:t>
            </a:r>
            <a:r>
              <a:rPr lang="en-CN">
                <a:solidFill>
                  <a:srgbClr val="FF0000"/>
                </a:solidFill>
              </a:rPr>
              <a:t>调度器调度其他</a:t>
            </a:r>
            <a:r>
              <a:rPr lang="zh-CN" altLang="en-US" dirty="0">
                <a:solidFill>
                  <a:srgbClr val="FF0000"/>
                </a:solidFill>
              </a:rPr>
              <a:t>进程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en-CN">
                <a:solidFill>
                  <a:srgbClr val="FF0000"/>
                </a:solidFill>
              </a:rPr>
              <a:t>线程执行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280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条件变量的接口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提供的两个接口：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647564" y="2113988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cond_wait(struct cond *cond, struct lock *mutex);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E21AF-EEE3-754B-8670-69CAFB6B21EF}"/>
              </a:ext>
            </a:extLst>
          </p:cNvPr>
          <p:cNvSpPr/>
          <p:nvPr/>
        </p:nvSpPr>
        <p:spPr>
          <a:xfrm>
            <a:off x="647564" y="4250474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cond_signal(struct cond *cond);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BFF8A-6918-3041-AD0F-712BAA9A9C68}"/>
              </a:ext>
            </a:extLst>
          </p:cNvPr>
          <p:cNvSpPr/>
          <p:nvPr/>
        </p:nvSpPr>
        <p:spPr>
          <a:xfrm>
            <a:off x="457200" y="1645758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等待的接口：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B21D-8B0C-354E-B172-218885FCF9F5}"/>
              </a:ext>
            </a:extLst>
          </p:cNvPr>
          <p:cNvSpPr/>
          <p:nvPr/>
        </p:nvSpPr>
        <p:spPr>
          <a:xfrm>
            <a:off x="441225" y="3904051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唤醒的接口：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08F57B-92BF-BD48-8282-B9D5D1B181BD}"/>
              </a:ext>
            </a:extLst>
          </p:cNvPr>
          <p:cNvSpPr/>
          <p:nvPr/>
        </p:nvSpPr>
        <p:spPr>
          <a:xfrm>
            <a:off x="5292080" y="1954865"/>
            <a:ext cx="2915344" cy="6308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BF084-D71F-4944-8CEB-10CC05B5F360}"/>
              </a:ext>
            </a:extLst>
          </p:cNvPr>
          <p:cNvSpPr/>
          <p:nvPr/>
        </p:nvSpPr>
        <p:spPr>
          <a:xfrm>
            <a:off x="625730" y="2497011"/>
            <a:ext cx="653855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放入条件变量的</a:t>
            </a:r>
            <a:r>
              <a:rPr lang="zh-CN" altLang="en-US" b="1" dirty="0"/>
              <a:t>等待队列</a:t>
            </a:r>
            <a:endParaRPr lang="en-CN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阻塞自己同时</a:t>
            </a:r>
            <a:r>
              <a:rPr lang="zh-CN" altLang="en-CN" b="1" dirty="0"/>
              <a:t>释放</a:t>
            </a:r>
            <a:r>
              <a:rPr lang="zh-CN" altLang="en-US" b="1" dirty="0"/>
              <a:t>锁：即调度器可以调度到其他线程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被唤醒后重新</a:t>
            </a:r>
            <a:r>
              <a:rPr lang="zh-CN" altLang="en-US" b="1" dirty="0"/>
              <a:t>获取锁</a:t>
            </a:r>
            <a:endParaRPr lang="en-US" altLang="zh-CN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0ACE75-1660-914F-8813-B18679568832}"/>
              </a:ext>
            </a:extLst>
          </p:cNvPr>
          <p:cNvSpPr/>
          <p:nvPr/>
        </p:nvSpPr>
        <p:spPr>
          <a:xfrm>
            <a:off x="647564" y="4525811"/>
            <a:ext cx="6265596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CN"/>
              <a:t>检查</a:t>
            </a:r>
            <a:r>
              <a:rPr lang="zh-CN" altLang="en-US" b="1"/>
              <a:t>等待队列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如果有等待者则</a:t>
            </a:r>
            <a:r>
              <a:rPr lang="zh-CN" altLang="en-US" b="1"/>
              <a:t>移出等待队列并唤醒</a:t>
            </a:r>
            <a:endParaRPr lang="en-US" altLang="zh-CN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6CC4A-E6FC-6945-BE7C-0D703E2A1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9FEAD-1B37-3341-9851-1B195541DBCA}"/>
              </a:ext>
            </a:extLst>
          </p:cNvPr>
          <p:cNvSpPr/>
          <p:nvPr/>
        </p:nvSpPr>
        <p:spPr>
          <a:xfrm>
            <a:off x="1628080" y="1652604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等待需要在临界区中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BA8F2-258D-B440-821E-44DA157C3ADE}"/>
              </a:ext>
            </a:extLst>
          </p:cNvPr>
          <p:cNvSpPr/>
          <p:nvPr/>
        </p:nvSpPr>
        <p:spPr>
          <a:xfrm>
            <a:off x="3585049" y="3678015"/>
            <a:ext cx="5122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唤醒是否需要在临界区中？也需要的。</a:t>
            </a:r>
            <a:endParaRPr lang="en-US" altLang="zh-CN" dirty="0">
              <a:solidFill>
                <a:schemeClr val="accent1"/>
              </a:solidFill>
              <a:latin typeface="Courier" pitchFamily="2" charset="0"/>
            </a:endParaRPr>
          </a:p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为什么？下节课讲实现的时候再揭晓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9F8155-E438-1E43-9F28-C95FD7320CCF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585719"/>
            <a:ext cx="3545904" cy="48780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ABACFA-84CB-CC44-A646-7F0DF6F2A8E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585719"/>
            <a:ext cx="3545904" cy="10018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5444-9415-8B44-BDED-298CF4DF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146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条件变量的使用示例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457200" y="2124010"/>
            <a:ext cx="45468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/* Wait empty slot */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while (</a:t>
            </a: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 == 0)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cond_wait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" pitchFamily="2" charset="0"/>
              </a:rPr>
              <a:t>empty_cond</a:t>
            </a:r>
            <a:r>
              <a:rPr lang="en-US" dirty="0">
                <a:latin typeface="Courier" pitchFamily="2" charset="0"/>
              </a:rPr>
              <a:t>,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--;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08D20-8DF4-6641-B42A-DFC03A2F604F}"/>
              </a:ext>
            </a:extLst>
          </p:cNvPr>
          <p:cNvSpPr/>
          <p:nvPr/>
        </p:nvSpPr>
        <p:spPr>
          <a:xfrm>
            <a:off x="1257673" y="15656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/>
              <a:t>等待空位</a:t>
            </a:r>
            <a:r>
              <a:rPr lang="zh-CN" altLang="en-US"/>
              <a:t>代码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F6E07-BAD2-C343-B8AE-316C2668E9F6}"/>
              </a:ext>
            </a:extLst>
          </p:cNvPr>
          <p:cNvSpPr/>
          <p:nvPr/>
        </p:nvSpPr>
        <p:spPr>
          <a:xfrm>
            <a:off x="4981272" y="2452454"/>
            <a:ext cx="39038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/* Add empty slot */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++;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cond_signal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empty_cond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A1416-2ECC-A04F-AB4A-9ADF898287D9}"/>
              </a:ext>
            </a:extLst>
          </p:cNvPr>
          <p:cNvSpPr/>
          <p:nvPr/>
        </p:nvSpPr>
        <p:spPr>
          <a:xfrm>
            <a:off x="5512504" y="1565643"/>
            <a:ext cx="2841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/>
              <a:t>生产空位</a:t>
            </a:r>
            <a:r>
              <a:rPr lang="zh-CN" altLang="en-US"/>
              <a:t>代码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73019-9964-2F40-A364-FD7BECCD0343}"/>
              </a:ext>
            </a:extLst>
          </p:cNvPr>
          <p:cNvSpPr/>
          <p:nvPr/>
        </p:nvSpPr>
        <p:spPr>
          <a:xfrm>
            <a:off x="827584" y="4812223"/>
            <a:ext cx="4433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思考：为什么这里要用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while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63F-A697-1E4D-B0D5-14116429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B51B-C06D-B048-8A52-D17D2702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88985FF6-9FAE-8044-9BE1-8F363BA4B562}"/>
              </a:ext>
            </a:extLst>
          </p:cNvPr>
          <p:cNvCxnSpPr/>
          <p:nvPr/>
        </p:nvCxnSpPr>
        <p:spPr>
          <a:xfrm>
            <a:off x="1257673" y="3258121"/>
            <a:ext cx="0" cy="174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28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条件变量的使用示例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4860032" y="3623889"/>
            <a:ext cx="4546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--; </a:t>
            </a:r>
          </a:p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08D20-8DF4-6641-B42A-DFC03A2F604F}"/>
              </a:ext>
            </a:extLst>
          </p:cNvPr>
          <p:cNvSpPr/>
          <p:nvPr/>
        </p:nvSpPr>
        <p:spPr>
          <a:xfrm>
            <a:off x="1257673" y="15656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线程 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73019-9964-2F40-A364-FD7BECCD0343}"/>
              </a:ext>
            </a:extLst>
          </p:cNvPr>
          <p:cNvSpPr/>
          <p:nvPr/>
        </p:nvSpPr>
        <p:spPr>
          <a:xfrm>
            <a:off x="2010544" y="1185618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思考：为什么这里要用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while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63F-A697-1E4D-B0D5-14116429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B2A0D-450A-2444-BCA3-0ADE76BC262D}"/>
              </a:ext>
            </a:extLst>
          </p:cNvPr>
          <p:cNvSpPr/>
          <p:nvPr/>
        </p:nvSpPr>
        <p:spPr>
          <a:xfrm>
            <a:off x="5294041" y="1554950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线程 </a:t>
            </a:r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B1F014-6550-CE4A-A6E0-9D0BE6226984}"/>
              </a:ext>
            </a:extLst>
          </p:cNvPr>
          <p:cNvSpPr/>
          <p:nvPr/>
        </p:nvSpPr>
        <p:spPr>
          <a:xfrm>
            <a:off x="313184" y="2220794"/>
            <a:ext cx="45468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if (</a:t>
            </a: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 == 0)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cond_wait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" pitchFamily="2" charset="0"/>
              </a:rPr>
              <a:t>empty_cond</a:t>
            </a:r>
            <a:r>
              <a:rPr lang="en-US" dirty="0">
                <a:latin typeface="Courier" pitchFamily="2" charset="0"/>
              </a:rPr>
              <a:t>,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</a:t>
            </a:r>
          </a:p>
          <a:p>
            <a:endParaRPr lang="en-US" dirty="0">
              <a:latin typeface="Courier" pitchFamily="2" charset="0"/>
            </a:endParaRP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--; </a:t>
            </a:r>
          </a:p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9E91D9-2669-DB41-BC0A-3E57F29D87E4}"/>
              </a:ext>
            </a:extLst>
          </p:cNvPr>
          <p:cNvCxnSpPr>
            <a:cxnSpLocks/>
          </p:cNvCxnSpPr>
          <p:nvPr/>
        </p:nvCxnSpPr>
        <p:spPr>
          <a:xfrm flipH="1">
            <a:off x="4510893" y="2920951"/>
            <a:ext cx="1418358" cy="5916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184542F-47A2-D54D-9A30-AD70F8705A66}"/>
              </a:ext>
            </a:extLst>
          </p:cNvPr>
          <p:cNvSpPr/>
          <p:nvPr/>
        </p:nvSpPr>
        <p:spPr>
          <a:xfrm>
            <a:off x="6300192" y="267283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有新的空位，唤醒</a:t>
            </a:r>
            <a:endParaRPr lang="en-C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E56797-C9D0-1A43-BFB3-0DD775F9774C}"/>
              </a:ext>
            </a:extLst>
          </p:cNvPr>
          <p:cNvCxnSpPr>
            <a:cxnSpLocks/>
          </p:cNvCxnSpPr>
          <p:nvPr/>
        </p:nvCxnSpPr>
        <p:spPr>
          <a:xfrm flipH="1" flipV="1">
            <a:off x="4498648" y="4395783"/>
            <a:ext cx="1265958" cy="337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09F213C-1165-7744-BE89-6FE0E6CE342B}"/>
              </a:ext>
            </a:extLst>
          </p:cNvPr>
          <p:cNvSpPr/>
          <p:nvPr/>
        </p:nvSpPr>
        <p:spPr>
          <a:xfrm>
            <a:off x="5929251" y="458206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重新拿到锁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C83C0F-9AE3-4F44-9DD2-E012088094A3}"/>
              </a:ext>
            </a:extLst>
          </p:cNvPr>
          <p:cNvSpPr/>
          <p:nvPr/>
        </p:nvSpPr>
        <p:spPr>
          <a:xfrm>
            <a:off x="6189584" y="3014227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empty_slot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 1</a:t>
            </a:r>
            <a:r>
              <a:rPr lang="en-US"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848E3-7399-FE4F-BCCD-0E2B770559A0}"/>
              </a:ext>
            </a:extLst>
          </p:cNvPr>
          <p:cNvSpPr/>
          <p:nvPr/>
        </p:nvSpPr>
        <p:spPr>
          <a:xfrm>
            <a:off x="6732240" y="4349755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empty_slot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 0</a:t>
            </a:r>
            <a:r>
              <a:rPr lang="en-US"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03C6B-EF9C-454C-818F-132D8E55479C}"/>
              </a:ext>
            </a:extLst>
          </p:cNvPr>
          <p:cNvSpPr/>
          <p:nvPr/>
        </p:nvSpPr>
        <p:spPr>
          <a:xfrm>
            <a:off x="1260070" y="500977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empty_slot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 -1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9AB01-3E43-E448-AB53-3E48AD13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793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信号量（</a:t>
            </a:r>
            <a:r>
              <a:rPr kumimoji="1" lang="en-US" altLang="zh-CN" dirty="0"/>
              <a:t>Semaphore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C75ECF-AAF1-3A43-BB7C-5B9F07E0F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0"/>
            <a:ext cx="2998539" cy="249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763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08268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生产者消费者问题的另一种实现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D90646-72B0-A04B-9E50-5934560DE651}"/>
              </a:ext>
            </a:extLst>
          </p:cNvPr>
          <p:cNvSpPr/>
          <p:nvPr/>
        </p:nvSpPr>
        <p:spPr>
          <a:xfrm>
            <a:off x="4140932" y="3234859"/>
            <a:ext cx="48245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while(true) {</a:t>
            </a:r>
          </a:p>
          <a:p>
            <a:r>
              <a:rPr lang="en-US" sz="1600" dirty="0">
                <a:latin typeface="Courier" pitchFamily="2" charset="0"/>
              </a:rPr>
              <a:t>	while (</a:t>
            </a:r>
            <a:r>
              <a:rPr lang="en-US" sz="1600" dirty="0" err="1">
                <a:solidFill>
                  <a:schemeClr val="accent1"/>
                </a:solidFill>
                <a:latin typeface="Courier" pitchFamily="2" charset="0"/>
              </a:rPr>
              <a:t>filled_slot</a:t>
            </a:r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sz="1600" dirty="0">
                <a:latin typeface="Courier" pitchFamily="2" charset="0"/>
              </a:rPr>
              <a:t>== 0)</a:t>
            </a:r>
          </a:p>
          <a:p>
            <a:r>
              <a:rPr lang="en-US" sz="1600" dirty="0">
                <a:latin typeface="Courier" pitchFamily="2" charset="0"/>
              </a:rPr>
              <a:t>		; /* No new data. */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solidFill>
                  <a:schemeClr val="accent1"/>
                </a:solidFill>
                <a:latin typeface="Courier" pitchFamily="2" charset="0"/>
              </a:rPr>
              <a:t>filled_slot</a:t>
            </a:r>
            <a:r>
              <a:rPr lang="en-US" sz="1600" dirty="0">
                <a:latin typeface="Courier" pitchFamily="2" charset="0"/>
              </a:rPr>
              <a:t>--;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latin typeface="Courier" pitchFamily="2" charset="0"/>
              </a:rPr>
              <a:t>cur_msg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buffer_remove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solidFill>
                  <a:schemeClr val="accent5"/>
                </a:solidFill>
                <a:latin typeface="Courier" pitchFamily="2" charset="0"/>
              </a:rPr>
              <a:t>empty_slot</a:t>
            </a:r>
            <a:r>
              <a:rPr lang="en-US" sz="1600" dirty="0">
                <a:latin typeface="Courier" pitchFamily="2" charset="0"/>
              </a:rPr>
              <a:t>++;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latin typeface="Courier" pitchFamily="2" charset="0"/>
              </a:rPr>
              <a:t>handle_msg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cur_msg</a:t>
            </a:r>
            <a:r>
              <a:rPr lang="en-US" sz="1600" dirty="0">
                <a:latin typeface="Courier" pitchFamily="2" charset="0"/>
              </a:rPr>
              <a:t>);</a:t>
            </a:r>
          </a:p>
          <a:p>
            <a:r>
              <a:rPr lang="en-US" sz="1600" dirty="0">
                <a:latin typeface="Courier" pitchFamily="2" charset="0"/>
              </a:rPr>
              <a:t>}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983AD-0F3D-C449-A2A8-28435278C93C}"/>
              </a:ext>
            </a:extLst>
          </p:cNvPr>
          <p:cNvSpPr/>
          <p:nvPr/>
        </p:nvSpPr>
        <p:spPr>
          <a:xfrm>
            <a:off x="537190" y="1272198"/>
            <a:ext cx="594302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>
                <a:latin typeface="Courier" pitchFamily="2" charset="0"/>
              </a:rPr>
              <a:t>while(true) {</a:t>
            </a:r>
          </a:p>
          <a:p>
            <a:r>
              <a:rPr lang="en-CN" sz="1600">
                <a:latin typeface="Courier" pitchFamily="2" charset="0"/>
              </a:rPr>
              <a:t>	new_msg = produce_new();</a:t>
            </a:r>
          </a:p>
          <a:p>
            <a:r>
              <a:rPr lang="en-CN" sz="1600">
                <a:latin typeface="Courier" pitchFamily="2" charset="0"/>
              </a:rPr>
              <a:t>	while (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empty_slot </a:t>
            </a:r>
            <a:r>
              <a:rPr lang="en-CN" sz="1600">
                <a:latin typeface="Courier" pitchFamily="2" charset="0"/>
              </a:rPr>
              <a:t>== 0)</a:t>
            </a:r>
          </a:p>
          <a:p>
            <a:r>
              <a:rPr lang="en-CN" sz="1600">
                <a:latin typeface="Courier" pitchFamily="2" charset="0"/>
              </a:rPr>
              <a:t>		; /* No more empty slot. */</a:t>
            </a:r>
          </a:p>
          <a:p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empty_slot</a:t>
            </a:r>
            <a:r>
              <a:rPr lang="en-CN" sz="1600">
                <a:latin typeface="Courier" pitchFamily="2" charset="0"/>
              </a:rPr>
              <a:t>--;</a:t>
            </a:r>
          </a:p>
          <a:p>
            <a:r>
              <a:rPr lang="en-CN" sz="1600">
                <a:latin typeface="Courier" pitchFamily="2" charset="0"/>
              </a:rPr>
              <a:t>	buffer_add(new_msg);</a:t>
            </a:r>
          </a:p>
          <a:p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filled_slot</a:t>
            </a:r>
            <a:r>
              <a:rPr lang="en-CN" sz="1600">
                <a:latin typeface="Courier" pitchFamily="2" charset="0"/>
              </a:rPr>
              <a:t>++;</a:t>
            </a:r>
          </a:p>
          <a:p>
            <a:r>
              <a:rPr lang="en-CN" sz="1600">
                <a:latin typeface="Courier" pitchFamily="2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CF80A-8C1D-204A-9EE1-30DC5AD6636C}"/>
              </a:ext>
            </a:extLst>
          </p:cNvPr>
          <p:cNvSpPr txBox="1"/>
          <p:nvPr/>
        </p:nvSpPr>
        <p:spPr>
          <a:xfrm>
            <a:off x="513750" y="972673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生产者：</a:t>
            </a:r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942DD0-D31D-5A4E-8654-F258F40BCDDF}"/>
              </a:ext>
            </a:extLst>
          </p:cNvPr>
          <p:cNvSpPr txBox="1"/>
          <p:nvPr/>
        </p:nvSpPr>
        <p:spPr>
          <a:xfrm>
            <a:off x="334780" y="3500399"/>
            <a:ext cx="2801137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思考：为了保护计数器并发正确，需要在哪里加锁？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为了避免忙等，在哪里用条件变量？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5B8C7B-F0BD-B240-9A04-804934EE3879}"/>
              </a:ext>
            </a:extLst>
          </p:cNvPr>
          <p:cNvSpPr txBox="1"/>
          <p:nvPr/>
        </p:nvSpPr>
        <p:spPr>
          <a:xfrm>
            <a:off x="3166406" y="3187559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消费者：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0032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08268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生产者消费者问题的另一种实现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983AD-0F3D-C449-A2A8-28435278C93C}"/>
              </a:ext>
            </a:extLst>
          </p:cNvPr>
          <p:cNvSpPr/>
          <p:nvPr/>
        </p:nvSpPr>
        <p:spPr>
          <a:xfrm>
            <a:off x="516927" y="1561356"/>
            <a:ext cx="749119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lock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600" dirty="0">
                <a:latin typeface="Courier" pitchFamily="2" charset="0"/>
              </a:rPr>
              <a:t>	while (</a:t>
            </a:r>
            <a:r>
              <a:rPr lang="en-CN" sz="1600" dirty="0">
                <a:solidFill>
                  <a:schemeClr val="accent5"/>
                </a:solidFill>
                <a:latin typeface="Courier" pitchFamily="2" charset="0"/>
              </a:rPr>
              <a:t>empty_slot </a:t>
            </a:r>
            <a:r>
              <a:rPr lang="en-CN" sz="1600" dirty="0">
                <a:latin typeface="Courier" pitchFamily="2" charset="0"/>
              </a:rPr>
              <a:t>== 0) </a:t>
            </a:r>
          </a:p>
          <a:p>
            <a:r>
              <a:rPr lang="en-CN" sz="1600" dirty="0">
                <a:latin typeface="Courier" pitchFamily="2" charset="0"/>
              </a:rPr>
              <a:t>	</a:t>
            </a:r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cond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_wait(&amp;empty_cond, &amp;empty_slot_lock);</a:t>
            </a:r>
          </a:p>
          <a:p>
            <a:r>
              <a:rPr lang="en-CN" sz="1600" dirty="0">
                <a:latin typeface="Courier" pitchFamily="2" charset="0"/>
              </a:rPr>
              <a:t>	</a:t>
            </a:r>
            <a:r>
              <a:rPr lang="en-CN" sz="1600" dirty="0">
                <a:solidFill>
                  <a:schemeClr val="accent5"/>
                </a:solidFill>
                <a:latin typeface="Courier" pitchFamily="2" charset="0"/>
              </a:rPr>
              <a:t>empty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_slot</a:t>
            </a:r>
            <a:r>
              <a:rPr lang="en-CN" sz="1600">
                <a:latin typeface="Courier" pitchFamily="2" charset="0"/>
              </a:rPr>
              <a:t>-</a:t>
            </a:r>
            <a:r>
              <a:rPr lang="en-CN" sz="1600" dirty="0">
                <a:latin typeface="Courier" pitchFamily="2" charset="0"/>
              </a:rPr>
              <a:t>-;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unlock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CF80A-8C1D-204A-9EE1-30DC5AD6636C}"/>
              </a:ext>
            </a:extLst>
          </p:cNvPr>
          <p:cNvSpPr txBox="1"/>
          <p:nvPr/>
        </p:nvSpPr>
        <p:spPr>
          <a:xfrm>
            <a:off x="513750" y="1120016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生产者：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FF294-4086-F449-828E-7D8D6E2DEEBD}"/>
              </a:ext>
            </a:extLst>
          </p:cNvPr>
          <p:cNvSpPr/>
          <p:nvPr/>
        </p:nvSpPr>
        <p:spPr>
          <a:xfrm>
            <a:off x="2171343" y="1120016"/>
            <a:ext cx="5468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使用</a:t>
            </a:r>
            <a:r>
              <a:rPr lang="zh-CN" altLang="en-US" dirty="0"/>
              <a:t> </a:t>
            </a:r>
            <a:r>
              <a:rPr lang="en-US" b="1" dirty="0" err="1">
                <a:solidFill>
                  <a:schemeClr val="accent1"/>
                </a:solidFill>
              </a:rPr>
              <a:t>互斥锁</a:t>
            </a:r>
            <a:r>
              <a:rPr lang="zh-CN" altLang="en-US" dirty="0"/>
              <a:t> 搭配 </a:t>
            </a:r>
            <a:r>
              <a:rPr lang="en-US" b="1" dirty="0">
                <a:solidFill>
                  <a:schemeClr val="accent1"/>
                </a:solidFill>
              </a:rPr>
              <a:t>条件变量</a:t>
            </a:r>
            <a:r>
              <a:rPr lang="zh-CN" altLang="en-US" dirty="0"/>
              <a:t> </a:t>
            </a:r>
            <a:r>
              <a:rPr lang="en-US" dirty="0"/>
              <a:t>完成资源的等待与消耗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65265-C0B8-964F-95A0-90C5352B487D}"/>
              </a:ext>
            </a:extLst>
          </p:cNvPr>
          <p:cNvSpPr/>
          <p:nvPr/>
        </p:nvSpPr>
        <p:spPr>
          <a:xfrm>
            <a:off x="513750" y="4460210"/>
            <a:ext cx="826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当前实现</a:t>
            </a:r>
            <a:r>
              <a:rPr lang="zh-CN" altLang="en-US" dirty="0">
                <a:solidFill>
                  <a:schemeClr val="accent1"/>
                </a:solidFill>
              </a:rPr>
              <a:t>：</a:t>
            </a:r>
            <a:r>
              <a:rPr lang="en-US" dirty="0" err="1">
                <a:solidFill>
                  <a:schemeClr val="accent1"/>
                </a:solidFill>
              </a:rPr>
              <a:t>需要单独创建互斥锁</a:t>
            </a:r>
            <a:r>
              <a:rPr lang="zh-CN" altLang="en-US" dirty="0">
                <a:solidFill>
                  <a:schemeClr val="accent1"/>
                </a:solidFill>
              </a:rPr>
              <a:t>与条件变量，并手动通过计数器来管理资源数量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3C70E6-8A3E-9C45-8B9D-E25EF5840994}"/>
              </a:ext>
            </a:extLst>
          </p:cNvPr>
          <p:cNvSpPr/>
          <p:nvPr/>
        </p:nvSpPr>
        <p:spPr>
          <a:xfrm>
            <a:off x="1284786" y="4874181"/>
            <a:ext cx="664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为何不提出</a:t>
            </a:r>
            <a:r>
              <a:rPr lang="en-US" dirty="0" err="1"/>
              <a:t>一种</a:t>
            </a:r>
            <a:r>
              <a:rPr lang="en-CN"/>
              <a:t>新的同步原语</a:t>
            </a:r>
            <a:r>
              <a:rPr lang="zh-CN" altLang="en-US" dirty="0"/>
              <a:t>，便于在多个线程之间</a:t>
            </a:r>
            <a:r>
              <a:rPr lang="zh-CN" altLang="en-US" b="1" dirty="0"/>
              <a:t>管理资源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67ECC5EE-96EF-614C-9B50-9611373AF466}"/>
              </a:ext>
            </a:extLst>
          </p:cNvPr>
          <p:cNvSpPr/>
          <p:nvPr/>
        </p:nvSpPr>
        <p:spPr>
          <a:xfrm>
            <a:off x="1308783" y="2129502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9A5B3F9D-19D3-7A4B-8AD0-FBE06E63083B}"/>
              </a:ext>
            </a:extLst>
          </p:cNvPr>
          <p:cNvSpPr/>
          <p:nvPr/>
        </p:nvSpPr>
        <p:spPr>
          <a:xfrm>
            <a:off x="1311154" y="2616258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AA0800F-926B-4040-8143-32F4E132773F}"/>
              </a:ext>
            </a:extLst>
          </p:cNvPr>
          <p:cNvSpPr/>
          <p:nvPr/>
        </p:nvSpPr>
        <p:spPr>
          <a:xfrm>
            <a:off x="1308783" y="3103014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4520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5240231" cy="900442"/>
          </a:xfrm>
        </p:spPr>
        <p:txBody>
          <a:bodyPr/>
          <a:lstStyle/>
          <a:p>
            <a:r>
              <a:rPr lang="zh-CN" altLang="en-US" dirty="0"/>
              <a:t>信号量 （</a:t>
            </a:r>
            <a:r>
              <a:rPr lang="en-US" altLang="zh-CN" dirty="0"/>
              <a:t>PV</a:t>
            </a:r>
            <a:r>
              <a:rPr lang="zh-CN" altLang="en-US" dirty="0"/>
              <a:t>原语）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3409456" y="254973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wait(sem_t *sem) {</a:t>
            </a:r>
          </a:p>
          <a:p>
            <a:r>
              <a:rPr lang="en-CN">
                <a:latin typeface="Courier" pitchFamily="2" charset="0"/>
              </a:rPr>
              <a:t>	while(sem-&gt;</a:t>
            </a:r>
            <a:r>
              <a:rPr lang="en-CN" b="1">
                <a:latin typeface="Courier" pitchFamily="2" charset="0"/>
              </a:rPr>
              <a:t>cnt</a:t>
            </a:r>
            <a:r>
              <a:rPr lang="en-CN">
                <a:latin typeface="Courier" pitchFamily="2" charset="0"/>
              </a:rPr>
              <a:t> &lt;= 0)</a:t>
            </a:r>
          </a:p>
          <a:p>
            <a:r>
              <a:rPr lang="en-CN">
                <a:latin typeface="Courier" pitchFamily="2" charset="0"/>
              </a:rPr>
              <a:t>		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* </a:t>
            </a:r>
            <a:r>
              <a:rPr lang="en-US" altLang="zh-CN" dirty="0">
                <a:latin typeface="Courier" pitchFamily="2" charset="0"/>
              </a:rPr>
              <a:t>Waiting */</a:t>
            </a:r>
            <a:r>
              <a:rPr lang="en-CN">
                <a:latin typeface="Courier" pitchFamily="2" charset="0"/>
              </a:rPr>
              <a:t>;</a:t>
            </a:r>
          </a:p>
          <a:p>
            <a:r>
              <a:rPr lang="en-CN">
                <a:latin typeface="Courier" pitchFamily="2" charset="0"/>
              </a:rPr>
              <a:t>	S--; 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3349053" y="1250616"/>
            <a:ext cx="5583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语义上：信号量的值</a:t>
            </a:r>
            <a:r>
              <a:rPr lang="en-US" altLang="zh-CN" dirty="0" err="1">
                <a:latin typeface="Courier" pitchFamily="2" charset="0"/>
              </a:rPr>
              <a:t>cnt</a:t>
            </a:r>
            <a:r>
              <a:rPr lang="zh-CN" altLang="en-US" dirty="0">
                <a:latin typeface="Courier" pitchFamily="2" charset="0"/>
              </a:rPr>
              <a:t>记录了</a:t>
            </a:r>
            <a:r>
              <a:rPr lang="zh-CN" altLang="en-US" b="1" dirty="0">
                <a:latin typeface="Courier" pitchFamily="2" charset="0"/>
              </a:rPr>
              <a:t>当前可用资源的数量</a:t>
            </a:r>
            <a:endParaRPr lang="en-US" altLang="zh-CN" b="1" dirty="0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5697431" y="255351"/>
            <a:ext cx="3185487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Courier" pitchFamily="2" charset="0"/>
              </a:rPr>
              <a:t>信号量</a:t>
            </a:r>
            <a:r>
              <a:rPr lang="zh-CN" altLang="en-US" dirty="0">
                <a:latin typeface="Courier" pitchFamily="2" charset="0"/>
              </a:rPr>
              <a:t>：协调（阻塞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</a:t>
            </a:r>
            <a:endParaRPr lang="en-US" altLang="zh-CN" dirty="0">
              <a:latin typeface="Courier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多个线程共享有限数量的资源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4276658" y="2217180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 dirty="0">
                <a:latin typeface="Courier" pitchFamily="2" charset="0"/>
              </a:rPr>
              <a:t>P</a:t>
            </a:r>
            <a:r>
              <a:rPr lang="zh-CN" altLang="en-CN" b="1" dirty="0">
                <a:latin typeface="Courier" pitchFamily="2" charset="0"/>
              </a:rPr>
              <a:t>操作</a:t>
            </a:r>
            <a:r>
              <a:rPr lang="zh-CN" altLang="en-US" b="1" dirty="0">
                <a:latin typeface="Courier" pitchFamily="2" charset="0"/>
              </a:rPr>
              <a:t>：消耗资源</a:t>
            </a:r>
            <a:endParaRPr lang="en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57ED6-6891-B044-A51B-B1FA9321A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10" y="1680861"/>
            <a:ext cx="1938351" cy="25859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3DFB75-F4AB-9740-8FA2-8E0DC0AAD62F}"/>
              </a:ext>
            </a:extLst>
          </p:cNvPr>
          <p:cNvSpPr/>
          <p:nvPr/>
        </p:nvSpPr>
        <p:spPr>
          <a:xfrm>
            <a:off x="262311" y="4383654"/>
            <a:ext cx="19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Linux Libertine"/>
              </a:rPr>
              <a:t>Edsger</a:t>
            </a:r>
            <a:r>
              <a:rPr lang="en-US" dirty="0">
                <a:solidFill>
                  <a:srgbClr val="000000"/>
                </a:solidFill>
                <a:latin typeface="Linux Libertine"/>
              </a:rPr>
              <a:t> W. Dijkstra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99E74-55F5-6F43-BB37-2D993E399780}"/>
              </a:ext>
            </a:extLst>
          </p:cNvPr>
          <p:cNvSpPr/>
          <p:nvPr/>
        </p:nvSpPr>
        <p:spPr>
          <a:xfrm>
            <a:off x="3334871" y="1741256"/>
            <a:ext cx="4842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提供了两个原语 </a:t>
            </a:r>
            <a:r>
              <a:rPr lang="en-US" altLang="zh-CN" dirty="0">
                <a:latin typeface="Courier" pitchFamily="2" charset="0"/>
              </a:rPr>
              <a:t>P</a:t>
            </a:r>
            <a:r>
              <a:rPr lang="zh-CN" altLang="en-US" dirty="0">
                <a:latin typeface="Courier" pitchFamily="2" charset="0"/>
              </a:rPr>
              <a:t> 和 </a:t>
            </a:r>
            <a:r>
              <a:rPr lang="en-US" altLang="zh-CN" dirty="0">
                <a:latin typeface="Courier" pitchFamily="2" charset="0"/>
              </a:rPr>
              <a:t>V</a:t>
            </a:r>
            <a:r>
              <a:rPr lang="zh-CN" altLang="en-US" dirty="0">
                <a:latin typeface="Courier" pitchFamily="2" charset="0"/>
              </a:rPr>
              <a:t> 用于</a:t>
            </a:r>
            <a:r>
              <a:rPr lang="zh-CN" altLang="en-US" b="1" dirty="0">
                <a:latin typeface="Courier" pitchFamily="2" charset="0"/>
              </a:rPr>
              <a:t>等待</a:t>
            </a:r>
            <a:r>
              <a:rPr lang="en-US" altLang="zh-CN" b="1" dirty="0">
                <a:latin typeface="Courier" pitchFamily="2" charset="0"/>
              </a:rPr>
              <a:t>/</a:t>
            </a:r>
            <a:r>
              <a:rPr lang="zh-CN" altLang="en-US" b="1" dirty="0">
                <a:latin typeface="Courier" pitchFamily="2" charset="0"/>
              </a:rPr>
              <a:t>消耗</a:t>
            </a:r>
            <a:r>
              <a:rPr lang="zh-CN" altLang="en-US" dirty="0">
                <a:latin typeface="Courier" pitchFamily="2" charset="0"/>
              </a:rPr>
              <a:t>资源</a:t>
            </a:r>
            <a:endParaRPr lang="en-US" altLang="zh-CN" b="1" dirty="0">
              <a:latin typeface="Courier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2C8808-6E84-AD4E-A792-50BB8A6D73C4}"/>
              </a:ext>
            </a:extLst>
          </p:cNvPr>
          <p:cNvSpPr/>
          <p:nvPr/>
        </p:nvSpPr>
        <p:spPr>
          <a:xfrm>
            <a:off x="6403758" y="3657727"/>
            <a:ext cx="2444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Courier" pitchFamily="2" charset="0"/>
              </a:rPr>
              <a:t>cnt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代表剩余资源数量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7A4258-79C3-934A-AD52-798DA545A4A1}"/>
              </a:ext>
            </a:extLst>
          </p:cNvPr>
          <p:cNvCxnSpPr>
            <a:cxnSpLocks/>
          </p:cNvCxnSpPr>
          <p:nvPr/>
        </p:nvCxnSpPr>
        <p:spPr>
          <a:xfrm flipH="1" flipV="1">
            <a:off x="6215009" y="3115979"/>
            <a:ext cx="338191" cy="58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0C6E2C1-F19C-AC48-8071-32AF93E0D07E}"/>
              </a:ext>
            </a:extLst>
          </p:cNvPr>
          <p:cNvSpPr txBox="1"/>
          <p:nvPr/>
        </p:nvSpPr>
        <p:spPr>
          <a:xfrm>
            <a:off x="107504" y="4873724"/>
            <a:ext cx="2934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操作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：荷兰语</a:t>
            </a:r>
            <a:r>
              <a:rPr lang="en" altLang="zh-CN" sz="1200" b="0" i="0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Passeren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，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相当于</a:t>
            </a:r>
            <a:r>
              <a:rPr lang="en" altLang="zh-C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pass</a:t>
            </a:r>
            <a:endParaRPr lang="zh-CN" alt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1351F-9D04-8947-ACDC-C46B53BD562D}"/>
              </a:ext>
            </a:extLst>
          </p:cNvPr>
          <p:cNvSpPr/>
          <p:nvPr/>
        </p:nvSpPr>
        <p:spPr>
          <a:xfrm>
            <a:off x="3713871" y="5261493"/>
            <a:ext cx="40831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Courier" pitchFamily="2" charset="0"/>
              </a:rPr>
              <a:t>注意：此处代码只展示语义，并非真实实现</a:t>
            </a:r>
            <a:endParaRPr lang="en-US" altLang="zh-CN" sz="1600" dirty="0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B7D80B-F7BC-354E-A9F1-976913AA6BF3}"/>
              </a:ext>
            </a:extLst>
          </p:cNvPr>
          <p:cNvSpPr txBox="1"/>
          <p:nvPr/>
        </p:nvSpPr>
        <p:spPr>
          <a:xfrm>
            <a:off x="107504" y="5122994"/>
            <a:ext cx="3161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333333"/>
                </a:solidFill>
                <a:latin typeface="Helvetica Neue" panose="02000503000000020004" pitchFamily="2" charset="0"/>
              </a:rPr>
              <a:t>V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操作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：荷兰语</a:t>
            </a:r>
            <a:r>
              <a:rPr lang="en" altLang="zh-CN" sz="1200" dirty="0" err="1"/>
              <a:t>Verhoog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，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相当于</a:t>
            </a:r>
            <a:r>
              <a:rPr lang="en" altLang="zh-CN" sz="1200" dirty="0"/>
              <a:t>increment</a:t>
            </a:r>
            <a:endParaRPr lang="zh-CN" altLang="en-US" sz="1200" dirty="0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3AE0205-6667-D24A-8168-F53FE4958197}"/>
              </a:ext>
            </a:extLst>
          </p:cNvPr>
          <p:cNvSpPr/>
          <p:nvPr/>
        </p:nvSpPr>
        <p:spPr>
          <a:xfrm>
            <a:off x="4276658" y="3994434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 dirty="0">
                <a:latin typeface="Courier" pitchFamily="2" charset="0"/>
              </a:rPr>
              <a:t>V</a:t>
            </a:r>
            <a:r>
              <a:rPr lang="zh-CN" altLang="en-CN" b="1" dirty="0">
                <a:latin typeface="Courier" pitchFamily="2" charset="0"/>
              </a:rPr>
              <a:t>操作</a:t>
            </a:r>
            <a:r>
              <a:rPr lang="zh-CN" altLang="en-US" b="1" dirty="0">
                <a:latin typeface="Courier" pitchFamily="2" charset="0"/>
              </a:rPr>
              <a:t>：增加资源</a:t>
            </a:r>
            <a:endParaRPr lang="en-CN" b="1" dirty="0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CEC06D5E-2421-6C40-A25D-15EBC9CE0CFC}"/>
              </a:ext>
            </a:extLst>
          </p:cNvPr>
          <p:cNvSpPr/>
          <p:nvPr/>
        </p:nvSpPr>
        <p:spPr>
          <a:xfrm>
            <a:off x="3419872" y="438244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sem_signal(sem_t *sem) {</a:t>
            </a:r>
          </a:p>
          <a:p>
            <a:r>
              <a:rPr lang="en-CN">
                <a:latin typeface="Courier" pitchFamily="2" charset="0"/>
              </a:rPr>
              <a:t>	sem-&gt;cnt++;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64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415712" y="3361556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producer(void) {</a:t>
            </a:r>
          </a:p>
          <a:p>
            <a:r>
              <a:rPr lang="en-US">
                <a:latin typeface="Courier" pitchFamily="2" charset="0"/>
              </a:rPr>
              <a:t>	new_msg = produce_new();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>
                <a:latin typeface="Courier" pitchFamily="2" charset="0"/>
              </a:rPr>
              <a:t>(&amp;empty_slot_sem);</a:t>
            </a:r>
          </a:p>
          <a:p>
            <a:r>
              <a:rPr lang="en-US">
                <a:latin typeface="Courier" pitchFamily="2" charset="0"/>
              </a:rPr>
              <a:t>	buffer_add(new_msg); 	</a:t>
            </a:r>
          </a:p>
          <a:p>
            <a:r>
              <a:rPr lang="en-US">
                <a:latin typeface="Courier" pitchFamily="2" charset="0"/>
              </a:rPr>
              <a:t>       </a:t>
            </a:r>
            <a:r>
              <a:rPr lang="en-CN" dirty="0">
                <a:latin typeface="Courier" pitchFamily="2" charset="0"/>
              </a:rPr>
              <a:t>// ...</a:t>
            </a:r>
          </a:p>
          <a:p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5540743" y="3920185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C30F9-B691-AB4C-9137-172F45B35DA9}"/>
              </a:ext>
            </a:extLst>
          </p:cNvPr>
          <p:cNvSpPr/>
          <p:nvPr/>
        </p:nvSpPr>
        <p:spPr>
          <a:xfrm>
            <a:off x="3635896" y="123376"/>
            <a:ext cx="74911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lock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while (empty_slot == 0) 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</a:t>
            </a:r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	cond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_wait(&amp;empty_cond,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                     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empty_slot --;</a:t>
            </a:r>
          </a:p>
          <a:p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	unlock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E88CAC-D282-5A4B-B0F0-C4F86E159DAF}"/>
              </a:ext>
            </a:extLst>
          </p:cNvPr>
          <p:cNvCxnSpPr/>
          <p:nvPr/>
        </p:nvCxnSpPr>
        <p:spPr>
          <a:xfrm flipH="1">
            <a:off x="2051720" y="1361104"/>
            <a:ext cx="2483296" cy="26485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5CB8E0D-007E-CB46-A283-1F536405BE6D}"/>
              </a:ext>
            </a:extLst>
          </p:cNvPr>
          <p:cNvSpPr/>
          <p:nvPr/>
        </p:nvSpPr>
        <p:spPr>
          <a:xfrm>
            <a:off x="1400502" y="1891944"/>
            <a:ext cx="21329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使用</a:t>
            </a:r>
            <a:r>
              <a:rPr lang="zh-CN" altLang="en-US">
                <a:latin typeface="Courier" pitchFamily="2" charset="0"/>
              </a:rPr>
              <a:t>信号量可以将其压缩到</a:t>
            </a:r>
            <a:r>
              <a:rPr lang="zh-CN" altLang="en-US" b="1">
                <a:latin typeface="Courier" pitchFamily="2" charset="0"/>
              </a:rPr>
              <a:t>一行代码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3814761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847654" y="1361104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void producer(void) {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new_msg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produce_new</a:t>
            </a:r>
            <a:r>
              <a:rPr lang="en-US" dirty="0">
                <a:latin typeface="Courier" pitchFamily="2" charset="0"/>
              </a:rPr>
              <a:t>();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empty_slot_sem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buffer_add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new_msg</a:t>
            </a:r>
            <a:r>
              <a:rPr lang="en-US" dirty="0">
                <a:latin typeface="Courier" pitchFamily="2" charset="0"/>
              </a:rPr>
              <a:t>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filled_slot_sem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CB56D-2A50-EC49-BB9D-46342C582C8D}"/>
              </a:ext>
            </a:extLst>
          </p:cNvPr>
          <p:cNvSpPr/>
          <p:nvPr/>
        </p:nvSpPr>
        <p:spPr>
          <a:xfrm>
            <a:off x="908614" y="3347226"/>
            <a:ext cx="52272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void consumer(void) {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filled_slot_sem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cur_msg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buffer_remove</a:t>
            </a:r>
            <a:r>
              <a:rPr lang="en-US" dirty="0">
                <a:latin typeface="Courier" pitchFamily="2" charset="0"/>
              </a:rPr>
              <a:t>();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empty_slot_sem</a:t>
            </a:r>
            <a:r>
              <a:rPr lang="en-US" dirty="0">
                <a:latin typeface="Courier" pitchFamily="2" charset="0"/>
              </a:rPr>
              <a:t>); 	</a:t>
            </a:r>
            <a:r>
              <a:rPr lang="en-US" dirty="0" err="1">
                <a:latin typeface="Courier" pitchFamily="2" charset="0"/>
              </a:rPr>
              <a:t>handle_msg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cur_msg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6271433" y="1889761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950C3-1122-E94D-8703-4343893FEDB4}"/>
              </a:ext>
            </a:extLst>
          </p:cNvPr>
          <p:cNvSpPr/>
          <p:nvPr/>
        </p:nvSpPr>
        <p:spPr>
          <a:xfrm>
            <a:off x="6273809" y="2482860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7D6F5A-9460-1445-BBDD-48CE7C945E4D}"/>
              </a:ext>
            </a:extLst>
          </p:cNvPr>
          <p:cNvSpPr/>
          <p:nvPr/>
        </p:nvSpPr>
        <p:spPr>
          <a:xfrm>
            <a:off x="6287415" y="353562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A4F1A-B21D-3D41-B357-1D55D057E5CE}"/>
              </a:ext>
            </a:extLst>
          </p:cNvPr>
          <p:cNvSpPr/>
          <p:nvPr/>
        </p:nvSpPr>
        <p:spPr>
          <a:xfrm>
            <a:off x="6271433" y="4235384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50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二元信号量与计数信号量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47778-B9EA-D74C-887C-E48A103EFCE6}"/>
              </a:ext>
            </a:extLst>
          </p:cNvPr>
          <p:cNvSpPr/>
          <p:nvPr/>
        </p:nvSpPr>
        <p:spPr>
          <a:xfrm>
            <a:off x="539552" y="1350394"/>
            <a:ext cx="6192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sem_</a:t>
            </a:r>
            <a:r>
              <a:rPr lang="en-US" altLang="zh-CN">
                <a:latin typeface="Courier" pitchFamily="2" charset="0"/>
              </a:rPr>
              <a:t>init</a:t>
            </a:r>
            <a:r>
              <a:rPr lang="en-CN">
                <a:latin typeface="Courier" pitchFamily="2" charset="0"/>
              </a:rPr>
              <a:t>(sem_t *sem, int init_cnt) {</a:t>
            </a:r>
          </a:p>
          <a:p>
            <a:r>
              <a:rPr lang="en-CN">
                <a:latin typeface="Courier" pitchFamily="2" charset="0"/>
              </a:rPr>
              <a:t>    sem-&gt;cnt = init_cnt;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7F0180-170E-714A-8D46-D8075580CB4D}"/>
              </a:ext>
            </a:extLst>
          </p:cNvPr>
          <p:cNvCxnSpPr>
            <a:cxnSpLocks/>
          </p:cNvCxnSpPr>
          <p:nvPr/>
        </p:nvCxnSpPr>
        <p:spPr>
          <a:xfrm flipV="1">
            <a:off x="4237997" y="1705372"/>
            <a:ext cx="838059" cy="7200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7DFBD-75DA-D34A-A0AC-F8C538B68FA5}"/>
              </a:ext>
            </a:extLst>
          </p:cNvPr>
          <p:cNvSpPr/>
          <p:nvPr/>
        </p:nvSpPr>
        <p:spPr>
          <a:xfrm>
            <a:off x="623668" y="2638063"/>
            <a:ext cx="4477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当初始化的资源数量为</a:t>
            </a:r>
            <a:r>
              <a:rPr lang="en-US" altLang="zh-CN" b="1" dirty="0">
                <a:latin typeface="Courier" pitchFamily="2" charset="0"/>
              </a:rPr>
              <a:t>1</a:t>
            </a:r>
            <a:r>
              <a:rPr lang="zh-CN" altLang="en-US" b="1" dirty="0">
                <a:latin typeface="Courier" pitchFamily="2" charset="0"/>
              </a:rPr>
              <a:t>时，为</a:t>
            </a:r>
            <a:r>
              <a:rPr lang="zh-CN" altLang="en-US" b="1" dirty="0">
                <a:solidFill>
                  <a:schemeClr val="accent1"/>
                </a:solidFill>
                <a:latin typeface="Courier" pitchFamily="2" charset="0"/>
              </a:rPr>
              <a:t>二元信号量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E53F3-506B-7846-B608-220DA3313F6C}"/>
              </a:ext>
            </a:extLst>
          </p:cNvPr>
          <p:cNvSpPr/>
          <p:nvPr/>
        </p:nvSpPr>
        <p:spPr>
          <a:xfrm>
            <a:off x="1044317" y="3036521"/>
            <a:ext cx="6981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其计数器</a:t>
            </a:r>
            <a:r>
              <a:rPr lang="zh-CN" altLang="en-US" dirty="0"/>
              <a:t>（</a:t>
            </a:r>
            <a:r>
              <a:rPr lang="en-US" altLang="zh-CN" dirty="0"/>
              <a:t>counter</a:t>
            </a:r>
            <a:r>
              <a:rPr lang="zh-CN" altLang="en-US" dirty="0"/>
              <a:t>）</a:t>
            </a:r>
            <a:r>
              <a:rPr lang="en-CN"/>
              <a:t>只有可能为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两个值，故被称为二元信号量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2286F5-EC7E-1D40-9148-E7C00BDD39F6}"/>
              </a:ext>
            </a:extLst>
          </p:cNvPr>
          <p:cNvSpPr/>
          <p:nvPr/>
        </p:nvSpPr>
        <p:spPr>
          <a:xfrm>
            <a:off x="1619673" y="3512093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同一时刻</a:t>
            </a:r>
            <a:r>
              <a:rPr lang="en-CN" b="1"/>
              <a:t>只有一个</a:t>
            </a:r>
            <a:r>
              <a:rPr lang="en-CN"/>
              <a:t>线程能够拿到资源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C8E94D-F4BF-4B48-BC1C-5C5683A09794}"/>
              </a:ext>
            </a:extLst>
          </p:cNvPr>
          <p:cNvSpPr/>
          <p:nvPr/>
        </p:nvSpPr>
        <p:spPr>
          <a:xfrm>
            <a:off x="623668" y="4034828"/>
            <a:ext cx="4708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当初始化的资源数量大于</a:t>
            </a:r>
            <a:r>
              <a:rPr lang="en-US" altLang="zh-CN" b="1" dirty="0">
                <a:latin typeface="Courier" pitchFamily="2" charset="0"/>
              </a:rPr>
              <a:t>1</a:t>
            </a:r>
            <a:r>
              <a:rPr lang="zh-CN" altLang="en-US" b="1" dirty="0">
                <a:latin typeface="Courier" pitchFamily="2" charset="0"/>
              </a:rPr>
              <a:t>时，为</a:t>
            </a:r>
            <a:r>
              <a:rPr lang="zh-CN" altLang="en-US" b="1" dirty="0">
                <a:solidFill>
                  <a:schemeClr val="accent1"/>
                </a:solidFill>
                <a:latin typeface="Courier" pitchFamily="2" charset="0"/>
              </a:rPr>
              <a:t>计数信号量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E0991-5B3D-3A42-AA38-0F6BB85D7FA9}"/>
              </a:ext>
            </a:extLst>
          </p:cNvPr>
          <p:cNvSpPr/>
          <p:nvPr/>
        </p:nvSpPr>
        <p:spPr>
          <a:xfrm>
            <a:off x="1619672" y="4510893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同一时刻</a:t>
            </a:r>
            <a:r>
              <a:rPr lang="en-CN" b="1"/>
              <a:t>可能有多个</a:t>
            </a:r>
            <a:r>
              <a:rPr lang="en-CN"/>
              <a:t>线程能够拿到资源</a:t>
            </a:r>
          </a:p>
        </p:txBody>
      </p:sp>
    </p:spTree>
    <p:extLst>
      <p:ext uri="{BB962C8B-B14F-4D97-AF65-F5344CB8AC3E}">
        <p14:creationId xmlns:p14="http://schemas.microsoft.com/office/powerpoint/2010/main" val="1292219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读写锁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87356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6247-E67C-8947-A16A-26B8BF3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公告</a:t>
            </a:r>
            <a:r>
              <a:rPr lang="zh-CN" altLang="en-US"/>
              <a:t>栏问题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266B-3594-3C42-8715-72C054320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6329-40F4-F14D-8AE2-D6E6AC18D720}"/>
              </a:ext>
            </a:extLst>
          </p:cNvPr>
          <p:cNvSpPr/>
          <p:nvPr/>
        </p:nvSpPr>
        <p:spPr>
          <a:xfrm>
            <a:off x="2195735" y="1657372"/>
            <a:ext cx="216024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组合 11">
            <a:extLst>
              <a:ext uri="{FF2B5EF4-FFF2-40B4-BE49-F238E27FC236}">
                <a16:creationId xmlns:a16="http://schemas.microsoft.com/office/drawing/2014/main" id="{4F3A1D51-B2C6-D841-9ED5-AFBC06B86F5A}"/>
              </a:ext>
            </a:extLst>
          </p:cNvPr>
          <p:cNvGrpSpPr/>
          <p:nvPr/>
        </p:nvGrpSpPr>
        <p:grpSpPr>
          <a:xfrm>
            <a:off x="2096617" y="3624436"/>
            <a:ext cx="914400" cy="914400"/>
            <a:chOff x="2942911" y="3835579"/>
            <a:chExt cx="914400" cy="914400"/>
          </a:xfrm>
        </p:grpSpPr>
        <p:pic>
          <p:nvPicPr>
            <p:cNvPr id="7" name="图形 12" descr="用户">
              <a:extLst>
                <a:ext uri="{FF2B5EF4-FFF2-40B4-BE49-F238E27FC236}">
                  <a16:creationId xmlns:a16="http://schemas.microsoft.com/office/drawing/2014/main" id="{A76F0A6C-AE18-7448-BF27-936272CE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3BA3E760-551C-594A-9FDA-079AD44976F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53557B9C-E499-FE43-BA3A-799DCBBB2A3A}"/>
              </a:ext>
            </a:extLst>
          </p:cNvPr>
          <p:cNvGrpSpPr/>
          <p:nvPr/>
        </p:nvGrpSpPr>
        <p:grpSpPr>
          <a:xfrm>
            <a:off x="2771800" y="3898295"/>
            <a:ext cx="914400" cy="914400"/>
            <a:chOff x="2942911" y="3835579"/>
            <a:chExt cx="914400" cy="914400"/>
          </a:xfrm>
        </p:grpSpPr>
        <p:pic>
          <p:nvPicPr>
            <p:cNvPr id="10" name="图形 12" descr="用户">
              <a:extLst>
                <a:ext uri="{FF2B5EF4-FFF2-40B4-BE49-F238E27FC236}">
                  <a16:creationId xmlns:a16="http://schemas.microsoft.com/office/drawing/2014/main" id="{DF5F8B01-6DE4-7942-B368-8A0E266D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3">
              <a:extLst>
                <a:ext uri="{FF2B5EF4-FFF2-40B4-BE49-F238E27FC236}">
                  <a16:creationId xmlns:a16="http://schemas.microsoft.com/office/drawing/2014/main" id="{15B4A4B5-FF06-D746-8386-CAADF89750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197C95-2E59-EB44-8C0C-DF5FAC9A7825}"/>
              </a:ext>
            </a:extLst>
          </p:cNvPr>
          <p:cNvGrpSpPr/>
          <p:nvPr/>
        </p:nvGrpSpPr>
        <p:grpSpPr>
          <a:xfrm>
            <a:off x="3275856" y="3469441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712344EF-0948-CF46-AB23-7C10634F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CEB6A6-1634-8249-B457-BB933F08743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5" name="组合 11">
            <a:extLst>
              <a:ext uri="{FF2B5EF4-FFF2-40B4-BE49-F238E27FC236}">
                <a16:creationId xmlns:a16="http://schemas.microsoft.com/office/drawing/2014/main" id="{53395B6C-3465-054D-AD77-A850C7B92E9C}"/>
              </a:ext>
            </a:extLst>
          </p:cNvPr>
          <p:cNvGrpSpPr/>
          <p:nvPr/>
        </p:nvGrpSpPr>
        <p:grpSpPr>
          <a:xfrm>
            <a:off x="2566628" y="3289361"/>
            <a:ext cx="914400" cy="914400"/>
            <a:chOff x="2942911" y="3835579"/>
            <a:chExt cx="914400" cy="914400"/>
          </a:xfrm>
        </p:grpSpPr>
        <p:pic>
          <p:nvPicPr>
            <p:cNvPr id="16" name="图形 12" descr="用户">
              <a:extLst>
                <a:ext uri="{FF2B5EF4-FFF2-40B4-BE49-F238E27FC236}">
                  <a16:creationId xmlns:a16="http://schemas.microsoft.com/office/drawing/2014/main" id="{EB970B09-D0A8-5648-BC63-02810473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71C3E83-48F6-B64F-8812-106B3C3E284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BCB007-B589-F441-8A72-0C187571A25B}"/>
              </a:ext>
            </a:extLst>
          </p:cNvPr>
          <p:cNvSpPr txBox="1"/>
          <p:nvPr/>
        </p:nvSpPr>
        <p:spPr>
          <a:xfrm>
            <a:off x="2837273" y="1756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公告栏</a:t>
            </a:r>
            <a:endParaRPr lang="en-CN"/>
          </a:p>
        </p:txBody>
      </p:sp>
      <p:pic>
        <p:nvPicPr>
          <p:cNvPr id="20" name="Picture 1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FBB90C97-7E6C-174B-ADD5-1D7C5DF6E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1023"/>
            <a:ext cx="847713" cy="1043055"/>
          </a:xfrm>
          <a:prstGeom prst="rect">
            <a:avLst/>
          </a:prstGeom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83ACD2AD-8ABD-8940-8E85-146801BF55F3}"/>
              </a:ext>
            </a:extLst>
          </p:cNvPr>
          <p:cNvSpPr/>
          <p:nvPr/>
        </p:nvSpPr>
        <p:spPr>
          <a:xfrm>
            <a:off x="351946" y="1311883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这个公告栏要撤走了</a:t>
            </a:r>
            <a:endParaRPr lang="en-US" altLang="zh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BD78E337-A03D-124C-8649-213F8533BF0D}"/>
              </a:ext>
            </a:extLst>
          </p:cNvPr>
          <p:cNvSpPr/>
          <p:nvPr/>
        </p:nvSpPr>
        <p:spPr>
          <a:xfrm>
            <a:off x="4137974" y="3469441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200">
                <a:solidFill>
                  <a:schemeClr val="tx1"/>
                </a:solidFill>
                <a:latin typeface="+mn-ea"/>
              </a:rPr>
              <a:t>别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挤，再挤就看不到了</a:t>
            </a:r>
            <a:endParaRPr lang="en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A5574-FE9E-A84D-83D1-58B6C85B07BE}"/>
              </a:ext>
            </a:extLst>
          </p:cNvPr>
          <p:cNvSpPr/>
          <p:nvPr/>
        </p:nvSpPr>
        <p:spPr>
          <a:xfrm>
            <a:off x="4836023" y="2502925"/>
            <a:ext cx="3659832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思考：如何避免读者看到一半就被写者撤走了，我们怎么办？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FD460-0ABA-9949-941C-61FF251426F6}"/>
              </a:ext>
            </a:extLst>
          </p:cNvPr>
          <p:cNvSpPr/>
          <p:nvPr/>
        </p:nvSpPr>
        <p:spPr>
          <a:xfrm>
            <a:off x="2905834" y="47725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B25B7-E146-E044-ADC1-8C783EAB799A}"/>
              </a:ext>
            </a:extLst>
          </p:cNvPr>
          <p:cNvSpPr/>
          <p:nvPr/>
        </p:nvSpPr>
        <p:spPr>
          <a:xfrm>
            <a:off x="496226" y="342530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写</a:t>
            </a:r>
            <a:r>
              <a:rPr lang="zh-CN" altLang="en-US"/>
              <a:t>者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ABDB81-0BBB-A242-909F-453C43B15AD6}"/>
              </a:ext>
            </a:extLst>
          </p:cNvPr>
          <p:cNvSpPr/>
          <p:nvPr/>
        </p:nvSpPr>
        <p:spPr>
          <a:xfrm>
            <a:off x="4788027" y="1043538"/>
            <a:ext cx="3577870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思考：多个读者如果希望读公告栏，他们互斥吗？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30F72-6E32-9848-BF88-BB2D9189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59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6247-E67C-8947-A16A-26B8BF3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公告</a:t>
            </a:r>
            <a:r>
              <a:rPr lang="zh-CN" altLang="en-US"/>
              <a:t>栏问题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266B-3594-3C42-8715-72C054320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6329-40F4-F14D-8AE2-D6E6AC18D720}"/>
              </a:ext>
            </a:extLst>
          </p:cNvPr>
          <p:cNvSpPr/>
          <p:nvPr/>
        </p:nvSpPr>
        <p:spPr>
          <a:xfrm>
            <a:off x="2195735" y="1657372"/>
            <a:ext cx="216024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组合 11">
            <a:extLst>
              <a:ext uri="{FF2B5EF4-FFF2-40B4-BE49-F238E27FC236}">
                <a16:creationId xmlns:a16="http://schemas.microsoft.com/office/drawing/2014/main" id="{4F3A1D51-B2C6-D841-9ED5-AFBC06B86F5A}"/>
              </a:ext>
            </a:extLst>
          </p:cNvPr>
          <p:cNvGrpSpPr/>
          <p:nvPr/>
        </p:nvGrpSpPr>
        <p:grpSpPr>
          <a:xfrm>
            <a:off x="2096617" y="3624436"/>
            <a:ext cx="914400" cy="914400"/>
            <a:chOff x="2942911" y="3835579"/>
            <a:chExt cx="914400" cy="914400"/>
          </a:xfrm>
        </p:grpSpPr>
        <p:pic>
          <p:nvPicPr>
            <p:cNvPr id="7" name="图形 12" descr="用户">
              <a:extLst>
                <a:ext uri="{FF2B5EF4-FFF2-40B4-BE49-F238E27FC236}">
                  <a16:creationId xmlns:a16="http://schemas.microsoft.com/office/drawing/2014/main" id="{A76F0A6C-AE18-7448-BF27-936272CE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3BA3E760-551C-594A-9FDA-079AD44976F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53557B9C-E499-FE43-BA3A-799DCBBB2A3A}"/>
              </a:ext>
            </a:extLst>
          </p:cNvPr>
          <p:cNvGrpSpPr/>
          <p:nvPr/>
        </p:nvGrpSpPr>
        <p:grpSpPr>
          <a:xfrm>
            <a:off x="2771800" y="3898295"/>
            <a:ext cx="914400" cy="914400"/>
            <a:chOff x="2942911" y="3835579"/>
            <a:chExt cx="914400" cy="914400"/>
          </a:xfrm>
        </p:grpSpPr>
        <p:pic>
          <p:nvPicPr>
            <p:cNvPr id="10" name="图形 12" descr="用户">
              <a:extLst>
                <a:ext uri="{FF2B5EF4-FFF2-40B4-BE49-F238E27FC236}">
                  <a16:creationId xmlns:a16="http://schemas.microsoft.com/office/drawing/2014/main" id="{DF5F8B01-6DE4-7942-B368-8A0E266D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3">
              <a:extLst>
                <a:ext uri="{FF2B5EF4-FFF2-40B4-BE49-F238E27FC236}">
                  <a16:creationId xmlns:a16="http://schemas.microsoft.com/office/drawing/2014/main" id="{15B4A4B5-FF06-D746-8386-CAADF89750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197C95-2E59-EB44-8C0C-DF5FAC9A7825}"/>
              </a:ext>
            </a:extLst>
          </p:cNvPr>
          <p:cNvGrpSpPr/>
          <p:nvPr/>
        </p:nvGrpSpPr>
        <p:grpSpPr>
          <a:xfrm>
            <a:off x="3275856" y="3469441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712344EF-0948-CF46-AB23-7C10634F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CEB6A6-1634-8249-B457-BB933F08743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5" name="组合 11">
            <a:extLst>
              <a:ext uri="{FF2B5EF4-FFF2-40B4-BE49-F238E27FC236}">
                <a16:creationId xmlns:a16="http://schemas.microsoft.com/office/drawing/2014/main" id="{53395B6C-3465-054D-AD77-A850C7B92E9C}"/>
              </a:ext>
            </a:extLst>
          </p:cNvPr>
          <p:cNvGrpSpPr/>
          <p:nvPr/>
        </p:nvGrpSpPr>
        <p:grpSpPr>
          <a:xfrm>
            <a:off x="2566628" y="3289361"/>
            <a:ext cx="914400" cy="914400"/>
            <a:chOff x="2942911" y="3835579"/>
            <a:chExt cx="914400" cy="914400"/>
          </a:xfrm>
        </p:grpSpPr>
        <p:pic>
          <p:nvPicPr>
            <p:cNvPr id="16" name="图形 12" descr="用户">
              <a:extLst>
                <a:ext uri="{FF2B5EF4-FFF2-40B4-BE49-F238E27FC236}">
                  <a16:creationId xmlns:a16="http://schemas.microsoft.com/office/drawing/2014/main" id="{EB970B09-D0A8-5648-BC63-02810473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71C3E83-48F6-B64F-8812-106B3C3E284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BCB007-B589-F441-8A72-0C187571A25B}"/>
              </a:ext>
            </a:extLst>
          </p:cNvPr>
          <p:cNvSpPr txBox="1"/>
          <p:nvPr/>
        </p:nvSpPr>
        <p:spPr>
          <a:xfrm>
            <a:off x="2837273" y="1756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公告栏</a:t>
            </a:r>
            <a:endParaRPr lang="en-CN"/>
          </a:p>
        </p:txBody>
      </p:sp>
      <p:pic>
        <p:nvPicPr>
          <p:cNvPr id="20" name="Picture 1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FBB90C97-7E6C-174B-ADD5-1D7C5DF6E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1023"/>
            <a:ext cx="847713" cy="1043055"/>
          </a:xfrm>
          <a:prstGeom prst="rect">
            <a:avLst/>
          </a:prstGeom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83ACD2AD-8ABD-8940-8E85-146801BF55F3}"/>
              </a:ext>
            </a:extLst>
          </p:cNvPr>
          <p:cNvSpPr/>
          <p:nvPr/>
        </p:nvSpPr>
        <p:spPr>
          <a:xfrm>
            <a:off x="351946" y="1311883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这个公告栏要撤走了</a:t>
            </a:r>
            <a:endParaRPr lang="en-US" altLang="zh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BD78E337-A03D-124C-8649-213F8533BF0D}"/>
              </a:ext>
            </a:extLst>
          </p:cNvPr>
          <p:cNvSpPr/>
          <p:nvPr/>
        </p:nvSpPr>
        <p:spPr>
          <a:xfrm>
            <a:off x="4137974" y="3469441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200">
                <a:solidFill>
                  <a:schemeClr val="tx1"/>
                </a:solidFill>
                <a:latin typeface="+mn-ea"/>
              </a:rPr>
              <a:t>别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挤，再挤就看不到了</a:t>
            </a:r>
            <a:endParaRPr lang="en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A5574-FE9E-A84D-83D1-58B6C85B07BE}"/>
              </a:ext>
            </a:extLst>
          </p:cNvPr>
          <p:cNvSpPr/>
          <p:nvPr/>
        </p:nvSpPr>
        <p:spPr>
          <a:xfrm>
            <a:off x="4836023" y="2502925"/>
            <a:ext cx="3659832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思考：如何避免读者看到一半就被写者撤走了，我们怎么办？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FD460-0ABA-9949-941C-61FF251426F6}"/>
              </a:ext>
            </a:extLst>
          </p:cNvPr>
          <p:cNvSpPr/>
          <p:nvPr/>
        </p:nvSpPr>
        <p:spPr>
          <a:xfrm>
            <a:off x="2905834" y="47725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B25B7-E146-E044-ADC1-8C783EAB799A}"/>
              </a:ext>
            </a:extLst>
          </p:cNvPr>
          <p:cNvSpPr/>
          <p:nvPr/>
        </p:nvSpPr>
        <p:spPr>
          <a:xfrm>
            <a:off x="496226" y="342530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写</a:t>
            </a:r>
            <a:r>
              <a:rPr lang="zh-CN" altLang="en-US"/>
              <a:t>者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ABDB81-0BBB-A242-909F-453C43B15AD6}"/>
              </a:ext>
            </a:extLst>
          </p:cNvPr>
          <p:cNvSpPr/>
          <p:nvPr/>
        </p:nvSpPr>
        <p:spPr>
          <a:xfrm>
            <a:off x="4788027" y="1043538"/>
            <a:ext cx="3577870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思考：多个读者如果希望读公告栏，他们互斥吗？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771F1-6B2A-314A-91CE-DF9B676AC3CD}"/>
              </a:ext>
            </a:extLst>
          </p:cNvPr>
          <p:cNvSpPr/>
          <p:nvPr/>
        </p:nvSpPr>
        <p:spPr>
          <a:xfrm>
            <a:off x="6227357" y="204238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不互斥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4B0F10-8DCB-FE48-94DA-00244C0B08BF}"/>
              </a:ext>
            </a:extLst>
          </p:cNvPr>
          <p:cNvSpPr/>
          <p:nvPr/>
        </p:nvSpPr>
        <p:spPr>
          <a:xfrm>
            <a:off x="5671279" y="3536348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使用互斥锁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zh-CN" altLang="en-CN"/>
              <a:t>且</a:t>
            </a:r>
            <a:r>
              <a:rPr lang="zh-CN" altLang="en-US"/>
              <a:t>读者也要用互斥锁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A7A31-328E-A944-BB17-720B4BBC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85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34825-6585-7744-AA89-DE8872B3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读写锁的使用示例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7FC8C1-FFFB-C740-93A4-4CAEB444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D218B-88D7-F942-97F8-72E005CBA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11B278-5AD3-FE4E-97B7-7A2389107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112" y="1435031"/>
            <a:ext cx="4941808" cy="35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互斥锁：所有的线程均互斥，同一时刻</a:t>
            </a:r>
            <a:r>
              <a:rPr lang="zh-CN" altLang="en-US" b="1" dirty="0">
                <a:latin typeface="Courier" pitchFamily="2" charset="0"/>
              </a:rPr>
              <a:t>只能有一个线程</a:t>
            </a:r>
            <a:r>
              <a:rPr lang="zh-CN" altLang="en-US" dirty="0"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对于部分只读取共享数据的线程过于严厉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BE4E4F-F115-B748-822A-2D141E7FAD66}"/>
              </a:ext>
            </a:extLst>
          </p:cNvPr>
          <p:cNvSpPr/>
          <p:nvPr/>
        </p:nvSpPr>
        <p:spPr>
          <a:xfrm>
            <a:off x="3995936" y="3965016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读者</a:t>
            </a:r>
            <a:r>
              <a:rPr lang="zh-CN" altLang="en-US" b="1">
                <a:latin typeface="Courier" pitchFamily="2" charset="0"/>
              </a:rPr>
              <a:t>可以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34ABB7B-BDF7-EF4D-B9DC-95A858932D93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F60BA2-E937-074E-BF47-013BEC1FCBD1}"/>
              </a:ext>
            </a:extLst>
          </p:cNvPr>
          <p:cNvSpPr/>
          <p:nvPr/>
        </p:nvSpPr>
        <p:spPr>
          <a:xfrm>
            <a:off x="5709359" y="498711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7D4F6-BF2E-6844-BA77-7F3CA193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48187-2CE8-0F4E-9C0A-43005474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24BFDD-F062-374A-BD06-EC13E2174A74}"/>
              </a:ext>
            </a:extLst>
          </p:cNvPr>
          <p:cNvSpPr/>
          <p:nvPr/>
        </p:nvSpPr>
        <p:spPr>
          <a:xfrm>
            <a:off x="1651228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使用reader_lock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972542-712F-3D46-BA57-4F5C9C022A95}"/>
              </a:ext>
            </a:extLst>
          </p:cNvPr>
          <p:cNvSpPr/>
          <p:nvPr/>
        </p:nvSpPr>
        <p:spPr>
          <a:xfrm>
            <a:off x="5290814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使用writer_lock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11642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互斥锁：所有的线程均互斥，同一时刻只能有一个线程进入临界区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对于部分只读取共享数据的线程过于严厉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读者</a:t>
            </a:r>
            <a:r>
              <a:rPr lang="zh-CN" altLang="en-US" b="1" dirty="0">
                <a:latin typeface="Courier" pitchFamily="2" charset="0"/>
              </a:rPr>
              <a:t>不能</a:t>
            </a:r>
            <a:r>
              <a:rPr lang="zh-CN" altLang="en-US" dirty="0"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D8896B1-F498-9945-9181-B2D20F7F3F03}"/>
              </a:ext>
            </a:extLst>
          </p:cNvPr>
          <p:cNvSpPr/>
          <p:nvPr/>
        </p:nvSpPr>
        <p:spPr>
          <a:xfrm>
            <a:off x="3983311" y="3934540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EEA0D4-B300-E549-87F6-D2A99F10B676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B29205-ACB4-2549-9390-7BDA79E70AE4}"/>
              </a:ext>
            </a:extLst>
          </p:cNvPr>
          <p:cNvSpPr/>
          <p:nvPr/>
        </p:nvSpPr>
        <p:spPr>
          <a:xfrm>
            <a:off x="1791216" y="3714467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AAE7C-2FB2-D34B-BC97-312B21BC390A}"/>
              </a:ext>
            </a:extLst>
          </p:cNvPr>
          <p:cNvSpPr/>
          <p:nvPr/>
        </p:nvSpPr>
        <p:spPr>
          <a:xfrm>
            <a:off x="5705172" y="496942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89980-0F90-D842-8835-F71E058F0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DAD5-11DC-1C44-8538-40583B8C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9655E-F3F2-F648-A481-27149456C5F0}"/>
              </a:ext>
            </a:extLst>
          </p:cNvPr>
          <p:cNvSpPr/>
          <p:nvPr/>
        </p:nvSpPr>
        <p:spPr>
          <a:xfrm>
            <a:off x="1651228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使用reader_lock</a:t>
            </a:r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A6B2DE-6EAE-FF42-AA20-13B7E5FA14FF}"/>
              </a:ext>
            </a:extLst>
          </p:cNvPr>
          <p:cNvSpPr/>
          <p:nvPr/>
        </p:nvSpPr>
        <p:spPr>
          <a:xfrm>
            <a:off x="5290814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使用writer_lock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01964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4C7-57F2-DF45-9395-13C31E8B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不同</a:t>
            </a:r>
            <a:r>
              <a:rPr lang="zh-CN" altLang="en-US"/>
              <a:t>同步原语之间的比较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BEBAE-5FA7-564B-9D62-11A2D73FA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FF9CD9-4ADE-B547-81B3-1EBECB1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44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同步原语对比：互斥锁</a:t>
            </a:r>
            <a:r>
              <a:rPr lang="en-US" altLang="zh-CN" dirty="0"/>
              <a:t>/</a:t>
            </a:r>
            <a:r>
              <a:rPr lang="zh-CN" altLang="en-US" dirty="0"/>
              <a:t>条件变量</a:t>
            </a:r>
            <a:r>
              <a:rPr lang="en-US" altLang="zh-CN" dirty="0"/>
              <a:t>/</a:t>
            </a:r>
            <a:r>
              <a:rPr lang="zh-CN" altLang="en-US" dirty="0"/>
              <a:t>信号量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E583C-5219-C74B-9F61-C3EF000EABBB}"/>
              </a:ext>
            </a:extLst>
          </p:cNvPr>
          <p:cNvSpPr/>
          <p:nvPr/>
        </p:nvSpPr>
        <p:spPr>
          <a:xfrm>
            <a:off x="1547664" y="1106882"/>
            <a:ext cx="590465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只允许</a:t>
            </a:r>
            <a:r>
              <a:rPr lang="en-US" altLang="zh-CN" dirty="0"/>
              <a:t>0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的信号量：只有一个资源，即互斥锁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互斥锁</a:t>
            </a:r>
            <a:r>
              <a:rPr lang="zh-CN" altLang="en-CN" dirty="0"/>
              <a:t>与</a:t>
            </a:r>
            <a:r>
              <a:rPr lang="zh-CN" altLang="en-US" b="1" dirty="0"/>
              <a:t>二元信号量</a:t>
            </a:r>
            <a:r>
              <a:rPr lang="zh-CN" altLang="en-US" dirty="0"/>
              <a:t>功能类似，但</a:t>
            </a:r>
            <a:r>
              <a:rPr lang="zh-CN" altLang="en-US" b="1" dirty="0"/>
              <a:t>抽象不同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互斥锁有</a:t>
            </a:r>
            <a:r>
              <a:rPr lang="zh-CN" altLang="en-US" b="1" dirty="0"/>
              <a:t>拥有者</a:t>
            </a:r>
            <a:r>
              <a:rPr lang="zh-CN" altLang="en-US" dirty="0"/>
              <a:t>的概念，一般同一个线程拿锁</a:t>
            </a:r>
            <a:r>
              <a:rPr lang="en-US" altLang="zh-CN" dirty="0"/>
              <a:t>/</a:t>
            </a:r>
            <a:r>
              <a:rPr lang="zh-CN" altLang="en-US" dirty="0"/>
              <a:t>放锁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信号量为资源协调，一般一个线程</a:t>
            </a:r>
            <a:r>
              <a:rPr lang="en-US" altLang="zh-CN" dirty="0"/>
              <a:t>signal</a:t>
            </a:r>
            <a:r>
              <a:rPr lang="zh-CN" altLang="en-US" dirty="0"/>
              <a:t>，另一个线程</a:t>
            </a:r>
            <a:r>
              <a:rPr lang="en-US" altLang="zh-CN" dirty="0"/>
              <a:t>wait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4BBE03-A487-914D-BA52-42926B74F55B}"/>
              </a:ext>
            </a:extLst>
          </p:cNvPr>
          <p:cNvCxnSpPr>
            <a:cxnSpLocks/>
          </p:cNvCxnSpPr>
          <p:nvPr/>
        </p:nvCxnSpPr>
        <p:spPr>
          <a:xfrm flipH="1">
            <a:off x="2267744" y="1565341"/>
            <a:ext cx="216024" cy="28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17C0B85-2F5C-3142-9376-9B9467E57045}"/>
              </a:ext>
            </a:extLst>
          </p:cNvPr>
          <p:cNvSpPr/>
          <p:nvPr/>
        </p:nvSpPr>
        <p:spPr>
          <a:xfrm>
            <a:off x="2051720" y="4528098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sem_signal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AD4BE7-E235-214A-BBF8-5A669CA050C0}"/>
              </a:ext>
            </a:extLst>
          </p:cNvPr>
          <p:cNvSpPr/>
          <p:nvPr/>
        </p:nvSpPr>
        <p:spPr>
          <a:xfrm>
            <a:off x="4613828" y="4522976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unlock</a:t>
            </a:r>
            <a:endParaRPr lang="en-C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14596B-9712-7A49-AC4A-4D69223119CC}"/>
              </a:ext>
            </a:extLst>
          </p:cNvPr>
          <p:cNvCxnSpPr>
            <a:cxnSpLocks/>
          </p:cNvCxnSpPr>
          <p:nvPr/>
        </p:nvCxnSpPr>
        <p:spPr>
          <a:xfrm>
            <a:off x="3574884" y="4707642"/>
            <a:ext cx="567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4E84F-5D0E-A342-8863-2C5C5D2175D1}"/>
              </a:ext>
            </a:extLst>
          </p:cNvPr>
          <p:cNvSpPr/>
          <p:nvPr/>
        </p:nvSpPr>
        <p:spPr>
          <a:xfrm>
            <a:off x="2051720" y="415364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sem_</a:t>
            </a:r>
            <a:r>
              <a:rPr lang="en-CN">
                <a:latin typeface="Courier" pitchFamily="2" charset="0"/>
              </a:rPr>
              <a:t>wait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94DDB1-15BC-B34C-A291-540E5441EB36}"/>
              </a:ext>
            </a:extLst>
          </p:cNvPr>
          <p:cNvSpPr/>
          <p:nvPr/>
        </p:nvSpPr>
        <p:spPr>
          <a:xfrm>
            <a:off x="4613828" y="415364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</a:t>
            </a:r>
            <a:endParaRPr lang="en-C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98BD3C-7468-744E-87DD-642A7A9B8387}"/>
              </a:ext>
            </a:extLst>
          </p:cNvPr>
          <p:cNvCxnSpPr>
            <a:cxnSpLocks/>
          </p:cNvCxnSpPr>
          <p:nvPr/>
        </p:nvCxnSpPr>
        <p:spPr>
          <a:xfrm>
            <a:off x="3574884" y="4338310"/>
            <a:ext cx="567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E6AE3E-FF02-0F49-B319-2B8DEF4845F4}"/>
              </a:ext>
            </a:extLst>
          </p:cNvPr>
          <p:cNvSpPr/>
          <p:nvPr/>
        </p:nvSpPr>
        <p:spPr>
          <a:xfrm>
            <a:off x="1638145" y="3681322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sem_init(&amp;s, 1);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A801A-9CBB-EC48-8598-E85650709167}"/>
              </a:ext>
            </a:extLst>
          </p:cNvPr>
          <p:cNvSpPr/>
          <p:nvPr/>
        </p:nvSpPr>
        <p:spPr>
          <a:xfrm>
            <a:off x="6050340" y="426804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通常可直接替换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652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同步原语对比：互斥锁</a:t>
            </a:r>
            <a:r>
              <a:rPr lang="en-US" altLang="zh-CN" dirty="0"/>
              <a:t>/</a:t>
            </a:r>
            <a:r>
              <a:rPr lang="zh-CN" altLang="en-US" dirty="0"/>
              <a:t>条件变量</a:t>
            </a:r>
            <a:r>
              <a:rPr lang="en-US" altLang="zh-CN" dirty="0"/>
              <a:t>/</a:t>
            </a:r>
            <a:r>
              <a:rPr lang="zh-CN" altLang="en-US" dirty="0"/>
              <a:t>信号量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E583C-5219-C74B-9F61-C3EF000EABBB}"/>
              </a:ext>
            </a:extLst>
          </p:cNvPr>
          <p:cNvSpPr/>
          <p:nvPr/>
        </p:nvSpPr>
        <p:spPr>
          <a:xfrm>
            <a:off x="1547664" y="1106882"/>
            <a:ext cx="590465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只允许</a:t>
            </a:r>
            <a:r>
              <a:rPr lang="en-US" altLang="zh-CN" dirty="0"/>
              <a:t>0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的信号量：只有一个资源，即互斥锁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互斥锁</a:t>
            </a:r>
            <a:r>
              <a:rPr lang="zh-CN" altLang="en-CN" dirty="0"/>
              <a:t>与</a:t>
            </a:r>
            <a:r>
              <a:rPr lang="zh-CN" altLang="en-US" b="1" dirty="0"/>
              <a:t>二元信号量</a:t>
            </a:r>
            <a:r>
              <a:rPr lang="zh-CN" altLang="en-US" dirty="0"/>
              <a:t>功能类似，但</a:t>
            </a:r>
            <a:r>
              <a:rPr lang="zh-CN" altLang="en-US" b="1" dirty="0"/>
              <a:t>抽象不同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互斥锁有</a:t>
            </a:r>
            <a:r>
              <a:rPr lang="zh-CN" altLang="en-US" b="1" dirty="0"/>
              <a:t>拥有者</a:t>
            </a:r>
            <a:r>
              <a:rPr lang="zh-CN" altLang="en-US" dirty="0"/>
              <a:t>的概念，一般同一个线程拿锁</a:t>
            </a:r>
            <a:r>
              <a:rPr lang="en-US" altLang="zh-CN" dirty="0"/>
              <a:t>/</a:t>
            </a:r>
            <a:r>
              <a:rPr lang="zh-CN" altLang="en-US" dirty="0"/>
              <a:t>放锁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信号量为资源协调，一般一个线程</a:t>
            </a:r>
            <a:r>
              <a:rPr lang="en-US" altLang="zh-CN" dirty="0"/>
              <a:t>signal</a:t>
            </a:r>
            <a:r>
              <a:rPr lang="zh-CN" altLang="en-US" dirty="0"/>
              <a:t>，另一个线程</a:t>
            </a:r>
            <a:r>
              <a:rPr lang="en-US" altLang="zh-CN" dirty="0"/>
              <a:t>wait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4BBE03-A487-914D-BA52-42926B74F55B}"/>
              </a:ext>
            </a:extLst>
          </p:cNvPr>
          <p:cNvCxnSpPr>
            <a:cxnSpLocks/>
          </p:cNvCxnSpPr>
          <p:nvPr/>
        </p:nvCxnSpPr>
        <p:spPr>
          <a:xfrm flipH="1">
            <a:off x="2267744" y="1565341"/>
            <a:ext cx="216024" cy="28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17C0B85-2F5C-3142-9376-9B9467E57045}"/>
              </a:ext>
            </a:extLst>
          </p:cNvPr>
          <p:cNvSpPr/>
          <p:nvPr/>
        </p:nvSpPr>
        <p:spPr>
          <a:xfrm>
            <a:off x="1354744" y="4088821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lock(&amp;lock0);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4E84F-5D0E-A342-8863-2C5C5D2175D1}"/>
              </a:ext>
            </a:extLst>
          </p:cNvPr>
          <p:cNvSpPr/>
          <p:nvPr/>
        </p:nvSpPr>
        <p:spPr>
          <a:xfrm>
            <a:off x="1218587" y="35977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Thread 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43C6A9-93C3-DA49-99DE-2ED68FE626B0}"/>
              </a:ext>
            </a:extLst>
          </p:cNvPr>
          <p:cNvSpPr/>
          <p:nvPr/>
        </p:nvSpPr>
        <p:spPr>
          <a:xfrm>
            <a:off x="4355976" y="35300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Thread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CD6EB-C7D8-FA4D-BA0C-8445DA78E007}"/>
              </a:ext>
            </a:extLst>
          </p:cNvPr>
          <p:cNvSpPr/>
          <p:nvPr/>
        </p:nvSpPr>
        <p:spPr>
          <a:xfrm>
            <a:off x="5962218" y="35300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8DF41-542A-8649-BD85-2ABA1939CEB8}"/>
              </a:ext>
            </a:extLst>
          </p:cNvPr>
          <p:cNvSpPr/>
          <p:nvPr/>
        </p:nvSpPr>
        <p:spPr>
          <a:xfrm>
            <a:off x="1354743" y="473978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unlock(&amp;lock0);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72729-3F36-CA45-9F20-2907D00624F3}"/>
              </a:ext>
            </a:extLst>
          </p:cNvPr>
          <p:cNvSpPr/>
          <p:nvPr/>
        </p:nvSpPr>
        <p:spPr>
          <a:xfrm>
            <a:off x="46743" y="473933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同一线程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4DD8B-3FC8-CE4B-B716-2A74E76E1E70}"/>
              </a:ext>
            </a:extLst>
          </p:cNvPr>
          <p:cNvSpPr/>
          <p:nvPr/>
        </p:nvSpPr>
        <p:spPr>
          <a:xfrm>
            <a:off x="4000208" y="4049121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sem_wait(&amp;s0);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DB67F7-1DE3-2343-B7C8-1D207A258A46}"/>
              </a:ext>
            </a:extLst>
          </p:cNvPr>
          <p:cNvSpPr/>
          <p:nvPr/>
        </p:nvSpPr>
        <p:spPr>
          <a:xfrm>
            <a:off x="5962218" y="4742972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sem_signal(&amp;s0);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9661F6-7378-F946-8733-83D8468DD4C8}"/>
              </a:ext>
            </a:extLst>
          </p:cNvPr>
          <p:cNvSpPr/>
          <p:nvPr/>
        </p:nvSpPr>
        <p:spPr>
          <a:xfrm>
            <a:off x="6444208" y="432178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另一个线程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8511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同步原语对比：互斥锁</a:t>
            </a:r>
            <a:r>
              <a:rPr lang="en-US" altLang="zh-CN" dirty="0"/>
              <a:t>/</a:t>
            </a:r>
            <a:r>
              <a:rPr lang="zh-CN" altLang="en-US" dirty="0"/>
              <a:t>条件变量</a:t>
            </a:r>
            <a:r>
              <a:rPr lang="en-US" altLang="zh-CN" dirty="0"/>
              <a:t>/</a:t>
            </a:r>
            <a:r>
              <a:rPr lang="zh-CN" altLang="en-US" dirty="0"/>
              <a:t>信号量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E583C-5219-C74B-9F61-C3EF000EABBB}"/>
              </a:ext>
            </a:extLst>
          </p:cNvPr>
          <p:cNvSpPr/>
          <p:nvPr/>
        </p:nvSpPr>
        <p:spPr>
          <a:xfrm>
            <a:off x="1547664" y="1106882"/>
            <a:ext cx="590465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只允许</a:t>
            </a:r>
            <a:r>
              <a:rPr lang="en-US" altLang="zh-CN" dirty="0"/>
              <a:t>0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的信号量：只有一个资源，即互斥锁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互斥锁</a:t>
            </a:r>
            <a:r>
              <a:rPr lang="zh-CN" altLang="en-CN" dirty="0"/>
              <a:t>与</a:t>
            </a:r>
            <a:r>
              <a:rPr lang="zh-CN" altLang="en-US" b="1" dirty="0"/>
              <a:t>二元信号量</a:t>
            </a:r>
            <a:r>
              <a:rPr lang="zh-CN" altLang="en-US" dirty="0"/>
              <a:t>功能类似，但</a:t>
            </a:r>
            <a:r>
              <a:rPr lang="zh-CN" altLang="en-US" b="1" dirty="0"/>
              <a:t>抽象不同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互斥锁有</a:t>
            </a:r>
            <a:r>
              <a:rPr lang="zh-CN" altLang="en-US" b="1" dirty="0"/>
              <a:t>拥有者</a:t>
            </a:r>
            <a:r>
              <a:rPr lang="zh-CN" altLang="en-US" dirty="0"/>
              <a:t>的概念，一般同一个线程拿锁</a:t>
            </a:r>
            <a:r>
              <a:rPr lang="en-US" altLang="zh-CN" dirty="0"/>
              <a:t>/</a:t>
            </a:r>
            <a:r>
              <a:rPr lang="zh-CN" altLang="en-US" dirty="0"/>
              <a:t>放锁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信号量为资源协调，一般一个线程</a:t>
            </a:r>
            <a:r>
              <a:rPr lang="en-US" altLang="zh-CN" dirty="0"/>
              <a:t>signal</a:t>
            </a:r>
            <a:r>
              <a:rPr lang="zh-CN" altLang="en-US" dirty="0"/>
              <a:t>，另一个线程</a:t>
            </a:r>
            <a:r>
              <a:rPr lang="en-US" altLang="zh-CN" dirty="0"/>
              <a:t>wait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条件变量</a:t>
            </a:r>
            <a:r>
              <a:rPr lang="zh-CN" altLang="en-US" dirty="0"/>
              <a:t>用于解决不同问题（睡眠</a:t>
            </a:r>
            <a:r>
              <a:rPr lang="en-US" altLang="zh-CN" dirty="0"/>
              <a:t>/</a:t>
            </a:r>
            <a:r>
              <a:rPr lang="zh-CN" altLang="en-US" dirty="0"/>
              <a:t>唤醒），需要搭配</a:t>
            </a:r>
            <a:r>
              <a:rPr lang="zh-CN" altLang="en-US" b="1" dirty="0"/>
              <a:t>互斥锁</a:t>
            </a:r>
            <a:r>
              <a:rPr lang="zh-CN" altLang="en-US" dirty="0"/>
              <a:t>使用</a:t>
            </a:r>
            <a:endParaRPr lang="en-US" altLang="zh-C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4BBE03-A487-914D-BA52-42926B74F55B}"/>
              </a:ext>
            </a:extLst>
          </p:cNvPr>
          <p:cNvCxnSpPr>
            <a:cxnSpLocks/>
          </p:cNvCxnSpPr>
          <p:nvPr/>
        </p:nvCxnSpPr>
        <p:spPr>
          <a:xfrm flipH="1">
            <a:off x="2267744" y="1565341"/>
            <a:ext cx="216024" cy="28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BFD10-F48E-2F44-93EE-1ADAF419FA0A}"/>
              </a:ext>
            </a:extLst>
          </p:cNvPr>
          <p:cNvSpPr/>
          <p:nvPr/>
        </p:nvSpPr>
        <p:spPr>
          <a:xfrm>
            <a:off x="6372200" y="4490408"/>
            <a:ext cx="52882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sz="1200">
                <a:latin typeface="Courier" pitchFamily="2" charset="0"/>
              </a:rPr>
              <a:t>(&amp;empty_slot_sem);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5C91DE-B016-244D-886D-B8F94CFF75CC}"/>
              </a:ext>
            </a:extLst>
          </p:cNvPr>
          <p:cNvSpPr/>
          <p:nvPr/>
        </p:nvSpPr>
        <p:spPr>
          <a:xfrm>
            <a:off x="-468560" y="4037553"/>
            <a:ext cx="45365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20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en-CN" sz="1200">
                <a:solidFill>
                  <a:srgbClr val="00B050"/>
                </a:solidFill>
                <a:latin typeface="Courier" pitchFamily="2" charset="0"/>
              </a:rPr>
              <a:t>lock</a:t>
            </a:r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	while (empty_slot == 0) </a:t>
            </a:r>
          </a:p>
          <a:p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	</a:t>
            </a:r>
            <a:r>
              <a:rPr lang="en-CN" sz="1200">
                <a:solidFill>
                  <a:srgbClr val="00B050"/>
                </a:solidFill>
                <a:latin typeface="Courier" pitchFamily="2" charset="0"/>
              </a:rPr>
              <a:t>	cond</a:t>
            </a:r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_wait(&amp;empty_cond,</a:t>
            </a:r>
          </a:p>
          <a:p>
            <a:r>
              <a:rPr lang="en-CN" sz="1200">
                <a:solidFill>
                  <a:srgbClr val="00B050"/>
                </a:solidFill>
                <a:latin typeface="Courier" pitchFamily="2" charset="0"/>
              </a:rPr>
              <a:t>                    &amp;</a:t>
            </a:r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empty_slot_lock);</a:t>
            </a:r>
          </a:p>
          <a:p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	empty</a:t>
            </a:r>
            <a:r>
              <a:rPr lang="en-CN" sz="1200">
                <a:solidFill>
                  <a:srgbClr val="00B050"/>
                </a:solidFill>
                <a:latin typeface="Courier" pitchFamily="2" charset="0"/>
              </a:rPr>
              <a:t>_slot-</a:t>
            </a:r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-;</a:t>
            </a:r>
          </a:p>
          <a:p>
            <a:r>
              <a:rPr lang="en-CN" sz="1200">
                <a:solidFill>
                  <a:srgbClr val="00B050"/>
                </a:solidFill>
                <a:latin typeface="Courier" pitchFamily="2" charset="0"/>
              </a:rPr>
              <a:t>	unlock</a:t>
            </a:r>
            <a:r>
              <a:rPr lang="en-CN" sz="12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E5AE0-85AB-B544-A9C8-CD46FF214F7F}"/>
              </a:ext>
            </a:extLst>
          </p:cNvPr>
          <p:cNvSpPr/>
          <p:nvPr/>
        </p:nvSpPr>
        <p:spPr>
          <a:xfrm>
            <a:off x="3851920" y="4028743"/>
            <a:ext cx="22905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搭配</a:t>
            </a:r>
            <a:r>
              <a:rPr lang="zh-CN" altLang="en-US" b="1" dirty="0"/>
              <a:t>互斥锁</a:t>
            </a:r>
            <a:r>
              <a:rPr lang="en-US" altLang="zh-CN" b="1" dirty="0"/>
              <a:t>+</a:t>
            </a:r>
            <a:r>
              <a:rPr lang="zh-CN" altLang="en-US" b="1" dirty="0"/>
              <a:t>计数器可以实现与信号量相同的功能</a:t>
            </a:r>
            <a:endParaRPr lang="en-C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D6EAD9-C1B0-344A-BA81-A7F6BD0A984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563888" y="4628908"/>
            <a:ext cx="2808312" cy="4608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168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同步原语对比：互斥锁 </a:t>
            </a:r>
            <a:r>
              <a:rPr lang="en-US" altLang="zh-CN" dirty="0"/>
              <a:t>vs </a:t>
            </a:r>
            <a:r>
              <a:rPr lang="zh-CN" altLang="en-US" dirty="0"/>
              <a:t>读写锁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2778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接口不同：读写锁区分读者与写者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针对场景不同</a:t>
            </a:r>
            <a:r>
              <a:rPr lang="zh-CN" altLang="en-US" dirty="0"/>
              <a:t>：获取</a:t>
            </a:r>
            <a:r>
              <a:rPr lang="zh-CN" altLang="en-US" b="1" dirty="0"/>
              <a:t>更多程序语义</a:t>
            </a:r>
            <a:r>
              <a:rPr lang="zh-CN" altLang="en-US" dirty="0"/>
              <a:t>，标明只读代码段，达到更好性能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读写锁在读多写少场景中可以显著</a:t>
            </a:r>
            <a:r>
              <a:rPr lang="zh-CN" altLang="en-US" b="1" dirty="0"/>
              <a:t>提升读者并行度</a:t>
            </a:r>
            <a:endParaRPr lang="en-US" altLang="zh-CN" b="1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即允许多个读者同时执行读临界区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只用写者锁，则与互斥锁的语义基本相同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223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同步原语对比：互斥锁 </a:t>
            </a:r>
            <a:r>
              <a:rPr lang="en-US" altLang="zh-CN" dirty="0"/>
              <a:t>vs </a:t>
            </a:r>
            <a:r>
              <a:rPr lang="zh-CN" altLang="en-US" dirty="0"/>
              <a:t>读写锁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678028-EE2E-2D48-A15F-7A3CCFF0A8B4}"/>
              </a:ext>
            </a:extLst>
          </p:cNvPr>
          <p:cNvCxnSpPr/>
          <p:nvPr/>
        </p:nvCxnSpPr>
        <p:spPr>
          <a:xfrm flipV="1">
            <a:off x="4572000" y="1497818"/>
            <a:ext cx="0" cy="34563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B725FFA-628D-1D4B-8DBA-4D57ECC9E857}"/>
              </a:ext>
            </a:extLst>
          </p:cNvPr>
          <p:cNvSpPr/>
          <p:nvPr/>
        </p:nvSpPr>
        <p:spPr>
          <a:xfrm>
            <a:off x="755576" y="149781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9E05B-DC5B-5048-89DD-24E97F870E04}"/>
              </a:ext>
            </a:extLst>
          </p:cNvPr>
          <p:cNvSpPr/>
          <p:nvPr/>
        </p:nvSpPr>
        <p:spPr>
          <a:xfrm>
            <a:off x="2553817" y="148934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C7DC6A-37A5-6942-B02B-91E0B39B15CB}"/>
              </a:ext>
            </a:extLst>
          </p:cNvPr>
          <p:cNvSpPr/>
          <p:nvPr/>
        </p:nvSpPr>
        <p:spPr>
          <a:xfrm>
            <a:off x="217445" y="2039473"/>
            <a:ext cx="225254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539C3-0B08-3C40-9697-61129D88D1CD}"/>
              </a:ext>
            </a:extLst>
          </p:cNvPr>
          <p:cNvSpPr/>
          <p:nvPr/>
        </p:nvSpPr>
        <p:spPr>
          <a:xfrm>
            <a:off x="2282476" y="3547141"/>
            <a:ext cx="225254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A592DD-A6C2-6F41-A20F-F5BF6CF8FAFF}"/>
              </a:ext>
            </a:extLst>
          </p:cNvPr>
          <p:cNvSpPr/>
          <p:nvPr/>
        </p:nvSpPr>
        <p:spPr>
          <a:xfrm>
            <a:off x="2468559" y="2056942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8A9D29-2DE6-3A4B-929E-82A99137BF4B}"/>
              </a:ext>
            </a:extLst>
          </p:cNvPr>
          <p:cNvCxnSpPr>
            <a:cxnSpLocks/>
          </p:cNvCxnSpPr>
          <p:nvPr/>
        </p:nvCxnSpPr>
        <p:spPr>
          <a:xfrm>
            <a:off x="3059832" y="2426274"/>
            <a:ext cx="0" cy="10905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5FF98-940A-5847-9BCE-D54FBE83C54B}"/>
              </a:ext>
            </a:extLst>
          </p:cNvPr>
          <p:cNvSpPr/>
          <p:nvPr/>
        </p:nvSpPr>
        <p:spPr>
          <a:xfrm>
            <a:off x="3180563" y="26016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被阻塞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6A5632-6DB9-584C-A41A-3224C8486B76}"/>
              </a:ext>
            </a:extLst>
          </p:cNvPr>
          <p:cNvSpPr/>
          <p:nvPr/>
        </p:nvSpPr>
        <p:spPr>
          <a:xfrm>
            <a:off x="5213606" y="1348237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74681A-2C8A-1445-9B98-1BE7D2F5E92A}"/>
              </a:ext>
            </a:extLst>
          </p:cNvPr>
          <p:cNvSpPr/>
          <p:nvPr/>
        </p:nvSpPr>
        <p:spPr>
          <a:xfrm>
            <a:off x="7011847" y="1339767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490F7C-6ABF-8B4E-AE81-C9EF04743551}"/>
              </a:ext>
            </a:extLst>
          </p:cNvPr>
          <p:cNvSpPr/>
          <p:nvPr/>
        </p:nvSpPr>
        <p:spPr>
          <a:xfrm>
            <a:off x="4675475" y="1889892"/>
            <a:ext cx="211468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reader_lock(</a:t>
            </a:r>
          </a:p>
          <a:p>
            <a:r>
              <a:rPr lang="en-CN">
                <a:latin typeface="Courier" pitchFamily="2" charset="0"/>
              </a:rPr>
              <a:t>   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reader_unlock(</a:t>
            </a:r>
          </a:p>
          <a:p>
            <a:r>
              <a:rPr lang="en-CN">
                <a:latin typeface="Courier" pitchFamily="2" charset="0"/>
              </a:rPr>
              <a:t>    &amp;glock);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395FDD-0AC9-B44D-B8F1-44C728340054}"/>
              </a:ext>
            </a:extLst>
          </p:cNvPr>
          <p:cNvSpPr/>
          <p:nvPr/>
        </p:nvSpPr>
        <p:spPr>
          <a:xfrm>
            <a:off x="6819619" y="1894088"/>
            <a:ext cx="211468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reader_lock(</a:t>
            </a:r>
          </a:p>
          <a:p>
            <a:r>
              <a:rPr lang="en-CN">
                <a:latin typeface="Courier" pitchFamily="2" charset="0"/>
              </a:rPr>
              <a:t>   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reader_unlock(</a:t>
            </a:r>
          </a:p>
          <a:p>
            <a:r>
              <a:rPr lang="en-CN">
                <a:latin typeface="Courier" pitchFamily="2" charset="0"/>
              </a:rPr>
              <a:t>    &amp;glock);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973C49-4E1F-0540-B0A6-6079D20D572E}"/>
              </a:ext>
            </a:extLst>
          </p:cNvPr>
          <p:cNvSpPr/>
          <p:nvPr/>
        </p:nvSpPr>
        <p:spPr>
          <a:xfrm>
            <a:off x="6236158" y="42963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同时执行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39625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988A-F84A-6B44-AADF-D420DAA1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同步</a:t>
            </a:r>
            <a:r>
              <a:rPr lang="zh-CN" altLang="en-US" dirty="0"/>
              <a:t>带来的问题：死锁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85DA9-71A6-EF41-9ED7-4CA1D8B23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BAD7F-005F-2147-A9BC-4907C12A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 descr="deadlock.jpg">
            <a:extLst>
              <a:ext uri="{FF2B5EF4-FFF2-40B4-BE49-F238E27FC236}">
                <a16:creationId xmlns:a16="http://schemas.microsoft.com/office/drawing/2014/main" id="{6FCC2A20-AA5F-AD4E-8259-D48159F4D1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3" b="16594"/>
          <a:stretch/>
        </p:blipFill>
        <p:spPr>
          <a:xfrm>
            <a:off x="827584" y="592090"/>
            <a:ext cx="7237382" cy="290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19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</a:t>
            </a:r>
            <a:endParaRPr lang="en-CN"/>
          </a:p>
        </p:txBody>
      </p:sp>
      <p:pic>
        <p:nvPicPr>
          <p:cNvPr id="5" name="Picture 4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7381DA60-6C45-C543-AF4D-0B01D2966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93404"/>
            <a:ext cx="1369030" cy="64366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A6F74E-67BA-0F47-A582-8BE509BD14DA}"/>
              </a:ext>
            </a:extLst>
          </p:cNvPr>
          <p:cNvCxnSpPr>
            <a:cxnSpLocks/>
          </p:cNvCxnSpPr>
          <p:nvPr/>
        </p:nvCxnSpPr>
        <p:spPr>
          <a:xfrm>
            <a:off x="539552" y="1993404"/>
            <a:ext cx="936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225A7C-4A65-174C-B2F3-A4DD1E039852}"/>
              </a:ext>
            </a:extLst>
          </p:cNvPr>
          <p:cNvCxnSpPr>
            <a:cxnSpLocks/>
          </p:cNvCxnSpPr>
          <p:nvPr/>
        </p:nvCxnSpPr>
        <p:spPr>
          <a:xfrm>
            <a:off x="1475656" y="1196924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17B9E2-3A7B-4843-B415-CE99D0AD91C7}"/>
              </a:ext>
            </a:extLst>
          </p:cNvPr>
          <p:cNvCxnSpPr>
            <a:cxnSpLocks/>
          </p:cNvCxnSpPr>
          <p:nvPr/>
        </p:nvCxnSpPr>
        <p:spPr>
          <a:xfrm>
            <a:off x="2952259" y="1196924"/>
            <a:ext cx="0" cy="7709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6BCCDF-EF95-2741-A54A-E485F210D9AE}"/>
              </a:ext>
            </a:extLst>
          </p:cNvPr>
          <p:cNvCxnSpPr>
            <a:cxnSpLocks/>
          </p:cNvCxnSpPr>
          <p:nvPr/>
        </p:nvCxnSpPr>
        <p:spPr>
          <a:xfrm>
            <a:off x="539552" y="3481118"/>
            <a:ext cx="936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AE5D5910-42B3-EB46-81B7-F802EC280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33190" y="1642278"/>
            <a:ext cx="1369030" cy="643667"/>
          </a:xfrm>
          <a:prstGeom prst="rect">
            <a:avLst/>
          </a:prstGeom>
        </p:spPr>
      </p:pic>
      <p:pic>
        <p:nvPicPr>
          <p:cNvPr id="27" name="Picture 26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6A5DDA36-41ED-334D-849C-882594BE3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1356" y="2731299"/>
            <a:ext cx="1369030" cy="643667"/>
          </a:xfrm>
          <a:prstGeom prst="rect">
            <a:avLst/>
          </a:prstGeom>
        </p:spPr>
      </p:pic>
      <p:pic>
        <p:nvPicPr>
          <p:cNvPr id="29" name="Picture 28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8441C00D-F967-E647-8CFD-891E3A003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77070" y="3070437"/>
            <a:ext cx="1369030" cy="643667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56502F-A376-6540-AC2C-0F0FAE6C6316}"/>
              </a:ext>
            </a:extLst>
          </p:cNvPr>
          <p:cNvCxnSpPr>
            <a:cxnSpLocks/>
          </p:cNvCxnSpPr>
          <p:nvPr/>
        </p:nvCxnSpPr>
        <p:spPr>
          <a:xfrm>
            <a:off x="1468294" y="3433564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3C5B724-E5F7-C641-A1A8-1FB798CF8197}"/>
              </a:ext>
            </a:extLst>
          </p:cNvPr>
          <p:cNvCxnSpPr>
            <a:cxnSpLocks/>
          </p:cNvCxnSpPr>
          <p:nvPr/>
        </p:nvCxnSpPr>
        <p:spPr>
          <a:xfrm>
            <a:off x="2952259" y="1921396"/>
            <a:ext cx="61162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AC1A5F-24F9-CC44-9841-BBD4DFB0FE0A}"/>
              </a:ext>
            </a:extLst>
          </p:cNvPr>
          <p:cNvCxnSpPr>
            <a:cxnSpLocks/>
          </p:cNvCxnSpPr>
          <p:nvPr/>
        </p:nvCxnSpPr>
        <p:spPr>
          <a:xfrm>
            <a:off x="3064656" y="3361556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9B3A9E-C55A-F444-8CA9-6AE7A963A1AC}"/>
              </a:ext>
            </a:extLst>
          </p:cNvPr>
          <p:cNvCxnSpPr>
            <a:cxnSpLocks/>
          </p:cNvCxnSpPr>
          <p:nvPr/>
        </p:nvCxnSpPr>
        <p:spPr>
          <a:xfrm>
            <a:off x="3064656" y="3396365"/>
            <a:ext cx="49923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A708406-1C33-6A4F-A983-3E1D70E0FB4D}"/>
              </a:ext>
            </a:extLst>
          </p:cNvPr>
          <p:cNvSpPr/>
          <p:nvPr/>
        </p:nvSpPr>
        <p:spPr>
          <a:xfrm>
            <a:off x="1200266" y="4425901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/>
              <a:t>十字路口的“困境”</a:t>
            </a:r>
            <a:endParaRPr lang="en-US" altLang="zh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4564394" y="853862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5297729" y="4425901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dirty="0"/>
              <a:t>T1</a:t>
            </a:r>
            <a:r>
              <a:rPr lang="zh-CN" altLang="en-US" dirty="0"/>
              <a:t>时刻的死锁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820F0-1F40-CF4F-ABF0-D776AD64C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32A9-F5FA-754D-9DB1-F55FB50A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5236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771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461CB0-F910-FD45-AEEE-C5AD35469D3E}"/>
              </a:ext>
            </a:extLst>
          </p:cNvPr>
          <p:cNvSpPr/>
          <p:nvPr/>
        </p:nvSpPr>
        <p:spPr>
          <a:xfrm>
            <a:off x="755576" y="2267498"/>
            <a:ext cx="40324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同</a:t>
            </a:r>
            <a:r>
              <a:rPr lang="zh-CN" altLang="en-US" dirty="0"/>
              <a:t>一时刻只有一个线程能够访问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668725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1571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60DEF7-5546-624B-ACF8-675A43F1D653}"/>
              </a:ext>
            </a:extLst>
          </p:cNvPr>
          <p:cNvSpPr/>
          <p:nvPr/>
        </p:nvSpPr>
        <p:spPr>
          <a:xfrm>
            <a:off x="755576" y="3001516"/>
            <a:ext cx="3960440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一直持有一部分资源并等待另一部分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不会中途释放（如</a:t>
            </a:r>
            <a:r>
              <a:rPr lang="en-US" altLang="zh-CN" dirty="0" err="1"/>
              <a:t>proc_A</a:t>
            </a:r>
            <a:r>
              <a:rPr lang="zh-CN" altLang="en-US" dirty="0"/>
              <a:t>不会放锁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9844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2371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2A484-853E-D94B-AE06-7463469AE32C}"/>
              </a:ext>
            </a:extLst>
          </p:cNvPr>
          <p:cNvSpPr/>
          <p:nvPr/>
        </p:nvSpPr>
        <p:spPr>
          <a:xfrm>
            <a:off x="823056" y="3865612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即</a:t>
            </a:r>
            <a:r>
              <a:rPr lang="en-US" altLang="zh-CN" dirty="0"/>
              <a:t>proc_</a:t>
            </a:r>
            <a:r>
              <a:rPr lang="en-CN" altLang="zh-CN"/>
              <a:t>B</a:t>
            </a:r>
            <a:r>
              <a:rPr lang="zh-CN" altLang="en-CN" dirty="0"/>
              <a:t>不</a:t>
            </a:r>
            <a:r>
              <a:rPr lang="zh-CN" altLang="en-US" dirty="0"/>
              <a:t>会抢</a:t>
            </a:r>
            <a:r>
              <a:rPr lang="en-US" altLang="zh-CN" dirty="0" err="1"/>
              <a:t>proc_A</a:t>
            </a:r>
            <a:r>
              <a:rPr lang="zh-CN" altLang="en-US" dirty="0"/>
              <a:t>已经持有的锁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17477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3171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循环等待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ADB72-0B1E-1445-9DAD-D6C9F00FCD8A}"/>
              </a:ext>
            </a:extLst>
          </p:cNvPr>
          <p:cNvSpPr/>
          <p:nvPr/>
        </p:nvSpPr>
        <p:spPr>
          <a:xfrm>
            <a:off x="899592" y="4579892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dirty="0"/>
              <a:t>A</a:t>
            </a:r>
            <a:r>
              <a:rPr lang="zh-CN" altLang="en-CN" dirty="0"/>
              <a:t>等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等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43847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2CFEFDEC-0C55-8C49-86CA-45C12EA2A316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出问题再处理：死锁的检测与恢复</a:t>
            </a:r>
            <a:endParaRPr lang="en-US" altLang="zh-CN" sz="23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设计时避免：死锁预防</a:t>
            </a:r>
            <a:endParaRPr lang="en-US" altLang="zh-CN" sz="23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运行时避免死锁：死锁避免</a:t>
            </a:r>
            <a:endParaRPr lang="en-US" altLang="zh-CN" sz="23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448D6-694C-9843-8A1D-DE5DFA5A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56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检测死锁与恢复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51FD9-8C72-A842-AE25-4803AAC59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36" y="1245061"/>
            <a:ext cx="8229600" cy="1914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AF2981-0DB8-A14A-9F6B-EE00721F9E8A}"/>
              </a:ext>
            </a:extLst>
          </p:cNvPr>
          <p:cNvSpPr/>
          <p:nvPr/>
        </p:nvSpPr>
        <p:spPr>
          <a:xfrm>
            <a:off x="1979712" y="3150075"/>
            <a:ext cx="1338828" cy="562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资源分配图</a:t>
            </a:r>
            <a:endParaRPr lang="en-US" altLang="zh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C4BBAD-BA7B-F443-83B0-9C1EF5D1794F}"/>
              </a:ext>
            </a:extLst>
          </p:cNvPr>
          <p:cNvSpPr/>
          <p:nvPr/>
        </p:nvSpPr>
        <p:spPr>
          <a:xfrm>
            <a:off x="363885" y="4248324"/>
            <a:ext cx="2954655" cy="562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如何恢复？打破循环等待！</a:t>
            </a:r>
            <a:endParaRPr lang="en-US" altLang="zh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AA09DC-B39F-B24C-AE66-0591D4474F2C}"/>
              </a:ext>
            </a:extLst>
          </p:cNvPr>
          <p:cNvSpPr/>
          <p:nvPr/>
        </p:nvSpPr>
        <p:spPr>
          <a:xfrm>
            <a:off x="3666444" y="3694327"/>
            <a:ext cx="4294765" cy="167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直接</a:t>
            </a:r>
            <a:r>
              <a:rPr lang="en-US" altLang="zh-CN" dirty="0"/>
              <a:t>kill</a:t>
            </a:r>
            <a:r>
              <a:rPr lang="zh-CN" altLang="en-US" dirty="0"/>
              <a:t>所有循环中的线程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Kill</a:t>
            </a:r>
            <a:r>
              <a:rPr lang="zh-CN" altLang="en-US" dirty="0"/>
              <a:t>一个，看有没有环，有的话继续</a:t>
            </a:r>
            <a:r>
              <a:rPr lang="en-US" altLang="zh-CN" dirty="0"/>
              <a:t>kill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全部回滚到之前的某一状态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9E12B-FF10-F644-A1A8-682923C02A2E}"/>
              </a:ext>
            </a:extLst>
          </p:cNvPr>
          <p:cNvSpPr/>
          <p:nvPr/>
        </p:nvSpPr>
        <p:spPr>
          <a:xfrm>
            <a:off x="3204178" y="1080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找到环：循环等待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D2464-97BC-1B45-AD54-A1100D049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A275D-7C21-9041-97FC-D9D3EAE2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909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出问题再处理：死锁的检测与恢复</a:t>
            </a:r>
            <a:endParaRPr lang="en-US" altLang="zh-CN" sz="23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设计时避免：死锁预防</a:t>
            </a:r>
            <a:endParaRPr lang="en-US" altLang="zh-CN" sz="23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运行时避免死锁：死锁避免</a:t>
            </a:r>
            <a:endParaRPr lang="en-US" altLang="zh-CN" sz="23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D596-978F-404E-9168-0A6D6981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F001FC39-C170-A945-96C6-E2801CFE4B6E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31641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57200" y="1123376"/>
            <a:ext cx="6536457" cy="562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23DA7-B43A-924D-B485-9645D2F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1A7D4F-D6E5-2C4B-9DB2-66401919F391}"/>
              </a:ext>
            </a:extLst>
          </p:cNvPr>
          <p:cNvSpPr/>
          <p:nvPr/>
        </p:nvSpPr>
        <p:spPr>
          <a:xfrm>
            <a:off x="1619672" y="259413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代理线程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BA8EA-5FC2-2344-9A87-80B41151461C}"/>
              </a:ext>
            </a:extLst>
          </p:cNvPr>
          <p:cNvSpPr/>
          <p:nvPr/>
        </p:nvSpPr>
        <p:spPr>
          <a:xfrm>
            <a:off x="963824" y="4141652"/>
            <a:ext cx="1368152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共享资源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E30690-7BF8-3743-82C8-6E9555AF940E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1647900" y="3242202"/>
            <a:ext cx="655848" cy="899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8164D-8B36-5F49-AF4B-1904CE670EBC}"/>
              </a:ext>
            </a:extLst>
          </p:cNvPr>
          <p:cNvSpPr/>
          <p:nvPr/>
        </p:nvSpPr>
        <p:spPr>
          <a:xfrm>
            <a:off x="869416" y="1870107"/>
            <a:ext cx="295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只有代理线程能够访问共享资源：避免数据竞争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D2F3DA-3B27-7E43-BB19-3BF95FB0D71E}"/>
              </a:ext>
            </a:extLst>
          </p:cNvPr>
          <p:cNvSpPr/>
          <p:nvPr/>
        </p:nvSpPr>
        <p:spPr>
          <a:xfrm>
            <a:off x="4716016" y="1860668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线程</a:t>
            </a:r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3C953-3637-D34B-A3B5-74C3E85E7D30}"/>
              </a:ext>
            </a:extLst>
          </p:cNvPr>
          <p:cNvSpPr/>
          <p:nvPr/>
        </p:nvSpPr>
        <p:spPr>
          <a:xfrm>
            <a:off x="4716016" y="421750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线程</a:t>
            </a:r>
            <a:r>
              <a:rPr lang="en-US" altLang="zh-CN" dirty="0"/>
              <a:t>1</a:t>
            </a:r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C3D681-F762-2848-BED7-B87358E3F0BE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>
            <a:off x="2987824" y="2184704"/>
            <a:ext cx="1728192" cy="73346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DF5EA5-181E-054C-AF41-5B8861B12F82}"/>
              </a:ext>
            </a:extLst>
          </p:cNvPr>
          <p:cNvCxnSpPr>
            <a:cxnSpLocks/>
            <a:stCxn id="17" idx="1"/>
            <a:endCxn id="3" idx="3"/>
          </p:cNvCxnSpPr>
          <p:nvPr/>
        </p:nvCxnSpPr>
        <p:spPr>
          <a:xfrm flipH="1" flipV="1">
            <a:off x="2987824" y="2918166"/>
            <a:ext cx="1728192" cy="162337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C4D490D-5BEB-5049-8A3C-4F606218C432}"/>
              </a:ext>
            </a:extLst>
          </p:cNvPr>
          <p:cNvSpPr/>
          <p:nvPr/>
        </p:nvSpPr>
        <p:spPr>
          <a:xfrm>
            <a:off x="3851920" y="2934810"/>
            <a:ext cx="295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发送修改请求，</a:t>
            </a:r>
            <a:endParaRPr lang="en-US" altLang="zh-CN" dirty="0"/>
          </a:p>
          <a:p>
            <a:pPr algn="ctr"/>
            <a:r>
              <a:rPr lang="zh-CN" altLang="en-US" dirty="0"/>
              <a:t>由代理线程统一执行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A37FFF-90B4-3D45-B127-E2687F81A6EC}"/>
              </a:ext>
            </a:extLst>
          </p:cNvPr>
          <p:cNvSpPr/>
          <p:nvPr/>
        </p:nvSpPr>
        <p:spPr>
          <a:xfrm>
            <a:off x="2021544" y="4981736"/>
            <a:ext cx="478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dirty="0"/>
              <a:t>*代理锁 (Delegation Lock) 实现了该功能</a:t>
            </a:r>
          </a:p>
        </p:txBody>
      </p:sp>
    </p:spTree>
    <p:extLst>
      <p:ext uri="{BB962C8B-B14F-4D97-AF65-F5344CB8AC3E}">
        <p14:creationId xmlns:p14="http://schemas.microsoft.com/office/powerpoint/2010/main" val="6484748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57200" y="1123376"/>
            <a:ext cx="6536457" cy="111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2C385-85FD-F941-A7C9-8895428DFD1B}"/>
              </a:ext>
            </a:extLst>
          </p:cNvPr>
          <p:cNvSpPr/>
          <p:nvPr/>
        </p:nvSpPr>
        <p:spPr>
          <a:xfrm>
            <a:off x="1042628" y="2412061"/>
            <a:ext cx="69847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w</a:t>
            </a:r>
            <a:r>
              <a:rPr lang="en-CN">
                <a:latin typeface="Courier" pitchFamily="2" charset="0"/>
              </a:rPr>
              <a:t>hile (true) {</a:t>
            </a:r>
          </a:p>
          <a:p>
            <a:r>
              <a:rPr lang="en-CN">
                <a:latin typeface="Courier" pitchFamily="2" charset="0"/>
              </a:rPr>
              <a:t>	if(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== SUCC)</a:t>
            </a:r>
          </a:p>
          <a:p>
            <a:r>
              <a:rPr lang="en-CN">
                <a:solidFill>
                  <a:srgbClr val="FF9300"/>
                </a:solidFill>
                <a:latin typeface="Courier" pitchFamily="2" charset="0"/>
              </a:rPr>
              <a:t>		</a:t>
            </a:r>
            <a:r>
              <a:rPr lang="en-CN">
                <a:latin typeface="Courier" pitchFamily="2" charset="0"/>
              </a:rPr>
              <a:t>if(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== SUCC) {</a:t>
            </a:r>
          </a:p>
          <a:p>
            <a:r>
              <a:rPr lang="en-CN">
                <a:latin typeface="Courier" pitchFamily="2" charset="0"/>
              </a:rPr>
              <a:t>        		/* Critical Section */</a:t>
            </a:r>
          </a:p>
          <a:p>
            <a:r>
              <a:rPr lang="en-CN">
                <a:latin typeface="Courier" pitchFamily="2" charset="0"/>
              </a:rPr>
              <a:t> 	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(B);</a:t>
            </a:r>
          </a:p>
          <a:p>
            <a:r>
              <a:rPr lang="en-CN">
                <a:latin typeface="Courier" pitchFamily="2" charset="0"/>
              </a:rPr>
              <a:t>        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(A);</a:t>
            </a:r>
          </a:p>
          <a:p>
            <a:r>
              <a:rPr lang="en-CN">
                <a:latin typeface="Courier" pitchFamily="2" charset="0"/>
              </a:rPr>
              <a:t>			break;</a:t>
            </a:r>
          </a:p>
          <a:p>
            <a:r>
              <a:rPr lang="en-CN">
                <a:latin typeface="Courier" pitchFamily="2" charset="0"/>
              </a:rPr>
              <a:t>		} else</a:t>
            </a:r>
          </a:p>
          <a:p>
            <a:r>
              <a:rPr lang="en-CN">
                <a:latin typeface="Courier" pitchFamily="2" charset="0"/>
              </a:rPr>
              <a:t>	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8C879-0060-D74F-A6EE-F89D1A6A73A2}"/>
              </a:ext>
            </a:extLst>
          </p:cNvPr>
          <p:cNvSpPr txBox="1"/>
          <p:nvPr/>
        </p:nvSpPr>
        <p:spPr>
          <a:xfrm>
            <a:off x="5998877" y="2204904"/>
            <a:ext cx="254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zh-CN" altLang="en-CN"/>
              <a:t>非</a:t>
            </a:r>
            <a:r>
              <a:rPr lang="zh-CN" altLang="en-US"/>
              <a:t>阻塞</a:t>
            </a:r>
            <a:endParaRPr lang="en-US" altLang="zh-CN"/>
          </a:p>
          <a:p>
            <a:pPr algn="ctr"/>
            <a:r>
              <a:rPr lang="zh-CN" altLang="en-US"/>
              <a:t>立即返回成功或失败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125F4B-7645-6149-BEA1-0FB28C4B9BD2}"/>
              </a:ext>
            </a:extLst>
          </p:cNvPr>
          <p:cNvSpPr/>
          <p:nvPr/>
        </p:nvSpPr>
        <p:spPr>
          <a:xfrm>
            <a:off x="3655267" y="4591624"/>
            <a:ext cx="1802203" cy="4609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6CC82-57E4-E94B-B8E0-7671FEF8F05E}"/>
              </a:ext>
            </a:extLst>
          </p:cNvPr>
          <p:cNvSpPr/>
          <p:nvPr/>
        </p:nvSpPr>
        <p:spPr>
          <a:xfrm>
            <a:off x="6012160" y="4573163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无法获取</a:t>
            </a:r>
            <a:r>
              <a:rPr lang="en-US" altLang="zh-CN"/>
              <a:t>B</a:t>
            </a:r>
            <a:r>
              <a:rPr lang="zh-CN" altLang="en-US"/>
              <a:t>，那么释放</a:t>
            </a:r>
            <a:r>
              <a:rPr lang="en-US" altLang="zh-CN"/>
              <a:t>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23DA7-B43A-924D-B485-9645D2F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6261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3876-FC59-EA40-A0FE-0E8DD893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避免死锁带来的活锁 </a:t>
            </a:r>
            <a:r>
              <a:rPr lang="en-US" altLang="zh-CN"/>
              <a:t>Live Lock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DCB64-6F4C-914E-9101-6393D7FA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A86A1-1E64-A247-BA59-FDE60BDA26BB}"/>
              </a:ext>
            </a:extLst>
          </p:cNvPr>
          <p:cNvSpPr/>
          <p:nvPr/>
        </p:nvSpPr>
        <p:spPr>
          <a:xfrm>
            <a:off x="2013757" y="1345332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proc_A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6BCC4-5DC2-7546-B365-5A06F11FE963}"/>
              </a:ext>
            </a:extLst>
          </p:cNvPr>
          <p:cNvSpPr/>
          <p:nvPr/>
        </p:nvSpPr>
        <p:spPr>
          <a:xfrm>
            <a:off x="5976156" y="1345332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proc_B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628E9-7841-814D-A6BD-D72CD158D121}"/>
              </a:ext>
            </a:extLst>
          </p:cNvPr>
          <p:cNvSpPr/>
          <p:nvPr/>
        </p:nvSpPr>
        <p:spPr>
          <a:xfrm>
            <a:off x="1058324" y="1873776"/>
            <a:ext cx="231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SUCC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E191AC-2058-094E-B36F-47A1BB6AF2F2}"/>
              </a:ext>
            </a:extLst>
          </p:cNvPr>
          <p:cNvSpPr/>
          <p:nvPr/>
        </p:nvSpPr>
        <p:spPr>
          <a:xfrm>
            <a:off x="5762092" y="2044896"/>
            <a:ext cx="271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SUCC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EB6A18-ED44-C54E-B681-F6F6BC64A6A5}"/>
              </a:ext>
            </a:extLst>
          </p:cNvPr>
          <p:cNvCxnSpPr/>
          <p:nvPr/>
        </p:nvCxnSpPr>
        <p:spPr>
          <a:xfrm>
            <a:off x="4427984" y="1489348"/>
            <a:ext cx="0" cy="338437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46656F-80E4-564F-9A9E-F8D552EF69D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77176" y="2058442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92C86A-F50B-F645-BB9F-EE39D02BFBE6}"/>
              </a:ext>
            </a:extLst>
          </p:cNvPr>
          <p:cNvCxnSpPr>
            <a:cxnSpLocks/>
          </p:cNvCxnSpPr>
          <p:nvPr/>
        </p:nvCxnSpPr>
        <p:spPr>
          <a:xfrm flipH="1">
            <a:off x="4508375" y="2229562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8C132AB-2D72-4D42-B89F-D64AD1DE4FE2}"/>
              </a:ext>
            </a:extLst>
          </p:cNvPr>
          <p:cNvSpPr/>
          <p:nvPr/>
        </p:nvSpPr>
        <p:spPr>
          <a:xfrm>
            <a:off x="1058324" y="2274466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FAIL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DFB208-D588-3049-BF55-86AE5E773C98}"/>
              </a:ext>
            </a:extLst>
          </p:cNvPr>
          <p:cNvCxnSpPr>
            <a:cxnSpLocks/>
          </p:cNvCxnSpPr>
          <p:nvPr/>
        </p:nvCxnSpPr>
        <p:spPr>
          <a:xfrm>
            <a:off x="3377176" y="2497460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93171A-069F-1048-9ADF-591559114CC0}"/>
              </a:ext>
            </a:extLst>
          </p:cNvPr>
          <p:cNvCxnSpPr>
            <a:cxnSpLocks/>
          </p:cNvCxnSpPr>
          <p:nvPr/>
        </p:nvCxnSpPr>
        <p:spPr>
          <a:xfrm flipH="1">
            <a:off x="4508375" y="2663729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308386F-9612-3A43-8C29-3B6C687493C8}"/>
              </a:ext>
            </a:extLst>
          </p:cNvPr>
          <p:cNvSpPr/>
          <p:nvPr/>
        </p:nvSpPr>
        <p:spPr>
          <a:xfrm>
            <a:off x="5796238" y="2476944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FAIL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CA1FCD-1024-FE4F-8381-5A29A1525749}"/>
              </a:ext>
            </a:extLst>
          </p:cNvPr>
          <p:cNvSpPr/>
          <p:nvPr/>
        </p:nvSpPr>
        <p:spPr>
          <a:xfrm>
            <a:off x="1681415" y="2744842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34D787-B938-ED48-82B2-18D9FC92E24D}"/>
              </a:ext>
            </a:extLst>
          </p:cNvPr>
          <p:cNvCxnSpPr>
            <a:cxnSpLocks/>
          </p:cNvCxnSpPr>
          <p:nvPr/>
        </p:nvCxnSpPr>
        <p:spPr>
          <a:xfrm>
            <a:off x="3377176" y="2929508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FA6213-7072-EA4D-9EB7-12DC29CA8380}"/>
              </a:ext>
            </a:extLst>
          </p:cNvPr>
          <p:cNvCxnSpPr>
            <a:cxnSpLocks/>
          </p:cNvCxnSpPr>
          <p:nvPr/>
        </p:nvCxnSpPr>
        <p:spPr>
          <a:xfrm flipH="1">
            <a:off x="4524151" y="3119991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DD1620A-A341-AE4D-A62B-C21AE5C538AC}"/>
              </a:ext>
            </a:extLst>
          </p:cNvPr>
          <p:cNvSpPr/>
          <p:nvPr/>
        </p:nvSpPr>
        <p:spPr>
          <a:xfrm>
            <a:off x="5858258" y="2902838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A6C59B-8E94-714E-BB10-18E1A5D51083}"/>
              </a:ext>
            </a:extLst>
          </p:cNvPr>
          <p:cNvSpPr/>
          <p:nvPr/>
        </p:nvSpPr>
        <p:spPr>
          <a:xfrm>
            <a:off x="997790" y="3467243"/>
            <a:ext cx="231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SUCC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A6B8A3-C1DA-9342-988D-3BB9B619B491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316642" y="3651909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1D59398-DA51-9445-9698-2D5D512B5FF3}"/>
              </a:ext>
            </a:extLst>
          </p:cNvPr>
          <p:cNvSpPr/>
          <p:nvPr/>
        </p:nvSpPr>
        <p:spPr>
          <a:xfrm>
            <a:off x="997790" y="3867933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FAIL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361E17-10F1-9648-B67D-6E830D885E16}"/>
              </a:ext>
            </a:extLst>
          </p:cNvPr>
          <p:cNvCxnSpPr>
            <a:cxnSpLocks/>
          </p:cNvCxnSpPr>
          <p:nvPr/>
        </p:nvCxnSpPr>
        <p:spPr>
          <a:xfrm>
            <a:off x="3316642" y="4090927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083F7CA-F548-1E47-BBB3-9EEFFAB96599}"/>
              </a:ext>
            </a:extLst>
          </p:cNvPr>
          <p:cNvSpPr/>
          <p:nvPr/>
        </p:nvSpPr>
        <p:spPr>
          <a:xfrm>
            <a:off x="1620881" y="4338309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0113-5A87-FC4A-BD42-48B7A2581BA7}"/>
              </a:ext>
            </a:extLst>
          </p:cNvPr>
          <p:cNvCxnSpPr>
            <a:cxnSpLocks/>
          </p:cNvCxnSpPr>
          <p:nvPr/>
        </p:nvCxnSpPr>
        <p:spPr>
          <a:xfrm>
            <a:off x="3316642" y="4522975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92A6E25-27B7-4C43-BED3-300EEDF674CA}"/>
              </a:ext>
            </a:extLst>
          </p:cNvPr>
          <p:cNvSpPr/>
          <p:nvPr/>
        </p:nvSpPr>
        <p:spPr>
          <a:xfrm>
            <a:off x="5831061" y="3658425"/>
            <a:ext cx="271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SUCC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B25080-1BFB-554E-83FE-AC1F113C1195}"/>
              </a:ext>
            </a:extLst>
          </p:cNvPr>
          <p:cNvCxnSpPr>
            <a:cxnSpLocks/>
          </p:cNvCxnSpPr>
          <p:nvPr/>
        </p:nvCxnSpPr>
        <p:spPr>
          <a:xfrm flipH="1">
            <a:off x="4577344" y="3843091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40529A-A399-3C48-A30F-F88FE640378F}"/>
              </a:ext>
            </a:extLst>
          </p:cNvPr>
          <p:cNvCxnSpPr>
            <a:cxnSpLocks/>
          </p:cNvCxnSpPr>
          <p:nvPr/>
        </p:nvCxnSpPr>
        <p:spPr>
          <a:xfrm flipH="1">
            <a:off x="4577344" y="4277258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80007E4-F995-5B4F-8678-F1A9089C20A5}"/>
              </a:ext>
            </a:extLst>
          </p:cNvPr>
          <p:cNvSpPr/>
          <p:nvPr/>
        </p:nvSpPr>
        <p:spPr>
          <a:xfrm>
            <a:off x="5865207" y="4090473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FAIL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FD4A32-C221-4E46-9CF7-4230B1051BAD}"/>
              </a:ext>
            </a:extLst>
          </p:cNvPr>
          <p:cNvCxnSpPr>
            <a:cxnSpLocks/>
          </p:cNvCxnSpPr>
          <p:nvPr/>
        </p:nvCxnSpPr>
        <p:spPr>
          <a:xfrm flipH="1">
            <a:off x="4593120" y="4733520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523EB7E-02D6-F740-96DC-2E06623AA16E}"/>
              </a:ext>
            </a:extLst>
          </p:cNvPr>
          <p:cNvSpPr/>
          <p:nvPr/>
        </p:nvSpPr>
        <p:spPr>
          <a:xfrm>
            <a:off x="5927227" y="4516367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7A513B-BE47-D449-93D8-55D6854AB31D}"/>
              </a:ext>
            </a:extLst>
          </p:cNvPr>
          <p:cNvSpPr/>
          <p:nvPr/>
        </p:nvSpPr>
        <p:spPr>
          <a:xfrm>
            <a:off x="1898412" y="4952152"/>
            <a:ext cx="23909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如此</a:t>
            </a:r>
            <a:r>
              <a:rPr lang="zh-CN" altLang="en-US">
                <a:latin typeface="Courier" pitchFamily="2" charset="0"/>
              </a:rPr>
              <a:t>往复</a:t>
            </a:r>
            <a:r>
              <a:rPr lang="en-US" altLang="zh-CN">
                <a:latin typeface="Courier" pitchFamily="2" charset="0"/>
              </a:rPr>
              <a:t>...</a:t>
            </a:r>
            <a:endParaRPr lang="en-CN">
              <a:latin typeface="Courier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8B4ABF-24D1-4D47-B489-EBF0064D431A}"/>
              </a:ext>
            </a:extLst>
          </p:cNvPr>
          <p:cNvSpPr/>
          <p:nvPr/>
        </p:nvSpPr>
        <p:spPr>
          <a:xfrm>
            <a:off x="3903290" y="4992146"/>
            <a:ext cx="4752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死锁是</a:t>
            </a:r>
            <a:r>
              <a:rPr lang="zh-CN" altLang="en-US" b="1">
                <a:latin typeface="Courier" pitchFamily="2" charset="0"/>
              </a:rPr>
              <a:t>无法恢复</a:t>
            </a:r>
            <a:r>
              <a:rPr lang="zh-CN" altLang="en-US">
                <a:latin typeface="Courier" pitchFamily="2" charset="0"/>
              </a:rPr>
              <a:t>的，但是活锁</a:t>
            </a:r>
            <a:r>
              <a:rPr lang="zh-CN" altLang="en-US" b="1">
                <a:latin typeface="Courier" pitchFamily="2" charset="0"/>
              </a:rPr>
              <a:t>可能自己恢复</a:t>
            </a:r>
            <a:endParaRPr lang="en-CN" b="1">
              <a:latin typeface="Courier" pitchFamily="2" charset="0"/>
            </a:endParaRP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84F9E6F-4450-3447-AC04-090537AB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4026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43574" y="1345332"/>
            <a:ext cx="6536457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8488BF-C79D-3347-89CC-F7069F02C646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6F6147-9538-884B-8935-8CEB53982CD4}"/>
              </a:ext>
            </a:extLst>
          </p:cNvPr>
          <p:cNvCxnSpPr>
            <a:cxnSpLocks/>
          </p:cNvCxnSpPr>
          <p:nvPr/>
        </p:nvCxnSpPr>
        <p:spPr>
          <a:xfrm flipV="1">
            <a:off x="6156176" y="1561356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F188001-1405-CD45-A5EE-D8B048A46D4F}"/>
              </a:ext>
            </a:extLst>
          </p:cNvPr>
          <p:cNvSpPr/>
          <p:nvPr/>
        </p:nvSpPr>
        <p:spPr>
          <a:xfrm>
            <a:off x="6244938" y="2463449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抢占锁A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BAEB8-8DCC-5D48-B318-6225789F42CD}"/>
              </a:ext>
            </a:extLst>
          </p:cNvPr>
          <p:cNvSpPr/>
          <p:nvPr/>
        </p:nvSpPr>
        <p:spPr>
          <a:xfrm>
            <a:off x="883510" y="3634321"/>
            <a:ext cx="4416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需要让线程A正确回滚到拿锁A之前的状态</a:t>
            </a:r>
            <a:endParaRPr lang="en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0842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43574" y="1345332"/>
            <a:ext cx="6536457" cy="222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4</a:t>
            </a:r>
            <a:r>
              <a:rPr lang="zh-CN" altLang="en-US" dirty="0"/>
              <a:t>、打破循环等待：按照特定顺序获取资源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FD13A-B705-8C4D-B72D-7A0BFE911E8B}"/>
              </a:ext>
            </a:extLst>
          </p:cNvPr>
          <p:cNvSpPr/>
          <p:nvPr/>
        </p:nvSpPr>
        <p:spPr>
          <a:xfrm>
            <a:off x="1043608" y="3783696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对</a:t>
            </a:r>
            <a:r>
              <a:rPr lang="en-CN"/>
              <a:t>所有资源进行编号</a:t>
            </a:r>
            <a:endParaRPr lang="en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让所有线程</a:t>
            </a:r>
            <a:r>
              <a:rPr lang="zh-CN" altLang="en-CN" dirty="0"/>
              <a:t>递</a:t>
            </a:r>
            <a:r>
              <a:rPr lang="en-CN" dirty="0"/>
              <a:t>增</a:t>
            </a:r>
            <a:r>
              <a:rPr lang="zh-CN" altLang="en-CN" dirty="0"/>
              <a:t>获取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353F1E-BF0F-FC4A-913B-387791387BC2}"/>
              </a:ext>
            </a:extLst>
          </p:cNvPr>
          <p:cNvSpPr/>
          <p:nvPr/>
        </p:nvSpPr>
        <p:spPr>
          <a:xfrm>
            <a:off x="1079612" y="480121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CN" dirty="0"/>
              <a:t>任意</a:t>
            </a:r>
            <a:r>
              <a:rPr lang="zh-CN" altLang="en-US" dirty="0"/>
              <a:t>时刻：获取最大资源</a:t>
            </a:r>
            <a:r>
              <a:rPr lang="zh-CN" altLang="en-CN" dirty="0"/>
              <a:t>号的</a:t>
            </a:r>
            <a:r>
              <a:rPr lang="zh-CN" altLang="en-US" dirty="0"/>
              <a:t>线程可以继续执行，然后释放资源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4A666F-9C3D-DA40-B683-36F6345F341E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30819-2243-8545-8979-ED7C70CD382F}"/>
              </a:ext>
            </a:extLst>
          </p:cNvPr>
          <p:cNvSpPr/>
          <p:nvPr/>
        </p:nvSpPr>
        <p:spPr>
          <a:xfrm>
            <a:off x="4283030" y="4507668"/>
            <a:ext cx="4403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号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号：必须先拿锁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，再拿锁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endParaRPr lang="en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5739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出问题再处理：死锁的检测与恢复</a:t>
            </a:r>
            <a:endParaRPr lang="en-US" altLang="zh-CN" sz="23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设计时避免：死锁预防</a:t>
            </a:r>
            <a:endParaRPr lang="en-US" altLang="zh-CN" sz="23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运行时避免死锁：死锁避免</a:t>
            </a:r>
            <a:endParaRPr lang="en-US" altLang="zh-CN" sz="2300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4AEC2-438E-3242-AE30-6F8C313D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CA91CF3B-F705-5841-AAC6-7AD1D2BAAF72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55777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死锁避免：运行时检查是否会出现死锁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616766" y="170537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银行家算法的核心：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5259F-EAFC-3E44-9D42-D5C11B3E0752}"/>
              </a:ext>
            </a:extLst>
          </p:cNvPr>
          <p:cNvSpPr/>
          <p:nvPr/>
        </p:nvSpPr>
        <p:spPr>
          <a:xfrm>
            <a:off x="899592" y="2288878"/>
            <a:ext cx="6536457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sz="2000" dirty="0"/>
              <a:t>所有</a:t>
            </a:r>
            <a:r>
              <a:rPr lang="zh-CN" altLang="en-US" sz="2000" dirty="0"/>
              <a:t>线程获取资源需要通过</a:t>
            </a:r>
            <a:r>
              <a:rPr lang="zh-CN" altLang="en-US" sz="2000" b="1" dirty="0"/>
              <a:t>管理者</a:t>
            </a:r>
            <a:r>
              <a:rPr lang="zh-CN" altLang="en-US" sz="2000" dirty="0"/>
              <a:t>同意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管理者</a:t>
            </a:r>
            <a:r>
              <a:rPr lang="zh-CN" altLang="en-US" sz="2000" b="1" dirty="0"/>
              <a:t>预演</a:t>
            </a:r>
            <a:r>
              <a:rPr lang="zh-CN" altLang="en-US" sz="2000" dirty="0"/>
              <a:t>会不会造成死锁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如果会造成：阻塞线程，下次再给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如果不会造成：给线程该资源</a:t>
            </a:r>
            <a:endParaRPr lang="en-US" altLang="zh-C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76D8A-96F4-0944-9269-5114212A0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F19B-597C-9C4A-8216-32298C05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349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如何</a:t>
            </a:r>
            <a:r>
              <a:rPr lang="zh-CN" altLang="en-US" b="1"/>
              <a:t>预演判断</a:t>
            </a:r>
            <a:r>
              <a:rPr lang="zh-CN" altLang="en-US"/>
              <a:t>？将系统划分为两个状态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827584" y="2399041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安全状态</a:t>
            </a:r>
            <a:endParaRPr lang="en-US" altLang="zh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DBF98-3BEF-6B47-8149-1D0863127C4A}"/>
              </a:ext>
            </a:extLst>
          </p:cNvPr>
          <p:cNvSpPr/>
          <p:nvPr/>
        </p:nvSpPr>
        <p:spPr>
          <a:xfrm>
            <a:off x="470003" y="3524669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非安全状态</a:t>
            </a:r>
            <a:endParaRPr lang="en-US" altLang="zh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3F2C9-1E2B-A949-8FEE-0C57081A3F50}"/>
              </a:ext>
            </a:extLst>
          </p:cNvPr>
          <p:cNvSpPr/>
          <p:nvPr/>
        </p:nvSpPr>
        <p:spPr>
          <a:xfrm>
            <a:off x="683568" y="1818012"/>
            <a:ext cx="5869632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对于一组线程</a:t>
            </a:r>
            <a:r>
              <a:rPr lang="en-US" altLang="zh-CN" dirty="0"/>
              <a:t> {P1, P2, ... , </a:t>
            </a:r>
            <a:r>
              <a:rPr lang="en-US" altLang="zh-CN" dirty="0" err="1"/>
              <a:t>Pn</a:t>
            </a:r>
            <a:r>
              <a:rPr lang="en-US" altLang="zh-CN" dirty="0"/>
              <a:t>}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C9DADB-159A-D641-A572-C12C675AD55C}"/>
              </a:ext>
            </a:extLst>
          </p:cNvPr>
          <p:cNvSpPr/>
          <p:nvPr/>
        </p:nvSpPr>
        <p:spPr>
          <a:xfrm>
            <a:off x="809603" y="2943908"/>
            <a:ext cx="799288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能找出至少一个执行序列，如</a:t>
            </a:r>
            <a:r>
              <a:rPr lang="en-US" altLang="zh-CN" dirty="0"/>
              <a:t>P2-&gt;P1-&gt;P5...</a:t>
            </a:r>
            <a:r>
              <a:rPr lang="zh-CN" altLang="en-US" dirty="0"/>
              <a:t>让所有线程需求得到满足</a:t>
            </a:r>
            <a:endParaRPr lang="en-US" altLang="zh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93FC50-A69C-804D-8EBE-C2F8EBB1E9AE}"/>
              </a:ext>
            </a:extLst>
          </p:cNvPr>
          <p:cNvSpPr/>
          <p:nvPr/>
        </p:nvSpPr>
        <p:spPr>
          <a:xfrm>
            <a:off x="1259632" y="4069536"/>
            <a:ext cx="396044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不能找出这个序列，必定会导致死锁</a:t>
            </a:r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E2BF2-2B7B-3849-8DB3-D54BD89E3DEA}"/>
              </a:ext>
            </a:extLst>
          </p:cNvPr>
          <p:cNvSpPr/>
          <p:nvPr/>
        </p:nvSpPr>
        <p:spPr>
          <a:xfrm>
            <a:off x="1079612" y="4794670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银行家算法：保证系统一直处于</a:t>
            </a:r>
            <a:r>
              <a:rPr lang="zh-CN" altLang="en-US" b="1"/>
              <a:t>安全状态</a:t>
            </a:r>
            <a:r>
              <a:rPr lang="zh-CN" altLang="en-US"/>
              <a:t>，且按照这个序列执行</a:t>
            </a:r>
            <a:endParaRPr lang="en-US" altLang="zh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6BD4D-E7F7-B14F-9262-CDB44F5C7991}"/>
              </a:ext>
            </a:extLst>
          </p:cNvPr>
          <p:cNvSpPr/>
          <p:nvPr/>
        </p:nvSpPr>
        <p:spPr>
          <a:xfrm>
            <a:off x="5207929" y="4213909"/>
            <a:ext cx="2376264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安全性检查算法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EF973C-845D-A94A-BD44-33019434FEC3}"/>
              </a:ext>
            </a:extLst>
          </p:cNvPr>
          <p:cNvCxnSpPr>
            <a:cxnSpLocks/>
          </p:cNvCxnSpPr>
          <p:nvPr/>
        </p:nvCxnSpPr>
        <p:spPr>
          <a:xfrm flipH="1">
            <a:off x="5436097" y="4622098"/>
            <a:ext cx="288031" cy="194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53AE7-F5A4-6145-8BFA-BC2CC209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CB238-BABC-0F4D-BB12-F2973A21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527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银行家算法：安全性检查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539552" y="134533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四个数据结构：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35AFD-3214-7544-AA7E-543B5094AFA0}"/>
              </a:ext>
            </a:extLst>
          </p:cNvPr>
          <p:cNvSpPr/>
          <p:nvPr/>
        </p:nvSpPr>
        <p:spPr>
          <a:xfrm>
            <a:off x="899592" y="2145341"/>
            <a:ext cx="6030416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全局可利用资源：Available[M]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每</a:t>
            </a:r>
            <a:r>
              <a:rPr lang="zh-CN" altLang="en-US" dirty="0">
                <a:latin typeface="+mn-ea"/>
              </a:rPr>
              <a:t>线程</a:t>
            </a:r>
            <a:r>
              <a:rPr lang="en-CN" dirty="0">
                <a:latin typeface="+mn-ea"/>
              </a:rPr>
              <a:t>最大需求量：Max[N][M]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已分配资源：Allocation[N][M]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还需要的资源：Need[N][M]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2105-7887-5A43-B8DD-7CD81A3B9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E6508-EB25-574D-883A-56A3E97284D3}"/>
              </a:ext>
            </a:extLst>
          </p:cNvPr>
          <p:cNvSpPr/>
          <p:nvPr/>
        </p:nvSpPr>
        <p:spPr>
          <a:xfrm>
            <a:off x="4506085" y="1500966"/>
            <a:ext cx="2052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个资源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个线程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61F4-2BED-C24B-A400-72DB977F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996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某时刻系统状态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9D2DE-010B-0E45-B7E3-6898171F3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7C74-2EAA-924E-A69A-896CBE86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786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P2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3C8E0-62E6-CA4C-8727-1892AE25E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53198-0887-FC4E-A40E-FA0F426F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573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solidFill>
                            <a:schemeClr val="accent1"/>
                          </a:solidFill>
                          <a:effectLst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P1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49E03-0AAB-5C42-82C3-64FFA193F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038E-40D6-764B-8C91-0AEEE500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3039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>
                          <a:solidFill>
                            <a:schemeClr val="accent1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P3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B8296-4838-9040-868D-F8F792F40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CE91A-D290-3542-AFAE-A5576446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165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26917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通过安全性检查：处于安全状态！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9C83-96BE-9342-83D4-2CE336D86620}"/>
              </a:ext>
            </a:extLst>
          </p:cNvPr>
          <p:cNvSpPr/>
          <p:nvPr/>
        </p:nvSpPr>
        <p:spPr>
          <a:xfrm>
            <a:off x="1220482" y="4783068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BE247-BEB3-DA4F-B818-BAA0F406D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27BD9-DB59-5B4A-9CB8-CF7E85A5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1192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3→1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1→0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03994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06B9B-5990-994A-96DE-714CA4F17389}"/>
              </a:ext>
            </a:extLst>
          </p:cNvPr>
          <p:cNvSpPr/>
          <p:nvPr/>
        </p:nvSpPr>
        <p:spPr>
          <a:xfrm>
            <a:off x="1042628" y="4413449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假设</a:t>
            </a:r>
            <a:r>
              <a:rPr lang="zh-CN" altLang="en-US" dirty="0"/>
              <a:t>分配给它，运行安全检查：无法通过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50D527-B1C3-E549-BE4E-8390E161ACC1}"/>
              </a:ext>
            </a:extLst>
          </p:cNvPr>
          <p:cNvSpPr/>
          <p:nvPr/>
        </p:nvSpPr>
        <p:spPr>
          <a:xfrm>
            <a:off x="1079612" y="478028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采取行动：阻塞</a:t>
            </a:r>
            <a:r>
              <a:rPr lang="en-US" altLang="zh-CN">
                <a:solidFill>
                  <a:schemeClr val="accent1"/>
                </a:solidFill>
              </a:rPr>
              <a:t>P1</a:t>
            </a:r>
            <a:r>
              <a:rPr lang="zh-CN" altLang="en-US">
                <a:solidFill>
                  <a:schemeClr val="accent1"/>
                </a:solidFill>
              </a:rPr>
              <a:t>，保证系统维持在安全状态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AB207-87B4-2442-9975-36C440AE8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4A79A-8249-8F47-AA1A-FDA070F3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13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38871</TotalTime>
  <Words>6261</Words>
  <Application>Microsoft Macintosh PowerPoint</Application>
  <PresentationFormat>On-screen Show (16:10)</PresentationFormat>
  <Paragraphs>1116</Paragraphs>
  <Slides>71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5" baseType="lpstr">
      <vt:lpstr>DengXian</vt:lpstr>
      <vt:lpstr>Linux Libertine</vt:lpstr>
      <vt:lpstr>Microsoft YaHei</vt:lpstr>
      <vt:lpstr>Microsoft YaHei</vt:lpstr>
      <vt:lpstr>宋体</vt:lpstr>
      <vt:lpstr>Arial</vt:lpstr>
      <vt:lpstr>Calibri</vt:lpstr>
      <vt:lpstr>Consolas</vt:lpstr>
      <vt:lpstr>Courier</vt:lpstr>
      <vt:lpstr>Helvetica Neue</vt:lpstr>
      <vt:lpstr>Times New Roman</vt:lpstr>
      <vt:lpstr>Wingdings</vt:lpstr>
      <vt:lpstr>Office 主题​​</vt:lpstr>
      <vt:lpstr>1_Office 主题​​</vt:lpstr>
      <vt:lpstr>PowerPoint Presentation</vt:lpstr>
      <vt:lpstr>版权声明</vt:lpstr>
      <vt:lpstr>大纲</vt:lpstr>
      <vt:lpstr>多核不是免费的午餐</vt:lpstr>
      <vt:lpstr>并发带来的同步问题：竞争条件                           (race condition)</vt:lpstr>
      <vt:lpstr>多线程计数实例</vt:lpstr>
      <vt:lpstr>多线程计数中的数据竞争</vt:lpstr>
      <vt:lpstr>竞争条件 Race Condition</vt:lpstr>
      <vt:lpstr>生产者消费者 → 多生产者消费者</vt:lpstr>
      <vt:lpstr>生产者消费者问题的基础实现</vt:lpstr>
      <vt:lpstr>生产者消费者问题的基础实现</vt:lpstr>
      <vt:lpstr>生产者消费者问题方案总结</vt:lpstr>
      <vt:lpstr>多生产者消费者问题</vt:lpstr>
      <vt:lpstr>新的抽象：临界区（Critical Section）</vt:lpstr>
      <vt:lpstr>实现临界区抽象的三个要求</vt:lpstr>
      <vt:lpstr>什么是同步原语？</vt:lpstr>
      <vt:lpstr>互斥锁</vt:lpstr>
      <vt:lpstr>互斥锁的接口：拿锁和放锁</vt:lpstr>
      <vt:lpstr>用互斥锁解决多生产者消费者问题</vt:lpstr>
      <vt:lpstr>用互斥锁解决多生产者消费者问题</vt:lpstr>
      <vt:lpstr>用互斥锁解决多生产者消费者问题</vt:lpstr>
      <vt:lpstr>用互斥锁解决多生产者消费者问题</vt:lpstr>
      <vt:lpstr>用互斥锁解决多线程计数问题</vt:lpstr>
      <vt:lpstr>条件变量</vt:lpstr>
      <vt:lpstr>条件变量</vt:lpstr>
      <vt:lpstr>条件变量的接口</vt:lpstr>
      <vt:lpstr>条件变量的使用示例</vt:lpstr>
      <vt:lpstr>条件变量的使用示例</vt:lpstr>
      <vt:lpstr>信号量（Semaphore）</vt:lpstr>
      <vt:lpstr>生产者消费者问题的另一种实现</vt:lpstr>
      <vt:lpstr>生产者消费者问题的另一种实现</vt:lpstr>
      <vt:lpstr>信号量 （PV原语）</vt:lpstr>
      <vt:lpstr>信号量的使用</vt:lpstr>
      <vt:lpstr>信号量的使用</vt:lpstr>
      <vt:lpstr>二元信号量与计数信号量</vt:lpstr>
      <vt:lpstr>读写锁</vt:lpstr>
      <vt:lpstr>公告栏问题</vt:lpstr>
      <vt:lpstr>公告栏问题</vt:lpstr>
      <vt:lpstr>读写锁的使用示例</vt:lpstr>
      <vt:lpstr>读写锁</vt:lpstr>
      <vt:lpstr>读写锁</vt:lpstr>
      <vt:lpstr>不同同步原语之间的比较</vt:lpstr>
      <vt:lpstr>同步原语对比：互斥锁/条件变量/信号量</vt:lpstr>
      <vt:lpstr>同步原语对比：互斥锁/条件变量/信号量</vt:lpstr>
      <vt:lpstr>同步原语对比：互斥锁/条件变量/信号量</vt:lpstr>
      <vt:lpstr>同步原语对比：互斥锁 vs 读写锁</vt:lpstr>
      <vt:lpstr>同步原语对比：互斥锁 vs 读写锁</vt:lpstr>
      <vt:lpstr>同步带来的问题：死锁</vt:lpstr>
      <vt:lpstr>死锁</vt:lpstr>
      <vt:lpstr>死锁产生的原因</vt:lpstr>
      <vt:lpstr>死锁产生的原因</vt:lpstr>
      <vt:lpstr>死锁产生的原因</vt:lpstr>
      <vt:lpstr>死锁产生的原因</vt:lpstr>
      <vt:lpstr>如何解决死锁？</vt:lpstr>
      <vt:lpstr>检测死锁与恢复</vt:lpstr>
      <vt:lpstr>如何解决死锁？</vt:lpstr>
      <vt:lpstr>死锁预防：四个方向</vt:lpstr>
      <vt:lpstr>死锁预防：四个方向</vt:lpstr>
      <vt:lpstr>避免死锁带来的活锁 Live Lock</vt:lpstr>
      <vt:lpstr>死锁预防：四个方向</vt:lpstr>
      <vt:lpstr>死锁预防：四个方向</vt:lpstr>
      <vt:lpstr>如何解决死锁？</vt:lpstr>
      <vt:lpstr>死锁避免：银行家算法</vt:lpstr>
      <vt:lpstr>死锁避免：银行家算法</vt:lpstr>
      <vt:lpstr>银行家算法：安全性检查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1785</cp:revision>
  <cp:lastPrinted>2020-03-02T13:38:09Z</cp:lastPrinted>
  <dcterms:created xsi:type="dcterms:W3CDTF">2017-11-24T09:35:45Z</dcterms:created>
  <dcterms:modified xsi:type="dcterms:W3CDTF">2025-11-10T09:13:33Z</dcterms:modified>
</cp:coreProperties>
</file>