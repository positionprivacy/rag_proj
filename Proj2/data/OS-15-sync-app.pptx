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28"/>
  </p:notesMasterIdLst>
  <p:handoutMasterIdLst>
    <p:handoutMasterId r:id="rId29"/>
  </p:handoutMasterIdLst>
  <p:sldIdLst>
    <p:sldId id="2769" r:id="rId3"/>
    <p:sldId id="1359" r:id="rId4"/>
    <p:sldId id="2467" r:id="rId5"/>
    <p:sldId id="2446" r:id="rId6"/>
    <p:sldId id="2484" r:id="rId7"/>
    <p:sldId id="2485" r:id="rId8"/>
    <p:sldId id="2486" r:id="rId9"/>
    <p:sldId id="2487" r:id="rId10"/>
    <p:sldId id="2442" r:id="rId11"/>
    <p:sldId id="2429" r:id="rId12"/>
    <p:sldId id="2430" r:id="rId13"/>
    <p:sldId id="2428" r:id="rId14"/>
    <p:sldId id="2431" r:id="rId15"/>
    <p:sldId id="2432" r:id="rId16"/>
    <p:sldId id="2451" r:id="rId17"/>
    <p:sldId id="2452" r:id="rId18"/>
    <p:sldId id="2453" r:id="rId19"/>
    <p:sldId id="2441" r:id="rId20"/>
    <p:sldId id="2454" r:id="rId21"/>
    <p:sldId id="2455" r:id="rId22"/>
    <p:sldId id="2437" r:id="rId23"/>
    <p:sldId id="2438" r:id="rId24"/>
    <p:sldId id="2439" r:id="rId25"/>
    <p:sldId id="2440" r:id="rId26"/>
    <p:sldId id="2443" r:id="rId2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92" autoAdjust="0"/>
    <p:restoredTop sz="74415" autoAdjust="0"/>
  </p:normalViewPr>
  <p:slideViewPr>
    <p:cSldViewPr>
      <p:cViewPr varScale="1">
        <p:scale>
          <a:sx n="106" d="100"/>
          <a:sy n="106" d="100"/>
        </p:scale>
        <p:origin x="1640" y="168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2025/12/1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21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BSP,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</a:p>
          <a:p>
            <a:r>
              <a:rPr kumimoji="1" lang="en-US" altLang="zh-CN" dirty="0" err="1"/>
              <a:t>sem</a:t>
            </a:r>
            <a:r>
              <a:rPr kumimoji="1" lang="zh-CN" altLang="en-US" dirty="0"/>
              <a:t>？要创建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</a:t>
            </a:r>
            <a:r>
              <a:rPr kumimoji="1" lang="en-US" altLang="zh-CN" dirty="0" err="1"/>
              <a:t>sem</a:t>
            </a:r>
            <a:r>
              <a:rPr kumimoji="1" lang="zh-CN" altLang="en-US" dirty="0"/>
              <a:t>，每个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等待所有其他</a:t>
            </a:r>
            <a:r>
              <a:rPr kumimoji="1" lang="en-US" altLang="zh-CN" dirty="0"/>
              <a:t>thread</a:t>
            </a:r>
          </a:p>
          <a:p>
            <a:r>
              <a:rPr kumimoji="1" lang="en-US" altLang="zh-CN" dirty="0"/>
              <a:t>cv</a:t>
            </a:r>
            <a:r>
              <a:rPr kumimoji="1" lang="zh-CN" altLang="en-US" dirty="0"/>
              <a:t>更灵活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1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等待任意数量结束，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375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等待任意数量结束，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18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Reducer</a:t>
            </a:r>
            <a:r>
              <a:rPr kumimoji="1" lang="zh-CN" altLang="en-US" dirty="0"/>
              <a:t>起来后，可能发现多个</a:t>
            </a:r>
            <a:r>
              <a:rPr kumimoji="1" lang="en-US" altLang="zh-CN" dirty="0"/>
              <a:t>mapper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finish</a:t>
            </a:r>
          </a:p>
          <a:p>
            <a:r>
              <a:rPr kumimoji="1" lang="en-US" altLang="zh-CN" dirty="0"/>
              <a:t>cv</a:t>
            </a:r>
            <a:r>
              <a:rPr kumimoji="1" lang="zh-CN" altLang="en-US" dirty="0"/>
              <a:t>没有</a:t>
            </a:r>
            <a:r>
              <a:rPr kumimoji="1" lang="en-US" altLang="zh-CN" dirty="0"/>
              <a:t>counter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827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上一种可以多个结果一起collect</a:t>
            </a:r>
            <a:r>
              <a:rPr lang="zh-CN" altLang="en-US" dirty="0"/>
              <a:t>，</a:t>
            </a:r>
            <a:r>
              <a:rPr lang="en-US" altLang="zh-CN" dirty="0" err="1"/>
              <a:t>sem</a:t>
            </a:r>
            <a:r>
              <a:rPr lang="zh-CN" altLang="en-US" dirty="0"/>
              <a:t>这种只能一次</a:t>
            </a:r>
            <a:r>
              <a:rPr lang="en-US" altLang="zh-CN" dirty="0"/>
              <a:t>collect</a:t>
            </a:r>
            <a:r>
              <a:rPr lang="zh-CN" altLang="en-US" dirty="0"/>
              <a:t>一个</a:t>
            </a:r>
            <a:endParaRPr lang="en-US" altLang="zh-CN" dirty="0"/>
          </a:p>
          <a:p>
            <a:r>
              <a:rPr lang="en-US" altLang="zh-CN" dirty="0" err="1"/>
              <a:t>sem</a:t>
            </a:r>
            <a:r>
              <a:rPr lang="zh-CN" altLang="en-US" dirty="0"/>
              <a:t>的语义，就是一次只能拿走一个（</a:t>
            </a:r>
            <a:r>
              <a:rPr lang="en-US" altLang="zh-CN" dirty="0"/>
              <a:t>counter</a:t>
            </a:r>
            <a:r>
              <a:rPr lang="zh-CN" altLang="en-US" dirty="0"/>
              <a:t>每次只能减一）</a:t>
            </a:r>
            <a:endParaRPr lang="en-US" altLang="zh-CN" dirty="0"/>
          </a:p>
          <a:p>
            <a:r>
              <a:rPr lang="zh-CN" altLang="en-US" dirty="0"/>
              <a:t>但</a:t>
            </a:r>
            <a:r>
              <a:rPr lang="en-US" altLang="zh-CN" dirty="0"/>
              <a:t>cv</a:t>
            </a:r>
            <a:r>
              <a:rPr lang="zh-CN" altLang="en-US" dirty="0"/>
              <a:t>更复杂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74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必须*所有*结束，渲染才能继续（渲染线程处于阻塞状态）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80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同样需要</a:t>
            </a:r>
            <a:r>
              <a:rPr kumimoji="1" lang="en-US" altLang="zh-CN" dirty="0"/>
              <a:t>wait</a:t>
            </a:r>
            <a:r>
              <a:rPr kumimoji="1" lang="zh-CN" altLang="en-US" dirty="0"/>
              <a:t>多次，唤醒多次；好处是代码更简单</a:t>
            </a:r>
            <a:endParaRPr kumimoji="1" lang="en-US" altLang="zh-CN" dirty="0"/>
          </a:p>
          <a:p>
            <a:r>
              <a:rPr kumimoji="1" lang="zh-CN" altLang="en-US" dirty="0"/>
              <a:t>与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场景的区别：</a:t>
            </a:r>
            <a:r>
              <a:rPr kumimoji="1" lang="en-US" altLang="zh-CN" dirty="0"/>
              <a:t>barrier</a:t>
            </a:r>
            <a:r>
              <a:rPr kumimoji="1" lang="zh-CN" altLang="en-US" dirty="0"/>
              <a:t>不适合用</a:t>
            </a:r>
            <a:r>
              <a:rPr kumimoji="1" lang="en-US" altLang="zh-CN" dirty="0" err="1"/>
              <a:t>sem</a:t>
            </a:r>
            <a:r>
              <a:rPr kumimoji="1" lang="zh-CN" altLang="en-US" dirty="0"/>
              <a:t>，没有什么适合抽象成</a:t>
            </a:r>
            <a:r>
              <a:rPr kumimoji="1" lang="zh-CN" altLang="en-US" u="sng" dirty="0"/>
              <a:t>等待的资源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792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altLang="zh-CN">
                <a:latin typeface="Courier" pitchFamily="2" charset="0"/>
              </a:rPr>
              <a:t>thread_cnt_sem</a:t>
            </a:r>
            <a:r>
              <a:rPr lang="zh-CN" altLang="en-US" dirty="0">
                <a:latin typeface="Courier" pitchFamily="2" charset="0"/>
              </a:rPr>
              <a:t>初始化为</a:t>
            </a:r>
            <a:r>
              <a:rPr lang="en-US" altLang="zh-CN" dirty="0">
                <a:latin typeface="Courier" pitchFamily="2" charset="0"/>
              </a:rPr>
              <a:t>3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7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2025/12/1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CN" sz="4800" dirty="0"/>
              <a:t>同步</a:t>
            </a:r>
            <a:r>
              <a:rPr kumimoji="1" lang="zh-CN" altLang="en-US" sz="4800" dirty="0"/>
              <a:t>原语：比较与应用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4C7-57F2-DF45-9395-13C31E8B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不同</a:t>
            </a:r>
            <a:r>
              <a:rPr lang="zh-CN" altLang="en-US"/>
              <a:t>同步原语之间的比较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BEBAE-5FA7-564B-9D62-11A2D73FA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FF9CD9-4ADE-B547-81B3-1EBECB1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38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场景与同步原语总结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F51252-50C5-1E49-BDC2-E54FAA0FF686}"/>
              </a:ext>
            </a:extLst>
          </p:cNvPr>
          <p:cNvGraphicFramePr>
            <a:graphicFrameLocks noGrp="1"/>
          </p:cNvGraphicFramePr>
          <p:nvPr/>
        </p:nvGraphicFramePr>
        <p:xfrm>
          <a:off x="534379" y="1129308"/>
          <a:ext cx="8075241" cy="3737121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691747">
                  <a:extLst>
                    <a:ext uri="{9D8B030D-6E8A-4147-A177-3AD203B41FA5}">
                      <a16:colId xmlns:a16="http://schemas.microsoft.com/office/drawing/2014/main" val="3432491353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2333092894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629810277"/>
                    </a:ext>
                  </a:extLst>
                </a:gridCol>
              </a:tblGrid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同步原语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20337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互斥锁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保证对共享资源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互斥访问</a:t>
                      </a:r>
                      <a:endParaRPr lang="zh-CN" altLang="en-US" sz="16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场景一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共享资源互斥访问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38639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读写锁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允许读者线程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并发读取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衍生场景一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读写场景并发读取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11154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条件变量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提供线程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睡眠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唤醒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机制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场景二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条件等待与唤醒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173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信号量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协调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有限数量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的消耗与释放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场景三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多资源协调管理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80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互斥锁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读写锁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F6CF3-1910-8C46-A7DA-E02DA3D31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/>
              <a:t>读写锁为特定场景</a:t>
            </a:r>
            <a:r>
              <a:rPr lang="zh-CN" altLang="en-US"/>
              <a:t>（衍生场景一）</a:t>
            </a:r>
            <a:r>
              <a:rPr lang="en-CN"/>
              <a:t>下提升读者并行度</a:t>
            </a:r>
          </a:p>
          <a:p>
            <a:r>
              <a:rPr lang="en-CN"/>
              <a:t>衍生场景一直接使用互斥锁</a:t>
            </a:r>
          </a:p>
          <a:p>
            <a:pPr lvl="1"/>
            <a:r>
              <a:rPr lang="en-CN"/>
              <a:t>也可以保证正确性</a:t>
            </a:r>
          </a:p>
          <a:p>
            <a:pPr lvl="1"/>
            <a:r>
              <a:rPr lang="en-CN"/>
              <a:t>读者之间不能并发执行</a:t>
            </a:r>
          </a:p>
          <a:p>
            <a:r>
              <a:rPr lang="en-CN"/>
              <a:t>特定场景下的性能优化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378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互斥锁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条件变量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B888F4-4577-B84C-8B49-D5B0652A7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en-CN"/>
              <a:t>解决不同场景</a:t>
            </a:r>
            <a:r>
              <a:rPr lang="zh-CN" altLang="en-US" dirty="0"/>
              <a:t>（正交）</a:t>
            </a:r>
            <a:endParaRPr lang="en-CN"/>
          </a:p>
          <a:p>
            <a:pPr lvl="1"/>
            <a:r>
              <a:rPr lang="en-CN"/>
              <a:t>互斥锁</a:t>
            </a:r>
            <a:r>
              <a:rPr lang="zh-CN" altLang="en-US" dirty="0"/>
              <a:t>：互斥访问</a:t>
            </a:r>
            <a:endParaRPr lang="en-US" altLang="zh-CN" dirty="0"/>
          </a:p>
          <a:p>
            <a:pPr lvl="1"/>
            <a:r>
              <a:rPr lang="zh-CN" altLang="en-US" dirty="0"/>
              <a:t>条件变量：条件等待与唤醒</a:t>
            </a:r>
            <a:endParaRPr lang="en-US" altLang="zh-CN" dirty="0"/>
          </a:p>
          <a:p>
            <a:r>
              <a:rPr lang="en-CN"/>
              <a:t>条件变量需要搭配互斥锁使用</a:t>
            </a:r>
          </a:p>
          <a:p>
            <a:r>
              <a:rPr lang="en-CN"/>
              <a:t>互斥锁中也可以使用条件变量避免循环等待</a:t>
            </a:r>
          </a:p>
          <a:p>
            <a:pPr lvl="1"/>
            <a:r>
              <a:rPr lang="en-CN"/>
              <a:t>场景一中也可能包含场景二的需求</a:t>
            </a:r>
          </a:p>
        </p:txBody>
      </p:sp>
    </p:spTree>
    <p:extLst>
      <p:ext uri="{BB962C8B-B14F-4D97-AF65-F5344CB8AC3E}">
        <p14:creationId xmlns:p14="http://schemas.microsoft.com/office/powerpoint/2010/main" val="224720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互斥锁</a:t>
            </a:r>
            <a:r>
              <a:rPr lang="zh-CN" altLang="en-US"/>
              <a:t> </a:t>
            </a:r>
            <a:r>
              <a:rPr lang="en-US" altLang="zh-CN"/>
              <a:t>vs</a:t>
            </a:r>
            <a:r>
              <a:rPr lang="zh-CN" altLang="en-US"/>
              <a:t> 信号量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B888F4-4577-B84C-8B49-D5B0652A7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 fontScale="92500" lnSpcReduction="10000"/>
          </a:bodyPr>
          <a:lstStyle/>
          <a:p>
            <a:r>
              <a:rPr lang="en-CN"/>
              <a:t>互斥锁与二元信号量</a:t>
            </a:r>
          </a:p>
          <a:p>
            <a:pPr lvl="1"/>
            <a:r>
              <a:rPr lang="en-CN"/>
              <a:t>功能基本一致</a:t>
            </a:r>
            <a:r>
              <a:rPr lang="zh-CN" altLang="en-US" dirty="0"/>
              <a:t>，二元信号量可以实现互斥</a:t>
            </a:r>
            <a:endParaRPr lang="en-US" altLang="zh-CN" dirty="0"/>
          </a:p>
          <a:p>
            <a:pPr lvl="1"/>
            <a:r>
              <a:rPr lang="en-CN"/>
              <a:t>语义差别</a:t>
            </a:r>
            <a:r>
              <a:rPr lang="zh-CN" altLang="en-US" dirty="0"/>
              <a:t>：二元信号量可以</a:t>
            </a:r>
            <a:r>
              <a:rPr lang="zh-CN" altLang="en-US" b="1" dirty="0"/>
              <a:t>由不同的线程</a:t>
            </a:r>
            <a:r>
              <a:rPr lang="zh-CN" altLang="en-US" dirty="0"/>
              <a:t>获取</a:t>
            </a:r>
            <a:r>
              <a:rPr lang="en-US" altLang="zh-CN" dirty="0"/>
              <a:t>/</a:t>
            </a:r>
            <a:r>
              <a:rPr lang="zh-CN" altLang="en-US" dirty="0"/>
              <a:t>释放。互斥锁语义上只能</a:t>
            </a:r>
            <a:r>
              <a:rPr lang="zh-CN" altLang="en-US" b="1" dirty="0"/>
              <a:t>由同一个线程</a:t>
            </a:r>
            <a:r>
              <a:rPr lang="zh-CN" altLang="en-US" dirty="0"/>
              <a:t>获取与释放</a:t>
            </a:r>
            <a:endParaRPr lang="en-US" altLang="zh-CN" dirty="0"/>
          </a:p>
          <a:p>
            <a:pPr lvl="1"/>
            <a:r>
              <a:rPr lang="zh-CN" altLang="en-US" dirty="0"/>
              <a:t>保护资源互斥场景，推荐使用互斥锁（方便优化）</a:t>
            </a:r>
            <a:endParaRPr lang="en-US" altLang="zh-CN" dirty="0"/>
          </a:p>
          <a:p>
            <a:r>
              <a:rPr lang="zh-CN" altLang="en-US" dirty="0"/>
              <a:t>互斥锁与计数信号量</a:t>
            </a:r>
            <a:endParaRPr lang="en-US" altLang="zh-CN" dirty="0"/>
          </a:p>
          <a:p>
            <a:pPr lvl="1"/>
            <a:r>
              <a:rPr lang="en-CN"/>
              <a:t>应对不同场景</a:t>
            </a:r>
            <a:endParaRPr lang="en-US" dirty="0"/>
          </a:p>
          <a:p>
            <a:pPr lvl="2"/>
            <a:r>
              <a:rPr lang="zh-CN" altLang="en-US" dirty="0"/>
              <a:t>互斥锁控制对唯一资源的互斥访问（即临界区）</a:t>
            </a:r>
            <a:endParaRPr lang="en-US" altLang="zh-CN" dirty="0"/>
          </a:p>
          <a:p>
            <a:pPr lvl="2"/>
            <a:r>
              <a:rPr lang="zh-CN" altLang="en-US" dirty="0"/>
              <a:t>计数信号量控制多个线程对多个资源的获取与释放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38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条件变量 </a:t>
            </a:r>
            <a:r>
              <a:rPr lang="en-US" altLang="zh-CN"/>
              <a:t>vs</a:t>
            </a:r>
            <a:r>
              <a:rPr lang="zh-CN" altLang="en-US"/>
              <a:t> 信号量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299833-EE41-2440-89D3-3A1466F39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 lnSpcReduction="10000"/>
          </a:bodyPr>
          <a:lstStyle/>
          <a:p>
            <a:r>
              <a:rPr lang="en-CN"/>
              <a:t>提供了类似的接口</a:t>
            </a:r>
          </a:p>
          <a:p>
            <a:r>
              <a:rPr lang="en-CN"/>
              <a:t>抽象层级的区别</a:t>
            </a:r>
          </a:p>
          <a:p>
            <a:pPr lvl="1"/>
            <a:r>
              <a:rPr lang="en-CN"/>
              <a:t>条件变量</a:t>
            </a:r>
            <a:endParaRPr lang="en-US"/>
          </a:p>
          <a:p>
            <a:pPr lvl="2"/>
            <a:r>
              <a:rPr lang="zh-CN" altLang="en-US"/>
              <a:t>更底层，提供睡眠唤醒机制</a:t>
            </a:r>
            <a:endParaRPr lang="en-US" altLang="zh-CN"/>
          </a:p>
          <a:p>
            <a:pPr lvl="2"/>
            <a:r>
              <a:rPr lang="zh-CN" altLang="en-US"/>
              <a:t>适用范围更广</a:t>
            </a:r>
            <a:endParaRPr lang="en-US" altLang="zh-CN"/>
          </a:p>
          <a:p>
            <a:pPr lvl="1"/>
            <a:r>
              <a:rPr lang="zh-CN" altLang="en-US"/>
              <a:t>信号量</a:t>
            </a:r>
            <a:endParaRPr lang="en-US" altLang="zh-CN"/>
          </a:p>
          <a:p>
            <a:pPr lvl="2"/>
            <a:r>
              <a:rPr lang="zh-CN" altLang="en-US"/>
              <a:t>针对具体的场景：提供对</a:t>
            </a:r>
            <a:r>
              <a:rPr lang="zh-CN" altLang="en-US" b="1"/>
              <a:t>有限资源</a:t>
            </a:r>
            <a:r>
              <a:rPr lang="zh-CN" altLang="en-US"/>
              <a:t>的管理</a:t>
            </a:r>
            <a:endParaRPr lang="en-US" altLang="zh-CN"/>
          </a:p>
          <a:p>
            <a:pPr lvl="2"/>
            <a:r>
              <a:rPr lang="zh-CN" altLang="en-US"/>
              <a:t>可以使用</a:t>
            </a:r>
            <a:r>
              <a:rPr lang="zh-CN" altLang="en-US" b="1"/>
              <a:t>条件变量</a:t>
            </a:r>
            <a:r>
              <a:rPr lang="en-US" altLang="zh-CN" b="1"/>
              <a:t>+</a:t>
            </a:r>
            <a:r>
              <a:rPr lang="zh-CN" altLang="en-US" b="1"/>
              <a:t>互斥锁</a:t>
            </a:r>
            <a:r>
              <a:rPr lang="en-US" altLang="zh-CN" b="1"/>
              <a:t>+</a:t>
            </a:r>
            <a:r>
              <a:rPr lang="zh-CN" altLang="en-US" b="1"/>
              <a:t>计数器</a:t>
            </a:r>
            <a:r>
              <a:rPr lang="zh-CN" altLang="en-US"/>
              <a:t>实现信号量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285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0F937E5-8682-944E-A25C-2A9EA512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7964487" cy="1135062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同步原语案例分析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5B65C5-675B-A041-8655-D4BEB7DE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79625-77B4-2847-9CFF-16E65D68E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763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-1</a:t>
            </a:r>
            <a:r>
              <a:rPr lang="zh-CN" altLang="en-US" dirty="0"/>
              <a:t>：多线程执行屏障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29A0A41-B767-4C45-B55A-2D490B4A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3322705" cy="3771636"/>
          </a:xfrm>
        </p:spPr>
        <p:txBody>
          <a:bodyPr/>
          <a:lstStyle/>
          <a:p>
            <a:r>
              <a:rPr lang="en-CN"/>
              <a:t>多线程执行屏障</a:t>
            </a:r>
          </a:p>
          <a:p>
            <a:r>
              <a:rPr lang="en-CN"/>
              <a:t>等待全部执行到屏障后再继续执行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B6D01-EAF4-A642-9671-E2310D8926BD}"/>
              </a:ext>
            </a:extLst>
          </p:cNvPr>
          <p:cNvSpPr txBox="1"/>
          <p:nvPr/>
        </p:nvSpPr>
        <p:spPr>
          <a:xfrm>
            <a:off x="4139952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7FBF9-A15B-9142-953D-E64850D4203D}"/>
              </a:ext>
            </a:extLst>
          </p:cNvPr>
          <p:cNvSpPr txBox="1"/>
          <p:nvPr/>
        </p:nvSpPr>
        <p:spPr>
          <a:xfrm>
            <a:off x="5621288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DF9E-FBC9-304C-9202-8577C12FA11C}"/>
              </a:ext>
            </a:extLst>
          </p:cNvPr>
          <p:cNvSpPr txBox="1"/>
          <p:nvPr/>
        </p:nvSpPr>
        <p:spPr>
          <a:xfrm>
            <a:off x="7102624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AFC58-9B45-0645-8150-0F989393562C}"/>
              </a:ext>
            </a:extLst>
          </p:cNvPr>
          <p:cNvSpPr txBox="1"/>
          <p:nvPr/>
        </p:nvSpPr>
        <p:spPr>
          <a:xfrm>
            <a:off x="5528421" y="1584105"/>
            <a:ext cx="163427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297A7-03EB-4F48-9F68-BF821359076D}"/>
              </a:ext>
            </a:extLst>
          </p:cNvPr>
          <p:cNvSpPr txBox="1"/>
          <p:nvPr/>
        </p:nvSpPr>
        <p:spPr>
          <a:xfrm>
            <a:off x="3995936" y="1584105"/>
            <a:ext cx="1625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  <a:endParaRPr lang="en-US" sz="105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90DC7-6157-9F40-9CCB-23CA46729EF0}"/>
              </a:ext>
            </a:extLst>
          </p:cNvPr>
          <p:cNvSpPr txBox="1"/>
          <p:nvPr/>
        </p:nvSpPr>
        <p:spPr>
          <a:xfrm>
            <a:off x="7052522" y="1584105"/>
            <a:ext cx="1634278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8BAD0-8FE5-FA45-A0B2-0B7281FC4688}"/>
              </a:ext>
            </a:extLst>
          </p:cNvPr>
          <p:cNvCxnSpPr>
            <a:cxnSpLocks/>
          </p:cNvCxnSpPr>
          <p:nvPr/>
        </p:nvCxnSpPr>
        <p:spPr>
          <a:xfrm>
            <a:off x="4067944" y="3571724"/>
            <a:ext cx="4248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95B505-0F2B-EA47-BD70-C4EBF306711F}"/>
              </a:ext>
            </a:extLst>
          </p:cNvPr>
          <p:cNvCxnSpPr>
            <a:cxnSpLocks/>
          </p:cNvCxnSpPr>
          <p:nvPr/>
        </p:nvCxnSpPr>
        <p:spPr>
          <a:xfrm>
            <a:off x="4550195" y="2425452"/>
            <a:ext cx="0" cy="9822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A4505C-C8D8-104F-AA84-A710486E66DF}"/>
              </a:ext>
            </a:extLst>
          </p:cNvPr>
          <p:cNvCxnSpPr>
            <a:cxnSpLocks/>
          </p:cNvCxnSpPr>
          <p:nvPr/>
        </p:nvCxnSpPr>
        <p:spPr>
          <a:xfrm>
            <a:off x="6084168" y="2785492"/>
            <a:ext cx="0" cy="62218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49C7E-4864-D240-AB9D-2ED33B67AEB1}"/>
              </a:ext>
            </a:extLst>
          </p:cNvPr>
          <p:cNvSpPr/>
          <p:nvPr/>
        </p:nvSpPr>
        <p:spPr>
          <a:xfrm>
            <a:off x="4572000" y="3656706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等待全部线程执行到位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4848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-1</a:t>
            </a:r>
            <a:r>
              <a:rPr lang="zh-CN" altLang="en-US" dirty="0"/>
              <a:t>：多线程执行屏障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29A0A41-B767-4C45-B55A-2D490B4A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3400705" cy="1523999"/>
          </a:xfrm>
        </p:spPr>
        <p:txBody>
          <a:bodyPr>
            <a:normAutofit lnSpcReduction="10000"/>
          </a:bodyPr>
          <a:lstStyle/>
          <a:p>
            <a:r>
              <a:rPr lang="en-CN"/>
              <a:t>多线程执行屏障</a:t>
            </a:r>
          </a:p>
          <a:p>
            <a:r>
              <a:rPr lang="en-CN"/>
              <a:t>等待全部执行到屏障后再继续执行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B6D01-EAF4-A642-9671-E2310D8926BD}"/>
              </a:ext>
            </a:extLst>
          </p:cNvPr>
          <p:cNvSpPr txBox="1"/>
          <p:nvPr/>
        </p:nvSpPr>
        <p:spPr>
          <a:xfrm>
            <a:off x="4139952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7FBF9-A15B-9142-953D-E64850D4203D}"/>
              </a:ext>
            </a:extLst>
          </p:cNvPr>
          <p:cNvSpPr txBox="1"/>
          <p:nvPr/>
        </p:nvSpPr>
        <p:spPr>
          <a:xfrm>
            <a:off x="5621288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5DF9E-FBC9-304C-9202-8577C12FA11C}"/>
              </a:ext>
            </a:extLst>
          </p:cNvPr>
          <p:cNvSpPr txBox="1"/>
          <p:nvPr/>
        </p:nvSpPr>
        <p:spPr>
          <a:xfrm>
            <a:off x="7102624" y="106592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/>
              <a:t>Thread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AFC58-9B45-0645-8150-0F989393562C}"/>
              </a:ext>
            </a:extLst>
          </p:cNvPr>
          <p:cNvSpPr txBox="1"/>
          <p:nvPr/>
        </p:nvSpPr>
        <p:spPr>
          <a:xfrm>
            <a:off x="5528421" y="1584105"/>
            <a:ext cx="1634278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297A7-03EB-4F48-9F68-BF821359076D}"/>
              </a:ext>
            </a:extLst>
          </p:cNvPr>
          <p:cNvSpPr txBox="1"/>
          <p:nvPr/>
        </p:nvSpPr>
        <p:spPr>
          <a:xfrm>
            <a:off x="3995936" y="1584105"/>
            <a:ext cx="1625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  <a:endParaRPr lang="en-US" sz="105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590DC7-6157-9F40-9CCB-23CA46729EF0}"/>
              </a:ext>
            </a:extLst>
          </p:cNvPr>
          <p:cNvSpPr txBox="1"/>
          <p:nvPr/>
        </p:nvSpPr>
        <p:spPr>
          <a:xfrm>
            <a:off x="7052522" y="1584105"/>
            <a:ext cx="1634278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>
                <a:latin typeface="Courier" pitchFamily="2" charset="0"/>
              </a:rPr>
              <a:t>/* Do something */</a:t>
            </a: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endParaRPr lang="en-CN" sz="1400">
              <a:latin typeface="Courier" pitchFamily="2" charset="0"/>
            </a:endParaRPr>
          </a:p>
          <a:p>
            <a:r>
              <a:rPr lang="en-CN" sz="1400">
                <a:latin typeface="Courier" pitchFamily="2" charset="0"/>
              </a:rPr>
              <a:t>barrier();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48BAD0-8FE5-FA45-A0B2-0B7281FC4688}"/>
              </a:ext>
            </a:extLst>
          </p:cNvPr>
          <p:cNvCxnSpPr>
            <a:cxnSpLocks/>
          </p:cNvCxnSpPr>
          <p:nvPr/>
        </p:nvCxnSpPr>
        <p:spPr>
          <a:xfrm>
            <a:off x="4067944" y="3571724"/>
            <a:ext cx="4248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95B505-0F2B-EA47-BD70-C4EBF306711F}"/>
              </a:ext>
            </a:extLst>
          </p:cNvPr>
          <p:cNvCxnSpPr>
            <a:cxnSpLocks/>
          </p:cNvCxnSpPr>
          <p:nvPr/>
        </p:nvCxnSpPr>
        <p:spPr>
          <a:xfrm>
            <a:off x="4550195" y="2425452"/>
            <a:ext cx="0" cy="98222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A4505C-C8D8-104F-AA84-A710486E66DF}"/>
              </a:ext>
            </a:extLst>
          </p:cNvPr>
          <p:cNvCxnSpPr>
            <a:cxnSpLocks/>
          </p:cNvCxnSpPr>
          <p:nvPr/>
        </p:nvCxnSpPr>
        <p:spPr>
          <a:xfrm>
            <a:off x="6084168" y="2785492"/>
            <a:ext cx="0" cy="62218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A49C7E-4864-D240-AB9D-2ED33B67AEB1}"/>
              </a:ext>
            </a:extLst>
          </p:cNvPr>
          <p:cNvSpPr/>
          <p:nvPr/>
        </p:nvSpPr>
        <p:spPr>
          <a:xfrm>
            <a:off x="4572000" y="3656706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等待全部线程执行到位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D6FA8B-75CA-0E45-92DC-82E20BD22001}"/>
              </a:ext>
            </a:extLst>
          </p:cNvPr>
          <p:cNvSpPr/>
          <p:nvPr/>
        </p:nvSpPr>
        <p:spPr>
          <a:xfrm>
            <a:off x="457200" y="2968288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/>
              <a:t>2: </a:t>
            </a:r>
            <a:r>
              <a:rPr lang="zh-CN" altLang="en-US" b="1"/>
              <a:t>线程等待</a:t>
            </a:r>
            <a:r>
              <a:rPr lang="en-US" altLang="zh-CN" b="1"/>
              <a:t>/</a:t>
            </a:r>
            <a:r>
              <a:rPr lang="zh-CN" altLang="en-US" b="1"/>
              <a:t>唤醒</a:t>
            </a:r>
            <a:endParaRPr lang="en-CN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9946FA-11B2-B14C-9DA3-4ABE9CDE66F7}"/>
              </a:ext>
            </a:extLst>
          </p:cNvPr>
          <p:cNvSpPr/>
          <p:nvPr/>
        </p:nvSpPr>
        <p:spPr>
          <a:xfrm>
            <a:off x="679216" y="3365836"/>
            <a:ext cx="56869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lock(&amp;thread_cnt_lock);</a:t>
            </a:r>
          </a:p>
          <a:p>
            <a:r>
              <a:rPr lang="en-CN">
                <a:latin typeface="Courier" pitchFamily="2" charset="0"/>
              </a:rPr>
              <a:t>thread_cnt--;</a:t>
            </a:r>
          </a:p>
          <a:p>
            <a:r>
              <a:rPr lang="en-CN">
                <a:latin typeface="Courier" pitchFamily="2" charset="0"/>
              </a:rPr>
              <a:t>if (thread_cnt == 0)</a:t>
            </a:r>
          </a:p>
          <a:p>
            <a:r>
              <a:rPr lang="en-CN">
                <a:latin typeface="Courier" pitchFamily="2" charset="0"/>
              </a:rPr>
              <a:t>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cond_broadcast(cond);</a:t>
            </a:r>
          </a:p>
          <a:p>
            <a:r>
              <a:rPr lang="en-CN">
                <a:latin typeface="Courier" pitchFamily="2" charset="0"/>
              </a:rPr>
              <a:t>while(thread_cnt != 0)</a:t>
            </a:r>
          </a:p>
          <a:p>
            <a:r>
              <a:rPr lang="en-CN">
                <a:latin typeface="Courier" pitchFamily="2" charset="0"/>
              </a:rPr>
              <a:t>  cond_wait(&amp;cond, &amp;thread_cnt_lock); </a:t>
            </a:r>
          </a:p>
          <a:p>
            <a:r>
              <a:rPr lang="en-CN">
                <a:latin typeface="Courier" pitchFamily="2" charset="0"/>
              </a:rPr>
              <a:t>unlock(&amp;thread_cnt_lock);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89FB-1125-984B-804F-6186340BE2C9}"/>
              </a:ext>
            </a:extLst>
          </p:cNvPr>
          <p:cNvSpPr/>
          <p:nvPr/>
        </p:nvSpPr>
        <p:spPr>
          <a:xfrm>
            <a:off x="4191373" y="4163399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</a:rPr>
              <a:t>唤醒所有等待的线程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72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-2</a:t>
            </a:r>
            <a:r>
              <a:rPr lang="zh-CN" altLang="en-US" dirty="0"/>
              <a:t>：等待队列工作窃取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912907-D037-5748-AC26-CDB541DD0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/>
          <a:lstStyle/>
          <a:p>
            <a:r>
              <a:rPr lang="en-CN"/>
              <a:t>每核心等待队列</a:t>
            </a:r>
          </a:p>
          <a:p>
            <a:r>
              <a:rPr lang="en-CN"/>
              <a:t>在空时允许窃取其他核心的任务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436096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DB263-76BA-8B42-815D-2C28181CAE84}"/>
              </a:ext>
            </a:extLst>
          </p:cNvPr>
          <p:cNvSpPr/>
          <p:nvPr/>
        </p:nvSpPr>
        <p:spPr>
          <a:xfrm>
            <a:off x="7308304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EA2EE-8C9B-584D-BA6A-E7418C20F616}"/>
              </a:ext>
            </a:extLst>
          </p:cNvPr>
          <p:cNvSpPr/>
          <p:nvPr/>
        </p:nvSpPr>
        <p:spPr>
          <a:xfrm>
            <a:off x="5562600" y="2857500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485F1-7981-BE4C-A99F-6616C8A5A84E}"/>
              </a:ext>
            </a:extLst>
          </p:cNvPr>
          <p:cNvSpPr/>
          <p:nvPr/>
        </p:nvSpPr>
        <p:spPr>
          <a:xfrm>
            <a:off x="5562600" y="314162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AC9E0-C0F0-1E4C-A848-9E355B52B97C}"/>
              </a:ext>
            </a:extLst>
          </p:cNvPr>
          <p:cNvSpPr/>
          <p:nvPr/>
        </p:nvSpPr>
        <p:spPr>
          <a:xfrm>
            <a:off x="5562600" y="342965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2DA07-EDB5-ED44-8124-4BC32E512F93}"/>
              </a:ext>
            </a:extLst>
          </p:cNvPr>
          <p:cNvSpPr/>
          <p:nvPr/>
        </p:nvSpPr>
        <p:spPr>
          <a:xfrm>
            <a:off x="5562600" y="3713776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7DD31F-6727-3741-B977-D45D15631C8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flipH="1">
            <a:off x="6210672" y="2461798"/>
            <a:ext cx="1548172" cy="53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A49BF4-0FD1-8B43-9338-2F207C4CC43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886636" y="2461798"/>
            <a:ext cx="0" cy="395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970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-2</a:t>
            </a:r>
            <a:r>
              <a:rPr lang="zh-CN" altLang="en-US" dirty="0"/>
              <a:t>：等待队列工作窃取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A912907-D037-5748-AC26-CDB541DD0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/>
          <a:lstStyle/>
          <a:p>
            <a:r>
              <a:rPr lang="en-CN" dirty="0"/>
              <a:t>每核心等待队列</a:t>
            </a:r>
          </a:p>
          <a:p>
            <a:r>
              <a:rPr lang="en-CN" dirty="0"/>
              <a:t>在空时允许窃取其他核心的任务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436096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DB263-76BA-8B42-815D-2C28181CAE84}"/>
              </a:ext>
            </a:extLst>
          </p:cNvPr>
          <p:cNvSpPr/>
          <p:nvPr/>
        </p:nvSpPr>
        <p:spPr>
          <a:xfrm>
            <a:off x="7308304" y="1561356"/>
            <a:ext cx="901080" cy="9004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CPU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EA2EE-8C9B-584D-BA6A-E7418C20F616}"/>
              </a:ext>
            </a:extLst>
          </p:cNvPr>
          <p:cNvSpPr/>
          <p:nvPr/>
        </p:nvSpPr>
        <p:spPr>
          <a:xfrm>
            <a:off x="5562600" y="2857500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485F1-7981-BE4C-A99F-6616C8A5A84E}"/>
              </a:ext>
            </a:extLst>
          </p:cNvPr>
          <p:cNvSpPr/>
          <p:nvPr/>
        </p:nvSpPr>
        <p:spPr>
          <a:xfrm>
            <a:off x="5562600" y="3141622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AC9E0-C0F0-1E4C-A848-9E355B52B97C}"/>
              </a:ext>
            </a:extLst>
          </p:cNvPr>
          <p:cNvSpPr/>
          <p:nvPr/>
        </p:nvSpPr>
        <p:spPr>
          <a:xfrm>
            <a:off x="5562600" y="3429654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2DA07-EDB5-ED44-8124-4BC32E512F93}"/>
              </a:ext>
            </a:extLst>
          </p:cNvPr>
          <p:cNvSpPr/>
          <p:nvPr/>
        </p:nvSpPr>
        <p:spPr>
          <a:xfrm>
            <a:off x="5562600" y="3713776"/>
            <a:ext cx="648072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>
                <a:solidFill>
                  <a:schemeClr val="tx1"/>
                </a:solidFill>
              </a:rPr>
              <a:t>Task3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7DD31F-6727-3741-B977-D45D15631C86}"/>
              </a:ext>
            </a:extLst>
          </p:cNvPr>
          <p:cNvCxnSpPr>
            <a:stCxn id="8" idx="2"/>
            <a:endCxn id="6" idx="3"/>
          </p:cNvCxnSpPr>
          <p:nvPr/>
        </p:nvCxnSpPr>
        <p:spPr>
          <a:xfrm flipH="1">
            <a:off x="6210672" y="2461798"/>
            <a:ext cx="1548172" cy="53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FA49BF4-0FD1-8B43-9338-2F207C4CC43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5886636" y="2461798"/>
            <a:ext cx="0" cy="395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024259B-F5EA-9447-936B-8077A87366F0}"/>
              </a:ext>
            </a:extLst>
          </p:cNvPr>
          <p:cNvSpPr/>
          <p:nvPr/>
        </p:nvSpPr>
        <p:spPr>
          <a:xfrm>
            <a:off x="457200" y="2968288"/>
            <a:ext cx="36107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/>
              <a:t>1: </a:t>
            </a:r>
            <a:r>
              <a:rPr lang="zh-CN" altLang="en-US" b="1"/>
              <a:t>共享资源互斥访问</a:t>
            </a:r>
            <a:endParaRPr lang="en-C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B37871-FB32-E149-B3E0-76F730187B20}"/>
              </a:ext>
            </a:extLst>
          </p:cNvPr>
          <p:cNvSpPr/>
          <p:nvPr/>
        </p:nvSpPr>
        <p:spPr>
          <a:xfrm>
            <a:off x="705196" y="3782247"/>
            <a:ext cx="404469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ready_queue_lock</a:t>
            </a:r>
            <a:r>
              <a:rPr lang="en-US" dirty="0">
                <a:latin typeface="Courier" pitchFamily="2" charset="0"/>
              </a:rPr>
              <a:t>[0]);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  <a:p>
            <a:r>
              <a:rPr lang="en-US" dirty="0">
                <a:latin typeface="Courier" pitchFamily="2" charset="0"/>
              </a:rPr>
              <a:t>unlock(</a:t>
            </a:r>
            <a:r>
              <a:rPr lang="en-US" dirty="0" err="1">
                <a:latin typeface="Courier" pitchFamily="2" charset="0"/>
              </a:rPr>
              <a:t>ready_queue_lock</a:t>
            </a:r>
            <a:r>
              <a:rPr lang="en-US" dirty="0">
                <a:latin typeface="Courier" pitchFamily="2" charset="0"/>
              </a:rPr>
              <a:t>[0]);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48443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</p:spTree>
    <p:extLst>
      <p:ext uri="{BB962C8B-B14F-4D97-AF65-F5344CB8AC3E}">
        <p14:creationId xmlns:p14="http://schemas.microsoft.com/office/powerpoint/2010/main" val="327105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D6B505-6784-7F46-868A-D7D562F8504E}"/>
              </a:ext>
            </a:extLst>
          </p:cNvPr>
          <p:cNvSpPr/>
          <p:nvPr/>
        </p:nvSpPr>
        <p:spPr>
          <a:xfrm>
            <a:off x="539552" y="3982659"/>
            <a:ext cx="56869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lock(&amp;finished_cnt_lock);</a:t>
            </a:r>
          </a:p>
          <a:p>
            <a:r>
              <a:rPr lang="en-CN" dirty="0">
                <a:latin typeface="Courier" pitchFamily="2" charset="0"/>
              </a:rPr>
              <a:t>finished_cnt </a:t>
            </a:r>
            <a:r>
              <a:rPr lang="en-US" altLang="zh-CN" dirty="0">
                <a:latin typeface="Courier" pitchFamily="2" charset="0"/>
              </a:rPr>
              <a:t>++;</a:t>
            </a:r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cond_signal(&amp;cond); unlock(&amp;finished_cnt_lock);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617A12-DE0E-C54D-BCFA-1AF0EAD044A8}"/>
              </a:ext>
            </a:extLst>
          </p:cNvPr>
          <p:cNvSpPr/>
          <p:nvPr/>
        </p:nvSpPr>
        <p:spPr>
          <a:xfrm>
            <a:off x="207048" y="358904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Mapper</a:t>
            </a:r>
            <a:endParaRPr lang="en-CN"/>
          </a:p>
        </p:txBody>
      </p:sp>
      <p:sp>
        <p:nvSpPr>
          <p:cNvPr id="26" name="Rectangle 33">
            <a:extLst>
              <a:ext uri="{FF2B5EF4-FFF2-40B4-BE49-F238E27FC236}">
                <a16:creationId xmlns:a16="http://schemas.microsoft.com/office/drawing/2014/main" id="{E12C33B7-57A4-5E4F-829F-AC72D7DE0A92}"/>
              </a:ext>
            </a:extLst>
          </p:cNvPr>
          <p:cNvSpPr/>
          <p:nvPr/>
        </p:nvSpPr>
        <p:spPr>
          <a:xfrm>
            <a:off x="899592" y="3307245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 dirty="0"/>
              <a:t>2: </a:t>
            </a:r>
            <a:r>
              <a:rPr lang="zh-CN" altLang="en-US" b="1" dirty="0"/>
              <a:t>线程等待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1923280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E4311A-C04D-BF45-A87B-32EA5BD9DB74}"/>
              </a:ext>
            </a:extLst>
          </p:cNvPr>
          <p:cNvCxnSpPr>
            <a:cxnSpLocks/>
          </p:cNvCxnSpPr>
          <p:nvPr/>
        </p:nvCxnSpPr>
        <p:spPr>
          <a:xfrm flipH="1">
            <a:off x="7049462" y="3541877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899592" y="3307245"/>
            <a:ext cx="3065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b="1"/>
              <a:t>符合场景</a:t>
            </a:r>
            <a:r>
              <a:rPr lang="en-US" altLang="zh-CN" b="1" dirty="0"/>
              <a:t>2: </a:t>
            </a:r>
            <a:r>
              <a:rPr lang="zh-CN" altLang="en-US" b="1" dirty="0"/>
              <a:t>线程等待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71AE2-1291-0347-A657-0D9A0B3D2FC0}"/>
              </a:ext>
            </a:extLst>
          </p:cNvPr>
          <p:cNvSpPr/>
          <p:nvPr/>
        </p:nvSpPr>
        <p:spPr>
          <a:xfrm>
            <a:off x="631206" y="3782934"/>
            <a:ext cx="5686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latin typeface="Courier" pitchFamily="2" charset="0"/>
              </a:rPr>
              <a:t>lock(&amp;finished_cnt_lock);</a:t>
            </a:r>
          </a:p>
          <a:p>
            <a:r>
              <a:rPr lang="en-CN" dirty="0">
                <a:latin typeface="Courier" pitchFamily="2" charset="0"/>
              </a:rPr>
              <a:t>while(finished_cnt == 0)</a:t>
            </a:r>
          </a:p>
          <a:p>
            <a:r>
              <a:rPr lang="en-CN" dirty="0">
                <a:latin typeface="Courier" pitchFamily="2" charset="0"/>
              </a:rPr>
              <a:t>  cond_wait(&amp;cond, &amp;finished_cnt_lock);</a:t>
            </a:r>
          </a:p>
          <a:p>
            <a:r>
              <a:rPr lang="en-CN" dirty="0">
                <a:latin typeface="Courier" pitchFamily="2" charset="0"/>
              </a:rPr>
              <a:t>/* collect result */</a:t>
            </a:r>
          </a:p>
          <a:p>
            <a:r>
              <a:rPr lang="en-CN" dirty="0">
                <a:solidFill>
                  <a:schemeClr val="accent1"/>
                </a:solidFill>
                <a:latin typeface="Courier" pitchFamily="2" charset="0"/>
              </a:rPr>
              <a:t>finished_cnt = 0;</a:t>
            </a:r>
          </a:p>
          <a:p>
            <a:r>
              <a:rPr lang="en-CN" dirty="0">
                <a:latin typeface="Courier" pitchFamily="2" charset="0"/>
              </a:rPr>
              <a:t>unlock(&amp;finished_cnt_lock);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6570DA-8E93-BF4C-BD63-53ACD7B1AC04}"/>
              </a:ext>
            </a:extLst>
          </p:cNvPr>
          <p:cNvSpPr/>
          <p:nvPr/>
        </p:nvSpPr>
        <p:spPr>
          <a:xfrm>
            <a:off x="5571977" y="4691915"/>
            <a:ext cx="2968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/>
              <a:t>一次性拿走所有的finished的Mapper的结果</a:t>
            </a:r>
            <a:endParaRPr lang="en-CN" b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F27882-AA46-434E-B5BE-97F147A75D4F}"/>
              </a:ext>
            </a:extLst>
          </p:cNvPr>
          <p:cNvSpPr/>
          <p:nvPr/>
        </p:nvSpPr>
        <p:spPr>
          <a:xfrm>
            <a:off x="138524" y="351892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Reducer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8777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-3</a:t>
            </a:r>
            <a:r>
              <a:rPr lang="zh-CN" altLang="en-US" dirty="0"/>
              <a:t>：</a:t>
            </a:r>
            <a:r>
              <a:rPr lang="en-US" altLang="zh-CN" dirty="0"/>
              <a:t>map-reduce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528348" cy="1808121"/>
          </a:xfrm>
        </p:spPr>
        <p:txBody>
          <a:bodyPr>
            <a:noAutofit/>
          </a:bodyPr>
          <a:lstStyle/>
          <a:p>
            <a:r>
              <a:rPr lang="en-CN" sz="2000"/>
              <a:t>Word-count</a:t>
            </a:r>
            <a:r>
              <a:rPr lang="zh-CN" altLang="en-US" sz="2000" dirty="0"/>
              <a:t>：大文本拆分字数统计</a:t>
            </a:r>
            <a:endParaRPr lang="en-CN" sz="2000"/>
          </a:p>
          <a:p>
            <a:r>
              <a:rPr lang="en-CN" sz="2000"/>
              <a:t>Mapper</a:t>
            </a:r>
            <a:r>
              <a:rPr lang="zh-CN" altLang="en-US" sz="2000" dirty="0"/>
              <a:t>：统计一部分文本自述</a:t>
            </a:r>
            <a:endParaRPr lang="en-US" altLang="zh-CN" sz="2000" dirty="0"/>
          </a:p>
          <a:p>
            <a:r>
              <a:rPr lang="en-US" altLang="zh-CN" sz="2000" dirty="0"/>
              <a:t>Reducer</a:t>
            </a:r>
            <a:r>
              <a:rPr lang="zh-CN" altLang="en-US" sz="2000" dirty="0"/>
              <a:t>：</a:t>
            </a:r>
            <a:r>
              <a:rPr lang="zh-CN" altLang="en-CN" sz="2000" dirty="0"/>
              <a:t>一旦</a:t>
            </a:r>
            <a:r>
              <a:rPr lang="zh-CN" altLang="en-US" sz="2000" dirty="0"/>
              <a:t>其中</a:t>
            </a:r>
            <a:r>
              <a:rPr lang="zh-CN" altLang="en-US" sz="2000" u="sng" dirty="0"/>
              <a:t>任意数量</a:t>
            </a:r>
            <a:r>
              <a:rPr lang="zh-CN" altLang="en-US" sz="2000" dirty="0"/>
              <a:t>的</a:t>
            </a:r>
            <a:r>
              <a:rPr lang="en-US" altLang="zh-CN" sz="2000" dirty="0"/>
              <a:t>Mapper</a:t>
            </a:r>
            <a:r>
              <a:rPr lang="zh-CN" altLang="en-US" sz="2000" dirty="0"/>
              <a:t>结束，就累加其结果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Mapper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9" y="2915847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Reducer</a:t>
            </a:r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55D4F-1C97-F647-B6A4-A59E00E7E3F2}"/>
              </a:ext>
            </a:extLst>
          </p:cNvPr>
          <p:cNvSpPr txBox="1"/>
          <p:nvPr/>
        </p:nvSpPr>
        <p:spPr>
          <a:xfrm>
            <a:off x="5400092" y="2249705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DAEE02-F72F-614A-9CBB-7AB092DD1C11}"/>
              </a:ext>
            </a:extLst>
          </p:cNvPr>
          <p:cNvSpPr txBox="1"/>
          <p:nvPr/>
        </p:nvSpPr>
        <p:spPr>
          <a:xfrm>
            <a:off x="6606226" y="2249512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A14F3-2C45-F941-B38E-C2DC46CAAC2A}"/>
              </a:ext>
            </a:extLst>
          </p:cNvPr>
          <p:cNvSpPr txBox="1"/>
          <p:nvPr/>
        </p:nvSpPr>
        <p:spPr>
          <a:xfrm>
            <a:off x="7902370" y="2260121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Unfinished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BDA8A1-8B1E-0240-B80B-28F8BAFB16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760132" y="2511315"/>
            <a:ext cx="1116124" cy="34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49D4DC-6570-8C43-BC62-58DBC553B75F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052869" y="2511122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E4311A-C04D-BF45-A87B-32EA5BD9DB74}"/>
              </a:ext>
            </a:extLst>
          </p:cNvPr>
          <p:cNvCxnSpPr>
            <a:cxnSpLocks/>
          </p:cNvCxnSpPr>
          <p:nvPr/>
        </p:nvCxnSpPr>
        <p:spPr>
          <a:xfrm flipH="1">
            <a:off x="7049462" y="3541877"/>
            <a:ext cx="3407" cy="34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20DA1C3-75D9-0F42-B58B-2AFA74EA9AA7}"/>
              </a:ext>
            </a:extLst>
          </p:cNvPr>
          <p:cNvSpPr txBox="1"/>
          <p:nvPr/>
        </p:nvSpPr>
        <p:spPr>
          <a:xfrm>
            <a:off x="6606226" y="3952796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Count: 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08EC6-1EB6-9D44-ABBD-D1EAE860A89B}"/>
              </a:ext>
            </a:extLst>
          </p:cNvPr>
          <p:cNvSpPr txBox="1"/>
          <p:nvPr/>
        </p:nvSpPr>
        <p:spPr>
          <a:xfrm>
            <a:off x="7769542" y="2726695"/>
            <a:ext cx="90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100"/>
              <a:t>等待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899591" y="3307245"/>
            <a:ext cx="43204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也符合场景</a:t>
            </a:r>
            <a:r>
              <a:rPr lang="en-US" altLang="zh-CN" b="1" dirty="0"/>
              <a:t>3:</a:t>
            </a:r>
            <a:r>
              <a:rPr lang="zh-CN" altLang="en-US" b="1" dirty="0"/>
              <a:t> </a:t>
            </a:r>
            <a:r>
              <a:rPr lang="en-US" b="1" dirty="0" err="1"/>
              <a:t>将Mapper的结果视为资源</a:t>
            </a:r>
            <a:endParaRPr lang="en-CN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0F3D07-C41F-184E-846A-414BDC0F68FF}"/>
              </a:ext>
            </a:extLst>
          </p:cNvPr>
          <p:cNvSpPr/>
          <p:nvPr/>
        </p:nvSpPr>
        <p:spPr>
          <a:xfrm>
            <a:off x="2665432" y="4083601"/>
            <a:ext cx="56869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while(finished_cnt </a:t>
            </a:r>
            <a:r>
              <a:rPr lang="en-US">
                <a:latin typeface="Courier" pitchFamily="2" charset="0"/>
              </a:rPr>
              <a:t>!</a:t>
            </a:r>
            <a:r>
              <a:rPr lang="en-CN">
                <a:latin typeface="Courier" pitchFamily="2" charset="0"/>
              </a:rPr>
              <a:t>= mapper_cnt) {</a:t>
            </a:r>
          </a:p>
          <a:p>
            <a:r>
              <a:rPr lang="en-CN">
                <a:latin typeface="Courier" pitchFamily="2" charset="0"/>
              </a:rPr>
              <a:t>  wait(&amp;finish_sem);</a:t>
            </a:r>
          </a:p>
          <a:p>
            <a:r>
              <a:rPr lang="en-CN">
                <a:latin typeface="Courier" pitchFamily="2" charset="0"/>
              </a:rPr>
              <a:t>  /* collect result */</a:t>
            </a:r>
          </a:p>
          <a:p>
            <a:r>
              <a:rPr lang="en-CN">
                <a:latin typeface="Courier" pitchFamily="2" charset="0"/>
              </a:rPr>
              <a:t>  finished_cnt 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5DC818-5DB8-AB4E-83CD-CF8BF7E483EF}"/>
              </a:ext>
            </a:extLst>
          </p:cNvPr>
          <p:cNvSpPr/>
          <p:nvPr/>
        </p:nvSpPr>
        <p:spPr>
          <a:xfrm>
            <a:off x="5677487" y="4731558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思考</a:t>
            </a:r>
            <a:r>
              <a:rPr lang="zh-CN" altLang="en-US" b="1">
                <a:solidFill>
                  <a:schemeClr val="accent1"/>
                </a:solidFill>
              </a:rPr>
              <a:t>：有什么不同？</a:t>
            </a:r>
            <a:endParaRPr lang="en-CN" b="1">
              <a:solidFill>
                <a:schemeClr val="accent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3FCED7-A37B-2349-B08D-F2D0401BF2A3}"/>
              </a:ext>
            </a:extLst>
          </p:cNvPr>
          <p:cNvSpPr/>
          <p:nvPr/>
        </p:nvSpPr>
        <p:spPr>
          <a:xfrm>
            <a:off x="2717614" y="37333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Reducer</a:t>
            </a:r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47FC50-A46F-AE46-90A0-455DCE666EEC}"/>
              </a:ext>
            </a:extLst>
          </p:cNvPr>
          <p:cNvSpPr/>
          <p:nvPr/>
        </p:nvSpPr>
        <p:spPr>
          <a:xfrm>
            <a:off x="100285" y="3657534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Mapper</a:t>
            </a:r>
            <a:endParaRPr lang="en-C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7F3408-91BA-324B-8402-0265985541D6}"/>
              </a:ext>
            </a:extLst>
          </p:cNvPr>
          <p:cNvSpPr/>
          <p:nvPr/>
        </p:nvSpPr>
        <p:spPr>
          <a:xfrm>
            <a:off x="100285" y="4403716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signal(&amp;finish_sem);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7107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589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778861" y="2484946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场景</a:t>
            </a:r>
            <a:r>
              <a:rPr lang="en-US" altLang="zh-CN" b="1" dirty="0"/>
              <a:t>2:</a:t>
            </a:r>
            <a:r>
              <a:rPr lang="zh-CN" altLang="en-US" b="1" dirty="0"/>
              <a:t> </a:t>
            </a:r>
            <a:r>
              <a:rPr lang="en-US" b="1" dirty="0" err="1"/>
              <a:t>等待</a:t>
            </a:r>
            <a:r>
              <a:rPr lang="en-US" altLang="zh-CN" b="1" dirty="0"/>
              <a:t>/</a:t>
            </a:r>
            <a:r>
              <a:rPr lang="zh-CN" altLang="en-US" b="1" dirty="0"/>
              <a:t>唤醒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C1DFEF-C103-AF42-9E33-3E83F95624F9}"/>
              </a:ext>
            </a:extLst>
          </p:cNvPr>
          <p:cNvSpPr/>
          <p:nvPr/>
        </p:nvSpPr>
        <p:spPr>
          <a:xfrm>
            <a:off x="164664" y="3593661"/>
            <a:ext cx="404469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r>
              <a:rPr lang="en-CN">
                <a:latin typeface="Courier" pitchFamily="2" charset="0"/>
              </a:rPr>
              <a:t>finished_cnt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++</a:t>
            </a:r>
            <a:r>
              <a:rPr lang="zh-CN" altLang="en-US">
                <a:latin typeface="Courier" pitchFamily="2" charset="0"/>
              </a:rPr>
              <a:t>；</a:t>
            </a:r>
            <a:endParaRPr lang="en-US" altLang="zh-CN">
              <a:latin typeface="Courier" pitchFamily="2" charset="0"/>
            </a:endParaRPr>
          </a:p>
          <a:p>
            <a:r>
              <a:rPr lang="en-US" altLang="zh-CN">
                <a:latin typeface="Courier" pitchFamily="2" charset="0"/>
              </a:rPr>
              <a:t>if (</a:t>
            </a:r>
            <a:r>
              <a:rPr lang="en-CN" altLang="zh-CN">
                <a:latin typeface="Courier" pitchFamily="2" charset="0"/>
              </a:rPr>
              <a:t>finished_cnt == req_cnt)</a:t>
            </a:r>
          </a:p>
          <a:p>
            <a:r>
              <a:rPr lang="en-CN">
                <a:latin typeface="Courier" pitchFamily="2" charset="0"/>
              </a:rPr>
              <a:t>  cond_signal(&amp;gcond);</a:t>
            </a:r>
          </a:p>
          <a:p>
            <a:r>
              <a:rPr lang="en-CN">
                <a:latin typeface="Courier" pitchFamily="2" charset="0"/>
              </a:rPr>
              <a:t>unlock(&amp;glock);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9F801-432A-FA4E-A533-0EB0728790D5}"/>
              </a:ext>
            </a:extLst>
          </p:cNvPr>
          <p:cNvSpPr/>
          <p:nvPr/>
        </p:nvSpPr>
        <p:spPr>
          <a:xfrm>
            <a:off x="164664" y="308629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Request_cb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2F698D-4F91-C543-A61B-E95765311F36}"/>
              </a:ext>
            </a:extLst>
          </p:cNvPr>
          <p:cNvSpPr/>
          <p:nvPr/>
        </p:nvSpPr>
        <p:spPr>
          <a:xfrm>
            <a:off x="4431550" y="308605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渲染线程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33B4C4-87AF-1944-B601-038E105B82C8}"/>
              </a:ext>
            </a:extLst>
          </p:cNvPr>
          <p:cNvSpPr/>
          <p:nvPr/>
        </p:nvSpPr>
        <p:spPr>
          <a:xfrm>
            <a:off x="4521064" y="3805781"/>
            <a:ext cx="445827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lock(&amp;glock);</a:t>
            </a:r>
          </a:p>
          <a:p>
            <a:r>
              <a:rPr lang="en-CN">
                <a:latin typeface="Courier" pitchFamily="2" charset="0"/>
              </a:rPr>
              <a:t>while (finished_cnt != req_cnt)</a:t>
            </a:r>
          </a:p>
          <a:p>
            <a:r>
              <a:rPr lang="en-CN">
                <a:latin typeface="Courier" pitchFamily="2" charset="0"/>
              </a:rPr>
              <a:t>  cond_wait(&amp;gcond, &amp;glock);</a:t>
            </a:r>
          </a:p>
          <a:p>
            <a:r>
              <a:rPr lang="en-CN">
                <a:latin typeface="Courier" pitchFamily="2" charset="0"/>
              </a:rPr>
              <a:t>unlock(&amp;glock);</a:t>
            </a:r>
          </a:p>
        </p:txBody>
      </p:sp>
    </p:spTree>
    <p:extLst>
      <p:ext uri="{BB962C8B-B14F-4D97-AF65-F5344CB8AC3E}">
        <p14:creationId xmlns:p14="http://schemas.microsoft.com/office/powerpoint/2010/main" val="67017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-4</a:t>
            </a:r>
            <a:r>
              <a:rPr lang="zh-CN" altLang="en-US" dirty="0"/>
              <a:t>：网页渲染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07425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网页</a:t>
            </a:r>
            <a:r>
              <a:rPr lang="zh-CN" altLang="en-CN" sz="2000" dirty="0"/>
              <a:t>等待</a:t>
            </a:r>
            <a:r>
              <a:rPr lang="zh-CN" altLang="en-US" sz="2000" dirty="0"/>
              <a:t>所有的请求均完成后</a:t>
            </a:r>
            <a:br>
              <a:rPr lang="en-US" altLang="zh-CN" sz="2000" dirty="0"/>
            </a:br>
            <a:r>
              <a:rPr lang="zh-CN" altLang="en-US" sz="2000" dirty="0"/>
              <a:t>再进行渲染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request_cb_3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512808" y="2915847"/>
            <a:ext cx="1364743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渲染线程</a:t>
            </a:r>
            <a:endParaRPr lang="en-C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4C3139-7B2D-9840-8A8E-044D084D1E31}"/>
              </a:ext>
            </a:extLst>
          </p:cNvPr>
          <p:cNvSpPr/>
          <p:nvPr/>
        </p:nvSpPr>
        <p:spPr>
          <a:xfrm>
            <a:off x="778861" y="2484946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/>
              <a:t>场景3</a:t>
            </a:r>
            <a:r>
              <a:rPr lang="en-US" altLang="zh-CN" b="1"/>
              <a:t>:</a:t>
            </a:r>
            <a:r>
              <a:rPr lang="zh-CN" altLang="en-US" b="1"/>
              <a:t> 视为所有请求结果为资源</a:t>
            </a:r>
            <a:endParaRPr lang="en-CN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87A6C-5B65-6948-84D2-6A46DC77FC91}"/>
              </a:ext>
            </a:extLst>
          </p:cNvPr>
          <p:cNvSpPr/>
          <p:nvPr/>
        </p:nvSpPr>
        <p:spPr>
          <a:xfrm>
            <a:off x="5448547" y="3673041"/>
            <a:ext cx="34932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while(remain_req != 0) {</a:t>
            </a:r>
          </a:p>
          <a:p>
            <a:r>
              <a:rPr lang="en-CN">
                <a:latin typeface="Courier" pitchFamily="2" charset="0"/>
              </a:rPr>
              <a:t>  wait(&amp;gsem);</a:t>
            </a:r>
          </a:p>
          <a:p>
            <a:r>
              <a:rPr lang="en-CN">
                <a:latin typeface="Courier" pitchFamily="2" charset="0"/>
              </a:rPr>
              <a:t>  remain_req --;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3631D4-B772-B446-8757-D17B18D3E46C}"/>
              </a:ext>
            </a:extLst>
          </p:cNvPr>
          <p:cNvSpPr/>
          <p:nvPr/>
        </p:nvSpPr>
        <p:spPr>
          <a:xfrm>
            <a:off x="2780165" y="4901500"/>
            <a:ext cx="3885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chemeClr val="accent1"/>
                </a:solidFill>
              </a:rPr>
              <a:t>思考</a:t>
            </a:r>
            <a:r>
              <a:rPr lang="zh-CN" altLang="en-US" b="1">
                <a:solidFill>
                  <a:schemeClr val="accent1"/>
                </a:solidFill>
              </a:rPr>
              <a:t>：和上一种哪种更合适？</a:t>
            </a:r>
            <a:endParaRPr lang="en-CN" b="1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78D745-C973-D545-9DEB-4A3924DA3B04}"/>
              </a:ext>
            </a:extLst>
          </p:cNvPr>
          <p:cNvSpPr/>
          <p:nvPr/>
        </p:nvSpPr>
        <p:spPr>
          <a:xfrm>
            <a:off x="4894549" y="333336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渲染线程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F0B9D6-3B85-3B46-A6CF-28C736E003F8}"/>
              </a:ext>
            </a:extLst>
          </p:cNvPr>
          <p:cNvSpPr/>
          <p:nvPr/>
        </p:nvSpPr>
        <p:spPr>
          <a:xfrm>
            <a:off x="164664" y="3086299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Request_cb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135C40-C45A-9249-94BE-AF7DFD7C0F8E}"/>
              </a:ext>
            </a:extLst>
          </p:cNvPr>
          <p:cNvSpPr/>
          <p:nvPr/>
        </p:nvSpPr>
        <p:spPr>
          <a:xfrm>
            <a:off x="594364" y="368765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signal(&amp;gsem);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0166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-5</a:t>
            </a:r>
            <a:r>
              <a:rPr lang="zh-CN" altLang="en-US" dirty="0"/>
              <a:t>：线程池并发控制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2098452"/>
          </a:xfrm>
        </p:spPr>
        <p:txBody>
          <a:bodyPr>
            <a:noAutofit/>
          </a:bodyPr>
          <a:lstStyle/>
          <a:p>
            <a:r>
              <a:rPr lang="zh-CN" altLang="en-CN" sz="2000" dirty="0"/>
              <a:t>控制</a:t>
            </a:r>
            <a:r>
              <a:rPr lang="zh-CN" altLang="en-US" sz="2000" dirty="0"/>
              <a:t>同一时刻可以执行的线程数量</a:t>
            </a:r>
            <a:endParaRPr lang="en-US" altLang="zh-CN" sz="2000" dirty="0"/>
          </a:p>
          <a:p>
            <a:r>
              <a:rPr lang="zh-CN" altLang="en-US" sz="2000" dirty="0"/>
              <a:t>原因：有的线程阻塞时可以允许新的线程</a:t>
            </a:r>
            <a:r>
              <a:rPr lang="zh-CN" altLang="en-CN" sz="2000" dirty="0"/>
              <a:t>替上</a:t>
            </a:r>
            <a:endParaRPr lang="en-US" altLang="zh-CN" sz="2000" dirty="0"/>
          </a:p>
          <a:p>
            <a:r>
              <a:rPr lang="zh-CN" altLang="en-US" sz="2000" dirty="0"/>
              <a:t>例子：允许同时三个线程执行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worker_3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353444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worker_4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0FBB55-ACFD-9147-A906-356728EB585E}"/>
              </a:ext>
            </a:extLst>
          </p:cNvPr>
          <p:cNvSpPr/>
          <p:nvPr/>
        </p:nvSpPr>
        <p:spPr>
          <a:xfrm>
            <a:off x="8004560" y="24420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阻塞</a:t>
            </a:r>
          </a:p>
        </p:txBody>
      </p:sp>
    </p:spTree>
    <p:extLst>
      <p:ext uri="{BB962C8B-B14F-4D97-AF65-F5344CB8AC3E}">
        <p14:creationId xmlns:p14="http://schemas.microsoft.com/office/powerpoint/2010/main" val="3107202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-5</a:t>
            </a:r>
            <a:r>
              <a:rPr lang="zh-CN" altLang="en-US" dirty="0"/>
              <a:t>：线程池并发控制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220072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2098452"/>
          </a:xfrm>
        </p:spPr>
        <p:txBody>
          <a:bodyPr>
            <a:noAutofit/>
          </a:bodyPr>
          <a:lstStyle/>
          <a:p>
            <a:r>
              <a:rPr lang="zh-CN" altLang="en-CN" sz="2000"/>
              <a:t>控制</a:t>
            </a:r>
            <a:r>
              <a:rPr lang="zh-CN" altLang="en-US" sz="2000"/>
              <a:t>同一时刻可以执行的线程数量</a:t>
            </a:r>
            <a:endParaRPr lang="en-US" altLang="zh-CN" sz="2000"/>
          </a:p>
          <a:p>
            <a:r>
              <a:rPr lang="zh-CN" altLang="en-US" sz="2000"/>
              <a:t>原因：有的线程阻塞时可以允许新的线程</a:t>
            </a:r>
            <a:r>
              <a:rPr lang="zh-CN" altLang="en-CN" sz="2000"/>
              <a:t>替上</a:t>
            </a:r>
            <a:endParaRPr lang="en-US" altLang="zh-CN" sz="2000"/>
          </a:p>
          <a:p>
            <a:r>
              <a:rPr lang="zh-CN" altLang="en-US" sz="2000"/>
              <a:t>例子：允许同时三个线程执行</a:t>
            </a:r>
            <a:endParaRPr lang="en-US" altLang="zh-CN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6516216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worker_2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ED587-464B-AE4D-9DF5-AD3AB74C1761}"/>
              </a:ext>
            </a:extLst>
          </p:cNvPr>
          <p:cNvSpPr/>
          <p:nvPr/>
        </p:nvSpPr>
        <p:spPr>
          <a:xfrm>
            <a:off x="7812360" y="15584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worker_3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2B72-D5FC-9E45-AAB7-020D8F4996D9}"/>
              </a:ext>
            </a:extLst>
          </p:cNvPr>
          <p:cNvSpPr/>
          <p:nvPr/>
        </p:nvSpPr>
        <p:spPr>
          <a:xfrm>
            <a:off x="663012" y="3314684"/>
            <a:ext cx="57359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场景3</a:t>
            </a:r>
            <a:r>
              <a:rPr lang="en-US" altLang="zh-CN" b="1" dirty="0"/>
              <a:t>:</a:t>
            </a:r>
            <a:r>
              <a:rPr lang="zh-CN" altLang="en-US" b="1" dirty="0"/>
              <a:t> 视</a:t>
            </a:r>
            <a:r>
              <a:rPr lang="zh-CN" altLang="en-US" b="1" u="sng" dirty="0"/>
              <a:t>剩余可并行执行线程数量</a:t>
            </a:r>
            <a:r>
              <a:rPr lang="zh-CN" altLang="en-US" b="1" dirty="0"/>
              <a:t>为有限资源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6AEF7-7698-A643-A366-97FBD4FF7688}"/>
              </a:ext>
            </a:extLst>
          </p:cNvPr>
          <p:cNvSpPr/>
          <p:nvPr/>
        </p:nvSpPr>
        <p:spPr>
          <a:xfrm>
            <a:off x="1204581" y="3828444"/>
            <a:ext cx="37809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thread_routine () {</a:t>
            </a:r>
          </a:p>
          <a:p>
            <a:r>
              <a:rPr lang="en-CN">
                <a:latin typeface="Courier" pitchFamily="2" charset="0"/>
              </a:rPr>
              <a:t>  wait(&amp;thread_cnt_sem);</a:t>
            </a:r>
          </a:p>
          <a:p>
            <a:r>
              <a:rPr lang="en-CN">
                <a:latin typeface="Courier" pitchFamily="2" charset="0"/>
              </a:rPr>
              <a:t>  /* doing something */</a:t>
            </a:r>
          </a:p>
          <a:p>
            <a:r>
              <a:rPr lang="en-CN">
                <a:latin typeface="Courier" pitchFamily="2" charset="0"/>
              </a:rPr>
              <a:t>  signal(&amp;thread_cnt_sem);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B40AEDC1-130A-3647-A123-16575FAF2BE8}"/>
              </a:ext>
            </a:extLst>
          </p:cNvPr>
          <p:cNvSpPr/>
          <p:nvPr/>
        </p:nvSpPr>
        <p:spPr>
          <a:xfrm>
            <a:off x="6373904" y="2353444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worker_4</a:t>
            </a:r>
            <a:endParaRPr lang="en-CN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891DE8EA-A0A4-7940-8600-CB90CF043D09}"/>
              </a:ext>
            </a:extLst>
          </p:cNvPr>
          <p:cNvSpPr/>
          <p:nvPr/>
        </p:nvSpPr>
        <p:spPr>
          <a:xfrm>
            <a:off x="8004560" y="24420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阻塞</a:t>
            </a:r>
          </a:p>
        </p:txBody>
      </p:sp>
    </p:spTree>
    <p:extLst>
      <p:ext uri="{BB962C8B-B14F-4D97-AF65-F5344CB8AC3E}">
        <p14:creationId xmlns:p14="http://schemas.microsoft.com/office/powerpoint/2010/main" val="1873879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-6</a:t>
            </a:r>
            <a:r>
              <a:rPr lang="zh-CN" altLang="en-US" dirty="0"/>
              <a:t>：网页服务器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858894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66962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处理响应客户端获取静态网页需求</a:t>
            </a:r>
            <a:endParaRPr lang="en-US" altLang="zh-CN" sz="2000" dirty="0"/>
          </a:p>
          <a:p>
            <a:r>
              <a:rPr lang="zh-CN" altLang="en-US" sz="2000" dirty="0"/>
              <a:t>处理后端更新静态网页需求</a:t>
            </a:r>
            <a:endParaRPr lang="en-US" altLang="zh-CN" sz="2000" dirty="0"/>
          </a:p>
          <a:p>
            <a:r>
              <a:rPr lang="zh-CN" altLang="en-US" sz="2000" dirty="0"/>
              <a:t>不允许读取更新到一半的页面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7155038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Client_2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855890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</a:t>
            </a:r>
            <a:r>
              <a:rPr lang="zh-CN" altLang="en-US"/>
              <a:t> 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1BEEB-DAF8-564B-B8C3-71FE83A75405}"/>
              </a:ext>
            </a:extLst>
          </p:cNvPr>
          <p:cNvSpPr/>
          <p:nvPr/>
        </p:nvSpPr>
        <p:spPr>
          <a:xfrm>
            <a:off x="6544694" y="407642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后端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DC9958-0E65-5E4E-813B-95F38A935018}"/>
              </a:ext>
            </a:extLst>
          </p:cNvPr>
          <p:cNvCxnSpPr>
            <a:stCxn id="3" idx="2"/>
          </p:cNvCxnSpPr>
          <p:nvPr/>
        </p:nvCxnSpPr>
        <p:spPr>
          <a:xfrm>
            <a:off x="6398954" y="2264852"/>
            <a:ext cx="540060" cy="4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1A68D-6237-754C-A1FD-534FC39BCAE9}"/>
              </a:ext>
            </a:extLst>
          </p:cNvPr>
          <p:cNvCxnSpPr>
            <a:cxnSpLocks/>
          </p:cNvCxnSpPr>
          <p:nvPr/>
        </p:nvCxnSpPr>
        <p:spPr>
          <a:xfrm flipH="1">
            <a:off x="7155038" y="2305973"/>
            <a:ext cx="583609" cy="43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697C4-D0E9-FC44-B672-A1504928F6EA}"/>
              </a:ext>
            </a:extLst>
          </p:cNvPr>
          <p:cNvCxnSpPr>
            <a:cxnSpLocks/>
          </p:cNvCxnSpPr>
          <p:nvPr/>
        </p:nvCxnSpPr>
        <p:spPr>
          <a:xfrm flipV="1">
            <a:off x="7056275" y="3535515"/>
            <a:ext cx="0" cy="43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6D3F5-A5D0-5E40-8EAC-5EAFF9789F3B}"/>
              </a:ext>
            </a:extLst>
          </p:cNvPr>
          <p:cNvSpPr/>
          <p:nvPr/>
        </p:nvSpPr>
        <p:spPr>
          <a:xfrm>
            <a:off x="7530898" y="24325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获取网页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A9329-C706-3D48-8C37-1F036A7ACB3E}"/>
              </a:ext>
            </a:extLst>
          </p:cNvPr>
          <p:cNvSpPr/>
          <p:nvPr/>
        </p:nvSpPr>
        <p:spPr>
          <a:xfrm>
            <a:off x="7530898" y="35558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更新网页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5999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同步案例</a:t>
            </a:r>
            <a:r>
              <a:rPr lang="en-US" altLang="zh-CN" dirty="0"/>
              <a:t>-6</a:t>
            </a:r>
            <a:r>
              <a:rPr lang="zh-CN" altLang="en-US" dirty="0"/>
              <a:t>：网页服务器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3F8D0-DA82-5A4E-BBEE-B589E5306854}"/>
              </a:ext>
            </a:extLst>
          </p:cNvPr>
          <p:cNvSpPr/>
          <p:nvPr/>
        </p:nvSpPr>
        <p:spPr>
          <a:xfrm>
            <a:off x="5858894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Client_1</a:t>
            </a:r>
            <a:endParaRPr lang="en-C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30385D-E6EF-C54D-88A8-395C6059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2"/>
            <a:ext cx="4528348" cy="1669624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处理响应客户端获取静态网页需求</a:t>
            </a:r>
            <a:endParaRPr lang="en-US" altLang="zh-CN" sz="2000" dirty="0"/>
          </a:p>
          <a:p>
            <a:r>
              <a:rPr lang="zh-CN" altLang="en-US" sz="2000" dirty="0"/>
              <a:t>处理后端更新静态网页需求</a:t>
            </a:r>
            <a:endParaRPr lang="en-US" altLang="zh-CN" sz="2000" dirty="0"/>
          </a:p>
          <a:p>
            <a:r>
              <a:rPr lang="zh-CN" altLang="en-US" sz="2000" dirty="0"/>
              <a:t>不允许读取更新到一半的页面</a:t>
            </a:r>
            <a:endParaRPr lang="en-US" altLang="zh-CN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DC9C1-8F26-CE40-8B10-4ED8F62A1F0A}"/>
              </a:ext>
            </a:extLst>
          </p:cNvPr>
          <p:cNvSpPr/>
          <p:nvPr/>
        </p:nvSpPr>
        <p:spPr>
          <a:xfrm>
            <a:off x="7155038" y="1688788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Client_2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051AB-452F-3041-B2AB-5503C7C26DC0}"/>
              </a:ext>
            </a:extLst>
          </p:cNvPr>
          <p:cNvSpPr/>
          <p:nvPr/>
        </p:nvSpPr>
        <p:spPr>
          <a:xfrm>
            <a:off x="6373904" y="2855890"/>
            <a:ext cx="1364743" cy="576064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server</a:t>
            </a:r>
            <a:r>
              <a:rPr lang="zh-CN" altLang="en-US"/>
              <a:t> 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52B72-D5FC-9E45-AAB7-020D8F4996D9}"/>
              </a:ext>
            </a:extLst>
          </p:cNvPr>
          <p:cNvSpPr/>
          <p:nvPr/>
        </p:nvSpPr>
        <p:spPr>
          <a:xfrm>
            <a:off x="457201" y="3062622"/>
            <a:ext cx="4294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衍生场景</a:t>
            </a:r>
            <a:r>
              <a:rPr lang="en-US" altLang="zh-CN" b="1" dirty="0"/>
              <a:t>1:</a:t>
            </a:r>
            <a:r>
              <a:rPr lang="zh-CN" altLang="en-US" b="1" dirty="0"/>
              <a:t> 读写场景，可以使用读写锁</a:t>
            </a:r>
            <a:endParaRPr lang="en-CN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1BEEB-DAF8-564B-B8C3-71FE83A75405}"/>
              </a:ext>
            </a:extLst>
          </p:cNvPr>
          <p:cNvSpPr/>
          <p:nvPr/>
        </p:nvSpPr>
        <p:spPr>
          <a:xfrm>
            <a:off x="6544694" y="4076426"/>
            <a:ext cx="10801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后端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DC9958-0E65-5E4E-813B-95F38A935018}"/>
              </a:ext>
            </a:extLst>
          </p:cNvPr>
          <p:cNvCxnSpPr>
            <a:stCxn id="3" idx="2"/>
          </p:cNvCxnSpPr>
          <p:nvPr/>
        </p:nvCxnSpPr>
        <p:spPr>
          <a:xfrm>
            <a:off x="6398954" y="2264852"/>
            <a:ext cx="540060" cy="47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51A68D-6237-754C-A1FD-534FC39BCAE9}"/>
              </a:ext>
            </a:extLst>
          </p:cNvPr>
          <p:cNvCxnSpPr>
            <a:cxnSpLocks/>
          </p:cNvCxnSpPr>
          <p:nvPr/>
        </p:nvCxnSpPr>
        <p:spPr>
          <a:xfrm flipH="1">
            <a:off x="7155038" y="2305973"/>
            <a:ext cx="583609" cy="43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1697C4-D0E9-FC44-B672-A1504928F6EA}"/>
              </a:ext>
            </a:extLst>
          </p:cNvPr>
          <p:cNvCxnSpPr>
            <a:cxnSpLocks/>
          </p:cNvCxnSpPr>
          <p:nvPr/>
        </p:nvCxnSpPr>
        <p:spPr>
          <a:xfrm flipV="1">
            <a:off x="7056275" y="3535515"/>
            <a:ext cx="0" cy="432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C46D3F5-A5D0-5E40-8EAC-5EAFF9789F3B}"/>
              </a:ext>
            </a:extLst>
          </p:cNvPr>
          <p:cNvSpPr/>
          <p:nvPr/>
        </p:nvSpPr>
        <p:spPr>
          <a:xfrm>
            <a:off x="7530898" y="243252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获取网页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BA9329-C706-3D48-8C37-1F036A7ACB3E}"/>
              </a:ext>
            </a:extLst>
          </p:cNvPr>
          <p:cNvSpPr/>
          <p:nvPr/>
        </p:nvSpPr>
        <p:spPr>
          <a:xfrm>
            <a:off x="7530898" y="35558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更新网页</a:t>
            </a:r>
            <a:endParaRPr lang="en-CN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7DDCCB86-D835-7E4A-BF46-2D5E6642FE01}"/>
              </a:ext>
            </a:extLst>
          </p:cNvPr>
          <p:cNvSpPr txBox="1">
            <a:spLocks/>
          </p:cNvSpPr>
          <p:nvPr/>
        </p:nvSpPr>
        <p:spPr>
          <a:xfrm>
            <a:off x="1043608" y="3740491"/>
            <a:ext cx="2880316" cy="1061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altLang="zh-CN" sz="2000"/>
              <a:t>client</a:t>
            </a:r>
            <a:r>
              <a:rPr lang="zh-CN" altLang="en-CN" sz="2000"/>
              <a:t>用</a:t>
            </a:r>
            <a:r>
              <a:rPr lang="zh-CN" altLang="en-US" sz="2000"/>
              <a:t>读锁</a:t>
            </a:r>
            <a:endParaRPr lang="en-US" altLang="zh-CN" sz="2000"/>
          </a:p>
          <a:p>
            <a:r>
              <a:rPr lang="zh-CN" altLang="en-US" sz="2000"/>
              <a:t>后端用写锁</a:t>
            </a: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1562784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同步原语选择的参考原则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481BC-8F56-6240-87CA-DBC00D757235}"/>
              </a:ext>
            </a:extLst>
          </p:cNvPr>
          <p:cNvSpPr txBox="1"/>
          <p:nvPr/>
        </p:nvSpPr>
        <p:spPr>
          <a:xfrm>
            <a:off x="3059832" y="120131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存在</a:t>
            </a:r>
            <a:r>
              <a:rPr lang="en-CN"/>
              <a:t>多线程同步需求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9C04-9230-4547-8CDE-FB22776BDA9F}"/>
              </a:ext>
            </a:extLst>
          </p:cNvPr>
          <p:cNvSpPr txBox="1"/>
          <p:nvPr/>
        </p:nvSpPr>
        <p:spPr>
          <a:xfrm>
            <a:off x="2699792" y="1815954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保护数据</a:t>
            </a:r>
            <a:r>
              <a:rPr lang="zh-CN" altLang="en-US"/>
              <a:t> </a:t>
            </a:r>
            <a:r>
              <a:rPr lang="en-US" altLang="zh-CN"/>
              <a:t>or </a:t>
            </a:r>
            <a:r>
              <a:rPr lang="zh-CN" altLang="en-US"/>
              <a:t>协调线程执行顺序？</a:t>
            </a:r>
            <a:endParaRPr lang="en-C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636812-A439-6247-87C8-1111087A771D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63988" y="1570648"/>
            <a:ext cx="0" cy="245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556B82-E4CE-0B44-B1AB-7FB063F8C8F6}"/>
              </a:ext>
            </a:extLst>
          </p:cNvPr>
          <p:cNvCxnSpPr>
            <a:cxnSpLocks/>
          </p:cNvCxnSpPr>
          <p:nvPr/>
        </p:nvCxnSpPr>
        <p:spPr>
          <a:xfrm flipH="1">
            <a:off x="2625825" y="2315928"/>
            <a:ext cx="1766155" cy="1014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68CA03-D6B9-5946-8D4D-413C2FF4D742}"/>
              </a:ext>
            </a:extLst>
          </p:cNvPr>
          <p:cNvSpPr txBox="1"/>
          <p:nvPr/>
        </p:nvSpPr>
        <p:spPr>
          <a:xfrm>
            <a:off x="2240425" y="2540149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保护数据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79B85-68D1-B140-A424-366E0B11F3DB}"/>
              </a:ext>
            </a:extLst>
          </p:cNvPr>
          <p:cNvSpPr txBox="1"/>
          <p:nvPr/>
        </p:nvSpPr>
        <p:spPr>
          <a:xfrm>
            <a:off x="1403648" y="3471709"/>
            <a:ext cx="2144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是否存在读多写少</a:t>
            </a:r>
            <a:r>
              <a:rPr lang="zh-CN" altLang="en-US" dirty="0"/>
              <a:t>？</a:t>
            </a:r>
            <a:endParaRPr lang="en-C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C88EBF-64E7-C145-BCC3-ED97CC4DED22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619672" y="4049925"/>
            <a:ext cx="830051" cy="591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28CA7A2-E401-554D-83A7-D4754EA7642B}"/>
              </a:ext>
            </a:extLst>
          </p:cNvPr>
          <p:cNvSpPr txBox="1"/>
          <p:nvPr/>
        </p:nvSpPr>
        <p:spPr>
          <a:xfrm>
            <a:off x="1189583" y="4035537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F2BE2-F52F-4D4D-8FCE-5A3E67FC7D17}"/>
              </a:ext>
            </a:extLst>
          </p:cNvPr>
          <p:cNvSpPr txBox="1"/>
          <p:nvPr/>
        </p:nvSpPr>
        <p:spPr>
          <a:xfrm>
            <a:off x="989602" y="4641342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读写锁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83E685-8321-3546-9506-6EB4C95B558F}"/>
              </a:ext>
            </a:extLst>
          </p:cNvPr>
          <p:cNvCxnSpPr>
            <a:cxnSpLocks/>
          </p:cNvCxnSpPr>
          <p:nvPr/>
        </p:nvCxnSpPr>
        <p:spPr>
          <a:xfrm>
            <a:off x="2449723" y="4040635"/>
            <a:ext cx="610109" cy="478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B5C7D5D-14A4-F549-97C4-8AA9681F7100}"/>
              </a:ext>
            </a:extLst>
          </p:cNvPr>
          <p:cNvSpPr txBox="1"/>
          <p:nvPr/>
        </p:nvSpPr>
        <p:spPr>
          <a:xfrm>
            <a:off x="2809763" y="3967756"/>
            <a:ext cx="1402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600"/>
              <a:t>否</a:t>
            </a:r>
            <a:r>
              <a:rPr lang="zh-CN" altLang="en-US" sz="1600" dirty="0"/>
              <a:t>，</a:t>
            </a:r>
            <a:r>
              <a:rPr lang="en-CN" sz="1600"/>
              <a:t>或不存在读写场景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304E9E-74C2-1C4F-924E-7644E179B410}"/>
              </a:ext>
            </a:extLst>
          </p:cNvPr>
          <p:cNvSpPr txBox="1"/>
          <p:nvPr/>
        </p:nvSpPr>
        <p:spPr>
          <a:xfrm>
            <a:off x="2612401" y="4662004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互斥锁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162330-2E79-0F42-9EB3-C360B7076C79}"/>
              </a:ext>
            </a:extLst>
          </p:cNvPr>
          <p:cNvCxnSpPr>
            <a:cxnSpLocks/>
          </p:cNvCxnSpPr>
          <p:nvPr/>
        </p:nvCxnSpPr>
        <p:spPr>
          <a:xfrm>
            <a:off x="4391979" y="2315928"/>
            <a:ext cx="1430463" cy="900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CEEF7B9-18BC-AE41-9D6E-1C3BE4ABC451}"/>
              </a:ext>
            </a:extLst>
          </p:cNvPr>
          <p:cNvSpPr/>
          <p:nvPr/>
        </p:nvSpPr>
        <p:spPr>
          <a:xfrm>
            <a:off x="5177875" y="249169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协调线程执行顺序</a:t>
            </a:r>
            <a:endParaRPr lang="en-C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6F2FC4-5375-2D40-91F5-8534FC529EA8}"/>
              </a:ext>
            </a:extLst>
          </p:cNvPr>
          <p:cNvSpPr txBox="1"/>
          <p:nvPr/>
        </p:nvSpPr>
        <p:spPr>
          <a:xfrm>
            <a:off x="4788024" y="3470319"/>
            <a:ext cx="261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是否管理有限数量资源？</a:t>
            </a:r>
            <a:endParaRPr lang="en-CN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8FCA62C-F91A-2749-978E-B7E805D51B82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5257141" y="4029400"/>
            <a:ext cx="830051" cy="591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90E9D5-9310-6C41-BCE0-C6BCF52BD886}"/>
              </a:ext>
            </a:extLst>
          </p:cNvPr>
          <p:cNvSpPr txBox="1"/>
          <p:nvPr/>
        </p:nvSpPr>
        <p:spPr>
          <a:xfrm>
            <a:off x="4827052" y="4015012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/>
              <a:t>是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BBB21E-5CFF-A547-A22F-84C342B60CF8}"/>
              </a:ext>
            </a:extLst>
          </p:cNvPr>
          <p:cNvSpPr txBox="1"/>
          <p:nvPr/>
        </p:nvSpPr>
        <p:spPr>
          <a:xfrm>
            <a:off x="4627071" y="4620817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信号量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61F5D4-FFA8-884E-A02F-6274FDF36A03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6087192" y="4020110"/>
            <a:ext cx="792748" cy="621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4927A39-B362-A14B-83A9-6BC719BAC893}"/>
              </a:ext>
            </a:extLst>
          </p:cNvPr>
          <p:cNvSpPr txBox="1"/>
          <p:nvPr/>
        </p:nvSpPr>
        <p:spPr>
          <a:xfrm>
            <a:off x="6483364" y="3966740"/>
            <a:ext cx="1402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600"/>
              <a:t>否</a:t>
            </a:r>
            <a:r>
              <a:rPr lang="zh-CN" altLang="en-US" sz="1600"/>
              <a:t>，更加复杂的逻辑</a:t>
            </a:r>
            <a:endParaRPr lang="en-CN"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97037F-D44D-B045-BF5D-6F7217CD37F1}"/>
              </a:ext>
            </a:extLst>
          </p:cNvPr>
          <p:cNvSpPr txBox="1"/>
          <p:nvPr/>
        </p:nvSpPr>
        <p:spPr>
          <a:xfrm>
            <a:off x="6249870" y="4641479"/>
            <a:ext cx="126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solidFill>
                  <a:schemeClr val="accent1"/>
                </a:solidFill>
              </a:rPr>
              <a:t>条件变量</a:t>
            </a:r>
          </a:p>
        </p:txBody>
      </p:sp>
    </p:spTree>
    <p:extLst>
      <p:ext uri="{BB962C8B-B14F-4D97-AF65-F5344CB8AC3E}">
        <p14:creationId xmlns:p14="http://schemas.microsoft.com/office/powerpoint/2010/main" val="4074305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35064</TotalTime>
  <Words>1893</Words>
  <Application>Microsoft Macintosh PowerPoint</Application>
  <PresentationFormat>On-screen Show (16:10)</PresentationFormat>
  <Paragraphs>387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DengXian</vt:lpstr>
      <vt:lpstr>Microsoft YaHei</vt:lpstr>
      <vt:lpstr>宋体</vt:lpstr>
      <vt:lpstr>Arial</vt:lpstr>
      <vt:lpstr>Calibri</vt:lpstr>
      <vt:lpstr>Courier</vt:lpstr>
      <vt:lpstr>Office 主题​​</vt:lpstr>
      <vt:lpstr>1_Office 主题​​</vt:lpstr>
      <vt:lpstr>PowerPoint Presentation</vt:lpstr>
      <vt:lpstr>版权声明</vt:lpstr>
      <vt:lpstr>不同同步原语之间的比较</vt:lpstr>
      <vt:lpstr>场景与同步原语总结</vt:lpstr>
      <vt:lpstr>互斥锁 vs 读写锁</vt:lpstr>
      <vt:lpstr>互斥锁 vs 条件变量</vt:lpstr>
      <vt:lpstr>互斥锁 vs 信号量</vt:lpstr>
      <vt:lpstr>条件变量 vs 信号量</vt:lpstr>
      <vt:lpstr>同步原语案例分析</vt:lpstr>
      <vt:lpstr>同步案例-1：多线程执行屏障</vt:lpstr>
      <vt:lpstr>同步案例-1：多线程执行屏障</vt:lpstr>
      <vt:lpstr>同步案例-2：等待队列工作窃取</vt:lpstr>
      <vt:lpstr>同步案例-2：等待队列工作窃取</vt:lpstr>
      <vt:lpstr>同步案例-3：map-reduce</vt:lpstr>
      <vt:lpstr>同步案例-3：map-reduce</vt:lpstr>
      <vt:lpstr>同步案例-3：map-reduce</vt:lpstr>
      <vt:lpstr>同步案例-3：map-reduce</vt:lpstr>
      <vt:lpstr>同步案例-4：网页渲染</vt:lpstr>
      <vt:lpstr>同步案例-4：网页渲染</vt:lpstr>
      <vt:lpstr>同步案例-4：网页渲染</vt:lpstr>
      <vt:lpstr>同步案例-5：线程池并发控制</vt:lpstr>
      <vt:lpstr>同步案例-5：线程池并发控制</vt:lpstr>
      <vt:lpstr>同步案例-6：网页服务器</vt:lpstr>
      <vt:lpstr>同步案例-6：网页服务器</vt:lpstr>
      <vt:lpstr>同步原语选择的参考原则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1911</cp:revision>
  <cp:lastPrinted>2020-03-02T13:38:09Z</cp:lastPrinted>
  <dcterms:created xsi:type="dcterms:W3CDTF">2017-11-24T09:35:45Z</dcterms:created>
  <dcterms:modified xsi:type="dcterms:W3CDTF">2025-12-01T13:05:23Z</dcterms:modified>
</cp:coreProperties>
</file>