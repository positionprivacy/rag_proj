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handoutMasterIdLst>
    <p:handoutMasterId r:id="rId84"/>
  </p:handoutMasterIdLst>
  <p:sldIdLst>
    <p:sldId id="2769" r:id="rId2"/>
    <p:sldId id="2273" r:id="rId3"/>
    <p:sldId id="1418" r:id="rId4"/>
    <p:sldId id="2828" r:id="rId5"/>
    <p:sldId id="2830" r:id="rId6"/>
    <p:sldId id="2728" r:id="rId7"/>
    <p:sldId id="2729" r:id="rId8"/>
    <p:sldId id="2732" r:id="rId9"/>
    <p:sldId id="2731" r:id="rId10"/>
    <p:sldId id="2327" r:id="rId11"/>
    <p:sldId id="1362" r:id="rId12"/>
    <p:sldId id="2248" r:id="rId13"/>
    <p:sldId id="2328" r:id="rId14"/>
    <p:sldId id="1364" r:id="rId15"/>
    <p:sldId id="2388" r:id="rId16"/>
    <p:sldId id="2329" r:id="rId17"/>
    <p:sldId id="2330" r:id="rId18"/>
    <p:sldId id="2331" r:id="rId19"/>
    <p:sldId id="2332" r:id="rId20"/>
    <p:sldId id="2333" r:id="rId21"/>
    <p:sldId id="2334" r:id="rId22"/>
    <p:sldId id="2335" r:id="rId23"/>
    <p:sldId id="2389" r:id="rId24"/>
    <p:sldId id="2336" r:id="rId25"/>
    <p:sldId id="2337" r:id="rId26"/>
    <p:sldId id="2338" r:id="rId27"/>
    <p:sldId id="2339" r:id="rId28"/>
    <p:sldId id="2340" r:id="rId29"/>
    <p:sldId id="2341" r:id="rId30"/>
    <p:sldId id="2342" r:id="rId31"/>
    <p:sldId id="2343" r:id="rId32"/>
    <p:sldId id="2344" r:id="rId33"/>
    <p:sldId id="2345" r:id="rId34"/>
    <p:sldId id="2346" r:id="rId35"/>
    <p:sldId id="2349" r:id="rId36"/>
    <p:sldId id="2350" r:id="rId37"/>
    <p:sldId id="2352" r:id="rId38"/>
    <p:sldId id="2353" r:id="rId39"/>
    <p:sldId id="2390" r:id="rId40"/>
    <p:sldId id="2351" r:id="rId41"/>
    <p:sldId id="2354" r:id="rId42"/>
    <p:sldId id="2355" r:id="rId43"/>
    <p:sldId id="2356" r:id="rId44"/>
    <p:sldId id="2362" r:id="rId45"/>
    <p:sldId id="1371" r:id="rId46"/>
    <p:sldId id="2364" r:id="rId47"/>
    <p:sldId id="2363" r:id="rId48"/>
    <p:sldId id="2365" r:id="rId49"/>
    <p:sldId id="2366" r:id="rId50"/>
    <p:sldId id="1372" r:id="rId51"/>
    <p:sldId id="1406" r:id="rId52"/>
    <p:sldId id="1407" r:id="rId53"/>
    <p:sldId id="2357" r:id="rId54"/>
    <p:sldId id="2358" r:id="rId55"/>
    <p:sldId id="2359" r:id="rId56"/>
    <p:sldId id="2360" r:id="rId57"/>
    <p:sldId id="2361" r:id="rId58"/>
    <p:sldId id="2241" r:id="rId59"/>
    <p:sldId id="2368" r:id="rId60"/>
    <p:sldId id="2369" r:id="rId61"/>
    <p:sldId id="2370" r:id="rId62"/>
    <p:sldId id="2371" r:id="rId63"/>
    <p:sldId id="2372" r:id="rId64"/>
    <p:sldId id="2373" r:id="rId65"/>
    <p:sldId id="2374" r:id="rId66"/>
    <p:sldId id="2375" r:id="rId67"/>
    <p:sldId id="2376" r:id="rId68"/>
    <p:sldId id="2377" r:id="rId69"/>
    <p:sldId id="2378" r:id="rId70"/>
    <p:sldId id="2831" r:id="rId71"/>
    <p:sldId id="2834" r:id="rId72"/>
    <p:sldId id="2833" r:id="rId73"/>
    <p:sldId id="2379" r:id="rId74"/>
    <p:sldId id="2380" r:id="rId75"/>
    <p:sldId id="2381" r:id="rId76"/>
    <p:sldId id="2382" r:id="rId77"/>
    <p:sldId id="2383" r:id="rId78"/>
    <p:sldId id="2384" r:id="rId79"/>
    <p:sldId id="2385" r:id="rId80"/>
    <p:sldId id="2386" r:id="rId81"/>
    <p:sldId id="2387" r:id="rId8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74B"/>
    <a:srgbClr val="B3B3B4"/>
    <a:srgbClr val="BD3247"/>
    <a:srgbClr val="FF2F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 autoAdjust="0"/>
    <p:restoredTop sz="90646" autoAdjust="0"/>
  </p:normalViewPr>
  <p:slideViewPr>
    <p:cSldViewPr>
      <p:cViewPr varScale="1">
        <p:scale>
          <a:sx n="132" d="100"/>
          <a:sy n="132" d="100"/>
        </p:scale>
        <p:origin x="1272" y="16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48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23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设置每个程序每次最长 连续运行的时间（称为时间片）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6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比如运行</a:t>
            </a:r>
            <a:r>
              <a:rPr kumimoji="1" lang="en-US" altLang="zh-CN" dirty="0"/>
              <a:t>lab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9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进程控制块存储在内核态，因为它由内核管理，不应被用户态的程序访问</a:t>
            </a:r>
            <a:endParaRPr kumimoji="1" lang="en-US" altLang="zh-CN" dirty="0"/>
          </a:p>
          <a:p>
            <a:r>
              <a:rPr kumimoji="1" lang="zh-CN" altLang="en-US" dirty="0"/>
              <a:t>独立的虚拟地址空间是进程的标志性特征</a:t>
            </a:r>
            <a:endParaRPr kumimoji="1" lang="en-US" altLang="zh-CN" dirty="0"/>
          </a:p>
          <a:p>
            <a:r>
              <a:rPr kumimoji="1" lang="zh-CN" altLang="en-US" dirty="0"/>
              <a:t>独立的执行上下文表明进程具有独立的执行能力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47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两个栈指针：</a:t>
            </a:r>
            <a:r>
              <a:rPr kumimoji="1" lang="en-US" altLang="zh-CN" dirty="0"/>
              <a:t>SP_EL0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479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提醒大家注意：大家都知道操作系统还有线程的概念，但为了简化，我们先假设每个进程都只包含一个线程。</a:t>
            </a:r>
            <a:endParaRPr kumimoji="1" lang="en-US" altLang="zh-CN" dirty="0"/>
          </a:p>
          <a:p>
            <a:r>
              <a:rPr kumimoji="1" lang="zh-CN" altLang="en-US" dirty="0"/>
              <a:t>早期的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操作系统没有线程的概念，可以认为每个进程只包含了一个线程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68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62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186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这里假设数据代码都在一个页里面映射完毕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40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注意：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，会有一个新进程执行前的初始处理器状态，但不能直接赋值给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，需要赋值给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116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70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67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44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715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371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安全漏洞：比如</a:t>
            </a:r>
            <a:r>
              <a:rPr kumimoji="1" lang="en-US" altLang="zh-CN" dirty="0"/>
              <a:t>BROP</a:t>
            </a:r>
            <a:r>
              <a:rPr kumimoji="1" lang="zh-CN" altLang="en-US" dirty="0"/>
              <a:t>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63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由</a:t>
            </a:r>
            <a:r>
              <a:rPr kumimoji="1" lang="en-US" altLang="zh-CN" dirty="0"/>
              <a:t>BSD</a:t>
            </a:r>
            <a:r>
              <a:rPr kumimoji="1" lang="zh-CN" altLang="en-US" dirty="0"/>
              <a:t>于</a:t>
            </a:r>
            <a:r>
              <a:rPr kumimoji="1" lang="en-US" altLang="zh-CN" dirty="0"/>
              <a:t>1979</a:t>
            </a:r>
            <a:r>
              <a:rPr kumimoji="1" lang="zh-CN" altLang="en-US" dirty="0"/>
              <a:t>年提出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98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Posix_spawn</a:t>
            </a:r>
            <a:r>
              <a:rPr kumimoji="1" lang="zh-CN" altLang="en-US" dirty="0"/>
              <a:t>不能用在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73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图中：圆圈表示执行的函数，方框表示新创建的数据结构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93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处理器上下文与寄存器相关，是一个硬件概念；进程上下文与硬件完全没关系，是一个软件概念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603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D30F-20B7-1760-7C54-986B1BE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E98265-DA8D-C9D1-00E5-F34BCBBA4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58086A-5205-B376-BFC5-6927F9669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AD1E6-5BC3-8911-BE04-721ECBB06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898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329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897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这里还看不出为什么，后续会说明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05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先切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主要还是实现方便，不然可能还需要维护一个</a:t>
            </a:r>
            <a:r>
              <a:rPr kumimoji="1" lang="en-US" altLang="zh-CN" dirty="0" err="1"/>
              <a:t>next_proc</a:t>
            </a:r>
            <a:r>
              <a:rPr kumimoji="1" lang="zh-CN" altLang="en-US" dirty="0"/>
              <a:t>指针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98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变为空解释了之前的问题：正因为内核栈变为空，所以再次进入内核态时，在栈上分配的内存区域正好是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所在的区域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6639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30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进程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分配物理内存资源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引入虚拟内存后，物理内存分配主要在以下四个场景出现：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（延迟映射）时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内存时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内存通常需要连续的物理页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8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9AD83-E927-FC46-9C6F-A56AD12C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回顾：内核物理内存管理的需求和评价指标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F1EA0-BD04-DD4B-BEC0-ECFB8C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物理内存管理对操作系统的需求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管理所有空闲的物理页，有能力分配一个或多个连续物理页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管理所有已分配的内存页，并能随时将其回收，变成空闲页</a:t>
            </a:r>
            <a:endParaRPr kumimoji="1" lang="en-US" altLang="zh-CN" sz="2000" dirty="0"/>
          </a:p>
          <a:p>
            <a:r>
              <a:rPr kumimoji="1" lang="zh-CN" altLang="en-US" sz="2400" dirty="0"/>
              <a:t>物理内存管理的评价指标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资源利用率：尽可能避免碎片（外部碎片 </a:t>
            </a:r>
            <a:r>
              <a:rPr kumimoji="1" lang="en-US" altLang="zh-CN" sz="2000" dirty="0"/>
              <a:t>&amp;</a:t>
            </a:r>
            <a:r>
              <a:rPr kumimoji="1" lang="zh-CN" altLang="en-US" sz="2000" dirty="0"/>
              <a:t> 内部碎片）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分配速度：即内存分配与释放操作的时延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分配公平性：避免某些应用独占大量内存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0443B-4A68-7D45-8574-A661A6F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1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总结：物理内存管理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74748" y="32636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4B232E-3A3F-8B22-503A-4BA1070268D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65077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8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EFE45-5974-136C-A748-C6A699CA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368C8-A5E5-D252-D0E2-94F43C35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分时复用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让多个应用程序</a:t>
            </a:r>
            <a:r>
              <a:rPr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轮流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使用处理器核心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何时切换：</a:t>
            </a:r>
            <a:r>
              <a:rPr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操作系统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决定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运行时间片（例如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100ms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高频切换：看起来是多个应用“同时”执行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9F249-869C-7C75-0FB5-5E6A11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E962CFA-240F-4923-809B-731CBF470855}"/>
              </a:ext>
            </a:extLst>
          </p:cNvPr>
          <p:cNvSpPr/>
          <p:nvPr/>
        </p:nvSpPr>
        <p:spPr>
          <a:xfrm>
            <a:off x="619673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A8747-5D89-9FB7-580F-9E6F8414D379}"/>
              </a:ext>
            </a:extLst>
          </p:cNvPr>
          <p:cNvSpPr/>
          <p:nvPr/>
        </p:nvSpPr>
        <p:spPr>
          <a:xfrm>
            <a:off x="691681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437224-80E1-DC7A-AD03-FD44306CF2FA}"/>
              </a:ext>
            </a:extLst>
          </p:cNvPr>
          <p:cNvSpPr/>
          <p:nvPr/>
        </p:nvSpPr>
        <p:spPr>
          <a:xfrm>
            <a:off x="763689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E34DDE3-F2A6-3E0B-84D0-F1E1A86E997D}"/>
              </a:ext>
            </a:extLst>
          </p:cNvPr>
          <p:cNvSpPr/>
          <p:nvPr/>
        </p:nvSpPr>
        <p:spPr>
          <a:xfrm>
            <a:off x="835697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F592E9-FBDB-30FB-30DA-20D50BF19EC9}"/>
              </a:ext>
            </a:extLst>
          </p:cNvPr>
          <p:cNvSpPr/>
          <p:nvPr/>
        </p:nvSpPr>
        <p:spPr>
          <a:xfrm>
            <a:off x="619673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EF6FA-E904-7619-F854-FC1407A45C7A}"/>
              </a:ext>
            </a:extLst>
          </p:cNvPr>
          <p:cNvSpPr txBox="1"/>
          <p:nvPr/>
        </p:nvSpPr>
        <p:spPr>
          <a:xfrm>
            <a:off x="6053301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Core-0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CFC2B-DD3F-D0B1-C736-397D72748732}"/>
              </a:ext>
            </a:extLst>
          </p:cNvPr>
          <p:cNvSpPr txBox="1"/>
          <p:nvPr/>
        </p:nvSpPr>
        <p:spPr>
          <a:xfrm>
            <a:off x="677045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Core-1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54DD7-F0A2-617A-8A00-1A5973072538}"/>
              </a:ext>
            </a:extLst>
          </p:cNvPr>
          <p:cNvSpPr txBox="1"/>
          <p:nvPr/>
        </p:nvSpPr>
        <p:spPr>
          <a:xfrm>
            <a:off x="749053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Core-2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71A48D-3F79-FDD3-1972-09933164AFEC}"/>
              </a:ext>
            </a:extLst>
          </p:cNvPr>
          <p:cNvSpPr txBox="1"/>
          <p:nvPr/>
        </p:nvSpPr>
        <p:spPr>
          <a:xfrm>
            <a:off x="821061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Core-3</a:t>
            </a:r>
            <a:endParaRPr kumimoji="1" lang="zh-CN" altLang="en-US" sz="12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6ECAA9-76C5-3336-666B-8C06EF357415}"/>
              </a:ext>
            </a:extLst>
          </p:cNvPr>
          <p:cNvSpPr/>
          <p:nvPr/>
        </p:nvSpPr>
        <p:spPr>
          <a:xfrm>
            <a:off x="619673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BC71BF8-43B2-1729-7A4E-95B7D189B2D0}"/>
              </a:ext>
            </a:extLst>
          </p:cNvPr>
          <p:cNvSpPr/>
          <p:nvPr/>
        </p:nvSpPr>
        <p:spPr>
          <a:xfrm>
            <a:off x="691681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652770B-93C2-8F45-67E0-62CD3CE3D173}"/>
              </a:ext>
            </a:extLst>
          </p:cNvPr>
          <p:cNvSpPr/>
          <p:nvPr/>
        </p:nvSpPr>
        <p:spPr>
          <a:xfrm>
            <a:off x="691681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682CB77-464A-A80B-412E-5517D8560D2C}"/>
              </a:ext>
            </a:extLst>
          </p:cNvPr>
          <p:cNvSpPr/>
          <p:nvPr/>
        </p:nvSpPr>
        <p:spPr>
          <a:xfrm>
            <a:off x="6916810" y="169343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A13032-E846-94DF-6160-49F78648BBB3}"/>
              </a:ext>
            </a:extLst>
          </p:cNvPr>
          <p:cNvSpPr txBox="1"/>
          <p:nvPr/>
        </p:nvSpPr>
        <p:spPr>
          <a:xfrm>
            <a:off x="6156177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4A601-0F1A-36FC-7423-3BDC80483F13}"/>
              </a:ext>
            </a:extLst>
          </p:cNvPr>
          <p:cNvSpPr txBox="1"/>
          <p:nvPr/>
        </p:nvSpPr>
        <p:spPr>
          <a:xfrm>
            <a:off x="6156177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C8C81-5C1B-CA84-B826-7AE21BFBAE73}"/>
              </a:ext>
            </a:extLst>
          </p:cNvPr>
          <p:cNvSpPr txBox="1"/>
          <p:nvPr/>
        </p:nvSpPr>
        <p:spPr>
          <a:xfrm>
            <a:off x="6876256" y="207909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C1C96-868B-E4D2-1D50-9F033B329A3B}"/>
              </a:ext>
            </a:extLst>
          </p:cNvPr>
          <p:cNvSpPr txBox="1"/>
          <p:nvPr/>
        </p:nvSpPr>
        <p:spPr>
          <a:xfrm>
            <a:off x="6876256" y="242813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12C0E8-A528-5F95-E665-16770C440C50}"/>
              </a:ext>
            </a:extLst>
          </p:cNvPr>
          <p:cNvSpPr txBox="1"/>
          <p:nvPr/>
        </p:nvSpPr>
        <p:spPr>
          <a:xfrm>
            <a:off x="6876256" y="17053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7C3CCE-7A28-9F89-5C54-4AEA62DC0063}"/>
              </a:ext>
            </a:extLst>
          </p:cNvPr>
          <p:cNvSpPr/>
          <p:nvPr/>
        </p:nvSpPr>
        <p:spPr>
          <a:xfrm>
            <a:off x="7636888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D300A0D-64D5-BB2C-F53B-BCA2DD58C561}"/>
              </a:ext>
            </a:extLst>
          </p:cNvPr>
          <p:cNvSpPr/>
          <p:nvPr/>
        </p:nvSpPr>
        <p:spPr>
          <a:xfrm>
            <a:off x="7636888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99FDC-8F27-767F-A8E2-69BE7F15708B}"/>
              </a:ext>
            </a:extLst>
          </p:cNvPr>
          <p:cNvSpPr txBox="1"/>
          <p:nvPr/>
        </p:nvSpPr>
        <p:spPr>
          <a:xfrm>
            <a:off x="7596335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29D23F-4FA1-7C9E-CCF9-7A3CED04009D}"/>
              </a:ext>
            </a:extLst>
          </p:cNvPr>
          <p:cNvSpPr txBox="1"/>
          <p:nvPr/>
        </p:nvSpPr>
        <p:spPr>
          <a:xfrm>
            <a:off x="7596335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3EE09F3-F8CF-9003-BD12-21C1DB974A14}"/>
              </a:ext>
            </a:extLst>
          </p:cNvPr>
          <p:cNvSpPr/>
          <p:nvPr/>
        </p:nvSpPr>
        <p:spPr>
          <a:xfrm>
            <a:off x="8362526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60856E-8D09-5392-04FD-EF29597393A2}"/>
              </a:ext>
            </a:extLst>
          </p:cNvPr>
          <p:cNvSpPr/>
          <p:nvPr/>
        </p:nvSpPr>
        <p:spPr>
          <a:xfrm>
            <a:off x="8362526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2E557E-1C0D-17B0-451A-C0B28192E1B6}"/>
              </a:ext>
            </a:extLst>
          </p:cNvPr>
          <p:cNvSpPr txBox="1"/>
          <p:nvPr/>
        </p:nvSpPr>
        <p:spPr>
          <a:xfrm>
            <a:off x="8321973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29D451-D676-1125-E6E8-7A29332BD3AD}"/>
              </a:ext>
            </a:extLst>
          </p:cNvPr>
          <p:cNvSpPr txBox="1"/>
          <p:nvPr/>
        </p:nvSpPr>
        <p:spPr>
          <a:xfrm>
            <a:off x="8321973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22378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回顾：应用程序与进程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571184" cy="4152633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通常一个应用程序对应一个进程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中输入可执行文件的名称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创建新进程，可执行文件在新进程中执行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在图形界面双击应用图标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多进程程序：应用程序亦可自行创建新进程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创建新进程，在新进程中运行其他应用程序或与自己一样的程序</a:t>
            </a:r>
            <a:endParaRPr kumimoji="1" lang="zh-CN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11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DCD65-2359-7BF4-AC1E-C7C57105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回顾：进程的状态数据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96B8-F011-7F2F-5344-F9685FB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操作系统提供进程的抽象用于管理应用程序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进程标识号（</a:t>
            </a:r>
            <a:r>
              <a:rPr kumimoji="1" lang="en-US" altLang="zh-CN" dirty="0"/>
              <a:t>Process ID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PID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</a:t>
            </a:r>
            <a:endParaRPr kumimoji="1" lang="en-US" altLang="zh-CN" dirty="0"/>
          </a:p>
          <a:p>
            <a:pPr lvl="2"/>
            <a:r>
              <a:rPr kumimoji="1" lang="zh-CN" altLang="en-US" b="1" dirty="0"/>
              <a:t>处理器上下文（</a:t>
            </a:r>
            <a:r>
              <a:rPr kumimoji="1" lang="en-US" altLang="zh-CN" b="1" dirty="0"/>
              <a:t>CPU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打开的文件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52B72-3F01-71CC-907C-765422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9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具体包括：</a:t>
            </a:r>
            <a:endParaRPr kumimoji="1" lang="en-US" altLang="zh-CN" sz="1600" dirty="0"/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</a:rPr>
              <a:t>PC</a:t>
            </a:r>
            <a:r>
              <a:rPr kumimoji="1" lang="zh-CN" altLang="en-US" b="1" dirty="0">
                <a:solidFill>
                  <a:srgbClr val="C00000"/>
                </a:solidFill>
              </a:rPr>
              <a:t>寄存器值，栈寄存器值，通用寄存器值，状态寄存器值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进程的表示：</a:t>
            </a:r>
            <a:r>
              <a:rPr lang="en-US" altLang="zh-CN" dirty="0"/>
              <a:t>PCB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92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进程：运行中的程序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进程是计算机程序运行时的抽象</a:t>
            </a:r>
            <a:endParaRPr kumimoji="1" lang="en-US" altLang="zh-CN"/>
          </a:p>
          <a:p>
            <a:pPr lvl="1"/>
            <a:r>
              <a:rPr kumimoji="1" lang="zh-CN" altLang="en-US" sz="2000"/>
              <a:t>静态部分：程序运行需要的代码和数据</a:t>
            </a:r>
            <a:endParaRPr kumimoji="1" lang="en-US" altLang="zh-CN" sz="2000"/>
          </a:p>
          <a:p>
            <a:pPr lvl="1"/>
            <a:r>
              <a:rPr kumimoji="1" lang="zh-CN" altLang="en-US"/>
              <a:t>动态部分：程序运行期间的</a:t>
            </a:r>
            <a:r>
              <a:rPr kumimoji="1" lang="zh-CN" altLang="en-US">
                <a:solidFill>
                  <a:srgbClr val="C00000"/>
                </a:solidFill>
              </a:rPr>
              <a:t>状态</a:t>
            </a:r>
            <a:r>
              <a:rPr kumimoji="1" lang="zh-CN" altLang="en-US"/>
              <a:t>（程序计数器、堆、栈</a:t>
            </a:r>
            <a:r>
              <a:rPr kumimoji="1" lang="en-US" altLang="zh-CN"/>
              <a:t>……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进程具有独立的虚拟地址空间</a:t>
            </a:r>
            <a:endParaRPr kumimoji="1" lang="en-US" altLang="zh-CN"/>
          </a:p>
          <a:p>
            <a:pPr lvl="1"/>
            <a:r>
              <a:rPr kumimoji="1" lang="zh-CN" altLang="en-US"/>
              <a:t>每个进程都具有“独占全部内存”的假象</a:t>
            </a:r>
            <a:endParaRPr kumimoji="1" lang="en-US" altLang="zh-CN"/>
          </a:p>
          <a:p>
            <a:pPr lvl="1"/>
            <a:r>
              <a:rPr kumimoji="1" lang="zh-CN" altLang="en-US"/>
              <a:t>内核中同样包含内核栈和内核代码、数据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341" y="2713483"/>
            <a:ext cx="1694742" cy="297084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89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50B85-4EF8-4243-9A3B-B3C6E6F2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如何表示进程：进程控制块（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2001E-3A64-F94C-BFAA-337505FE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每个进程都对应一个</a:t>
            </a:r>
            <a:r>
              <a:rPr kumimoji="1" lang="zh-CN" altLang="en-US" dirty="0">
                <a:solidFill>
                  <a:schemeClr val="accent1"/>
                </a:solidFill>
              </a:rPr>
              <a:t>元数据</a:t>
            </a:r>
            <a:r>
              <a:rPr kumimoji="1" lang="zh-CN" altLang="en-US" dirty="0"/>
              <a:t>，称为“进程控制块”</a:t>
            </a:r>
            <a:r>
              <a:rPr kumimoji="1" lang="en-US" altLang="zh-CN" dirty="0"/>
              <a:t>PCB</a:t>
            </a:r>
          </a:p>
          <a:p>
            <a:pPr lvl="1"/>
            <a:r>
              <a:rPr kumimoji="1" lang="zh-CN" altLang="en-US" dirty="0"/>
              <a:t>进程控制块存储在内核态（</a:t>
            </a:r>
            <a:r>
              <a:rPr kumimoji="1" lang="zh-CN" altLang="en-US" dirty="0">
                <a:solidFill>
                  <a:srgbClr val="C00000"/>
                </a:solidFill>
              </a:rPr>
              <a:t>为什么？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想一想：进程控制块里至少应该保存哪些信息？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独立的处理器上下文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7B495-2665-4640-B495-6909A1D8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7F4379-BF0A-7923-4304-7B4B4227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855770"/>
            <a:ext cx="4246240" cy="13452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97B8F0-6080-757D-EF42-968A01E0FE66}"/>
              </a:ext>
            </a:extLst>
          </p:cNvPr>
          <p:cNvSpPr txBox="1"/>
          <p:nvPr/>
        </p:nvSpPr>
        <p:spPr>
          <a:xfrm>
            <a:off x="5642534" y="5060316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PCB</a:t>
            </a:r>
            <a:r>
              <a:rPr kumimoji="1" lang="zh-CN" altLang="en-US" sz="1400" b="1" dirty="0"/>
              <a:t>结构（第一版）</a:t>
            </a:r>
          </a:p>
        </p:txBody>
      </p:sp>
    </p:spTree>
    <p:extLst>
      <p:ext uri="{BB962C8B-B14F-4D97-AF65-F5344CB8AC3E}">
        <p14:creationId xmlns:p14="http://schemas.microsoft.com/office/powerpoint/2010/main" val="190367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DD97-F5AD-C14C-A6E8-3ED46F92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内核栈与用户栈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539B3-3392-9F48-983D-14A2AB5E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应用为什么需要“又一个栈”（内核栈）？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进程在内核中依然需要执行代码，有读写临时数据的需求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进程在用户态和内核态的数据应该相互隔离，增强安全性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AArch64</a:t>
            </a:r>
            <a:r>
              <a:rPr kumimoji="1" lang="zh-CN" altLang="en-US" dirty="0"/>
              <a:t>实现：两个栈指针寄存器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SP_EL1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SP_EL0</a:t>
            </a:r>
          </a:p>
          <a:p>
            <a:pPr lvl="1"/>
            <a:r>
              <a:rPr kumimoji="1" lang="zh-CN" altLang="en-US" dirty="0"/>
              <a:t>当进程进入内核后，自动完成栈寄存器切换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x86</a:t>
            </a:r>
            <a:r>
              <a:rPr kumimoji="1" lang="zh-CN" altLang="en-US" dirty="0"/>
              <a:t>只有一个栈寄存器，需要保存恢复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02850-4830-144D-8A12-7D990224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A3D08-9B1F-CC4E-8F4E-1BED00AB4592}"/>
              </a:ext>
            </a:extLst>
          </p:cNvPr>
          <p:cNvSpPr/>
          <p:nvPr/>
        </p:nvSpPr>
        <p:spPr>
          <a:xfrm>
            <a:off x="6917200" y="2925668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用态</a:t>
            </a:r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2EC8A5DA-6F8E-A645-B29F-8505952AD460}"/>
              </a:ext>
            </a:extLst>
          </p:cNvPr>
          <p:cNvSpPr/>
          <p:nvPr/>
        </p:nvSpPr>
        <p:spPr>
          <a:xfrm>
            <a:off x="7683122" y="3139847"/>
            <a:ext cx="914400" cy="1877893"/>
          </a:xfrm>
          <a:prstGeom prst="arc">
            <a:avLst>
              <a:gd name="adj1" fmla="val 16176727"/>
              <a:gd name="adj2" fmla="val 5380434"/>
            </a:avLst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103BD31-9700-C94D-865E-4F911A50387C}"/>
              </a:ext>
            </a:extLst>
          </p:cNvPr>
          <p:cNvCxnSpPr>
            <a:cxnSpLocks/>
          </p:cNvCxnSpPr>
          <p:nvPr/>
        </p:nvCxnSpPr>
        <p:spPr>
          <a:xfrm>
            <a:off x="6700196" y="4209834"/>
            <a:ext cx="172819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01B5420-8106-2D47-89B0-0FCD33322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588" y="4051774"/>
            <a:ext cx="157868" cy="15806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66E3D8E-22A5-1A44-8D70-0DDFFA90B243}"/>
              </a:ext>
            </a:extLst>
          </p:cNvPr>
          <p:cNvSpPr txBox="1"/>
          <p:nvPr/>
        </p:nvSpPr>
        <p:spPr>
          <a:xfrm>
            <a:off x="6039023" y="3253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0D580A-DAAE-D54D-BEBA-2975AFCD952E}"/>
              </a:ext>
            </a:extLst>
          </p:cNvPr>
          <p:cNvSpPr txBox="1"/>
          <p:nvPr/>
        </p:nvSpPr>
        <p:spPr>
          <a:xfrm>
            <a:off x="6039023" y="47260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0B4B6A-5EF9-D84D-B057-0DF36A45AAE4}"/>
              </a:ext>
            </a:extLst>
          </p:cNvPr>
          <p:cNvSpPr/>
          <p:nvPr/>
        </p:nvSpPr>
        <p:spPr>
          <a:xfrm>
            <a:off x="6916186" y="3747773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0x456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F79DE1-BCDE-A248-8F3B-9EF07ED196E6}"/>
              </a:ext>
            </a:extLst>
          </p:cNvPr>
          <p:cNvSpPr/>
          <p:nvPr/>
        </p:nvSpPr>
        <p:spPr>
          <a:xfrm>
            <a:off x="6916186" y="3475717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0x7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FE2513-1C07-0646-B474-B92D8635520E}"/>
              </a:ext>
            </a:extLst>
          </p:cNvPr>
          <p:cNvSpPr/>
          <p:nvPr/>
        </p:nvSpPr>
        <p:spPr>
          <a:xfrm>
            <a:off x="6916186" y="320457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230052-6D81-3649-AEAC-F57F7A42AFC7}"/>
              </a:ext>
            </a:extLst>
          </p:cNvPr>
          <p:cNvSpPr/>
          <p:nvPr/>
        </p:nvSpPr>
        <p:spPr>
          <a:xfrm>
            <a:off x="6916186" y="2925668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0x22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EDD24F-A6B4-0B4E-9236-E07D1B79A3F8}"/>
              </a:ext>
            </a:extLst>
          </p:cNvPr>
          <p:cNvSpPr/>
          <p:nvPr/>
        </p:nvSpPr>
        <p:spPr>
          <a:xfrm>
            <a:off x="6917200" y="4395841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3A63E5-C575-8745-B0D5-20E2B3F2875B}"/>
              </a:ext>
            </a:extLst>
          </p:cNvPr>
          <p:cNvSpPr/>
          <p:nvPr/>
        </p:nvSpPr>
        <p:spPr>
          <a:xfrm>
            <a:off x="6916186" y="521794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411076-5470-7843-A828-45009747A533}"/>
              </a:ext>
            </a:extLst>
          </p:cNvPr>
          <p:cNvSpPr/>
          <p:nvPr/>
        </p:nvSpPr>
        <p:spPr>
          <a:xfrm>
            <a:off x="6916186" y="4945890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0x589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1B3946-FD65-4F40-9FFB-8698AADF6F8E}"/>
              </a:ext>
            </a:extLst>
          </p:cNvPr>
          <p:cNvSpPr/>
          <p:nvPr/>
        </p:nvSpPr>
        <p:spPr>
          <a:xfrm>
            <a:off x="6916186" y="4674744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0x890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1D857-BA72-8842-BFA3-F3A528FD539E}"/>
              </a:ext>
            </a:extLst>
          </p:cNvPr>
          <p:cNvSpPr/>
          <p:nvPr/>
        </p:nvSpPr>
        <p:spPr>
          <a:xfrm>
            <a:off x="6916186" y="439584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0x1200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886FB2B-12E7-C146-8212-ABEC34A04E69}"/>
              </a:ext>
            </a:extLst>
          </p:cNvPr>
          <p:cNvSpPr txBox="1"/>
          <p:nvPr/>
        </p:nvSpPr>
        <p:spPr>
          <a:xfrm>
            <a:off x="7097468" y="533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1EAFC6-4966-0A45-A176-A5A194AF6570}"/>
              </a:ext>
            </a:extLst>
          </p:cNvPr>
          <p:cNvSpPr/>
          <p:nvPr/>
        </p:nvSpPr>
        <p:spPr>
          <a:xfrm>
            <a:off x="6916186" y="521612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D148D7AD-D5B4-EA46-99B2-E7D880574A9A}"/>
              </a:ext>
            </a:extLst>
          </p:cNvPr>
          <p:cNvCxnSpPr/>
          <p:nvPr/>
        </p:nvCxnSpPr>
        <p:spPr>
          <a:xfrm>
            <a:off x="6663178" y="4009628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5C2F032-035A-D94D-ADD0-1263C8035C8E}"/>
              </a:ext>
            </a:extLst>
          </p:cNvPr>
          <p:cNvSpPr txBox="1"/>
          <p:nvPr/>
        </p:nvSpPr>
        <p:spPr>
          <a:xfrm>
            <a:off x="6107168" y="386217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SP_EL1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9C6F0D6-6A57-E44C-B6B6-62D788A51D04}"/>
              </a:ext>
            </a:extLst>
          </p:cNvPr>
          <p:cNvCxnSpPr/>
          <p:nvPr/>
        </p:nvCxnSpPr>
        <p:spPr>
          <a:xfrm>
            <a:off x="6643124" y="5478417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0F22C-0A32-DC44-BB30-DAB664CCE31D}"/>
              </a:ext>
            </a:extLst>
          </p:cNvPr>
          <p:cNvSpPr txBox="1"/>
          <p:nvPr/>
        </p:nvSpPr>
        <p:spPr>
          <a:xfrm>
            <a:off x="6072586" y="5330961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SP_EL0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376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575E4-E948-3E40-ACAE-B982121F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简化模型：单一线程的进程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659F6-9F96-C446-9BE5-E611697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假设每个进程都只有一个线程</a:t>
            </a:r>
            <a:endParaRPr kumimoji="1" lang="en-US" altLang="zh-CN"/>
          </a:p>
          <a:p>
            <a:pPr lvl="1"/>
            <a:r>
              <a:rPr kumimoji="1" lang="zh-CN" altLang="en-US"/>
              <a:t>历史上确实如此！（如早期的</a:t>
            </a:r>
            <a:r>
              <a:rPr kumimoji="1" lang="en-US" altLang="zh-CN"/>
              <a:t>UNIX</a:t>
            </a:r>
            <a:r>
              <a:rPr kumimoji="1" lang="zh-CN" altLang="en-US"/>
              <a:t>操作系统）</a:t>
            </a:r>
            <a:endParaRPr kumimoji="1" lang="en-US" altLang="zh-CN"/>
          </a:p>
          <a:p>
            <a:pPr marL="457200" lvl="1" indent="0">
              <a:buNone/>
            </a:pPr>
            <a:endParaRPr kumimoji="1" lang="en-US" altLang="zh-CN"/>
          </a:p>
          <a:p>
            <a:r>
              <a:rPr kumimoji="1" lang="zh-CN" altLang="en-US"/>
              <a:t>好处：便于理解操作系统中的各种概念</a:t>
            </a:r>
            <a:endParaRPr kumimoji="1" lang="en-US" altLang="zh-CN"/>
          </a:p>
          <a:p>
            <a:pPr lvl="1"/>
            <a:r>
              <a:rPr kumimoji="1" lang="zh-CN" altLang="en-US"/>
              <a:t>多线程使操作系统的管理更加复杂</a:t>
            </a:r>
            <a:endParaRPr kumimoji="1" lang="en-US" altLang="zh-CN"/>
          </a:p>
          <a:p>
            <a:pPr lvl="1"/>
            <a:r>
              <a:rPr kumimoji="1" lang="zh-CN" altLang="en-US"/>
              <a:t>在单一线程的进程中：线程管理／调度 ≈ 进程管理／调度</a:t>
            </a:r>
            <a:endParaRPr kumimoji="1" lang="en-US" altLang="zh-CN"/>
          </a:p>
          <a:p>
            <a:pPr lvl="1"/>
            <a:r>
              <a:rPr kumimoji="1" lang="zh-CN" altLang="en-US"/>
              <a:t>线程的内容将在后面介绍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D47F0-6A51-564E-BF26-A63DCD3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5D819-4063-0F43-BFF3-53E95EA1C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8267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进程的创建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252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收到命令后，如何执行？ </a:t>
            </a:r>
            <a:r>
              <a:rPr kumimoji="1" lang="en-US" altLang="zh-CN" dirty="0"/>
              <a:t>-&gt; </a:t>
            </a:r>
            <a:r>
              <a:rPr kumimoji="1" lang="zh-CN" altLang="en-US" dirty="0"/>
              <a:t>创建一个进程，委派给它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为什么不能让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进程自己执行？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1259632" y="2892726"/>
            <a:ext cx="6112571" cy="25853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27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9E667-67E7-55D5-26E8-AE9F2C7A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如何实现进程的创建？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FEE73-C299-898B-130A-03CC1E49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回顾：进程包含哪些内容？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用户视角：代码、数据、堆栈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内核视角：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、虚拟地址空间、上下文、内核栈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accent1"/>
                </a:solidFill>
              </a:rPr>
              <a:t>创建进程就是创建及初始化以上内容的过程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B0404-5BA4-94CB-85B8-743A1C2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552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C0B09-D1FC-C187-D70E-E3203E6E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337CD-CCAD-D3AA-61FF-87DCAA41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E78AA-C91F-073A-A328-36E9B2CDB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881" y="1297593"/>
            <a:ext cx="5472919" cy="43814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9320EB-24FF-BA26-D0CA-A297643D66D1}"/>
              </a:ext>
            </a:extLst>
          </p:cNvPr>
          <p:cNvSpPr txBox="1"/>
          <p:nvPr/>
        </p:nvSpPr>
        <p:spPr>
          <a:xfrm>
            <a:off x="730424" y="2292179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1.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相关内容初始化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1AF678-1FDC-3172-4D88-3E4FEA3E36FD}"/>
              </a:ext>
            </a:extLst>
          </p:cNvPr>
          <p:cNvSpPr txBox="1"/>
          <p:nvPr/>
        </p:nvSpPr>
        <p:spPr>
          <a:xfrm>
            <a:off x="1158762" y="3375195"/>
            <a:ext cx="1850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2.</a:t>
            </a:r>
            <a:r>
              <a:rPr kumimoji="1" lang="zh-CN" altLang="en-US" sz="1600" b="1" dirty="0"/>
              <a:t> 可执行文件加载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07763F-478D-6010-F38B-F4801488897B}"/>
              </a:ext>
            </a:extLst>
          </p:cNvPr>
          <p:cNvSpPr txBox="1"/>
          <p:nvPr/>
        </p:nvSpPr>
        <p:spPr>
          <a:xfrm>
            <a:off x="1345977" y="4333735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3.</a:t>
            </a:r>
            <a:r>
              <a:rPr kumimoji="1" lang="zh-CN" altLang="en-US" sz="1600" b="1" dirty="0"/>
              <a:t> 准备运行环境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BA09C2-5C14-6AF5-8FFB-F5ACECA2F994}"/>
              </a:ext>
            </a:extLst>
          </p:cNvPr>
          <p:cNvSpPr txBox="1"/>
          <p:nvPr/>
        </p:nvSpPr>
        <p:spPr>
          <a:xfrm>
            <a:off x="730424" y="5017740"/>
            <a:ext cx="2260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4.</a:t>
            </a:r>
            <a:r>
              <a:rPr kumimoji="1" lang="zh-CN" altLang="en-US" sz="1600" b="1" dirty="0"/>
              <a:t> 处理器上下文初始化</a:t>
            </a:r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3DC1BC1D-4DF7-9447-B0B9-3E3EFF429857}"/>
              </a:ext>
            </a:extLst>
          </p:cNvPr>
          <p:cNvSpPr/>
          <p:nvPr/>
        </p:nvSpPr>
        <p:spPr>
          <a:xfrm>
            <a:off x="3106688" y="1921396"/>
            <a:ext cx="107193" cy="1080120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左中括号 10">
            <a:extLst>
              <a:ext uri="{FF2B5EF4-FFF2-40B4-BE49-F238E27FC236}">
                <a16:creationId xmlns:a16="http://schemas.microsoft.com/office/drawing/2014/main" id="{73B28CE2-9597-340F-8A56-C26DEECF2E91}"/>
              </a:ext>
            </a:extLst>
          </p:cNvPr>
          <p:cNvSpPr/>
          <p:nvPr/>
        </p:nvSpPr>
        <p:spPr>
          <a:xfrm>
            <a:off x="3060534" y="3295340"/>
            <a:ext cx="107193" cy="498264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C8BADDE0-6C47-75AE-B6D7-819799226261}"/>
              </a:ext>
            </a:extLst>
          </p:cNvPr>
          <p:cNvSpPr/>
          <p:nvPr/>
        </p:nvSpPr>
        <p:spPr>
          <a:xfrm>
            <a:off x="3065923" y="4087427"/>
            <a:ext cx="107193" cy="754139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左中括号 12">
            <a:extLst>
              <a:ext uri="{FF2B5EF4-FFF2-40B4-BE49-F238E27FC236}">
                <a16:creationId xmlns:a16="http://schemas.microsoft.com/office/drawing/2014/main" id="{375B2E5F-9F8B-9822-3AC5-5B2C63C48934}"/>
              </a:ext>
            </a:extLst>
          </p:cNvPr>
          <p:cNvSpPr/>
          <p:nvPr/>
        </p:nvSpPr>
        <p:spPr>
          <a:xfrm>
            <a:off x="3060534" y="5017741"/>
            <a:ext cx="107193" cy="338553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093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进程创建（一）：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相关初始化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PCB</a:t>
            </a:r>
            <a:r>
              <a:rPr kumimoji="1" lang="zh-CN" altLang="en-US" sz="2000" dirty="0"/>
              <a:t>及其包含的内容都需要创建及初始化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分配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本身的数据结构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初始化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：虚拟内存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创建及初始化</a:t>
            </a:r>
            <a:r>
              <a:rPr kumimoji="1" lang="en-US" altLang="zh-CN" sz="1800" i="1" dirty="0" err="1"/>
              <a:t>vmspace</a:t>
            </a:r>
            <a:r>
              <a:rPr kumimoji="1" lang="zh-CN" altLang="en-US" sz="1800" dirty="0"/>
              <a:t>数据结构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分配一个物理页，作为顶级页表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内核栈：分配物理页，作为进程内核栈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【</a:t>
            </a:r>
            <a:r>
              <a:rPr kumimoji="1" lang="zh-CN" altLang="en-US" sz="1800" dirty="0"/>
              <a:t>思考</a:t>
            </a:r>
            <a:r>
              <a:rPr kumimoji="1" lang="en-US" altLang="zh-CN" sz="1800" dirty="0"/>
              <a:t>】</a:t>
            </a:r>
            <a:r>
              <a:rPr kumimoji="1" lang="zh-CN" altLang="en-US" sz="1800" dirty="0"/>
              <a:t>处理器上下文初始化？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93B170-A137-5114-9A77-BC3E98B1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676" y="4175720"/>
            <a:ext cx="4153603" cy="13957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20DB35-DB4D-5DB5-BA2F-EE4317E89B16}"/>
              </a:ext>
            </a:extLst>
          </p:cNvPr>
          <p:cNvSpPr/>
          <p:nvPr/>
        </p:nvSpPr>
        <p:spPr>
          <a:xfrm>
            <a:off x="678591" y="471055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6A77B-CBBC-AC82-F889-C30BEB6B4FB4}"/>
              </a:ext>
            </a:extLst>
          </p:cNvPr>
          <p:cNvSpPr txBox="1"/>
          <p:nvPr/>
        </p:nvSpPr>
        <p:spPr>
          <a:xfrm>
            <a:off x="749069" y="476223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8AFD9A-ABF5-E9B7-E555-C50F4A9B31BA}"/>
              </a:ext>
            </a:extLst>
          </p:cNvPr>
          <p:cNvSpPr/>
          <p:nvPr/>
        </p:nvSpPr>
        <p:spPr>
          <a:xfrm>
            <a:off x="2017010" y="429880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F322A2-491D-2768-F3E6-77C08E8AF6E2}"/>
              </a:ext>
            </a:extLst>
          </p:cNvPr>
          <p:cNvSpPr txBox="1"/>
          <p:nvPr/>
        </p:nvSpPr>
        <p:spPr>
          <a:xfrm>
            <a:off x="1972873" y="429313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7D477F-E95F-7B54-F308-AAE44C07670B}"/>
              </a:ext>
            </a:extLst>
          </p:cNvPr>
          <p:cNvSpPr/>
          <p:nvPr/>
        </p:nvSpPr>
        <p:spPr>
          <a:xfrm>
            <a:off x="3365580" y="4305009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B5292A8-390A-EE03-FD84-9C01C8723F9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829947" y="4458898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E7AC3DD-770A-1379-4085-7F2FE600FBC7}"/>
              </a:ext>
            </a:extLst>
          </p:cNvPr>
          <p:cNvSpPr txBox="1"/>
          <p:nvPr/>
        </p:nvSpPr>
        <p:spPr>
          <a:xfrm>
            <a:off x="3602484" y="432039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268782-DEF8-B04B-0810-D382071DD74B}"/>
              </a:ext>
            </a:extLst>
          </p:cNvPr>
          <p:cNvSpPr/>
          <p:nvPr/>
        </p:nvSpPr>
        <p:spPr>
          <a:xfrm>
            <a:off x="2004721" y="478680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7497C5-1C96-3EC5-0522-95DF3B762E8C}"/>
              </a:ext>
            </a:extLst>
          </p:cNvPr>
          <p:cNvSpPr txBox="1"/>
          <p:nvPr/>
        </p:nvSpPr>
        <p:spPr>
          <a:xfrm>
            <a:off x="2117144" y="479275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466E8A-57D0-533D-6B8D-11B59BA5E5A3}"/>
              </a:ext>
            </a:extLst>
          </p:cNvPr>
          <p:cNvSpPr/>
          <p:nvPr/>
        </p:nvSpPr>
        <p:spPr>
          <a:xfrm>
            <a:off x="3371079" y="4796654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C0F6858-6795-3B52-B6FB-5AF3B26B340F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2817658" y="4946903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A77B9BC-22F1-F87C-858B-5E839F054FAC}"/>
              </a:ext>
            </a:extLst>
          </p:cNvPr>
          <p:cNvSpPr txBox="1"/>
          <p:nvPr/>
        </p:nvSpPr>
        <p:spPr>
          <a:xfrm>
            <a:off x="3602484" y="48128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AA200-E934-4122-6AA1-FB57DD081BB6}"/>
              </a:ext>
            </a:extLst>
          </p:cNvPr>
          <p:cNvSpPr/>
          <p:nvPr/>
        </p:nvSpPr>
        <p:spPr>
          <a:xfrm>
            <a:off x="2000827" y="527507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63D8EE-5366-3998-70D7-B9250A296309}"/>
              </a:ext>
            </a:extLst>
          </p:cNvPr>
          <p:cNvSpPr txBox="1"/>
          <p:nvPr/>
        </p:nvSpPr>
        <p:spPr>
          <a:xfrm>
            <a:off x="2197081" y="529696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640ED7-FFB4-FAAE-DE33-379563089D1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491528" y="445889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5503BB8-0BA2-6980-E01B-2B8551C3318A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>
            <a:off x="1491528" y="494690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B3C44A2-7BD9-AE1F-4E89-7F6336DA317B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1491528" y="494690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6035517-0FF6-5748-1B50-F4121684C3B7}"/>
              </a:ext>
            </a:extLst>
          </p:cNvPr>
          <p:cNvCxnSpPr>
            <a:cxnSpLocks/>
          </p:cNvCxnSpPr>
          <p:nvPr/>
        </p:nvCxnSpPr>
        <p:spPr>
          <a:xfrm flipV="1">
            <a:off x="2817657" y="5444753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FD877F8-2684-A382-9352-19CCDEC16FF7}"/>
              </a:ext>
            </a:extLst>
          </p:cNvPr>
          <p:cNvSpPr txBox="1"/>
          <p:nvPr/>
        </p:nvSpPr>
        <p:spPr>
          <a:xfrm>
            <a:off x="3298985" y="52750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460A7A-BA07-1A49-8CB9-A23E85E1F51F}"/>
              </a:ext>
            </a:extLst>
          </p:cNvPr>
          <p:cNvSpPr txBox="1"/>
          <p:nvPr/>
        </p:nvSpPr>
        <p:spPr>
          <a:xfrm>
            <a:off x="4579687" y="3709392"/>
            <a:ext cx="41775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上下文在之后（应用运行前）才会初始化</a:t>
            </a:r>
          </a:p>
        </p:txBody>
      </p:sp>
    </p:spTree>
    <p:extLst>
      <p:ext uri="{BB962C8B-B14F-4D97-AF65-F5344CB8AC3E}">
        <p14:creationId xmlns:p14="http://schemas.microsoft.com/office/powerpoint/2010/main" val="395722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进程创建（二）：可执行文件加载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可执行文件通常有固定的存储格式</a:t>
            </a:r>
            <a:endParaRPr kumimoji="1" lang="en-US" altLang="zh-CN" sz="2000" dirty="0"/>
          </a:p>
          <a:p>
            <a:r>
              <a:rPr kumimoji="1" lang="zh-CN" altLang="en-US" sz="2000" dirty="0"/>
              <a:t>以</a:t>
            </a:r>
            <a:r>
              <a:rPr kumimoji="1" lang="en-US" altLang="zh-CN" sz="2000" dirty="0"/>
              <a:t>ELF</a:t>
            </a:r>
            <a:r>
              <a:rPr kumimoji="1" lang="zh-CN" altLang="en-US" sz="1600" b="0" dirty="0"/>
              <a:t>（</a:t>
            </a:r>
            <a:r>
              <a:rPr kumimoji="1" lang="en-US" altLang="zh-CN" sz="1600" b="0" dirty="0"/>
              <a:t>Executable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and Linkable Format</a:t>
            </a:r>
            <a:r>
              <a:rPr kumimoji="1" lang="zh-CN" altLang="en-US" sz="1600" b="0" dirty="0"/>
              <a:t>）</a:t>
            </a:r>
            <a:r>
              <a:rPr kumimoji="1" lang="zh-CN" altLang="en-US" sz="2000" dirty="0"/>
              <a:t>为例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从程序头部表可以获取需要的</a:t>
            </a:r>
            <a:r>
              <a:rPr kumimoji="1" lang="zh-CN" altLang="en-US" sz="1600" b="1" dirty="0"/>
              <a:t>段</a:t>
            </a:r>
            <a:r>
              <a:rPr kumimoji="1" lang="zh-CN" altLang="en-US" sz="1600" dirty="0"/>
              <a:t>所在位置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通常只有代码段和数据段需要被加载（</a:t>
            </a:r>
            <a:r>
              <a:rPr kumimoji="1" lang="en-US" altLang="zh-CN" sz="1600" dirty="0"/>
              <a:t>loadable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加载即从</a:t>
            </a:r>
            <a:r>
              <a:rPr kumimoji="1" lang="en-US" altLang="zh-CN" sz="1600" dirty="0"/>
              <a:t>ELF</a:t>
            </a:r>
            <a:r>
              <a:rPr kumimoji="1" lang="zh-CN" altLang="en-US" sz="1600" dirty="0"/>
              <a:t>文件中映射到虚拟地址空间的过程</a:t>
            </a:r>
            <a:endParaRPr kumimoji="1" lang="en-US" altLang="zh-CN" sz="1600" dirty="0"/>
          </a:p>
          <a:p>
            <a:pPr lvl="2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BB828A-7377-47E5-649C-A922EE8B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3498247"/>
            <a:ext cx="2143713" cy="221675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E811036-28B3-CA79-FDB7-88FBCBD8F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150719"/>
            <a:ext cx="3456384" cy="65547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1D0B5F8C-F8E6-0C6B-662D-FDAEEFCE96BD}"/>
              </a:ext>
            </a:extLst>
          </p:cNvPr>
          <p:cNvSpPr/>
          <p:nvPr/>
        </p:nvSpPr>
        <p:spPr>
          <a:xfrm>
            <a:off x="6804248" y="1478458"/>
            <a:ext cx="864096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A26A1E-3BB9-BFA5-B431-88769B0817CC}"/>
              </a:ext>
            </a:extLst>
          </p:cNvPr>
          <p:cNvSpPr/>
          <p:nvPr/>
        </p:nvSpPr>
        <p:spPr>
          <a:xfrm>
            <a:off x="1309254" y="4247485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D1B4B76-E277-4C86-9C78-1FFA214E6C8A}"/>
              </a:ext>
            </a:extLst>
          </p:cNvPr>
          <p:cNvSpPr txBox="1"/>
          <p:nvPr/>
        </p:nvSpPr>
        <p:spPr>
          <a:xfrm>
            <a:off x="1379732" y="429916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49DA84-E6DA-8350-1D65-0B1CBD94FD49}"/>
              </a:ext>
            </a:extLst>
          </p:cNvPr>
          <p:cNvSpPr/>
          <p:nvPr/>
        </p:nvSpPr>
        <p:spPr>
          <a:xfrm>
            <a:off x="2647673" y="3835735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DDF3B1-4534-6BFF-A455-132E8071D973}"/>
              </a:ext>
            </a:extLst>
          </p:cNvPr>
          <p:cNvSpPr txBox="1"/>
          <p:nvPr/>
        </p:nvSpPr>
        <p:spPr>
          <a:xfrm>
            <a:off x="2603536" y="3830065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326003-2C4A-FBFB-4068-7532F3B71D4D}"/>
              </a:ext>
            </a:extLst>
          </p:cNvPr>
          <p:cNvSpPr/>
          <p:nvPr/>
        </p:nvSpPr>
        <p:spPr>
          <a:xfrm>
            <a:off x="3996243" y="3841940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26CDDDF8-8390-728E-D9C5-12211D4E0854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3460610" y="3995829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483CDA1-58F4-9A1A-31E2-2C50AE6B13AB}"/>
              </a:ext>
            </a:extLst>
          </p:cNvPr>
          <p:cNvSpPr txBox="1"/>
          <p:nvPr/>
        </p:nvSpPr>
        <p:spPr>
          <a:xfrm>
            <a:off x="3802644" y="358170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26F2565-3700-4B00-5235-14DAD9797F37}"/>
              </a:ext>
            </a:extLst>
          </p:cNvPr>
          <p:cNvSpPr/>
          <p:nvPr/>
        </p:nvSpPr>
        <p:spPr>
          <a:xfrm>
            <a:off x="2635384" y="4323740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30FDC2F-B159-7CD1-D052-EB17113DDF78}"/>
              </a:ext>
            </a:extLst>
          </p:cNvPr>
          <p:cNvSpPr txBox="1"/>
          <p:nvPr/>
        </p:nvSpPr>
        <p:spPr>
          <a:xfrm>
            <a:off x="2747807" y="432968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FDC78A-94A7-1635-4EB2-13EFC4905DC2}"/>
              </a:ext>
            </a:extLst>
          </p:cNvPr>
          <p:cNvSpPr/>
          <p:nvPr/>
        </p:nvSpPr>
        <p:spPr>
          <a:xfrm>
            <a:off x="4001742" y="4333585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60FE6624-4FCC-91F2-EAF6-CC8E1100E85B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3448321" y="4483834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8B5B9D7-9DA4-7BAA-E5A8-B52B8160C7BB}"/>
              </a:ext>
            </a:extLst>
          </p:cNvPr>
          <p:cNvSpPr txBox="1"/>
          <p:nvPr/>
        </p:nvSpPr>
        <p:spPr>
          <a:xfrm>
            <a:off x="4233147" y="434975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1A4FBB7-C97D-3E86-28E6-846621E76DC7}"/>
              </a:ext>
            </a:extLst>
          </p:cNvPr>
          <p:cNvSpPr/>
          <p:nvPr/>
        </p:nvSpPr>
        <p:spPr>
          <a:xfrm>
            <a:off x="2631490" y="4812008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69DDD4-49EC-99AF-ABA7-2537662B807F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2122191" y="3995829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3F2F236A-8ABF-99D0-B951-7D220831C308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2122191" y="4483834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506F36D1-AA8C-F235-0A29-04C28439C4C3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>
            <a:off x="2122191" y="4483834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F5BC7382-72C4-6AE4-6FF5-0AA60B2AF51E}"/>
              </a:ext>
            </a:extLst>
          </p:cNvPr>
          <p:cNvCxnSpPr>
            <a:cxnSpLocks/>
          </p:cNvCxnSpPr>
          <p:nvPr/>
        </p:nvCxnSpPr>
        <p:spPr>
          <a:xfrm flipV="1">
            <a:off x="3448320" y="4981684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78CF2BA3-6839-CC98-135D-A2B32AEA880E}"/>
              </a:ext>
            </a:extLst>
          </p:cNvPr>
          <p:cNvSpPr txBox="1"/>
          <p:nvPr/>
        </p:nvSpPr>
        <p:spPr>
          <a:xfrm>
            <a:off x="3929648" y="48120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7980E4CD-5019-FC04-CBFB-E09CFA9528DA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4272583" y="3771723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664BA08-483E-28EC-2F91-CAF6E916C205}"/>
              </a:ext>
            </a:extLst>
          </p:cNvPr>
          <p:cNvSpPr txBox="1"/>
          <p:nvPr/>
        </p:nvSpPr>
        <p:spPr>
          <a:xfrm>
            <a:off x="4600467" y="35249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CD1FC0B-965C-965B-8981-690AB7A99000}"/>
              </a:ext>
            </a:extLst>
          </p:cNvPr>
          <p:cNvSpPr/>
          <p:nvPr/>
        </p:nvSpPr>
        <p:spPr>
          <a:xfrm>
            <a:off x="5125838" y="3635624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2AA58B5F-D57F-59DE-909A-C24A20895FF7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935330" y="3785102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7D9211D8-6107-8698-E704-28302BBDB08B}"/>
              </a:ext>
            </a:extLst>
          </p:cNvPr>
          <p:cNvSpPr/>
          <p:nvPr/>
        </p:nvSpPr>
        <p:spPr>
          <a:xfrm>
            <a:off x="5125837" y="3635624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860930C-F0D7-62EE-615F-DBB1FCDFF161}"/>
              </a:ext>
            </a:extLst>
          </p:cNvPr>
          <p:cNvSpPr txBox="1"/>
          <p:nvPr/>
        </p:nvSpPr>
        <p:spPr>
          <a:xfrm>
            <a:off x="5088965" y="38073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6F4E297-CF02-EA03-0CA8-4D62C8C9B0AD}"/>
              </a:ext>
            </a:extLst>
          </p:cNvPr>
          <p:cNvSpPr txBox="1"/>
          <p:nvPr/>
        </p:nvSpPr>
        <p:spPr>
          <a:xfrm>
            <a:off x="5085240" y="360311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6309DAB2-DBB4-C581-277D-E3FF89CE4332}"/>
              </a:ext>
            </a:extLst>
          </p:cNvPr>
          <p:cNvCxnSpPr>
            <a:cxnSpLocks/>
          </p:cNvCxnSpPr>
          <p:nvPr/>
        </p:nvCxnSpPr>
        <p:spPr>
          <a:xfrm>
            <a:off x="5534124" y="3635624"/>
            <a:ext cx="491369" cy="85805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741115CB-365A-92F4-7056-F9566C150E33}"/>
              </a:ext>
            </a:extLst>
          </p:cNvPr>
          <p:cNvCxnSpPr>
            <a:cxnSpLocks/>
          </p:cNvCxnSpPr>
          <p:nvPr/>
        </p:nvCxnSpPr>
        <p:spPr>
          <a:xfrm>
            <a:off x="5533050" y="3858705"/>
            <a:ext cx="492443" cy="10606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4DB0DEFB-FEFE-758A-C93B-9AC52353CCB2}"/>
              </a:ext>
            </a:extLst>
          </p:cNvPr>
          <p:cNvCxnSpPr>
            <a:cxnSpLocks/>
          </p:cNvCxnSpPr>
          <p:nvPr/>
        </p:nvCxnSpPr>
        <p:spPr>
          <a:xfrm flipV="1">
            <a:off x="5533049" y="3581706"/>
            <a:ext cx="488719" cy="2769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9120A8E3-5EED-F270-B591-B3BA35A1F1CD}"/>
              </a:ext>
            </a:extLst>
          </p:cNvPr>
          <p:cNvCxnSpPr>
            <a:cxnSpLocks/>
          </p:cNvCxnSpPr>
          <p:nvPr/>
        </p:nvCxnSpPr>
        <p:spPr>
          <a:xfrm>
            <a:off x="5545339" y="4055258"/>
            <a:ext cx="476429" cy="43842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5F68F4F6-E0CE-9F92-6FC2-AC1FA868194C}"/>
              </a:ext>
            </a:extLst>
          </p:cNvPr>
          <p:cNvSpPr txBox="1"/>
          <p:nvPr/>
        </p:nvSpPr>
        <p:spPr>
          <a:xfrm>
            <a:off x="2831010" y="481292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52119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进程创建（三）：准备运行环境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在返回用户态运行前，还需为进程准备运行所需的环境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分配用户栈（分配物理内存并映射到虚拟地址空间）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准备程序运行时的环境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回顾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函数：</a:t>
            </a:r>
            <a:r>
              <a:rPr kumimoji="1" lang="en-US" altLang="zh-CN" dirty="0"/>
              <a:t>int main(int </a:t>
            </a:r>
            <a:r>
              <a:rPr kumimoji="1" lang="en-US" altLang="zh-CN" dirty="0" err="1"/>
              <a:t>argc</a:t>
            </a:r>
            <a:r>
              <a:rPr kumimoji="1" lang="en-US" altLang="zh-CN" dirty="0"/>
              <a:t>, char* </a:t>
            </a:r>
            <a:r>
              <a:rPr kumimoji="1" lang="en-US" altLang="zh-CN" dirty="0" err="1"/>
              <a:t>argv</a:t>
            </a:r>
            <a:r>
              <a:rPr kumimoji="1" lang="en-US" altLang="zh-CN" dirty="0"/>
              <a:t>[], char *</a:t>
            </a:r>
            <a:r>
              <a:rPr kumimoji="1" lang="en-US" altLang="zh-CN" dirty="0" err="1"/>
              <a:t>envp</a:t>
            </a:r>
            <a:r>
              <a:rPr kumimoji="1" lang="en-US" altLang="zh-CN" dirty="0"/>
              <a:t>[])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07DF1-4395-7A66-8727-C17F016F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14" y="3808641"/>
            <a:ext cx="1818482" cy="5178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D0C30310-CA02-7BA9-EACE-633576ECA6FB}"/>
              </a:ext>
            </a:extLst>
          </p:cNvPr>
          <p:cNvSpPr/>
          <p:nvPr/>
        </p:nvSpPr>
        <p:spPr>
          <a:xfrm>
            <a:off x="344605" y="4364840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233292-8EAB-5EA3-0431-14F00070385B}"/>
              </a:ext>
            </a:extLst>
          </p:cNvPr>
          <p:cNvSpPr txBox="1"/>
          <p:nvPr/>
        </p:nvSpPr>
        <p:spPr>
          <a:xfrm>
            <a:off x="415083" y="441652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E6DE1C-44E8-96A4-34AC-0799FCE67C35}"/>
              </a:ext>
            </a:extLst>
          </p:cNvPr>
          <p:cNvSpPr/>
          <p:nvPr/>
        </p:nvSpPr>
        <p:spPr>
          <a:xfrm>
            <a:off x="1683024" y="3953090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47BBBE-F77F-5F73-008A-DEE84A313567}"/>
              </a:ext>
            </a:extLst>
          </p:cNvPr>
          <p:cNvSpPr txBox="1"/>
          <p:nvPr/>
        </p:nvSpPr>
        <p:spPr>
          <a:xfrm>
            <a:off x="1638887" y="394742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3B057E-EC44-100B-0549-AA4779C5A9D4}"/>
              </a:ext>
            </a:extLst>
          </p:cNvPr>
          <p:cNvSpPr/>
          <p:nvPr/>
        </p:nvSpPr>
        <p:spPr>
          <a:xfrm>
            <a:off x="3031594" y="3959295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627746EF-D8CE-1097-6ED5-B73385B980F7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95961" y="4113184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E7F8368-335A-BD53-02B1-9E1014F8BD62}"/>
              </a:ext>
            </a:extLst>
          </p:cNvPr>
          <p:cNvSpPr txBox="1"/>
          <p:nvPr/>
        </p:nvSpPr>
        <p:spPr>
          <a:xfrm>
            <a:off x="2837995" y="369906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EBBBA0-4D5B-5987-ABD2-9EB36A726D76}"/>
              </a:ext>
            </a:extLst>
          </p:cNvPr>
          <p:cNvSpPr/>
          <p:nvPr/>
        </p:nvSpPr>
        <p:spPr>
          <a:xfrm>
            <a:off x="1670735" y="4441095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0592064-D94A-4708-A9A7-3830BB060CD3}"/>
              </a:ext>
            </a:extLst>
          </p:cNvPr>
          <p:cNvSpPr txBox="1"/>
          <p:nvPr/>
        </p:nvSpPr>
        <p:spPr>
          <a:xfrm>
            <a:off x="1783158" y="444703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3007ADD-DFF3-637C-6896-15F2E1E24AF4}"/>
              </a:ext>
            </a:extLst>
          </p:cNvPr>
          <p:cNvSpPr/>
          <p:nvPr/>
        </p:nvSpPr>
        <p:spPr>
          <a:xfrm>
            <a:off x="3037093" y="4450940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A291E70A-EDA2-D4E0-04A6-85699F74028A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2483672" y="4601189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7A84AA0-2EC6-59E0-AAE5-A2D381F8ED76}"/>
              </a:ext>
            </a:extLst>
          </p:cNvPr>
          <p:cNvSpPr txBox="1"/>
          <p:nvPr/>
        </p:nvSpPr>
        <p:spPr>
          <a:xfrm>
            <a:off x="3268498" y="446711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45B5056-1AB6-DDFA-1BEA-9DB1F7F2239B}"/>
              </a:ext>
            </a:extLst>
          </p:cNvPr>
          <p:cNvSpPr/>
          <p:nvPr/>
        </p:nvSpPr>
        <p:spPr>
          <a:xfrm>
            <a:off x="1666841" y="4929363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C9E63BE7-6464-F650-DDC1-F118862185B1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157542" y="4113184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18011877-B4B9-268B-8EDB-4B352AA89943}"/>
              </a:ext>
            </a:extLst>
          </p:cNvPr>
          <p:cNvCxnSpPr>
            <a:cxnSpLocks/>
            <a:stCxn id="35" idx="3"/>
            <a:endCxn id="42" idx="1"/>
          </p:cNvCxnSpPr>
          <p:nvPr/>
        </p:nvCxnSpPr>
        <p:spPr>
          <a:xfrm>
            <a:off x="1157542" y="4601189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6BCE655E-71A8-E961-0AE2-EC098FA4734D}"/>
              </a:ext>
            </a:extLst>
          </p:cNvPr>
          <p:cNvCxnSpPr>
            <a:cxnSpLocks/>
            <a:stCxn id="35" idx="3"/>
            <a:endCxn id="47" idx="1"/>
          </p:cNvCxnSpPr>
          <p:nvPr/>
        </p:nvCxnSpPr>
        <p:spPr>
          <a:xfrm>
            <a:off x="1157542" y="4601189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DFA015B8-52C7-F49A-71FC-8820A05699DF}"/>
              </a:ext>
            </a:extLst>
          </p:cNvPr>
          <p:cNvCxnSpPr>
            <a:cxnSpLocks/>
          </p:cNvCxnSpPr>
          <p:nvPr/>
        </p:nvCxnSpPr>
        <p:spPr>
          <a:xfrm flipV="1">
            <a:off x="2483671" y="5099039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5D007E9-D0DE-1D76-2D0F-FE45785D9D3D}"/>
              </a:ext>
            </a:extLst>
          </p:cNvPr>
          <p:cNvSpPr txBox="1"/>
          <p:nvPr/>
        </p:nvSpPr>
        <p:spPr>
          <a:xfrm>
            <a:off x="2964999" y="49293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3C46D123-CAB6-4332-D96A-197F8403130F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3307934" y="3889078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F44D527-06C7-91BE-828A-AAF3DF4F3B24}"/>
              </a:ext>
            </a:extLst>
          </p:cNvPr>
          <p:cNvSpPr txBox="1"/>
          <p:nvPr/>
        </p:nvSpPr>
        <p:spPr>
          <a:xfrm>
            <a:off x="3635818" y="36423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68E7DBE-40A9-B290-5879-094CF8DBE5F2}"/>
              </a:ext>
            </a:extLst>
          </p:cNvPr>
          <p:cNvSpPr/>
          <p:nvPr/>
        </p:nvSpPr>
        <p:spPr>
          <a:xfrm>
            <a:off x="4161189" y="3752979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B46F70F-30D9-9526-F4A3-FB67BEEFB35B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970681" y="3902457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30776A9B-0CFA-DBB3-A60A-58E90E8883D7}"/>
              </a:ext>
            </a:extLst>
          </p:cNvPr>
          <p:cNvSpPr/>
          <p:nvPr/>
        </p:nvSpPr>
        <p:spPr>
          <a:xfrm>
            <a:off x="4161188" y="3752979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0A38FBC-84F1-3188-1620-3F2EB5FD83B7}"/>
              </a:ext>
            </a:extLst>
          </p:cNvPr>
          <p:cNvSpPr txBox="1"/>
          <p:nvPr/>
        </p:nvSpPr>
        <p:spPr>
          <a:xfrm>
            <a:off x="4124316" y="392466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0FB9B3-3CFD-D7E6-32E9-4FD2CB5A6EC4}"/>
              </a:ext>
            </a:extLst>
          </p:cNvPr>
          <p:cNvSpPr txBox="1"/>
          <p:nvPr/>
        </p:nvSpPr>
        <p:spPr>
          <a:xfrm>
            <a:off x="4120591" y="37204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6FDE5089-AC99-4886-E975-DF9022D84543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307934" y="4119389"/>
            <a:ext cx="408288" cy="1538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6F04FEB-5FAF-9BB1-399F-5FCA759C78BB}"/>
              </a:ext>
            </a:extLst>
          </p:cNvPr>
          <p:cNvSpPr txBox="1"/>
          <p:nvPr/>
        </p:nvSpPr>
        <p:spPr>
          <a:xfrm>
            <a:off x="3646068" y="40488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B06E6C4-2DE7-B7A7-6472-2F655C68D61E}"/>
              </a:ext>
            </a:extLst>
          </p:cNvPr>
          <p:cNvSpPr/>
          <p:nvPr/>
        </p:nvSpPr>
        <p:spPr>
          <a:xfrm>
            <a:off x="4231537" y="4290846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7729712-EDE0-2E7C-F23C-F779989A69C0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970681" y="4322091"/>
            <a:ext cx="260856" cy="128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7326549-913F-AF10-8F16-6FC4DC60D957}"/>
              </a:ext>
            </a:extLst>
          </p:cNvPr>
          <p:cNvSpPr txBox="1"/>
          <p:nvPr/>
        </p:nvSpPr>
        <p:spPr>
          <a:xfrm>
            <a:off x="4058910" y="463101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用户栈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E0BA36C8-00DC-4859-F6A1-D3796D40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467" y="3108419"/>
            <a:ext cx="2247446" cy="2616207"/>
          </a:xfrm>
          <a:prstGeom prst="rect">
            <a:avLst/>
          </a:prstGeom>
        </p:spPr>
      </p:pic>
      <p:sp>
        <p:nvSpPr>
          <p:cNvPr id="75" name="右箭头 74">
            <a:extLst>
              <a:ext uri="{FF2B5EF4-FFF2-40B4-BE49-F238E27FC236}">
                <a16:creationId xmlns:a16="http://schemas.microsoft.com/office/drawing/2014/main" id="{3572E026-7F85-4430-E5B6-0B38D9DC9822}"/>
              </a:ext>
            </a:extLst>
          </p:cNvPr>
          <p:cNvSpPr/>
          <p:nvPr/>
        </p:nvSpPr>
        <p:spPr>
          <a:xfrm>
            <a:off x="4666876" y="4342547"/>
            <a:ext cx="442823" cy="214411"/>
          </a:xfrm>
          <a:prstGeom prst="rightArrow">
            <a:avLst/>
          </a:prstGeom>
          <a:solidFill>
            <a:srgbClr val="BF37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96BBE8B-7A9E-7F21-B8A7-41A151291152}"/>
              </a:ext>
            </a:extLst>
          </p:cNvPr>
          <p:cNvSpPr txBox="1"/>
          <p:nvPr/>
        </p:nvSpPr>
        <p:spPr>
          <a:xfrm>
            <a:off x="1875273" y="492936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3891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进程创建（四）：处理器上下文初始化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为什么直到最后才初始化处理器上下文？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其包含的内容直到前序操作完成才确定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SP</a:t>
            </a:r>
            <a:r>
              <a:rPr kumimoji="1" lang="zh-CN" altLang="en-US" dirty="0"/>
              <a:t>：用户栈分配后才确定地址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PC</a:t>
            </a:r>
            <a:r>
              <a:rPr kumimoji="1" lang="zh-CN" altLang="en-US" dirty="0"/>
              <a:t>（保存在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）：加载</a:t>
            </a:r>
            <a:r>
              <a:rPr kumimoji="1" lang="en-US" altLang="zh-CN" dirty="0"/>
              <a:t>ELF</a:t>
            </a:r>
            <a:r>
              <a:rPr kumimoji="1" lang="zh-CN" altLang="en-US" dirty="0"/>
              <a:t>后才知道入口所在地址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大部分寄存器初始值可直接赋为</a:t>
            </a:r>
            <a:r>
              <a:rPr kumimoji="1" lang="en-US" altLang="zh-CN" dirty="0"/>
              <a:t>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8696A8-9811-1A54-D28A-4E8367D75CCD}"/>
              </a:ext>
            </a:extLst>
          </p:cNvPr>
          <p:cNvSpPr/>
          <p:nvPr/>
        </p:nvSpPr>
        <p:spPr>
          <a:xfrm>
            <a:off x="1837226" y="4329816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92F33-676D-B43E-1F6A-858A50B530A6}"/>
              </a:ext>
            </a:extLst>
          </p:cNvPr>
          <p:cNvSpPr txBox="1"/>
          <p:nvPr/>
        </p:nvSpPr>
        <p:spPr>
          <a:xfrm>
            <a:off x="1907704" y="438149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0088-A580-E01E-4B4A-B0027CBD9264}"/>
              </a:ext>
            </a:extLst>
          </p:cNvPr>
          <p:cNvSpPr/>
          <p:nvPr/>
        </p:nvSpPr>
        <p:spPr>
          <a:xfrm>
            <a:off x="3175645" y="3918066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A5A61-CDCB-1059-5BD6-0E61F14FDFCC}"/>
              </a:ext>
            </a:extLst>
          </p:cNvPr>
          <p:cNvSpPr txBox="1"/>
          <p:nvPr/>
        </p:nvSpPr>
        <p:spPr>
          <a:xfrm>
            <a:off x="3131508" y="391239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2F2512-6489-8F3D-1277-81DCC62DF2F9}"/>
              </a:ext>
            </a:extLst>
          </p:cNvPr>
          <p:cNvSpPr/>
          <p:nvPr/>
        </p:nvSpPr>
        <p:spPr>
          <a:xfrm>
            <a:off x="4524215" y="3924271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4C062F7-6E06-BA74-BF20-040DB6CC76E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3988582" y="4078160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CC042ED-BB81-0E21-C286-ED64993030D2}"/>
              </a:ext>
            </a:extLst>
          </p:cNvPr>
          <p:cNvSpPr txBox="1"/>
          <p:nvPr/>
        </p:nvSpPr>
        <p:spPr>
          <a:xfrm>
            <a:off x="4330616" y="36640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228D1E-BE2F-F934-52AD-DA2AEE0D7DC2}"/>
              </a:ext>
            </a:extLst>
          </p:cNvPr>
          <p:cNvSpPr/>
          <p:nvPr/>
        </p:nvSpPr>
        <p:spPr>
          <a:xfrm>
            <a:off x="3163356" y="4406071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6ACDCB-2740-0DD6-C195-B6C1B6D9316B}"/>
              </a:ext>
            </a:extLst>
          </p:cNvPr>
          <p:cNvSpPr txBox="1"/>
          <p:nvPr/>
        </p:nvSpPr>
        <p:spPr>
          <a:xfrm>
            <a:off x="3275779" y="4412014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D90C95-D28E-0F58-52A5-015ECE881232}"/>
              </a:ext>
            </a:extLst>
          </p:cNvPr>
          <p:cNvSpPr/>
          <p:nvPr/>
        </p:nvSpPr>
        <p:spPr>
          <a:xfrm>
            <a:off x="4529714" y="4415916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6D470077-DCBE-4578-D3DD-0E8350455C77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976293" y="4566165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CC7A836-C191-691A-F463-C3CFE782490B}"/>
              </a:ext>
            </a:extLst>
          </p:cNvPr>
          <p:cNvSpPr txBox="1"/>
          <p:nvPr/>
        </p:nvSpPr>
        <p:spPr>
          <a:xfrm>
            <a:off x="4761119" y="44320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417CA3-D8FF-5DDB-3EF7-973EF69940F3}"/>
              </a:ext>
            </a:extLst>
          </p:cNvPr>
          <p:cNvSpPr/>
          <p:nvPr/>
        </p:nvSpPr>
        <p:spPr>
          <a:xfrm>
            <a:off x="3159462" y="48943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570B44C2-1B5F-7197-1862-93AC63F13F4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650163" y="4078160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4B572FC-4F6F-A925-742D-2669E25454C3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650163" y="4566165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C8BECE1-44A2-3FBA-56F4-CA577D8E61DA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2650163" y="4566165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8107FF5-FEFE-88B0-E51E-E9B53542AB41}"/>
              </a:ext>
            </a:extLst>
          </p:cNvPr>
          <p:cNvCxnSpPr>
            <a:cxnSpLocks/>
          </p:cNvCxnSpPr>
          <p:nvPr/>
        </p:nvCxnSpPr>
        <p:spPr>
          <a:xfrm flipV="1">
            <a:off x="3976292" y="5064015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B14F203D-3C16-F344-8E9A-479C627C1C5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800555" y="3854054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75B8AE5-D356-B097-788D-F79487820908}"/>
              </a:ext>
            </a:extLst>
          </p:cNvPr>
          <p:cNvSpPr txBox="1"/>
          <p:nvPr/>
        </p:nvSpPr>
        <p:spPr>
          <a:xfrm>
            <a:off x="5128439" y="36072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CAE8C2-0627-437B-76F3-08AAC45E9824}"/>
              </a:ext>
            </a:extLst>
          </p:cNvPr>
          <p:cNvSpPr/>
          <p:nvPr/>
        </p:nvSpPr>
        <p:spPr>
          <a:xfrm>
            <a:off x="5653810" y="3717955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48EAE88-E077-9B8E-EDFD-217F0FBC6B1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463302" y="3867433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F489765-6EA3-178D-D930-C647E74A4A7B}"/>
              </a:ext>
            </a:extLst>
          </p:cNvPr>
          <p:cNvSpPr/>
          <p:nvPr/>
        </p:nvSpPr>
        <p:spPr>
          <a:xfrm>
            <a:off x="5653809" y="3717955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8DE040-398D-2A38-A35F-AF5B14ED612A}"/>
              </a:ext>
            </a:extLst>
          </p:cNvPr>
          <p:cNvSpPr txBox="1"/>
          <p:nvPr/>
        </p:nvSpPr>
        <p:spPr>
          <a:xfrm>
            <a:off x="5619373" y="3894447"/>
            <a:ext cx="492443" cy="273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36EB90-48BF-8F8E-6283-8AC358ADDB01}"/>
              </a:ext>
            </a:extLst>
          </p:cNvPr>
          <p:cNvSpPr txBox="1"/>
          <p:nvPr/>
        </p:nvSpPr>
        <p:spPr>
          <a:xfrm>
            <a:off x="5615648" y="369025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D74A44D0-513E-7E0D-E3B2-D1365AC1175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00555" y="4084365"/>
            <a:ext cx="408288" cy="1538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549EA5C-D3C0-8E92-DEB0-DCD5BFE29810}"/>
              </a:ext>
            </a:extLst>
          </p:cNvPr>
          <p:cNvSpPr txBox="1"/>
          <p:nvPr/>
        </p:nvSpPr>
        <p:spPr>
          <a:xfrm>
            <a:off x="5138689" y="40138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E29A5C-2014-2D2C-C4BB-79DAC83045DD}"/>
              </a:ext>
            </a:extLst>
          </p:cNvPr>
          <p:cNvSpPr/>
          <p:nvPr/>
        </p:nvSpPr>
        <p:spPr>
          <a:xfrm>
            <a:off x="5724158" y="4255822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15276743-C650-A3F3-3D36-781D4BDC0784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5463302" y="4287067"/>
            <a:ext cx="260856" cy="128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73894F2-49E5-8DC5-8743-D48888FA3FE0}"/>
              </a:ext>
            </a:extLst>
          </p:cNvPr>
          <p:cNvSpPr txBox="1"/>
          <p:nvPr/>
        </p:nvSpPr>
        <p:spPr>
          <a:xfrm>
            <a:off x="5956161" y="428576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84AC72-73C2-2F26-D8A5-6D7F800AFBE8}"/>
              </a:ext>
            </a:extLst>
          </p:cNvPr>
          <p:cNvSpPr/>
          <p:nvPr/>
        </p:nvSpPr>
        <p:spPr>
          <a:xfrm>
            <a:off x="4524215" y="4915679"/>
            <a:ext cx="672984" cy="730443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8485CA-9003-1696-025B-A3148A7C8C16}"/>
              </a:ext>
            </a:extLst>
          </p:cNvPr>
          <p:cNvSpPr/>
          <p:nvPr/>
        </p:nvSpPr>
        <p:spPr>
          <a:xfrm>
            <a:off x="4526724" y="4920192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1A8407B-1CA6-EDF9-F5B7-29C46EFE2824}"/>
              </a:ext>
            </a:extLst>
          </p:cNvPr>
          <p:cNvSpPr/>
          <p:nvPr/>
        </p:nvSpPr>
        <p:spPr>
          <a:xfrm>
            <a:off x="4526724" y="5103628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ECADF3-F0BE-F6C6-7D20-7220FBCB9E87}"/>
              </a:ext>
            </a:extLst>
          </p:cNvPr>
          <p:cNvSpPr/>
          <p:nvPr/>
        </p:nvSpPr>
        <p:spPr>
          <a:xfrm>
            <a:off x="4524215" y="5284741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5BF4942-F8C7-0928-C1C8-C3752636BE5C}"/>
              </a:ext>
            </a:extLst>
          </p:cNvPr>
          <p:cNvSpPr/>
          <p:nvPr/>
        </p:nvSpPr>
        <p:spPr>
          <a:xfrm>
            <a:off x="4524215" y="5469142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3B2BBA8-BE47-470D-320B-EF2A4829435B}"/>
              </a:ext>
            </a:extLst>
          </p:cNvPr>
          <p:cNvSpPr txBox="1"/>
          <p:nvPr/>
        </p:nvSpPr>
        <p:spPr>
          <a:xfrm>
            <a:off x="4441579" y="5043213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ELR_EL1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C462D74-FDAD-3B45-6FA8-FC26EF865A12}"/>
              </a:ext>
            </a:extLst>
          </p:cNvPr>
          <p:cNvSpPr txBox="1"/>
          <p:nvPr/>
        </p:nvSpPr>
        <p:spPr>
          <a:xfrm>
            <a:off x="4676420" y="5229494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SP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3DC4E9D-0A94-EFE0-AE39-15E0F666EB7D}"/>
              </a:ext>
            </a:extLst>
          </p:cNvPr>
          <p:cNvSpPr txBox="1"/>
          <p:nvPr/>
        </p:nvSpPr>
        <p:spPr>
          <a:xfrm>
            <a:off x="4702068" y="538754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…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946267-DC31-B261-FC6E-A14D485ED9CE}"/>
              </a:ext>
            </a:extLst>
          </p:cNvPr>
          <p:cNvSpPr txBox="1"/>
          <p:nvPr/>
        </p:nvSpPr>
        <p:spPr>
          <a:xfrm>
            <a:off x="4708263" y="482040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…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412A88D0-335D-57C3-B82F-DE4B3843AF3D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5199708" y="4058222"/>
            <a:ext cx="862388" cy="113787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曲线连接符 49">
            <a:extLst>
              <a:ext uri="{FF2B5EF4-FFF2-40B4-BE49-F238E27FC236}">
                <a16:creationId xmlns:a16="http://schemas.microsoft.com/office/drawing/2014/main" id="{D9958D3D-7054-3BC9-6042-347BDF44C018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5197199" y="4562765"/>
            <a:ext cx="799263" cy="81444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9DCED03-99C1-557B-6516-01F64298DCE1}"/>
              </a:ext>
            </a:extLst>
          </p:cNvPr>
          <p:cNvSpPr txBox="1"/>
          <p:nvPr/>
        </p:nvSpPr>
        <p:spPr>
          <a:xfrm>
            <a:off x="3377109" y="489407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4779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进程的退出与等待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142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</a:t>
            </a:r>
            <a:r>
              <a:rPr kumimoji="1" lang="en-US" altLang="zh-CN" dirty="0"/>
              <a:t>ls</a:t>
            </a:r>
            <a:r>
              <a:rPr kumimoji="1" lang="zh-CN" altLang="en-US" dirty="0"/>
              <a:t>执行结束后，进程也就失去了存在的意义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需要一个系统调用使进程</a:t>
            </a:r>
            <a:r>
              <a:rPr kumimoji="1" lang="zh-CN" altLang="en-US" b="1" dirty="0"/>
              <a:t>显式</a:t>
            </a:r>
            <a:r>
              <a:rPr kumimoji="1" lang="zh-CN" altLang="en-US" dirty="0"/>
              <a:t>退出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9B1AB4-B6EF-586F-7EB9-DC1833120800}"/>
              </a:ext>
            </a:extLst>
          </p:cNvPr>
          <p:cNvSpPr txBox="1"/>
          <p:nvPr/>
        </p:nvSpPr>
        <p:spPr>
          <a:xfrm>
            <a:off x="6599869" y="3215891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83B604E-F52E-1C5E-4E92-B397C7EB3160}"/>
              </a:ext>
            </a:extLst>
          </p:cNvPr>
          <p:cNvCxnSpPr/>
          <p:nvPr/>
        </p:nvCxnSpPr>
        <p:spPr>
          <a:xfrm flipV="1">
            <a:off x="5796136" y="3361556"/>
            <a:ext cx="757064" cy="516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705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疑问：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函数有时并不调用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更为常规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此时可由</a:t>
            </a:r>
            <a:r>
              <a:rPr kumimoji="1" lang="en-US" altLang="zh-CN" dirty="0" err="1"/>
              <a:t>libc</a:t>
            </a:r>
            <a:r>
              <a:rPr kumimoji="1" lang="zh-CN" altLang="en-US" dirty="0"/>
              <a:t>的代码调用</a:t>
            </a:r>
            <a:r>
              <a:rPr kumimoji="1" lang="en-US" altLang="zh-CN" dirty="0" err="1"/>
              <a:t>process_exit</a:t>
            </a:r>
            <a:r>
              <a:rPr kumimoji="1" lang="zh-CN" altLang="en-US" dirty="0"/>
              <a:t>，退出进程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9B1AB4-B6EF-586F-7EB9-DC1833120800}"/>
              </a:ext>
            </a:extLst>
          </p:cNvPr>
          <p:cNvSpPr txBox="1"/>
          <p:nvPr/>
        </p:nvSpPr>
        <p:spPr>
          <a:xfrm>
            <a:off x="6599869" y="2934762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83B604E-F52E-1C5E-4E92-B397C7EB3160}"/>
              </a:ext>
            </a:extLst>
          </p:cNvPr>
          <p:cNvCxnSpPr>
            <a:cxnSpLocks/>
          </p:cNvCxnSpPr>
          <p:nvPr/>
        </p:nvCxnSpPr>
        <p:spPr>
          <a:xfrm flipV="1">
            <a:off x="5796136" y="3073524"/>
            <a:ext cx="936104" cy="804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0B44789-FA8C-48E5-A0BD-9F11A1E15039}"/>
              </a:ext>
            </a:extLst>
          </p:cNvPr>
          <p:cNvSpPr txBox="1"/>
          <p:nvPr/>
        </p:nvSpPr>
        <p:spPr>
          <a:xfrm>
            <a:off x="6580708" y="4396963"/>
            <a:ext cx="2276203" cy="107721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main(…);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9347707-904F-FEAC-38A4-0C9CD0C40078}"/>
              </a:ext>
            </a:extLst>
          </p:cNvPr>
          <p:cNvCxnSpPr>
            <a:cxnSpLocks/>
          </p:cNvCxnSpPr>
          <p:nvPr/>
        </p:nvCxnSpPr>
        <p:spPr>
          <a:xfrm flipH="1">
            <a:off x="6876256" y="3877610"/>
            <a:ext cx="72008" cy="1227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44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A7AB-543F-6A20-D522-6340680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进程退出的实现（第一版）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DE0C-6A3A-426E-0156-E22426DF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销毁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及其中保存的所有内容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E1499-53A5-233C-7CD0-637E53C5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47CFFC-6843-08F3-ADCA-8E243A16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88" y="2661746"/>
            <a:ext cx="5402312" cy="29222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C03F3A-FB0B-4FF4-45D5-BE1B207E2A7C}"/>
              </a:ext>
            </a:extLst>
          </p:cNvPr>
          <p:cNvSpPr/>
          <p:nvPr/>
        </p:nvSpPr>
        <p:spPr>
          <a:xfrm>
            <a:off x="757106" y="396048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C5FB5-0A5D-BA68-2671-0AC20ED50F8D}"/>
              </a:ext>
            </a:extLst>
          </p:cNvPr>
          <p:cNvSpPr txBox="1"/>
          <p:nvPr/>
        </p:nvSpPr>
        <p:spPr>
          <a:xfrm>
            <a:off x="827584" y="401216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22AF4-B6D3-210A-2EE7-33FB6C1C89E7}"/>
              </a:ext>
            </a:extLst>
          </p:cNvPr>
          <p:cNvSpPr/>
          <p:nvPr/>
        </p:nvSpPr>
        <p:spPr>
          <a:xfrm>
            <a:off x="2095525" y="354873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7F9614-FCDE-8251-65DD-02F2B06CC5A7}"/>
              </a:ext>
            </a:extLst>
          </p:cNvPr>
          <p:cNvSpPr txBox="1"/>
          <p:nvPr/>
        </p:nvSpPr>
        <p:spPr>
          <a:xfrm>
            <a:off x="2051388" y="354306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94AD22-4A8F-2242-66B1-27E8101EFD39}"/>
              </a:ext>
            </a:extLst>
          </p:cNvPr>
          <p:cNvSpPr/>
          <p:nvPr/>
        </p:nvSpPr>
        <p:spPr>
          <a:xfrm>
            <a:off x="2083236" y="40367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7A6AF-DF53-6C09-C7C7-26ED67BF8EBC}"/>
              </a:ext>
            </a:extLst>
          </p:cNvPr>
          <p:cNvSpPr txBox="1"/>
          <p:nvPr/>
        </p:nvSpPr>
        <p:spPr>
          <a:xfrm>
            <a:off x="2195659" y="404268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566BB-5259-C9BA-663E-978E1C6EF400}"/>
              </a:ext>
            </a:extLst>
          </p:cNvPr>
          <p:cNvSpPr/>
          <p:nvPr/>
        </p:nvSpPr>
        <p:spPr>
          <a:xfrm>
            <a:off x="2079342" y="452500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49275C-3FB5-BA43-DCEA-D27EF5C54932}"/>
              </a:ext>
            </a:extLst>
          </p:cNvPr>
          <p:cNvSpPr txBox="1"/>
          <p:nvPr/>
        </p:nvSpPr>
        <p:spPr>
          <a:xfrm>
            <a:off x="2278862" y="454689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BD2859-E421-325B-DAFF-876907FF0C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570043" y="370882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AA04566-BB36-70E5-76F9-8EADF37BD67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570043" y="419683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1E3555-16B1-E93F-A0B4-87F78EF90ADC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70043" y="419683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438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A7AB-543F-6A20-D522-6340680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进程退出的实现（第一版）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DE0C-6A3A-426E-0156-E22426DF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销毁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及其中保存的所有内容</a:t>
            </a:r>
            <a:endParaRPr kumimoji="1" lang="en-US" altLang="zh-CN" dirty="0"/>
          </a:p>
          <a:p>
            <a:r>
              <a:rPr kumimoji="1" lang="zh-CN" altLang="en-US" dirty="0"/>
              <a:t>告知内核，选择其他进程执行（细节之后介绍）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E1499-53A5-233C-7CD0-637E53C5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47CFFC-6843-08F3-ADCA-8E243A16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88" y="2661746"/>
            <a:ext cx="5402312" cy="29222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C03F3A-FB0B-4FF4-45D5-BE1B207E2A7C}"/>
              </a:ext>
            </a:extLst>
          </p:cNvPr>
          <p:cNvSpPr/>
          <p:nvPr/>
        </p:nvSpPr>
        <p:spPr>
          <a:xfrm>
            <a:off x="757106" y="396048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C5FB5-0A5D-BA68-2671-0AC20ED50F8D}"/>
              </a:ext>
            </a:extLst>
          </p:cNvPr>
          <p:cNvSpPr txBox="1"/>
          <p:nvPr/>
        </p:nvSpPr>
        <p:spPr>
          <a:xfrm>
            <a:off x="827584" y="401216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22AF4-B6D3-210A-2EE7-33FB6C1C89E7}"/>
              </a:ext>
            </a:extLst>
          </p:cNvPr>
          <p:cNvSpPr/>
          <p:nvPr/>
        </p:nvSpPr>
        <p:spPr>
          <a:xfrm>
            <a:off x="2095525" y="354873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7F9614-FCDE-8251-65DD-02F2B06CC5A7}"/>
              </a:ext>
            </a:extLst>
          </p:cNvPr>
          <p:cNvSpPr txBox="1"/>
          <p:nvPr/>
        </p:nvSpPr>
        <p:spPr>
          <a:xfrm>
            <a:off x="2051388" y="354306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94AD22-4A8F-2242-66B1-27E8101EFD39}"/>
              </a:ext>
            </a:extLst>
          </p:cNvPr>
          <p:cNvSpPr/>
          <p:nvPr/>
        </p:nvSpPr>
        <p:spPr>
          <a:xfrm>
            <a:off x="2083236" y="40367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7A6AF-DF53-6C09-C7C7-26ED67BF8EBC}"/>
              </a:ext>
            </a:extLst>
          </p:cNvPr>
          <p:cNvSpPr txBox="1"/>
          <p:nvPr/>
        </p:nvSpPr>
        <p:spPr>
          <a:xfrm>
            <a:off x="2195659" y="404268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566BB-5259-C9BA-663E-978E1C6EF400}"/>
              </a:ext>
            </a:extLst>
          </p:cNvPr>
          <p:cNvSpPr/>
          <p:nvPr/>
        </p:nvSpPr>
        <p:spPr>
          <a:xfrm>
            <a:off x="2079342" y="452500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49275C-3FB5-BA43-DCEA-D27EF5C54932}"/>
              </a:ext>
            </a:extLst>
          </p:cNvPr>
          <p:cNvSpPr txBox="1"/>
          <p:nvPr/>
        </p:nvSpPr>
        <p:spPr>
          <a:xfrm>
            <a:off x="2278862" y="454689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BD2859-E421-325B-DAFF-876907FF0C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570043" y="370882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AA04566-BB36-70E5-76F9-8EADF37BD67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570043" y="419683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1E3555-16B1-E93F-A0B4-87F78EF90ADC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70043" y="419683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B622710-80AB-7B86-4D54-609557F380E6}"/>
              </a:ext>
            </a:extLst>
          </p:cNvPr>
          <p:cNvSpPr/>
          <p:nvPr/>
        </p:nvSpPr>
        <p:spPr>
          <a:xfrm>
            <a:off x="4283968" y="5017740"/>
            <a:ext cx="1440160" cy="279222"/>
          </a:xfrm>
          <a:prstGeom prst="rect">
            <a:avLst/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6227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</a:t>
            </a:r>
            <a:r>
              <a:rPr kumimoji="1" lang="en-US" altLang="zh-CN" dirty="0"/>
              <a:t>ls</a:t>
            </a:r>
            <a:r>
              <a:rPr kumimoji="1" lang="zh-CN" altLang="en-US" dirty="0"/>
              <a:t>进程执行时，如何使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等待，直到</a:t>
            </a:r>
            <a:r>
              <a:rPr kumimoji="1" lang="en-US" altLang="zh-CN" dirty="0"/>
              <a:t>ls</a:t>
            </a:r>
            <a:r>
              <a:rPr kumimoji="1" lang="zh-CN" altLang="en-US" dirty="0"/>
              <a:t>退出？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引入新系统调用：进程等待（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1403648" y="3001006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40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新的问题：如何使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知道应该等待哪个进程？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方法：为每个进程引入进程标识符（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323528" y="3001006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kumimoji="1" lang="en-US" altLang="zh-CN" sz="1600" b="1" dirty="0">
                <a:solidFill>
                  <a:srgbClr val="BF374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BF374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412C07-891D-DA72-2428-4F19BEF86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3184780"/>
            <a:ext cx="2988143" cy="17223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77F871-156A-0768-876D-E74425518B99}"/>
              </a:ext>
            </a:extLst>
          </p:cNvPr>
          <p:cNvSpPr txBox="1"/>
          <p:nvPr/>
        </p:nvSpPr>
        <p:spPr>
          <a:xfrm>
            <a:off x="6559909" y="2911542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PCB</a:t>
            </a:r>
            <a:r>
              <a:rPr kumimoji="1" lang="zh-CN" altLang="en-US" sz="1400" b="1" dirty="0"/>
              <a:t>结构（第二版）</a:t>
            </a:r>
          </a:p>
        </p:txBody>
      </p:sp>
    </p:spTree>
    <p:extLst>
      <p:ext uri="{BB962C8B-B14F-4D97-AF65-F5344CB8AC3E}">
        <p14:creationId xmlns:p14="http://schemas.microsoft.com/office/powerpoint/2010/main" val="3077724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7C312-1184-3B51-EAD7-612901CD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进程等待的实现（第一版）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8EB2C-8C65-ED0A-05D1-BF6A1094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假设内核使用进程列表维护所有进程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仍然调用</a:t>
            </a:r>
            <a:r>
              <a:rPr kumimoji="1" lang="en-US" altLang="zh-CN" i="1" dirty="0"/>
              <a:t>schedule</a:t>
            </a:r>
            <a:r>
              <a:rPr kumimoji="1" lang="zh-CN" altLang="en-US" dirty="0"/>
              <a:t>，让其他进程执行，自己在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循环中等待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7CF6F-55E3-DB31-D1D8-65E3D1C4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E728FE-19DD-D2E7-8A61-DD1361CB4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45" y="2369888"/>
            <a:ext cx="4788709" cy="283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97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74389-C256-7B84-19EA-74FE0C1E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第一版实现的限制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ACE50-E940-F546-A566-49D17BF3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信息太少了！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ls</a:t>
            </a:r>
            <a:r>
              <a:rPr kumimoji="1" lang="zh-CN" altLang="en-US" dirty="0"/>
              <a:t>进程退出时的返回值，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进程无法获取到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应该如何改进呢？</a:t>
            </a:r>
            <a:endParaRPr kumimoji="1"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B6565-39CA-DE89-EEDC-AF3A158E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1AB08-2BE5-684E-1FE3-85C7A0746D58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FB078B-891B-E976-48AB-1F36CB4F4A82}"/>
              </a:ext>
            </a:extLst>
          </p:cNvPr>
          <p:cNvSpPr txBox="1"/>
          <p:nvPr/>
        </p:nvSpPr>
        <p:spPr>
          <a:xfrm>
            <a:off x="6599869" y="3215891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F12C9CB-EB5A-E90E-D468-94D61D325B25}"/>
              </a:ext>
            </a:extLst>
          </p:cNvPr>
          <p:cNvCxnSpPr/>
          <p:nvPr/>
        </p:nvCxnSpPr>
        <p:spPr>
          <a:xfrm flipV="1">
            <a:off x="5796136" y="3361556"/>
            <a:ext cx="757064" cy="516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FE98C1C-EF2D-D2F3-B76D-6C2F20BD92B5}"/>
              </a:ext>
            </a:extLst>
          </p:cNvPr>
          <p:cNvCxnSpPr>
            <a:cxnSpLocks/>
          </p:cNvCxnSpPr>
          <p:nvPr/>
        </p:nvCxnSpPr>
        <p:spPr>
          <a:xfrm flipH="1" flipV="1">
            <a:off x="4067944" y="4088924"/>
            <a:ext cx="2808312" cy="952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300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4CC28-394E-AA26-A3B1-67D40F22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：为进程添加退出状态支持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38DC2-10E0-34C2-B6CE-957BB585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分别修改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process_exit</a:t>
            </a:r>
            <a:r>
              <a:rPr kumimoji="1"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B3CDC-8BE0-95B6-9EF7-86621B23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152946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D5D131-D026-E4F0-F59B-2A430E20E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53" y="2375823"/>
            <a:ext cx="4569016" cy="30019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9BAB95-1198-9E19-4C22-DB7C2A1EA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370375"/>
            <a:ext cx="3700153" cy="29920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A8A6AD-CA8B-ED64-5D51-BECA68FFD6EE}"/>
              </a:ext>
            </a:extLst>
          </p:cNvPr>
          <p:cNvSpPr txBox="1"/>
          <p:nvPr/>
        </p:nvSpPr>
        <p:spPr>
          <a:xfrm>
            <a:off x="871385" y="2065412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PCB: </a:t>
            </a:r>
            <a:r>
              <a:rPr kumimoji="1" lang="zh-CN" altLang="en-US" dirty="0"/>
              <a:t>增加退出状态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F08940-BBC3-0BA8-0579-A010E0426E72}"/>
              </a:ext>
            </a:extLst>
          </p:cNvPr>
          <p:cNvSpPr txBox="1"/>
          <p:nvPr/>
        </p:nvSpPr>
        <p:spPr>
          <a:xfrm>
            <a:off x="4646267" y="2065412"/>
            <a:ext cx="381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process_exit</a:t>
            </a:r>
            <a:r>
              <a:rPr kumimoji="1" lang="en-US" altLang="zh-CN" dirty="0"/>
              <a:t>: </a:t>
            </a:r>
            <a:r>
              <a:rPr kumimoji="1" lang="zh-CN" altLang="en-US" dirty="0"/>
              <a:t>退出前设置退出状态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DE2186-1578-9405-36B8-CE1AC506930C}"/>
              </a:ext>
            </a:extLst>
          </p:cNvPr>
          <p:cNvSpPr/>
          <p:nvPr/>
        </p:nvSpPr>
        <p:spPr>
          <a:xfrm>
            <a:off x="611560" y="4225652"/>
            <a:ext cx="1872208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CDD4BB-ABB4-751A-CB45-5ED906685B44}"/>
              </a:ext>
            </a:extLst>
          </p:cNvPr>
          <p:cNvSpPr/>
          <p:nvPr/>
        </p:nvSpPr>
        <p:spPr>
          <a:xfrm>
            <a:off x="4680990" y="3937619"/>
            <a:ext cx="3419401" cy="731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7127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1F37D-647D-D6FE-A770-CAADAD02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：修改</a:t>
            </a:r>
            <a:r>
              <a:rPr kumimoji="1" lang="en-US" altLang="zh-CN" dirty="0" err="1"/>
              <a:t>process_waitpid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9BADE-B8BB-0A90-4A3B-5066556E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如果进程已设置为退出，则记录其退出状态并回收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将进程资源的回收操作从</a:t>
            </a:r>
            <a:r>
              <a:rPr kumimoji="1" lang="en-US" altLang="zh-CN" dirty="0">
                <a:solidFill>
                  <a:srgbClr val="FF0000"/>
                </a:solidFill>
              </a:rPr>
              <a:t>exit</a:t>
            </a:r>
            <a:r>
              <a:rPr kumimoji="1" lang="zh-CN" altLang="en-US" dirty="0"/>
              <a:t>移到了</a:t>
            </a:r>
            <a:r>
              <a:rPr kumimoji="1" lang="en-US" altLang="zh-CN" dirty="0" err="1">
                <a:solidFill>
                  <a:srgbClr val="FF0000"/>
                </a:solidFill>
              </a:rPr>
              <a:t>waitpid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10F29-782B-5740-F8FA-B9D77A16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6B66BB-59B7-F626-2A5F-5F0CFD28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274246"/>
            <a:ext cx="3781400" cy="3324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7C15AC0-D4C4-B4C7-39BE-2F82011EB28D}"/>
              </a:ext>
            </a:extLst>
          </p:cNvPr>
          <p:cNvSpPr/>
          <p:nvPr/>
        </p:nvSpPr>
        <p:spPr>
          <a:xfrm>
            <a:off x="3563888" y="3538649"/>
            <a:ext cx="2448272" cy="542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356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EFC1-09FD-C578-C0A0-14D6C429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还有什么可以改进的地方呢？安全性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AF0EB-AF8A-7AB7-A546-A6E508E6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考虑两个用户（小明和小红）的场景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如果小红想偷看小明进程退出的状态，应该怎么做</a:t>
            </a:r>
            <a:r>
              <a:rPr kumimoji="1" lang="en-US" altLang="zh-CN" sz="1800" dirty="0"/>
              <a:t>?</a:t>
            </a:r>
          </a:p>
          <a:p>
            <a:pPr lvl="2"/>
            <a:r>
              <a:rPr kumimoji="1" lang="zh-CN" altLang="en-US" sz="1800" dirty="0"/>
              <a:t>暴力枚举可能的进程</a:t>
            </a:r>
            <a:r>
              <a:rPr kumimoji="1" lang="en-US" altLang="zh-CN" sz="1800" dirty="0"/>
              <a:t>id</a:t>
            </a:r>
            <a:r>
              <a:rPr kumimoji="1" lang="zh-CN" altLang="en-US" sz="1800" dirty="0"/>
              <a:t>，对它们都调用</a:t>
            </a:r>
            <a:r>
              <a:rPr kumimoji="1" lang="en-US" altLang="zh-CN" sz="1800" dirty="0" err="1"/>
              <a:t>process_waitpid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06694-3A85-23A8-6DE6-3F30AE28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054E82-1DBC-C14A-E392-F68A1F0139CC}"/>
              </a:ext>
            </a:extLst>
          </p:cNvPr>
          <p:cNvSpPr/>
          <p:nvPr/>
        </p:nvSpPr>
        <p:spPr>
          <a:xfrm>
            <a:off x="1835696" y="3361556"/>
            <a:ext cx="1728192" cy="1584176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63ED66-AC4C-ACCB-DE9C-FA53AC480CD1}"/>
              </a:ext>
            </a:extLst>
          </p:cNvPr>
          <p:cNvSpPr txBox="1"/>
          <p:nvPr/>
        </p:nvSpPr>
        <p:spPr>
          <a:xfrm>
            <a:off x="1979712" y="3577580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id=12</a:t>
            </a:r>
            <a:r>
              <a:rPr kumimoji="1" lang="zh-CN" altLang="en-US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904FC3-8746-7CF8-30A0-4A903DC66FBC}"/>
              </a:ext>
            </a:extLst>
          </p:cNvPr>
          <p:cNvSpPr txBox="1"/>
          <p:nvPr/>
        </p:nvSpPr>
        <p:spPr>
          <a:xfrm>
            <a:off x="1979711" y="4003941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id=15</a:t>
            </a:r>
            <a:r>
              <a:rPr kumimoji="1" lang="zh-CN" altLang="en-US" dirty="0"/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04AB3C-9730-B963-4325-1D94F0AFE2BC}"/>
              </a:ext>
            </a:extLst>
          </p:cNvPr>
          <p:cNvSpPr txBox="1"/>
          <p:nvPr/>
        </p:nvSpPr>
        <p:spPr>
          <a:xfrm>
            <a:off x="1885223" y="4404631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id=3</a:t>
            </a:r>
            <a:r>
              <a:rPr kumimoji="1"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534A07-ADFE-C19E-0333-BB60B3EEEA01}"/>
              </a:ext>
            </a:extLst>
          </p:cNvPr>
          <p:cNvSpPr txBox="1"/>
          <p:nvPr/>
        </p:nvSpPr>
        <p:spPr>
          <a:xfrm>
            <a:off x="1453297" y="287908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小明的进程（不可见）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FC645B-8E91-257A-D4EF-5F24B28262D9}"/>
              </a:ext>
            </a:extLst>
          </p:cNvPr>
          <p:cNvSpPr txBox="1"/>
          <p:nvPr/>
        </p:nvSpPr>
        <p:spPr>
          <a:xfrm>
            <a:off x="4572000" y="28790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小红的程序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79318B-53EF-FFD8-EC3D-E9A33E74291F}"/>
              </a:ext>
            </a:extLst>
          </p:cNvPr>
          <p:cNvSpPr txBox="1"/>
          <p:nvPr/>
        </p:nvSpPr>
        <p:spPr>
          <a:xfrm>
            <a:off x="4571999" y="3505572"/>
            <a:ext cx="2736305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(1, &amp;ret);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64E98E-7861-49E3-8634-C4C7CB3E0F5B}"/>
              </a:ext>
            </a:extLst>
          </p:cNvPr>
          <p:cNvSpPr txBox="1"/>
          <p:nvPr/>
        </p:nvSpPr>
        <p:spPr>
          <a:xfrm>
            <a:off x="4666488" y="3819275"/>
            <a:ext cx="273664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(2, &amp;ret);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F8875C-A5FD-FFF4-D89A-B29519A90326}"/>
              </a:ext>
            </a:extLst>
          </p:cNvPr>
          <p:cNvSpPr txBox="1"/>
          <p:nvPr/>
        </p:nvSpPr>
        <p:spPr>
          <a:xfrm>
            <a:off x="4818221" y="4120688"/>
            <a:ext cx="273664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(3, &amp;ret);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FFA69A-41CB-241B-CF60-1DC7FA690FE3}"/>
              </a:ext>
            </a:extLst>
          </p:cNvPr>
          <p:cNvSpPr txBox="1"/>
          <p:nvPr/>
        </p:nvSpPr>
        <p:spPr>
          <a:xfrm>
            <a:off x="5753056" y="43814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37813A-F1E3-26DF-4DFB-B99CC06F57E4}"/>
              </a:ext>
            </a:extLst>
          </p:cNvPr>
          <p:cNvSpPr txBox="1"/>
          <p:nvPr/>
        </p:nvSpPr>
        <p:spPr>
          <a:xfrm>
            <a:off x="5004030" y="4681545"/>
            <a:ext cx="286488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(12, &amp;ret);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023844-762C-3D62-30C7-749FD2E3BE31}"/>
              </a:ext>
            </a:extLst>
          </p:cNvPr>
          <p:cNvSpPr txBox="1"/>
          <p:nvPr/>
        </p:nvSpPr>
        <p:spPr>
          <a:xfrm>
            <a:off x="5998001" y="48775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D79443-F00E-8EA0-AAF0-E903A29B76DA}"/>
              </a:ext>
            </a:extLst>
          </p:cNvPr>
          <p:cNvSpPr txBox="1"/>
          <p:nvPr/>
        </p:nvSpPr>
        <p:spPr>
          <a:xfrm>
            <a:off x="5248975" y="5177629"/>
            <a:ext cx="292900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(15, &amp;ret);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D01DF8A5-D7D4-E635-232F-CD4931C10737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47864" y="4305354"/>
            <a:ext cx="1470357" cy="2721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9C2BEC3-D31B-465E-4518-F80CE9C0C3B8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485174" y="3777754"/>
            <a:ext cx="1518856" cy="10884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C6C31E3-BB1B-B6D8-590F-E2A6B785EA63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3471629" y="4204070"/>
            <a:ext cx="1777346" cy="11582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F62A9DC-A915-484D-8818-BA011B1AE42D}"/>
              </a:ext>
            </a:extLst>
          </p:cNvPr>
          <p:cNvSpPr txBox="1"/>
          <p:nvPr/>
        </p:nvSpPr>
        <p:spPr>
          <a:xfrm>
            <a:off x="827584" y="51617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如何避免“偷看”？</a:t>
            </a:r>
          </a:p>
        </p:txBody>
      </p:sp>
    </p:spTree>
    <p:extLst>
      <p:ext uri="{BB962C8B-B14F-4D97-AF65-F5344CB8AC3E}">
        <p14:creationId xmlns:p14="http://schemas.microsoft.com/office/powerpoint/2010/main" val="22532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3C285-B02D-DFEF-D53D-F9E93172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改进：限制进程等待的范围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4706D-F4D8-2D1F-F941-E6CD434E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目标：只有创建某进程的程序才能监控它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程序属于小明，所以小红的程序不能监控</a:t>
            </a:r>
            <a:endParaRPr kumimoji="1" lang="en-US" altLang="zh-CN" dirty="0"/>
          </a:p>
          <a:p>
            <a:r>
              <a:rPr kumimoji="1" lang="zh-CN" altLang="en-US" dirty="0"/>
              <a:t>实现：引入父（创建者）子（被创建者）进程概念</a:t>
            </a:r>
            <a:endParaRPr kumimoji="1" lang="en-US" altLang="zh-CN" dirty="0"/>
          </a:p>
          <a:p>
            <a:r>
              <a:rPr kumimoji="1" lang="zh-CN" altLang="en-US" dirty="0"/>
              <a:t>进程之间的创建关系构建了一棵进程树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第一个进程（树根）通常由内核主动创建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5B3238-E668-FDD6-DAC5-41BE9B38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ED1CB9E-AA99-CDD3-3019-B928055FC1A3}"/>
              </a:ext>
            </a:extLst>
          </p:cNvPr>
          <p:cNvSpPr/>
          <p:nvPr/>
        </p:nvSpPr>
        <p:spPr>
          <a:xfrm>
            <a:off x="2050227" y="4443287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FD97F-B92C-5112-57DC-7FBBC48078F8}"/>
              </a:ext>
            </a:extLst>
          </p:cNvPr>
          <p:cNvSpPr txBox="1"/>
          <p:nvPr/>
        </p:nvSpPr>
        <p:spPr>
          <a:xfrm>
            <a:off x="2167315" y="4505713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err="1"/>
              <a:t>init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19913A6-332A-15D7-8665-48A4C47B4E7F}"/>
              </a:ext>
            </a:extLst>
          </p:cNvPr>
          <p:cNvCxnSpPr>
            <a:stCxn id="5" idx="6"/>
          </p:cNvCxnSpPr>
          <p:nvPr/>
        </p:nvCxnSpPr>
        <p:spPr>
          <a:xfrm flipV="1">
            <a:off x="2698299" y="4443287"/>
            <a:ext cx="576064" cy="3240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D951247-C0B1-6A2E-96D0-3386B9EDA84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698299" y="4767323"/>
            <a:ext cx="576064" cy="389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80D9A6F-3D56-3592-2EF4-281CF3014BBA}"/>
              </a:ext>
            </a:extLst>
          </p:cNvPr>
          <p:cNvSpPr txBox="1"/>
          <p:nvPr/>
        </p:nvSpPr>
        <p:spPr>
          <a:xfrm>
            <a:off x="3229283" y="42057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CA168-9F31-B9F7-BF77-B709B10ABD6C}"/>
              </a:ext>
            </a:extLst>
          </p:cNvPr>
          <p:cNvSpPr txBox="1"/>
          <p:nvPr/>
        </p:nvSpPr>
        <p:spPr>
          <a:xfrm>
            <a:off x="3233020" y="489912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E187EA2-01E9-53C7-C5F9-F6F71587735D}"/>
              </a:ext>
            </a:extLst>
          </p:cNvPr>
          <p:cNvSpPr/>
          <p:nvPr/>
        </p:nvSpPr>
        <p:spPr>
          <a:xfrm>
            <a:off x="3912759" y="4020116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C7A7EE-B887-4E17-D676-3478E669FD00}"/>
              </a:ext>
            </a:extLst>
          </p:cNvPr>
          <p:cNvSpPr txBox="1"/>
          <p:nvPr/>
        </p:nvSpPr>
        <p:spPr>
          <a:xfrm>
            <a:off x="3964926" y="40825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5ECCC2B-ED2D-F5E3-680A-4C0B55B3B93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590828" y="4344152"/>
            <a:ext cx="321931" cy="99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28C4C63-923A-F610-FAF7-E4D9794F98A5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590828" y="5157251"/>
            <a:ext cx="315489" cy="184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BFA5E268-ABB6-3BE9-DF3B-6E72A41057B5}"/>
              </a:ext>
            </a:extLst>
          </p:cNvPr>
          <p:cNvSpPr/>
          <p:nvPr/>
        </p:nvSpPr>
        <p:spPr>
          <a:xfrm>
            <a:off x="3906317" y="5017740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2C03B3-5C27-E663-0578-A3D8DE9806E1}"/>
              </a:ext>
            </a:extLst>
          </p:cNvPr>
          <p:cNvSpPr txBox="1"/>
          <p:nvPr/>
        </p:nvSpPr>
        <p:spPr>
          <a:xfrm>
            <a:off x="3958484" y="508016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小红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5</a:t>
            </a:r>
            <a:endParaRPr kumimoji="1" lang="zh-CN" altLang="en-US" sz="1400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F81A480-1077-186B-1965-E3B9FB988E8D}"/>
              </a:ext>
            </a:extLst>
          </p:cNvPr>
          <p:cNvSpPr/>
          <p:nvPr/>
        </p:nvSpPr>
        <p:spPr>
          <a:xfrm>
            <a:off x="5029258" y="3854761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06B798-7AEA-CB4E-043A-BC2FC58181DD}"/>
              </a:ext>
            </a:extLst>
          </p:cNvPr>
          <p:cNvSpPr txBox="1"/>
          <p:nvPr/>
        </p:nvSpPr>
        <p:spPr>
          <a:xfrm>
            <a:off x="5081425" y="39171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68C595B0-81B0-76AA-D1FA-AB8727178547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4560831" y="4178797"/>
            <a:ext cx="468427" cy="1653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524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20863-9D66-7A28-C8B3-3D76E31A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改进后的实现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32554-6B6C-55FF-5457-FE8C77A25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分别修改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63943F-C645-1945-6283-B2A472B9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6DD9A3-916A-5BA5-01F3-DE0258F5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06" y="2281436"/>
            <a:ext cx="3245346" cy="30030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3D2F9C-2CD8-6703-EA14-F4A1F65BBB19}"/>
              </a:ext>
            </a:extLst>
          </p:cNvPr>
          <p:cNvSpPr txBox="1"/>
          <p:nvPr/>
        </p:nvSpPr>
        <p:spPr>
          <a:xfrm>
            <a:off x="1427878" y="201489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PCB:</a:t>
            </a:r>
            <a:r>
              <a:rPr kumimoji="1" lang="zh-CN" altLang="en-US" sz="1600" b="1" dirty="0"/>
              <a:t> 维护子进程列表</a:t>
            </a:r>
            <a:endParaRPr kumimoji="1"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06D6F0-A607-073C-77E7-34FFA815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386" y="2353444"/>
            <a:ext cx="3663979" cy="323949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F57E01-2A07-11E6-EBAA-A0DDCF0C244C}"/>
              </a:ext>
            </a:extLst>
          </p:cNvPr>
          <p:cNvSpPr/>
          <p:nvPr/>
        </p:nvSpPr>
        <p:spPr>
          <a:xfrm>
            <a:off x="1427878" y="4607178"/>
            <a:ext cx="1919986" cy="3385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F0C19C-39E0-E8C6-B67E-F38B145AEA9D}"/>
              </a:ext>
            </a:extLst>
          </p:cNvPr>
          <p:cNvSpPr/>
          <p:nvPr/>
        </p:nvSpPr>
        <p:spPr>
          <a:xfrm>
            <a:off x="4932040" y="3145532"/>
            <a:ext cx="1919986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A97BA4-CEDE-A8EF-F6F1-4656FC20253E}"/>
              </a:ext>
            </a:extLst>
          </p:cNvPr>
          <p:cNvSpPr txBox="1"/>
          <p:nvPr/>
        </p:nvSpPr>
        <p:spPr>
          <a:xfrm>
            <a:off x="4496023" y="2014890"/>
            <a:ext cx="3834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/>
              <a:t>waitpid</a:t>
            </a:r>
            <a:r>
              <a:rPr kumimoji="1" lang="en-US" altLang="zh-CN" sz="1600" b="1" dirty="0"/>
              <a:t>:</a:t>
            </a:r>
            <a:r>
              <a:rPr kumimoji="1" lang="zh-CN" altLang="en-US" sz="1600" b="1" dirty="0"/>
              <a:t>扫描子进程列表而不是所有进程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48619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AA555-6DDA-564C-DC06-3CF3F4F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一个关于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的疑问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1CD44-B0BF-7F65-9F52-1B1E1584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在编程时，我们并未强制创建者调用</a:t>
            </a:r>
            <a:r>
              <a:rPr kumimoji="1" lang="en-US" altLang="zh-CN" dirty="0" err="1"/>
              <a:t>waitpid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不调用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，会怎么样呢？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ls</a:t>
            </a:r>
            <a:r>
              <a:rPr kumimoji="1" lang="zh-CN" altLang="en-US" dirty="0"/>
              <a:t>进程已退出，但并未销毁（有的进程活着，它已经死了）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称为僵尸进程（</a:t>
            </a:r>
            <a:r>
              <a:rPr kumimoji="1" lang="en-US" altLang="zh-CN" dirty="0"/>
              <a:t>zombie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D31E8-2234-97C2-4111-9FB7D32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0E0DCA-EA9E-1D43-043B-5A68E1C68D37}"/>
              </a:ext>
            </a:extLst>
          </p:cNvPr>
          <p:cNvSpPr txBox="1"/>
          <p:nvPr/>
        </p:nvSpPr>
        <p:spPr>
          <a:xfrm>
            <a:off x="447177" y="3155214"/>
            <a:ext cx="5400600" cy="20621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577650-043C-50D6-93B3-24B91295E79C}"/>
              </a:ext>
            </a:extLst>
          </p:cNvPr>
          <p:cNvSpPr txBox="1"/>
          <p:nvPr/>
        </p:nvSpPr>
        <p:spPr>
          <a:xfrm>
            <a:off x="6435486" y="3361556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Zombie PNG Image | Zombies, Desenhos zumbis, Plantas vs zumbis">
            <a:extLst>
              <a:ext uri="{FF2B5EF4-FFF2-40B4-BE49-F238E27FC236}">
                <a16:creationId xmlns:a16="http://schemas.microsoft.com/office/drawing/2014/main" id="{18A3E957-CC94-A5A7-5DCE-B3E968F4C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4381499"/>
            <a:ext cx="574354" cy="9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411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AA555-6DDA-564C-DC06-3CF3F4F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一个关于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的疑问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1CD44-B0BF-7F65-9F52-1B1E1584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在编程时，我们并未强制创建者调用</a:t>
            </a:r>
            <a:r>
              <a:rPr kumimoji="1" lang="en-US" altLang="zh-CN" dirty="0" err="1"/>
              <a:t>waitpid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不调用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，会怎么样呢？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解决方案：当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进程退出后，由</a:t>
            </a:r>
            <a:r>
              <a:rPr kumimoji="1" lang="en-US" altLang="zh-CN" dirty="0" err="1"/>
              <a:t>init</a:t>
            </a:r>
            <a:r>
              <a:rPr kumimoji="1" lang="zh-CN" altLang="en-US" dirty="0"/>
              <a:t>进程代管并回收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D31E8-2234-97C2-4111-9FB7D32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48E9224-268C-DD27-3EFE-A4AF9A22753A}"/>
              </a:ext>
            </a:extLst>
          </p:cNvPr>
          <p:cNvSpPr/>
          <p:nvPr/>
        </p:nvSpPr>
        <p:spPr>
          <a:xfrm>
            <a:off x="2123728" y="3971488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84573A-9313-8AE4-C0EE-96EA378739B5}"/>
              </a:ext>
            </a:extLst>
          </p:cNvPr>
          <p:cNvSpPr txBox="1"/>
          <p:nvPr/>
        </p:nvSpPr>
        <p:spPr>
          <a:xfrm>
            <a:off x="2240816" y="4033914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err="1"/>
              <a:t>init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A86ABE7-0006-89CC-E679-19CD4D494CC2}"/>
              </a:ext>
            </a:extLst>
          </p:cNvPr>
          <p:cNvCxnSpPr>
            <a:stCxn id="21" idx="6"/>
          </p:cNvCxnSpPr>
          <p:nvPr/>
        </p:nvCxnSpPr>
        <p:spPr>
          <a:xfrm flipV="1">
            <a:off x="2771800" y="3971488"/>
            <a:ext cx="576064" cy="3240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1A2DD1-C4D4-2E90-8E0E-477CC22A7486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2771800" y="4295524"/>
            <a:ext cx="576064" cy="389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10F7764-7CC7-09DF-81BE-3B7CCCD61ADC}"/>
              </a:ext>
            </a:extLst>
          </p:cNvPr>
          <p:cNvSpPr txBox="1"/>
          <p:nvPr/>
        </p:nvSpPr>
        <p:spPr>
          <a:xfrm>
            <a:off x="3302784" y="37339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C5201E-4420-8DFE-1822-28C622C7F146}"/>
              </a:ext>
            </a:extLst>
          </p:cNvPr>
          <p:cNvSpPr txBox="1"/>
          <p:nvPr/>
        </p:nvSpPr>
        <p:spPr>
          <a:xfrm>
            <a:off x="3306521" y="44273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FDA79F1-EFE4-1E97-4FBA-0B385C69ADEC}"/>
              </a:ext>
            </a:extLst>
          </p:cNvPr>
          <p:cNvSpPr/>
          <p:nvPr/>
        </p:nvSpPr>
        <p:spPr>
          <a:xfrm>
            <a:off x="3986260" y="3548317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E30CB8-3EFA-8663-6811-1AA0ED8E3F26}"/>
              </a:ext>
            </a:extLst>
          </p:cNvPr>
          <p:cNvSpPr txBox="1"/>
          <p:nvPr/>
        </p:nvSpPr>
        <p:spPr>
          <a:xfrm>
            <a:off x="4038427" y="361074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6B6328C2-4810-ABFE-A761-5E211FB91CBC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664329" y="3872353"/>
            <a:ext cx="321931" cy="99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550C814-5A48-EF47-D411-B439FD883159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3664329" y="4685452"/>
            <a:ext cx="315489" cy="184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1DFE0049-985E-9A7B-A8BB-8539B4EE3A91}"/>
              </a:ext>
            </a:extLst>
          </p:cNvPr>
          <p:cNvSpPr/>
          <p:nvPr/>
        </p:nvSpPr>
        <p:spPr>
          <a:xfrm>
            <a:off x="3979818" y="4545941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FFDDEC-4B4E-60AF-F39A-0886923F50AE}"/>
              </a:ext>
            </a:extLst>
          </p:cNvPr>
          <p:cNvSpPr txBox="1"/>
          <p:nvPr/>
        </p:nvSpPr>
        <p:spPr>
          <a:xfrm>
            <a:off x="4031985" y="46083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小红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5</a:t>
            </a:r>
            <a:endParaRPr kumimoji="1" lang="zh-CN" altLang="en-US" sz="14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8E1E45D-D086-BBB2-EE49-59144651284D}"/>
              </a:ext>
            </a:extLst>
          </p:cNvPr>
          <p:cNvSpPr/>
          <p:nvPr/>
        </p:nvSpPr>
        <p:spPr>
          <a:xfrm>
            <a:off x="5102759" y="3382962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90DFE61-D7E5-5D40-72AB-8FCB39113AC2}"/>
              </a:ext>
            </a:extLst>
          </p:cNvPr>
          <p:cNvSpPr txBox="1"/>
          <p:nvPr/>
        </p:nvSpPr>
        <p:spPr>
          <a:xfrm>
            <a:off x="5154926" y="34453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4F907F7B-AF3B-5767-7113-0C9643A96C59}"/>
              </a:ext>
            </a:extLst>
          </p:cNvPr>
          <p:cNvCxnSpPr>
            <a:cxnSpLocks/>
            <a:stCxn id="27" idx="6"/>
            <a:endCxn id="33" idx="2"/>
          </p:cNvCxnSpPr>
          <p:nvPr/>
        </p:nvCxnSpPr>
        <p:spPr>
          <a:xfrm flipV="1">
            <a:off x="4634332" y="3706998"/>
            <a:ext cx="468427" cy="1653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Zombie PNG Image | Zombies, Desenhos zumbis, Plantas vs zumbis">
            <a:extLst>
              <a:ext uri="{FF2B5EF4-FFF2-40B4-BE49-F238E27FC236}">
                <a16:creationId xmlns:a16="http://schemas.microsoft.com/office/drawing/2014/main" id="{45406F3C-78BC-A705-0824-3E9288B1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795" y="3154101"/>
            <a:ext cx="574354" cy="9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82D7C649-0467-F2A6-5AA8-A880F1A488C6}"/>
              </a:ext>
            </a:extLst>
          </p:cNvPr>
          <p:cNvCxnSpPr/>
          <p:nvPr/>
        </p:nvCxnSpPr>
        <p:spPr>
          <a:xfrm>
            <a:off x="3878848" y="3445388"/>
            <a:ext cx="925959" cy="8963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2959BEB9-80CF-504A-102B-E3E33DD4B4A5}"/>
              </a:ext>
            </a:extLst>
          </p:cNvPr>
          <p:cNvCxnSpPr>
            <a:cxnSpLocks/>
          </p:cNvCxnSpPr>
          <p:nvPr/>
        </p:nvCxnSpPr>
        <p:spPr>
          <a:xfrm flipH="1">
            <a:off x="3934093" y="3418938"/>
            <a:ext cx="674155" cy="8765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>
            <a:extLst>
              <a:ext uri="{FF2B5EF4-FFF2-40B4-BE49-F238E27FC236}">
                <a16:creationId xmlns:a16="http://schemas.microsoft.com/office/drawing/2014/main" id="{DB6AE5C2-D875-5C09-1F91-E689D15F36C4}"/>
              </a:ext>
            </a:extLst>
          </p:cNvPr>
          <p:cNvCxnSpPr>
            <a:cxnSpLocks/>
            <a:stCxn id="21" idx="6"/>
            <a:endCxn id="33" idx="0"/>
          </p:cNvCxnSpPr>
          <p:nvPr/>
        </p:nvCxnSpPr>
        <p:spPr>
          <a:xfrm flipV="1">
            <a:off x="2771800" y="3382962"/>
            <a:ext cx="2654995" cy="912562"/>
          </a:xfrm>
          <a:prstGeom prst="curvedConnector4">
            <a:avLst>
              <a:gd name="adj1" fmla="val 1317"/>
              <a:gd name="adj2" fmla="val 12505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homper | Plants vs. Zombies Wiki | Fandom">
            <a:extLst>
              <a:ext uri="{FF2B5EF4-FFF2-40B4-BE49-F238E27FC236}">
                <a16:creationId xmlns:a16="http://schemas.microsoft.com/office/drawing/2014/main" id="{B8634C06-9516-86C2-C404-CEF436E7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101" y="3336375"/>
            <a:ext cx="576063" cy="76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962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进程的状态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646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D0546-3D03-90A1-0627-337D3515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还有什么需求呢？睡眠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44778-42B8-1B9D-3323-4A406C9D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“退出”事件太单一了，能不能等待其它的事件？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常见的事件：“时间”（例如等</a:t>
            </a:r>
            <a:r>
              <a:rPr kumimoji="1" lang="en-US" altLang="zh-CN" dirty="0"/>
              <a:t>10</a:t>
            </a:r>
            <a:r>
              <a:rPr kumimoji="1" lang="zh-CN" altLang="en-US" dirty="0"/>
              <a:t>秒）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因此可以引入</a:t>
            </a:r>
            <a:r>
              <a:rPr kumimoji="1" lang="zh-CN" altLang="en-US" b="1" dirty="0"/>
              <a:t>进程睡眠</a:t>
            </a:r>
            <a:endParaRPr kumimoji="1" lang="en-US" altLang="zh-CN" b="1" dirty="0"/>
          </a:p>
          <a:p>
            <a:pPr lvl="2"/>
            <a:r>
              <a:rPr kumimoji="1" lang="zh-CN" altLang="en-US" dirty="0"/>
              <a:t>不断查看时间，如果未到规定时间则继续等待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6DF03E-876E-B34C-39A0-CF80094F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4F64E0-7471-2D84-8772-906D092D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88" y="3199591"/>
            <a:ext cx="4894312" cy="236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7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CBF58-464E-8D1A-8860-6B34598F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回顾代码：进程的执行状态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95D9E-5CF5-AA0C-D002-AC4513A90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从之前的代码可以看出，进程处于不同的</a:t>
            </a:r>
            <a:r>
              <a:rPr kumimoji="1" lang="zh-CN" altLang="en-US" dirty="0">
                <a:solidFill>
                  <a:srgbClr val="FF0000"/>
                </a:solidFill>
              </a:rPr>
              <a:t>执行状态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状态有好几种，可以列出来，便于管理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7EF08B-1529-42F7-4FB5-0AF0F16F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5E6411-ADF0-C7AF-D816-3DB92816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348368"/>
            <a:ext cx="3781400" cy="3324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F4F4826-59C2-877E-EA4D-72D31733A88D}"/>
              </a:ext>
            </a:extLst>
          </p:cNvPr>
          <p:cNvSpPr/>
          <p:nvPr/>
        </p:nvSpPr>
        <p:spPr>
          <a:xfrm>
            <a:off x="2736775" y="3612771"/>
            <a:ext cx="2448272" cy="5013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28E7C45-E2F8-3965-35A5-3E3B9A4CAC4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185047" y="3538060"/>
            <a:ext cx="481605" cy="32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A710D9-C994-299C-AE75-5FFB90F1521F}"/>
              </a:ext>
            </a:extLst>
          </p:cNvPr>
          <p:cNvSpPr txBox="1"/>
          <p:nvPr/>
        </p:nvSpPr>
        <p:spPr>
          <a:xfrm>
            <a:off x="5604136" y="334623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僵尸状态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4CE8433-363C-8057-E3B5-FCF4C279E594}"/>
              </a:ext>
            </a:extLst>
          </p:cNvPr>
          <p:cNvCxnSpPr>
            <a:cxnSpLocks/>
          </p:cNvCxnSpPr>
          <p:nvPr/>
        </p:nvCxnSpPr>
        <p:spPr>
          <a:xfrm>
            <a:off x="5124265" y="4184653"/>
            <a:ext cx="542387" cy="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3B379FB-1758-B818-6364-078B52A97C35}"/>
              </a:ext>
            </a:extLst>
          </p:cNvPr>
          <p:cNvSpPr txBox="1"/>
          <p:nvPr/>
        </p:nvSpPr>
        <p:spPr>
          <a:xfrm>
            <a:off x="5604136" y="399998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已销毁状态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033AB4-8616-A360-B823-CEA227C28748}"/>
              </a:ext>
            </a:extLst>
          </p:cNvPr>
          <p:cNvSpPr/>
          <p:nvPr/>
        </p:nvSpPr>
        <p:spPr>
          <a:xfrm>
            <a:off x="2736775" y="4463945"/>
            <a:ext cx="913653" cy="209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AA0478F-695B-A441-DFBC-B6F24B133FD2}"/>
              </a:ext>
            </a:extLst>
          </p:cNvPr>
          <p:cNvCxnSpPr>
            <a:cxnSpLocks/>
          </p:cNvCxnSpPr>
          <p:nvPr/>
        </p:nvCxnSpPr>
        <p:spPr>
          <a:xfrm>
            <a:off x="3650428" y="4568702"/>
            <a:ext cx="542387" cy="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D78BAB3-B5D7-3F76-5F97-1D7BF432E5D8}"/>
              </a:ext>
            </a:extLst>
          </p:cNvPr>
          <p:cNvSpPr txBox="1"/>
          <p:nvPr/>
        </p:nvSpPr>
        <p:spPr>
          <a:xfrm>
            <a:off x="4082476" y="4407789"/>
            <a:ext cx="22701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即将进入不执行的状态</a:t>
            </a:r>
          </a:p>
        </p:txBody>
      </p:sp>
    </p:spTree>
    <p:extLst>
      <p:ext uri="{BB962C8B-B14F-4D97-AF65-F5344CB8AC3E}">
        <p14:creationId xmlns:p14="http://schemas.microsoft.com/office/powerpoint/2010/main" val="419925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E2832-2B8F-A8CB-E80B-7A58CF0F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进程的五种典型执行状态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DE66D-AD9D-7294-37E0-6ABD21A22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1800" dirty="0"/>
              <a:t>新生（</a:t>
            </a:r>
            <a:r>
              <a:rPr kumimoji="1" lang="en-US" altLang="zh-CN" sz="1800" dirty="0"/>
              <a:t>new</a:t>
            </a:r>
            <a:r>
              <a:rPr kumimoji="1" lang="zh-CN" altLang="en-US" sz="1800" dirty="0"/>
              <a:t>）：刚调用</a:t>
            </a:r>
            <a:r>
              <a:rPr kumimoji="1" lang="en-US" altLang="zh-CN" sz="1800" dirty="0" err="1"/>
              <a:t>process_create</a:t>
            </a:r>
            <a:endParaRPr kumimoji="1" lang="en-US" altLang="zh-CN" sz="1800" dirty="0"/>
          </a:p>
          <a:p>
            <a:r>
              <a:rPr kumimoji="1" lang="zh-CN" altLang="en-US" sz="1800" dirty="0"/>
              <a:t>就绪（</a:t>
            </a:r>
            <a:r>
              <a:rPr kumimoji="1" lang="en-US" altLang="zh-CN" sz="1800" dirty="0"/>
              <a:t>ready</a:t>
            </a:r>
            <a:r>
              <a:rPr kumimoji="1" lang="zh-CN" altLang="en-US" sz="1800" dirty="0"/>
              <a:t>）：随时准备执行（但暂时没有执行）</a:t>
            </a:r>
            <a:endParaRPr kumimoji="1" lang="en-US" altLang="zh-CN" sz="1800" dirty="0"/>
          </a:p>
          <a:p>
            <a:r>
              <a:rPr kumimoji="1" lang="zh-CN" altLang="en-US" sz="1800" dirty="0"/>
              <a:t>运行（</a:t>
            </a:r>
            <a:r>
              <a:rPr kumimoji="1" lang="en-US" altLang="zh-CN" sz="1800" dirty="0"/>
              <a:t>running</a:t>
            </a:r>
            <a:r>
              <a:rPr kumimoji="1" lang="zh-CN" altLang="en-US" sz="1800" dirty="0"/>
              <a:t>）：正在执行</a:t>
            </a:r>
            <a:endParaRPr kumimoji="1" lang="en-US" altLang="zh-CN" sz="1800" dirty="0"/>
          </a:p>
          <a:p>
            <a:r>
              <a:rPr kumimoji="1" lang="zh-CN" altLang="en-US" sz="1800" dirty="0"/>
              <a:t>僵尸（</a:t>
            </a:r>
            <a:r>
              <a:rPr kumimoji="1" lang="en-US" altLang="zh-CN" sz="1800" dirty="0"/>
              <a:t>zombie</a:t>
            </a:r>
            <a:r>
              <a:rPr kumimoji="1" lang="zh-CN" altLang="en-US" sz="1800" dirty="0"/>
              <a:t>）：退出但未回收</a:t>
            </a:r>
            <a:endParaRPr kumimoji="1" lang="en-US" altLang="zh-CN" sz="1800" dirty="0"/>
          </a:p>
          <a:p>
            <a:r>
              <a:rPr kumimoji="1" lang="zh-CN" altLang="en-US" sz="1800" dirty="0"/>
              <a:t>终止（</a:t>
            </a:r>
            <a:r>
              <a:rPr kumimoji="1" lang="en-US" altLang="zh-CN" sz="1800" dirty="0"/>
              <a:t>terminated</a:t>
            </a:r>
            <a:r>
              <a:rPr kumimoji="1" lang="zh-CN" altLang="en-US" sz="1800" dirty="0"/>
              <a:t>）：退出且被回收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4E171-1549-7905-0AED-11B2C5CD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DD0C6C-F714-CF4C-C8BD-716FC3C7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788501"/>
            <a:ext cx="7772400" cy="181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55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E8DDC-11FF-7340-8E62-714C680C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进程执行状态的典型应用案例：调度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364EE-430E-FC7F-10E5-1C6303FCB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调度的目的：选出下一个</a:t>
            </a:r>
            <a:r>
              <a:rPr kumimoji="1" lang="zh-CN" altLang="en-US" dirty="0">
                <a:solidFill>
                  <a:srgbClr val="FF0000"/>
                </a:solidFill>
              </a:rPr>
              <a:t>可以执行</a:t>
            </a:r>
            <a:r>
              <a:rPr kumimoji="1" lang="zh-CN" altLang="en-US" dirty="0"/>
              <a:t>的进程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可以执行 </a:t>
            </a:r>
            <a:r>
              <a:rPr kumimoji="1" lang="en-US" altLang="zh-CN" dirty="0">
                <a:solidFill>
                  <a:schemeClr val="tx1"/>
                </a:solidFill>
              </a:rPr>
              <a:t>=</a:t>
            </a:r>
            <a:r>
              <a:rPr kumimoji="1" lang="zh-CN" altLang="en-US" dirty="0">
                <a:solidFill>
                  <a:schemeClr val="tx1"/>
                </a:solidFill>
              </a:rPr>
              <a:t> 就绪（</a:t>
            </a:r>
            <a:r>
              <a:rPr kumimoji="1" lang="en-US" altLang="zh-CN" dirty="0">
                <a:solidFill>
                  <a:schemeClr val="tx1"/>
                </a:solidFill>
              </a:rPr>
              <a:t>ready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C33FD-6DBB-4BB6-6354-0AB6EBB3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15E15E-52DA-AC55-4B09-FECC2CB9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90" y="2824443"/>
            <a:ext cx="3502422" cy="2857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38F247-A3F0-8C25-D8B2-280A4AE0F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06" y="2857587"/>
            <a:ext cx="3886200" cy="1782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3244DCE-335C-7EB7-4552-93D2B42EED3A}"/>
              </a:ext>
            </a:extLst>
          </p:cNvPr>
          <p:cNvSpPr txBox="1"/>
          <p:nvPr/>
        </p:nvSpPr>
        <p:spPr>
          <a:xfrm>
            <a:off x="1492003" y="2485889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结构：增加执行状态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8895C4-9769-7BBB-0FAA-E76751720A6C}"/>
              </a:ext>
            </a:extLst>
          </p:cNvPr>
          <p:cNvSpPr/>
          <p:nvPr/>
        </p:nvSpPr>
        <p:spPr>
          <a:xfrm>
            <a:off x="1115616" y="2857500"/>
            <a:ext cx="3226396" cy="3618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AFB6A7-2BC6-E74E-2172-4C9417BCEF3E}"/>
              </a:ext>
            </a:extLst>
          </p:cNvPr>
          <p:cNvSpPr/>
          <p:nvPr/>
        </p:nvSpPr>
        <p:spPr>
          <a:xfrm>
            <a:off x="1110072" y="5138194"/>
            <a:ext cx="3226396" cy="2972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952C2A-1DE4-CAAD-A732-A8A9CE63302B}"/>
              </a:ext>
            </a:extLst>
          </p:cNvPr>
          <p:cNvSpPr txBox="1"/>
          <p:nvPr/>
        </p:nvSpPr>
        <p:spPr>
          <a:xfrm>
            <a:off x="4517209" y="2485889"/>
            <a:ext cx="4182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调度逻辑片段：只选择状态为</a:t>
            </a:r>
            <a:r>
              <a:rPr kumimoji="1" lang="en-US" altLang="zh-CN" sz="1600" b="1" dirty="0"/>
              <a:t>READY</a:t>
            </a:r>
            <a:r>
              <a:rPr kumimoji="1" lang="zh-CN" altLang="en-US" sz="1600" b="1" dirty="0"/>
              <a:t>的进程</a:t>
            </a:r>
          </a:p>
        </p:txBody>
      </p:sp>
    </p:spTree>
    <p:extLst>
      <p:ext uri="{BB962C8B-B14F-4D97-AF65-F5344CB8AC3E}">
        <p14:creationId xmlns:p14="http://schemas.microsoft.com/office/powerpoint/2010/main" val="3635435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LINUX</a:t>
            </a:r>
            <a:r>
              <a:rPr lang="zh-CN" altLang="en-US" dirty="0"/>
              <a:t>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697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0C682-BC5A-D345-9F75-39F8CB4C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经典创建方法：</a:t>
            </a:r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560C6-76A5-2449-8EBC-902ECA85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语义：为调用进程创建一个一模一样的新进程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调用进程为</a:t>
            </a:r>
            <a:r>
              <a:rPr kumimoji="1" lang="zh-CN" altLang="en-US" b="1" dirty="0"/>
              <a:t>父进程</a:t>
            </a:r>
            <a:r>
              <a:rPr kumimoji="1" lang="zh-CN" altLang="en-US" dirty="0"/>
              <a:t>，新进程为</a:t>
            </a:r>
            <a:r>
              <a:rPr kumimoji="1" lang="zh-CN" altLang="en-US" b="1" dirty="0"/>
              <a:t>子进程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接口简单，无需任何参数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后的两个进程均为独立进程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拥有不同的进程</a:t>
            </a:r>
            <a:r>
              <a:rPr kumimoji="1" lang="en-US" altLang="zh-CN" dirty="0"/>
              <a:t>id</a:t>
            </a:r>
          </a:p>
          <a:p>
            <a:pPr lvl="1"/>
            <a:r>
              <a:rPr kumimoji="1" lang="zh-CN" altLang="en-US" dirty="0"/>
              <a:t>可以并行执行，互不干扰（除非使用特定的接口）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父进程和子进程会共享部分数据结构（内存、文件等）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47B83-6E4B-7D49-86B2-D319DDF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B65D-171F-2B44-A426-C59D8DAF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312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创建一模一样的拷贝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例子中父子进程中的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均为</a:t>
            </a:r>
            <a:r>
              <a:rPr kumimoji="1" lang="en-US" altLang="zh-CN" dirty="0"/>
              <a:t>42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13484"/>
            <a:ext cx="4985139" cy="26414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694DBA-BD6E-ABA7-5EDF-3C9C063E2B18}"/>
              </a:ext>
            </a:extLst>
          </p:cNvPr>
          <p:cNvSpPr txBox="1"/>
          <p:nvPr/>
        </p:nvSpPr>
        <p:spPr>
          <a:xfrm>
            <a:off x="4716016" y="397126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674A8C4-003B-B79B-9D65-2727B003F261}"/>
              </a:ext>
            </a:extLst>
          </p:cNvPr>
          <p:cNvCxnSpPr/>
          <p:nvPr/>
        </p:nvCxnSpPr>
        <p:spPr>
          <a:xfrm flipV="1">
            <a:off x="4644008" y="4199117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56C6-D8B3-093C-262B-DFB01CF72FF8}"/>
              </a:ext>
            </a:extLst>
          </p:cNvPr>
          <p:cNvSpPr txBox="1"/>
          <p:nvPr/>
        </p:nvSpPr>
        <p:spPr>
          <a:xfrm>
            <a:off x="4788024" y="43835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659FE07-2D21-F542-E42B-397F0159F701}"/>
              </a:ext>
            </a:extLst>
          </p:cNvPr>
          <p:cNvCxnSpPr/>
          <p:nvPr/>
        </p:nvCxnSpPr>
        <p:spPr>
          <a:xfrm flipV="1">
            <a:off x="4716016" y="4611420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0047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的返回值来分辨父</a:t>
            </a:r>
            <a:r>
              <a:rPr kumimoji="1" lang="en-US" altLang="zh-CN" dirty="0"/>
              <a:t>/</a:t>
            </a:r>
            <a:r>
              <a:rPr kumimoji="1" lang="zh-CN" altLang="en-US" dirty="0"/>
              <a:t>子进程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0:</a:t>
            </a:r>
            <a:r>
              <a:rPr kumimoji="1" lang="zh-CN" altLang="en-US" dirty="0"/>
              <a:t> 子进程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</a:t>
            </a:r>
            <a:r>
              <a:rPr kumimoji="1" lang="en-US" altLang="zh-CN" dirty="0"/>
              <a:t>0</a:t>
            </a:r>
            <a:r>
              <a:rPr kumimoji="1" lang="zh-CN" altLang="en-US" dirty="0"/>
              <a:t>（子进程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）：父进程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895866"/>
            <a:ext cx="4985139" cy="26414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0F9FCFF-273C-1781-B964-6F624F93D45C}"/>
              </a:ext>
            </a:extLst>
          </p:cNvPr>
          <p:cNvSpPr/>
          <p:nvPr/>
        </p:nvSpPr>
        <p:spPr>
          <a:xfrm>
            <a:off x="2843808" y="3956400"/>
            <a:ext cx="720080" cy="14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8337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独立执行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Fork</a:t>
            </a:r>
            <a:r>
              <a:rPr kumimoji="1" lang="zh-CN" altLang="en-US" dirty="0"/>
              <a:t>后父子进程顺序不确定，视调度策略而定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895866"/>
            <a:ext cx="4985139" cy="26414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03CAB2-DA98-0C17-EFCE-800220BBB8A4}"/>
              </a:ext>
            </a:extLst>
          </p:cNvPr>
          <p:cNvSpPr txBox="1"/>
          <p:nvPr/>
        </p:nvSpPr>
        <p:spPr>
          <a:xfrm>
            <a:off x="6573303" y="3210171"/>
            <a:ext cx="183896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child: x=42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parent: x=42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3DF544-525C-9E6F-0606-9AAC1B9A59DE}"/>
              </a:ext>
            </a:extLst>
          </p:cNvPr>
          <p:cNvSpPr txBox="1"/>
          <p:nvPr/>
        </p:nvSpPr>
        <p:spPr>
          <a:xfrm>
            <a:off x="6573303" y="4081243"/>
            <a:ext cx="183896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parent: x=42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child: x=42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F3FA6390-683F-34E2-F47D-F481AF0ABB62}"/>
              </a:ext>
            </a:extLst>
          </p:cNvPr>
          <p:cNvSpPr/>
          <p:nvPr/>
        </p:nvSpPr>
        <p:spPr>
          <a:xfrm>
            <a:off x="5627043" y="3856502"/>
            <a:ext cx="690376" cy="288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5010AE-81FE-E86A-5E71-D66396A9F300}"/>
              </a:ext>
            </a:extLst>
          </p:cNvPr>
          <p:cNvSpPr txBox="1"/>
          <p:nvPr/>
        </p:nvSpPr>
        <p:spPr>
          <a:xfrm>
            <a:off x="6784899" y="280772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两种可能结果</a:t>
            </a:r>
          </a:p>
        </p:txBody>
      </p:sp>
    </p:spTree>
    <p:extLst>
      <p:ext uri="{BB962C8B-B14F-4D97-AF65-F5344CB8AC3E}">
        <p14:creationId xmlns:p14="http://schemas.microsoft.com/office/powerpoint/2010/main" val="2020453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366B1-FED0-BD05-1673-2A715BF1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0A2DE-F0B9-AF2E-F7A0-39386998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为了“一模一样”，将父进程的</a:t>
            </a:r>
            <a:r>
              <a:rPr kumimoji="1" lang="en-US" altLang="zh-CN" dirty="0"/>
              <a:t>PCB</a:t>
            </a:r>
            <a:r>
              <a:rPr kumimoji="1" lang="zh-CN" altLang="en-US" dirty="0"/>
              <a:t>拷贝一份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、内核栈、处理器上下文（假设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结构为第一版）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实现比较简单（早期只需</a:t>
            </a:r>
            <a:r>
              <a:rPr kumimoji="1" lang="en-US" altLang="zh-CN" dirty="0"/>
              <a:t>27</a:t>
            </a:r>
            <a:r>
              <a:rPr kumimoji="1" lang="zh-CN" altLang="en-US" dirty="0"/>
              <a:t>行汇编即可实现！）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A11817-FCE6-2E7F-9B07-903203FF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1B75CC-334D-578E-15A1-6C8A125D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66" y="2855776"/>
            <a:ext cx="5380068" cy="259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631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6A2CB-0543-A945-B019-813C6331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的优缺点分析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F39A1-D336-3544-989F-5890E225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接口非常简洁，（过去）实现简单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将进程“创建”和“执行”（</a:t>
            </a:r>
            <a:r>
              <a:rPr kumimoji="1" lang="en-US" altLang="zh-CN" dirty="0"/>
              <a:t>exec</a:t>
            </a:r>
            <a:r>
              <a:rPr kumimoji="1" lang="zh-CN" altLang="en-US" dirty="0"/>
              <a:t>）解耦，提高了灵活度</a:t>
            </a:r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的缺点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创建拷贝的复杂度与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复杂度相关（如今越来越复杂）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完全拷贝过于粗暴（不如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性能差、可扩展性差（不如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spawn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不可组合性</a:t>
            </a:r>
            <a:r>
              <a:rPr kumimoji="1" lang="en-US" altLang="zh-CN" dirty="0"/>
              <a:t> (</a:t>
            </a:r>
            <a:r>
              <a:rPr kumimoji="1" lang="zh-CN" altLang="en-US" dirty="0"/>
              <a:t>例如：</a:t>
            </a:r>
            <a:r>
              <a:rPr kumimoji="1" lang="en-US" altLang="zh-CN" dirty="0"/>
              <a:t>fork() + </a:t>
            </a:r>
            <a:r>
              <a:rPr kumimoji="1" lang="en-US" altLang="zh-CN" dirty="0" err="1"/>
              <a:t>pthread</a:t>
            </a:r>
            <a:r>
              <a:rPr kumimoji="1" lang="en-US" altLang="zh-CN" dirty="0"/>
              <a:t>())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909AE-72A6-C640-A420-49B8442B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B6FE4-A0F8-4F48-8C98-4B6AA6E4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290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C6-A154-764E-B7E1-80A126BD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DCE4-84F1-5040-B1C9-C62E6C26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：类似于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，但让父子进程共享同一地址空间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优点：连映射都不需要拷贝，性能更好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只能用在“</a:t>
            </a:r>
            <a:r>
              <a:rPr kumimoji="1" lang="en-US" altLang="zh-CN" sz="1800" dirty="0"/>
              <a:t>fork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exec</a:t>
            </a:r>
            <a:r>
              <a:rPr kumimoji="1" lang="zh-CN" altLang="en-US" sz="1800" dirty="0"/>
              <a:t>”的场景中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共享地址空间存在安全问题</a:t>
            </a:r>
            <a:endParaRPr kumimoji="1" lang="en-US" altLang="zh-CN" sz="1800" dirty="0"/>
          </a:p>
          <a:p>
            <a:r>
              <a:rPr kumimoji="1" lang="zh-CN" altLang="en-US" dirty="0"/>
              <a:t>轶事：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的提出最初就是为了解决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的性能问题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但写时拷贝拯救了</a:t>
            </a:r>
            <a:r>
              <a:rPr kumimoji="1" lang="en-US" altLang="zh-CN" dirty="0"/>
              <a:t>fork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78947-AE6B-F647-B35C-361DF3FE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06EEE-1640-1F41-B550-9AB6DFE16929}"/>
              </a:ext>
            </a:extLst>
          </p:cNvPr>
          <p:cNvSpPr txBox="1"/>
          <p:nvPr/>
        </p:nvSpPr>
        <p:spPr>
          <a:xfrm>
            <a:off x="970620" y="4448217"/>
            <a:ext cx="71287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Since this function is hard to use correctly from application software, it is recommended to use </a:t>
            </a:r>
            <a:r>
              <a:rPr kumimoji="1" lang="en-US" altLang="zh-CN" dirty="0" err="1">
                <a:solidFill>
                  <a:srgbClr val="C00000"/>
                </a:solidFill>
              </a:rPr>
              <a:t>posix_spawn</a:t>
            </a:r>
            <a:r>
              <a:rPr kumimoji="1" lang="en-US" altLang="zh-CN" dirty="0">
                <a:solidFill>
                  <a:srgbClr val="C00000"/>
                </a:solidFill>
              </a:rPr>
              <a:t>(3) or fork(2) instead.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16078-B69D-9949-852D-E744EC421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9850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77A51-13C5-2A44-9458-42D41F96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31E8A-6826-934E-87D5-15ED043D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posix_spawn:</a:t>
            </a:r>
            <a:r>
              <a:rPr kumimoji="1" lang="zh-CN" altLang="en-US"/>
              <a:t> 相当于</a:t>
            </a:r>
            <a:r>
              <a:rPr kumimoji="1" lang="en-US" altLang="zh-CN"/>
              <a:t>fork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exec</a:t>
            </a:r>
          </a:p>
          <a:p>
            <a:pPr lvl="1"/>
            <a:r>
              <a:rPr kumimoji="1" lang="zh-CN" altLang="en-US"/>
              <a:t>优点：可扩展性、性能较好</a:t>
            </a:r>
            <a:endParaRPr kumimoji="1" lang="en-US" altLang="zh-CN"/>
          </a:p>
          <a:p>
            <a:pPr lvl="1"/>
            <a:r>
              <a:rPr kumimoji="1" lang="zh-CN" altLang="en-US"/>
              <a:t>缺点：不如</a:t>
            </a:r>
            <a:r>
              <a:rPr kumimoji="1" lang="en-US" altLang="zh-CN"/>
              <a:t>fork</a:t>
            </a:r>
            <a:r>
              <a:rPr kumimoji="1" lang="zh-CN" altLang="en-US"/>
              <a:t>灵活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clone:</a:t>
            </a:r>
            <a:r>
              <a:rPr kumimoji="1" lang="zh-CN" altLang="en-US"/>
              <a:t> </a:t>
            </a:r>
            <a:r>
              <a:rPr kumimoji="1" lang="en-US" altLang="zh-CN"/>
              <a:t>fork</a:t>
            </a:r>
            <a:r>
              <a:rPr kumimoji="1" lang="zh-CN" altLang="en-US"/>
              <a:t>的“进阶版”，可以选择性地不拷贝内存</a:t>
            </a:r>
            <a:endParaRPr kumimoji="1" lang="en-US" altLang="zh-CN"/>
          </a:p>
          <a:p>
            <a:pPr lvl="1"/>
            <a:r>
              <a:rPr kumimoji="1" lang="zh-CN" altLang="en-US"/>
              <a:t>优点：高度可控，可依照需求调整</a:t>
            </a:r>
            <a:endParaRPr kumimoji="1" lang="en-US" altLang="zh-CN"/>
          </a:p>
          <a:p>
            <a:pPr lvl="1"/>
            <a:r>
              <a:rPr kumimoji="1" lang="zh-CN" altLang="en-US"/>
              <a:t>缺点：接口比</a:t>
            </a:r>
            <a:r>
              <a:rPr kumimoji="1" lang="en-US" altLang="zh-CN"/>
              <a:t>fork</a:t>
            </a:r>
            <a:r>
              <a:rPr kumimoji="1" lang="zh-CN" altLang="en-US"/>
              <a:t>复杂，选择性拷贝容易出错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5F4C8-ABAF-CE48-8760-EA836A74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051D7-7459-C54D-B438-A99F75FF5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4789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 err="1"/>
              <a:t>ChCore</a:t>
            </a:r>
            <a:r>
              <a:rPr lang="zh-CN" altLang="en-US" dirty="0"/>
              <a:t>微内核进程管理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274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5FCE7-6D75-E766-939D-6C82064C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回顾：微内核的解耦设计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66BAF-4AE9-53C0-19EB-9CE39A89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与宏内核相比，微内核把操作系统功能解耦并移到用户态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称为系统服务（如内存管理服务）</a:t>
            </a:r>
            <a:endParaRPr kumimoji="1" lang="en-US" altLang="zh-CN" dirty="0"/>
          </a:p>
          <a:p>
            <a:r>
              <a:rPr kumimoji="1" lang="zh-CN" altLang="en-US" dirty="0"/>
              <a:t>进程管理也不例外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ChCore</a:t>
            </a:r>
            <a:r>
              <a:rPr kumimoji="1" lang="zh-CN" altLang="en-US" dirty="0"/>
              <a:t>提供了进程管理的模块：</a:t>
            </a:r>
            <a:r>
              <a:rPr kumimoji="1" lang="zh-CN" altLang="en-US" b="1" dirty="0"/>
              <a:t>进程管理器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宏内核中的数据结构（如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）也相应要解耦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E0CE2B-4C8D-AF76-9E48-4547053D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0665EFD-3D1A-12EA-DF20-74C7CEEADE40}"/>
              </a:ext>
            </a:extLst>
          </p:cNvPr>
          <p:cNvSpPr/>
          <p:nvPr/>
        </p:nvSpPr>
        <p:spPr>
          <a:xfrm>
            <a:off x="3257854" y="4882968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A114A4A-7C80-BB0A-885D-3147E5E10CC3}"/>
              </a:ext>
            </a:extLst>
          </p:cNvPr>
          <p:cNvCxnSpPr>
            <a:cxnSpLocks/>
          </p:cNvCxnSpPr>
          <p:nvPr/>
        </p:nvCxnSpPr>
        <p:spPr>
          <a:xfrm>
            <a:off x="2519772" y="4767261"/>
            <a:ext cx="21962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62E5AEB-3D16-2AF5-8A53-FF8AFCD6EDEF}"/>
              </a:ext>
            </a:extLst>
          </p:cNvPr>
          <p:cNvSpPr txBox="1"/>
          <p:nvPr/>
        </p:nvSpPr>
        <p:spPr>
          <a:xfrm>
            <a:off x="2999292" y="52319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微内核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51BEA0C-67B9-58AB-FE2D-56DB77993609}"/>
              </a:ext>
            </a:extLst>
          </p:cNvPr>
          <p:cNvSpPr/>
          <p:nvPr/>
        </p:nvSpPr>
        <p:spPr>
          <a:xfrm>
            <a:off x="2843808" y="4335213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2FF78F-673A-666A-C9BB-97FD0094CF6D}"/>
              </a:ext>
            </a:extLst>
          </p:cNvPr>
          <p:cNvSpPr/>
          <p:nvPr/>
        </p:nvSpPr>
        <p:spPr>
          <a:xfrm>
            <a:off x="3329861" y="4210906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2FCA355-3B9A-FD3E-51D4-F8CF2086263F}"/>
              </a:ext>
            </a:extLst>
          </p:cNvPr>
          <p:cNvSpPr/>
          <p:nvPr/>
        </p:nvSpPr>
        <p:spPr>
          <a:xfrm>
            <a:off x="3768443" y="4467424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098BDE-524D-0824-6271-9A61B42EBD31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951820" y="4551237"/>
            <a:ext cx="358761" cy="3844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6DABC77-FA71-C5A4-D86D-47C8908AB00F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3437873" y="4426930"/>
            <a:ext cx="1" cy="4560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98B36D2-E721-C08D-0509-756FE67D9F6D}"/>
              </a:ext>
            </a:extLst>
          </p:cNvPr>
          <p:cNvCxnSpPr>
            <a:cxnSpLocks/>
            <a:stCxn id="5" idx="7"/>
            <a:endCxn id="17" idx="3"/>
          </p:cNvCxnSpPr>
          <p:nvPr/>
        </p:nvCxnSpPr>
        <p:spPr>
          <a:xfrm flipV="1">
            <a:off x="3565167" y="4651812"/>
            <a:ext cx="234912" cy="2838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415A8-E2E7-C883-0963-00CAD0C30B1F}"/>
              </a:ext>
            </a:extLst>
          </p:cNvPr>
          <p:cNvSpPr txBox="1"/>
          <p:nvPr/>
        </p:nvSpPr>
        <p:spPr>
          <a:xfrm>
            <a:off x="3617894" y="41324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进程管理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2E2601-7E13-B736-18F0-9F57C6BE9417}"/>
              </a:ext>
            </a:extLst>
          </p:cNvPr>
          <p:cNvSpPr txBox="1"/>
          <p:nvPr/>
        </p:nvSpPr>
        <p:spPr>
          <a:xfrm>
            <a:off x="2999292" y="38765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文件管理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468070-BDF8-E515-6AF2-0C3BB032BE63}"/>
              </a:ext>
            </a:extLst>
          </p:cNvPr>
          <p:cNvSpPr txBox="1"/>
          <p:nvPr/>
        </p:nvSpPr>
        <p:spPr>
          <a:xfrm>
            <a:off x="2337040" y="4057017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内存管理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0A6EFA-9D56-5AEF-81B0-3A92943C839F}"/>
              </a:ext>
            </a:extLst>
          </p:cNvPr>
          <p:cNvSpPr txBox="1"/>
          <p:nvPr/>
        </p:nvSpPr>
        <p:spPr>
          <a:xfrm>
            <a:off x="3984467" y="47608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内核态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366B505-E71D-B984-656C-018409CA363A}"/>
              </a:ext>
            </a:extLst>
          </p:cNvPr>
          <p:cNvSpPr txBox="1"/>
          <p:nvPr/>
        </p:nvSpPr>
        <p:spPr>
          <a:xfrm>
            <a:off x="3989335" y="444662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用户态</a:t>
            </a:r>
          </a:p>
        </p:txBody>
      </p:sp>
    </p:spTree>
    <p:extLst>
      <p:ext uri="{BB962C8B-B14F-4D97-AF65-F5344CB8AC3E}">
        <p14:creationId xmlns:p14="http://schemas.microsoft.com/office/powerpoint/2010/main" val="3935725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AB372-15AB-59B7-0EDF-51B7CFE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PCB</a:t>
            </a:r>
            <a:r>
              <a:rPr kumimoji="1" lang="zh-CN" altLang="en-US" dirty="0"/>
              <a:t>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31876-A96B-1CF5-1D2C-BF022BA8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内核态：</a:t>
            </a:r>
            <a:r>
              <a:rPr kumimoji="1" lang="en-US" altLang="zh-CN" dirty="0" err="1"/>
              <a:t>cap_group</a:t>
            </a:r>
            <a:r>
              <a:rPr kumimoji="1" lang="en-US" altLang="zh-CN" dirty="0"/>
              <a:t> (</a:t>
            </a:r>
            <a:r>
              <a:rPr kumimoji="1" lang="zh-CN" altLang="en-US" dirty="0"/>
              <a:t>能力组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将资源（进程、内核栈、虚拟地址空间）均抽象为对象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访问对象的凭证称为</a:t>
            </a:r>
            <a:r>
              <a:rPr kumimoji="1" lang="zh-CN" altLang="en-US" b="1" dirty="0">
                <a:solidFill>
                  <a:srgbClr val="C00000"/>
                </a:solidFill>
              </a:rPr>
              <a:t>能力</a:t>
            </a:r>
            <a:r>
              <a:rPr kumimoji="1" lang="zh-CN" altLang="en-US" dirty="0"/>
              <a:t>，而进程是分配和管理资源的基本单位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F147D-D6C4-6CB9-0556-7C951773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FBCAE5-A23A-304B-B3FF-6C8C1DA5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36" y="2945424"/>
            <a:ext cx="5038328" cy="27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803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AB372-15AB-59B7-0EDF-51B7CFE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PCB</a:t>
            </a:r>
            <a:r>
              <a:rPr kumimoji="1" lang="zh-CN" altLang="en-US" dirty="0"/>
              <a:t>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31876-A96B-1CF5-1D2C-BF022BA8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内核态：</a:t>
            </a:r>
            <a:r>
              <a:rPr kumimoji="1" lang="en-US" altLang="zh-CN" dirty="0" err="1"/>
              <a:t>cap_group</a:t>
            </a:r>
            <a:r>
              <a:rPr kumimoji="1" lang="en-US" altLang="zh-CN" dirty="0"/>
              <a:t> (</a:t>
            </a:r>
            <a:r>
              <a:rPr kumimoji="1" lang="zh-CN" altLang="en-US" dirty="0"/>
              <a:t>能力组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用户态：</a:t>
            </a:r>
            <a:r>
              <a:rPr kumimoji="1" lang="en-US" altLang="zh-CN" dirty="0"/>
              <a:t>proc</a:t>
            </a:r>
          </a:p>
          <a:p>
            <a:pPr lvl="1"/>
            <a:r>
              <a:rPr kumimoji="1" lang="zh-CN" altLang="en-US" dirty="0"/>
              <a:t>除内核中的资源（如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）均移到用户态管理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F147D-D6C4-6CB9-0556-7C951773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FBCAE5-A23A-304B-B3FF-6C8C1DA5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36" y="2945424"/>
            <a:ext cx="5038328" cy="27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430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0BF4D-EFD2-E2C7-3DF3-DEA14948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ChChore</a:t>
            </a:r>
            <a:r>
              <a:rPr kumimoji="1" lang="zh-CN" altLang="en-US" dirty="0"/>
              <a:t>的进程创建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15F6D-5FF1-5BEE-8733-3AD31CF4F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逻辑与</a:t>
            </a:r>
            <a:r>
              <a:rPr kumimoji="1" lang="en-US" altLang="zh-CN" dirty="0" err="1"/>
              <a:t>process_create</a:t>
            </a:r>
            <a:r>
              <a:rPr kumimoji="1" lang="zh-CN" altLang="en-US" dirty="0"/>
              <a:t>相似，但使用</a:t>
            </a:r>
            <a:r>
              <a:rPr kumimoji="1" lang="zh-CN" altLang="en-US" dirty="0">
                <a:solidFill>
                  <a:srgbClr val="C00000"/>
                </a:solidFill>
              </a:rPr>
              <a:t>微内核</a:t>
            </a:r>
            <a:r>
              <a:rPr kumimoji="1" lang="zh-CN" altLang="en-US" dirty="0"/>
              <a:t>风格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很多功能都在用户态完成！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C5BC6-DC37-7C5A-ACC0-1FBB8615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AB4542-FBF0-7AA8-0BB1-087CA53DF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97" y="2290728"/>
            <a:ext cx="3480408" cy="3424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74616E-9D67-9660-9264-49966EA62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491" y="2731062"/>
            <a:ext cx="4260037" cy="24699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6903E3-8EEE-99FA-958B-8881E1EEE96D}"/>
              </a:ext>
            </a:extLst>
          </p:cNvPr>
          <p:cNvSpPr txBox="1"/>
          <p:nvPr/>
        </p:nvSpPr>
        <p:spPr>
          <a:xfrm>
            <a:off x="4724402" y="2392508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只有分配更多资源（如物理内存）才进入内核</a:t>
            </a:r>
          </a:p>
        </p:txBody>
      </p:sp>
      <p:sp>
        <p:nvSpPr>
          <p:cNvPr id="8" name="左中括号 7">
            <a:extLst>
              <a:ext uri="{FF2B5EF4-FFF2-40B4-BE49-F238E27FC236}">
                <a16:creationId xmlns:a16="http://schemas.microsoft.com/office/drawing/2014/main" id="{89A5E7C3-004C-665A-0C6F-D8D9CFB9941B}"/>
              </a:ext>
            </a:extLst>
          </p:cNvPr>
          <p:cNvSpPr/>
          <p:nvPr/>
        </p:nvSpPr>
        <p:spPr>
          <a:xfrm>
            <a:off x="850596" y="3073524"/>
            <a:ext cx="48995" cy="36743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8E6033-B5FE-B206-CF9C-8620AA9FD3C1}"/>
              </a:ext>
            </a:extLst>
          </p:cNvPr>
          <p:cNvSpPr txBox="1"/>
          <p:nvPr/>
        </p:nvSpPr>
        <p:spPr>
          <a:xfrm>
            <a:off x="50086" y="3032761"/>
            <a:ext cx="81304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进程创建</a:t>
            </a:r>
            <a:endParaRPr kumimoji="1" lang="en-US" altLang="zh-CN" sz="1050" b="1" dirty="0"/>
          </a:p>
          <a:p>
            <a:pPr algn="ctr"/>
            <a:r>
              <a:rPr kumimoji="1" lang="zh-CN" altLang="en-US" sz="700" b="1" dirty="0"/>
              <a:t>（包括内核数据</a:t>
            </a:r>
            <a:endParaRPr kumimoji="1" lang="en-US" altLang="zh-CN" sz="700" b="1" dirty="0"/>
          </a:p>
          <a:p>
            <a:pPr algn="ctr"/>
            <a:r>
              <a:rPr kumimoji="1" lang="zh-CN" altLang="en-US" sz="700" b="1" dirty="0"/>
              <a:t>结构初始化）</a:t>
            </a:r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0DA0E474-5202-0C8F-C96A-DCC578276408}"/>
              </a:ext>
            </a:extLst>
          </p:cNvPr>
          <p:cNvSpPr/>
          <p:nvPr/>
        </p:nvSpPr>
        <p:spPr>
          <a:xfrm>
            <a:off x="850596" y="3709523"/>
            <a:ext cx="58862" cy="102846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3B1587-CB94-8D89-187C-63301658DA1A}"/>
              </a:ext>
            </a:extLst>
          </p:cNvPr>
          <p:cNvSpPr txBox="1"/>
          <p:nvPr/>
        </p:nvSpPr>
        <p:spPr>
          <a:xfrm>
            <a:off x="31796" y="4042333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准备运行时</a:t>
            </a:r>
            <a:endParaRPr kumimoji="1" lang="en-US" altLang="zh-CN" sz="1050" b="1" dirty="0"/>
          </a:p>
          <a:p>
            <a:pPr algn="ctr"/>
            <a:r>
              <a:rPr kumimoji="1" lang="zh-CN" altLang="en-US" sz="1050" b="1" dirty="0"/>
              <a:t>环境</a:t>
            </a:r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10FFE52D-FD62-448C-73A0-CDB823AF1C26}"/>
              </a:ext>
            </a:extLst>
          </p:cNvPr>
          <p:cNvSpPr/>
          <p:nvPr/>
        </p:nvSpPr>
        <p:spPr>
          <a:xfrm>
            <a:off x="846825" y="4806841"/>
            <a:ext cx="58862" cy="6792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92B70C-DB55-A4BA-ACED-D9910EAFE652}"/>
              </a:ext>
            </a:extLst>
          </p:cNvPr>
          <p:cNvSpPr txBox="1"/>
          <p:nvPr/>
        </p:nvSpPr>
        <p:spPr>
          <a:xfrm>
            <a:off x="31801" y="4938026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可执行文件</a:t>
            </a:r>
            <a:endParaRPr kumimoji="1" lang="en-US" altLang="zh-CN" sz="1050" b="1" dirty="0"/>
          </a:p>
          <a:p>
            <a:pPr algn="ctr"/>
            <a:r>
              <a:rPr kumimoji="1" lang="zh-CN" altLang="en-US" sz="1050" b="1" dirty="0"/>
              <a:t>加载</a:t>
            </a:r>
          </a:p>
        </p:txBody>
      </p:sp>
    </p:spTree>
    <p:extLst>
      <p:ext uri="{BB962C8B-B14F-4D97-AF65-F5344CB8AC3E}">
        <p14:creationId xmlns:p14="http://schemas.microsoft.com/office/powerpoint/2010/main" val="29668806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进程切换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568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基本步骤 </a:t>
            </a:r>
            <a:r>
              <a:rPr lang="en-US" altLang="zh-CN" dirty="0"/>
              <a:t>– </a:t>
            </a:r>
            <a:r>
              <a:rPr lang="zh-CN" altLang="en-US" dirty="0"/>
              <a:t>处理器上下文结构 </a:t>
            </a:r>
            <a:r>
              <a:rPr lang="en-US" altLang="zh-CN" dirty="0"/>
              <a:t>–</a:t>
            </a:r>
            <a:r>
              <a:rPr lang="zh-CN" altLang="en-US" dirty="0"/>
              <a:t> 切换过程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7333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需要进出内核，共包含五个步骤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进入内核态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b="1" dirty="0">
                <a:solidFill>
                  <a:srgbClr val="C00000"/>
                </a:solidFill>
              </a:rPr>
              <a:t>处理器上下文</a:t>
            </a:r>
            <a:r>
              <a:rPr kumimoji="1" lang="zh-CN" altLang="en-US" dirty="0"/>
              <a:t>保存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b="1" dirty="0">
                <a:solidFill>
                  <a:srgbClr val="C00000"/>
                </a:solidFill>
              </a:rPr>
              <a:t>进程上下文</a:t>
            </a:r>
            <a:r>
              <a:rPr kumimoji="1" lang="zh-CN" altLang="en-US" dirty="0"/>
              <a:t>切换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b="1" dirty="0">
                <a:solidFill>
                  <a:srgbClr val="C00000"/>
                </a:solidFill>
              </a:rPr>
              <a:t>处理器上下文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dirty="0"/>
              <a:t>返回用户态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2ABFB5-63C4-F51F-FF36-E2B64A3D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417340"/>
            <a:ext cx="3549807" cy="35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542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DBF41-0996-1C6C-8842-7E26E12D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处理器上下文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进程上下文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A1030-0F6A-B81A-18DE-EB9D38D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有两个“上下文”概念，如何辨析？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处理器上下文：用于保存切换时的寄存器状态（</a:t>
            </a:r>
            <a:r>
              <a:rPr kumimoji="1" lang="zh-CN" altLang="en-US" b="1" dirty="0"/>
              <a:t>硬件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在每个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中均有保存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进程上下文：表示目前正以哪个进程的身份运行（</a:t>
            </a:r>
            <a:r>
              <a:rPr kumimoji="1" lang="zh-CN" altLang="en-US" b="1" dirty="0"/>
              <a:t>软件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通常使用一个指向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的全局指针表示（代码中的</a:t>
            </a:r>
            <a:r>
              <a:rPr kumimoji="1" lang="en-US" altLang="zh-CN" dirty="0" err="1"/>
              <a:t>curr_proc</a:t>
            </a:r>
            <a:r>
              <a:rPr kumimoji="1" lang="en-US" altLang="zh-CN" dirty="0"/>
              <a:t>)</a:t>
            </a:r>
          </a:p>
          <a:p>
            <a:pPr lvl="1"/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D0159-1C66-441A-377A-5D4FB07F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9E7B4A-5B6A-4FC1-A4AC-7AA011ABA7AE}"/>
              </a:ext>
            </a:extLst>
          </p:cNvPr>
          <p:cNvSpPr/>
          <p:nvPr/>
        </p:nvSpPr>
        <p:spPr>
          <a:xfrm>
            <a:off x="1259632" y="436942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D03D17-C8E0-DC17-CFA6-0D5E7EF9B5EA}"/>
              </a:ext>
            </a:extLst>
          </p:cNvPr>
          <p:cNvSpPr txBox="1"/>
          <p:nvPr/>
        </p:nvSpPr>
        <p:spPr>
          <a:xfrm>
            <a:off x="1330110" y="442110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53C2A7-6CC9-9098-85E8-9DF0E79F514D}"/>
              </a:ext>
            </a:extLst>
          </p:cNvPr>
          <p:cNvSpPr/>
          <p:nvPr/>
        </p:nvSpPr>
        <p:spPr>
          <a:xfrm>
            <a:off x="2598051" y="395767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FA50FD-29BD-DC47-2944-D2E74D97D60B}"/>
              </a:ext>
            </a:extLst>
          </p:cNvPr>
          <p:cNvSpPr txBox="1"/>
          <p:nvPr/>
        </p:nvSpPr>
        <p:spPr>
          <a:xfrm>
            <a:off x="2553914" y="395200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1E52D4-D226-1805-A75A-564EE24DEE0A}"/>
              </a:ext>
            </a:extLst>
          </p:cNvPr>
          <p:cNvSpPr/>
          <p:nvPr/>
        </p:nvSpPr>
        <p:spPr>
          <a:xfrm>
            <a:off x="2585762" y="444567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2DDB6-3870-C0DB-4E61-8D1C3456CB92}"/>
              </a:ext>
            </a:extLst>
          </p:cNvPr>
          <p:cNvSpPr txBox="1"/>
          <p:nvPr/>
        </p:nvSpPr>
        <p:spPr>
          <a:xfrm>
            <a:off x="2698185" y="445162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009EE-6CA2-85D6-F474-B21CAFC9892D}"/>
              </a:ext>
            </a:extLst>
          </p:cNvPr>
          <p:cNvSpPr/>
          <p:nvPr/>
        </p:nvSpPr>
        <p:spPr>
          <a:xfrm>
            <a:off x="2581868" y="493394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48E5A0-C59F-D5AA-6685-0B9F0C2B319E}"/>
              </a:ext>
            </a:extLst>
          </p:cNvPr>
          <p:cNvSpPr txBox="1"/>
          <p:nvPr/>
        </p:nvSpPr>
        <p:spPr>
          <a:xfrm>
            <a:off x="2781388" y="4955832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rgbClr val="C00000"/>
                </a:solidFill>
              </a:rPr>
              <a:t>ctx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41680E-2D00-ABDD-1CAA-C27AB235053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072569" y="411776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53EEC66-8F15-BFF8-C1A6-10985394B03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072569" y="460577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1ED68E7-D58C-0158-344A-F0D5B18D3B1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072569" y="460577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5188F9F-76B5-FD56-6E93-B2141970D9F9}"/>
              </a:ext>
            </a:extLst>
          </p:cNvPr>
          <p:cNvSpPr txBox="1"/>
          <p:nvPr/>
        </p:nvSpPr>
        <p:spPr>
          <a:xfrm>
            <a:off x="3423658" y="492763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处理器上下文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CC2B2A1-FB7F-106A-70B2-B2BFA2D5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134" y="3595090"/>
            <a:ext cx="3076543" cy="202136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66F4940-1574-6DEE-5772-803D3E3F53EF}"/>
              </a:ext>
            </a:extLst>
          </p:cNvPr>
          <p:cNvSpPr/>
          <p:nvPr/>
        </p:nvSpPr>
        <p:spPr>
          <a:xfrm>
            <a:off x="6084168" y="4009628"/>
            <a:ext cx="648072" cy="1499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3CF187-9F8B-FBD6-D9CE-022C08E58965}"/>
              </a:ext>
            </a:extLst>
          </p:cNvPr>
          <p:cNvSpPr txBox="1"/>
          <p:nvPr/>
        </p:nvSpPr>
        <p:spPr>
          <a:xfrm>
            <a:off x="7271748" y="381505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进程上下文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B054BE5-8637-9B71-19EE-D8BD6264BBA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6732240" y="3968948"/>
            <a:ext cx="539508" cy="1156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475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55156-AFAD-4D11-DDCC-80F2920C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回顾：处理器上下文的结构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36D55E-5870-CAF3-2BC5-5800EEF4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/>
          <a:lstStyle/>
          <a:p>
            <a:r>
              <a:rPr kumimoji="1" lang="zh-CN" altLang="en-US" dirty="0"/>
              <a:t>哪些寄存器是需要保存的？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通用寄存器：所有（</a:t>
            </a:r>
            <a:r>
              <a:rPr kumimoji="1" lang="en-US" altLang="zh-CN" dirty="0"/>
              <a:t>X0-X30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特殊寄存器：</a:t>
            </a:r>
            <a:r>
              <a:rPr kumimoji="1" lang="en-US" altLang="zh-CN" dirty="0"/>
              <a:t>SP_EL0 (</a:t>
            </a:r>
            <a:r>
              <a:rPr kumimoji="1" lang="zh-CN" altLang="en-US" dirty="0"/>
              <a:t>栈寄存器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系统寄存器：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（对应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</a:t>
            </a:r>
            <a:r>
              <a:rPr kumimoji="1" lang="en-US" altLang="zh-CN" dirty="0"/>
              <a:t>, SPSR_EL1</a:t>
            </a:r>
            <a:r>
              <a:rPr kumimoji="1" lang="zh-CN" altLang="en-US" dirty="0"/>
              <a:t>（对应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B073D-1BDC-881C-30EE-2657E758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CFFB6-E8A2-B349-8D4D-2BA3AA41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186838"/>
            <a:ext cx="4435872" cy="238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386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18AB0-D81C-2F0C-0594-73D1DE20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进程的切换节点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BA1C3-87DF-0527-4D89-3EB671404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前文已经提到：所有调用</a:t>
            </a:r>
            <a:r>
              <a:rPr kumimoji="1" lang="en-US" altLang="zh-CN" dirty="0"/>
              <a:t>schedule()</a:t>
            </a:r>
            <a:r>
              <a:rPr kumimoji="1" lang="zh-CN" altLang="en-US" dirty="0"/>
              <a:t>的地方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告知内核选择下一个执行的进程，也就涉及到了进程的</a:t>
            </a:r>
            <a:r>
              <a:rPr kumimoji="1" lang="zh-CN" altLang="en-US" b="1" dirty="0"/>
              <a:t>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6E431-21A1-4F02-43A2-4D296688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95710E-61C4-4CAF-4DE4-710906E2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275338"/>
            <a:ext cx="3560080" cy="1925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5553B1-1B7B-EE6F-B2C5-E9460715F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056286"/>
            <a:ext cx="4894312" cy="23638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932819-83B8-2C3F-0146-6002BC9F1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074" y="2497210"/>
            <a:ext cx="3663979" cy="323949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6EBDCB-056B-E08F-79E7-DB434EBF1312}"/>
              </a:ext>
            </a:extLst>
          </p:cNvPr>
          <p:cNvSpPr/>
          <p:nvPr/>
        </p:nvSpPr>
        <p:spPr>
          <a:xfrm>
            <a:off x="467544" y="4845600"/>
            <a:ext cx="100811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8A0376-8F46-0EFC-97C6-A74282B0C563}"/>
              </a:ext>
            </a:extLst>
          </p:cNvPr>
          <p:cNvSpPr/>
          <p:nvPr/>
        </p:nvSpPr>
        <p:spPr>
          <a:xfrm>
            <a:off x="3131840" y="4309491"/>
            <a:ext cx="100811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94EA14-0EEF-ED00-0A92-29B0615D42AA}"/>
              </a:ext>
            </a:extLst>
          </p:cNvPr>
          <p:cNvSpPr/>
          <p:nvPr/>
        </p:nvSpPr>
        <p:spPr>
          <a:xfrm>
            <a:off x="6200298" y="4701584"/>
            <a:ext cx="819974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4756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进程切换的全过程（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p0</a:t>
            </a:r>
            <a:r>
              <a:rPr kumimoji="1" lang="zh-CN" altLang="en-US" dirty="0"/>
              <a:t>进入内核态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由硬件完成部分寄存器保存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分别自动保存到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588315-A365-1729-8218-FC591E9D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35" y="2428066"/>
            <a:ext cx="4371330" cy="313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12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2</a:t>
            </a:r>
            <a:r>
              <a:rPr kumimoji="1" lang="zh-CN" altLang="en-US" sz="3000" dirty="0"/>
              <a:t>）：</a:t>
            </a:r>
            <a:r>
              <a:rPr kumimoji="1" lang="en-US" altLang="zh-CN" sz="3000" dirty="0"/>
              <a:t>p0</a:t>
            </a:r>
            <a:r>
              <a:rPr kumimoji="1" lang="zh-CN" altLang="en-US" sz="3000" dirty="0"/>
              <a:t>处理器上下文保存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将处理器中的寄存器值保存到处理器上下文对应的位置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BF13F9-B8B0-132B-E1F7-A62F555F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50" y="2457783"/>
            <a:ext cx="4354196" cy="30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067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3.1</a:t>
            </a:r>
            <a:r>
              <a:rPr kumimoji="1" lang="zh-CN" altLang="en-US" sz="3000" dirty="0"/>
              <a:t>）：虚拟地址空间切换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设置页表相关寄存器（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中保存的页表基地址赋值给</a:t>
            </a:r>
            <a:r>
              <a:rPr kumimoji="1" lang="en-US" altLang="zh-CN" dirty="0"/>
              <a:t>TTBR0_EL1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27E23C-3AB6-D5C9-57B2-B5326FF8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709798"/>
            <a:ext cx="3971527" cy="27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57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3.2</a:t>
            </a:r>
            <a:r>
              <a:rPr kumimoji="1" lang="zh-CN" altLang="en-US" sz="3200" dirty="0"/>
              <a:t>）：内核栈切换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设置内核中的栈寄存器</a:t>
            </a:r>
            <a:r>
              <a:rPr kumimoji="1" lang="en-US" altLang="zh-CN" dirty="0"/>
              <a:t>SP_EL1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中保存的内核栈顶地址赋值给</a:t>
            </a:r>
            <a:r>
              <a:rPr kumimoji="1" lang="en-US" altLang="zh-CN" dirty="0"/>
              <a:t>SP_EL1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058295-D5BA-DFD5-AD2A-1115BAD6A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0" y="2379446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013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3.3</a:t>
            </a:r>
            <a:r>
              <a:rPr kumimoji="1" lang="zh-CN" altLang="en-US" sz="3200" dirty="0"/>
              <a:t>）：进程上下文切换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 err="1"/>
              <a:t>cur_proc</a:t>
            </a:r>
            <a:r>
              <a:rPr kumimoji="1" lang="zh-CN" altLang="en-US" dirty="0"/>
              <a:t>为之后要执行的进程（</a:t>
            </a:r>
            <a:r>
              <a:rPr kumimoji="1" lang="en-US" altLang="zh-CN" dirty="0"/>
              <a:t>p1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表明之后操作系统将以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的身份运行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DCD31D2-07D8-454E-30EB-602CE5A29E18}"/>
              </a:ext>
            </a:extLst>
          </p:cNvPr>
          <p:cNvCxnSpPr/>
          <p:nvPr/>
        </p:nvCxnSpPr>
        <p:spPr>
          <a:xfrm>
            <a:off x="5934981" y="2425452"/>
            <a:ext cx="0" cy="3289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9CB084-F197-7E18-FEC6-CD7C5445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92" y="2488176"/>
            <a:ext cx="1646918" cy="3701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B70904-25F2-C3AB-40E0-2B43EAE5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4545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57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4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从处理器上下文中加载各寄存器的值，放入对应寄存器中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5BB7D-9ACE-140B-5D19-4C8BE5F0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110" y="2416144"/>
            <a:ext cx="4415780" cy="30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393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5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由硬件自动恢复部分寄存器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r>
              <a:rPr kumimoji="1" lang="zh-CN" altLang="en-US" dirty="0"/>
              <a:t>中的值自动保存到</a:t>
            </a:r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F41C46-FC1B-5BC5-57FD-351409CC6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44" y="2281436"/>
            <a:ext cx="4665712" cy="331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254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9475-1956-6117-0F05-94B49E27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F8AA9-A3AC-1924-6368-22BD394BB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LINUX</a:t>
            </a:r>
            <a:r>
              <a:rPr lang="zh-CN" altLang="en-US" dirty="0"/>
              <a:t>进程切换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3D12D6-4665-6D3D-C8E4-CF26FC3C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1AC3FB-EF8A-6BA1-F89C-F75C4D60C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31472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1129-6B70-41A2-060E-D58670A0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868765-E599-0AE1-4C90-08BAD9B4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2240" y="530577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E173DF-4A96-4DBE-259B-94A10A50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0"/>
            <a:ext cx="4218341" cy="5715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A172D4-96D2-D4D4-C00D-4756083FC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38" y="4064240"/>
            <a:ext cx="4153682" cy="1405103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B6B0B53-E4AC-2C96-BB26-61EE98E1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438" y="104957"/>
            <a:ext cx="4913408" cy="504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1800" dirty="0" err="1"/>
              <a:t>context_switch</a:t>
            </a:r>
            <a:r>
              <a:rPr kumimoji="1" lang="zh-CN" altLang="en-US" sz="1800" dirty="0"/>
              <a:t>函数完成进程切换</a:t>
            </a:r>
            <a:endParaRPr kumimoji="1" lang="en-US" altLang="zh-CN" sz="18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5B46B22-DB81-A052-4E00-6681F56F0104}"/>
              </a:ext>
            </a:extLst>
          </p:cNvPr>
          <p:cNvSpPr txBox="1">
            <a:spLocks/>
          </p:cNvSpPr>
          <p:nvPr/>
        </p:nvSpPr>
        <p:spPr>
          <a:xfrm>
            <a:off x="5014682" y="2019248"/>
            <a:ext cx="1892818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zh-CN" altLang="en-US" sz="1800" dirty="0"/>
              <a:t>切换进程页表</a:t>
            </a:r>
            <a:endParaRPr kumimoji="1" lang="en-US" altLang="zh-CN" sz="1800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16C6DA7-236F-15FF-9BC8-0CA4BB8ED1F4}"/>
              </a:ext>
            </a:extLst>
          </p:cNvPr>
          <p:cNvSpPr txBox="1">
            <a:spLocks/>
          </p:cNvSpPr>
          <p:nvPr/>
        </p:nvSpPr>
        <p:spPr>
          <a:xfrm>
            <a:off x="4983438" y="3213420"/>
            <a:ext cx="2396874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zh-CN" altLang="en-US" sz="1800" dirty="0"/>
              <a:t>切换进程处理器上下文</a:t>
            </a:r>
            <a:endParaRPr kumimoji="1" lang="en-US" altLang="zh-CN" sz="18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169C89B-57D5-BA8E-321C-AC726C515C16}"/>
              </a:ext>
            </a:extLst>
          </p:cNvPr>
          <p:cNvCxnSpPr>
            <a:cxnSpLocks/>
          </p:cNvCxnSpPr>
          <p:nvPr/>
        </p:nvCxnSpPr>
        <p:spPr>
          <a:xfrm flipH="1">
            <a:off x="4427984" y="2271276"/>
            <a:ext cx="637438" cy="1306304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91AC058-0CBA-FCAD-592A-6D357DE920A6}"/>
              </a:ext>
            </a:extLst>
          </p:cNvPr>
          <p:cNvSpPr/>
          <p:nvPr/>
        </p:nvSpPr>
        <p:spPr>
          <a:xfrm>
            <a:off x="1619672" y="3577580"/>
            <a:ext cx="2952328" cy="2137420"/>
          </a:xfrm>
          <a:prstGeom prst="roundRect">
            <a:avLst>
              <a:gd name="adj" fmla="val 4190"/>
            </a:avLst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0B034DF-D444-12D0-8471-1E8B9330EF48}"/>
              </a:ext>
            </a:extLst>
          </p:cNvPr>
          <p:cNvCxnSpPr>
            <a:cxnSpLocks/>
          </p:cNvCxnSpPr>
          <p:nvPr/>
        </p:nvCxnSpPr>
        <p:spPr>
          <a:xfrm>
            <a:off x="5838013" y="3577580"/>
            <a:ext cx="462179" cy="1042662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EAA9E0A-B4C4-2D46-252D-72BA6AB48F06}"/>
              </a:ext>
            </a:extLst>
          </p:cNvPr>
          <p:cNvSpPr/>
          <p:nvPr/>
        </p:nvSpPr>
        <p:spPr>
          <a:xfrm>
            <a:off x="5785437" y="4620242"/>
            <a:ext cx="2952328" cy="512707"/>
          </a:xfrm>
          <a:prstGeom prst="roundRect">
            <a:avLst>
              <a:gd name="adj" fmla="val 4190"/>
            </a:avLst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440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6811-5468-677F-A6AF-661F9C40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840775-9541-FBAF-88FA-6EF1B37D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2240" y="530577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7F19E8-590D-20D3-3542-C1E502E01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789" y="0"/>
            <a:ext cx="5388211" cy="5715000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662DB99-1C7D-0246-2AC4-84B6D432A7BC}"/>
              </a:ext>
            </a:extLst>
          </p:cNvPr>
          <p:cNvCxnSpPr/>
          <p:nvPr/>
        </p:nvCxnSpPr>
        <p:spPr>
          <a:xfrm>
            <a:off x="4548346" y="625252"/>
            <a:ext cx="14401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05B9F4E-D725-EB18-56F6-DEE2583563A6}"/>
              </a:ext>
            </a:extLst>
          </p:cNvPr>
          <p:cNvCxnSpPr/>
          <p:nvPr/>
        </p:nvCxnSpPr>
        <p:spPr>
          <a:xfrm>
            <a:off x="4548346" y="769268"/>
            <a:ext cx="14401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91A15F8-C3CC-395A-C150-FDD56A9BA9CB}"/>
              </a:ext>
            </a:extLst>
          </p:cNvPr>
          <p:cNvSpPr/>
          <p:nvPr/>
        </p:nvSpPr>
        <p:spPr>
          <a:xfrm>
            <a:off x="4560265" y="1512407"/>
            <a:ext cx="2232248" cy="1547830"/>
          </a:xfrm>
          <a:prstGeom prst="roundRect">
            <a:avLst>
              <a:gd name="adj" fmla="val 4190"/>
            </a:avLst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BD500AB-54C5-5CEF-A221-7E702B7C9112}"/>
              </a:ext>
            </a:extLst>
          </p:cNvPr>
          <p:cNvSpPr/>
          <p:nvPr/>
        </p:nvSpPr>
        <p:spPr>
          <a:xfrm>
            <a:off x="4560265" y="3073524"/>
            <a:ext cx="2232248" cy="1512168"/>
          </a:xfrm>
          <a:prstGeom prst="roundRect">
            <a:avLst>
              <a:gd name="adj" fmla="val 4190"/>
            </a:avLst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A48DE11-03B9-F8E9-F28A-E1C0EF61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88"/>
            <a:ext cx="3690839" cy="4535400"/>
          </a:xfrm>
          <a:prstGeom prst="rect">
            <a:avLst/>
          </a:prstGeom>
        </p:spPr>
      </p:pic>
      <p:sp>
        <p:nvSpPr>
          <p:cNvPr id="15" name="圆角矩形 14">
            <a:extLst>
              <a:ext uri="{FF2B5EF4-FFF2-40B4-BE49-F238E27FC236}">
                <a16:creationId xmlns:a16="http://schemas.microsoft.com/office/drawing/2014/main" id="{0281B38E-0258-4011-14A2-0CC680D4FCEE}"/>
              </a:ext>
            </a:extLst>
          </p:cNvPr>
          <p:cNvSpPr/>
          <p:nvPr/>
        </p:nvSpPr>
        <p:spPr>
          <a:xfrm>
            <a:off x="445778" y="4009628"/>
            <a:ext cx="2232248" cy="288032"/>
          </a:xfrm>
          <a:prstGeom prst="roundRect">
            <a:avLst>
              <a:gd name="adj" fmla="val 4190"/>
            </a:avLst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5E7931C-0346-59D2-6CDB-37221D98A670}"/>
              </a:ext>
            </a:extLst>
          </p:cNvPr>
          <p:cNvCxnSpPr>
            <a:stCxn id="15" idx="3"/>
          </p:cNvCxnSpPr>
          <p:nvPr/>
        </p:nvCxnSpPr>
        <p:spPr>
          <a:xfrm flipV="1">
            <a:off x="2678026" y="1377458"/>
            <a:ext cx="1461926" cy="27761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0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 err="1"/>
              <a:t>ChCore</a:t>
            </a:r>
            <a:r>
              <a:rPr lang="zh-CN" altLang="en-US" dirty="0"/>
              <a:t>的进程切换实现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3371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进程切换实现总览：以时钟中断处理为例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BCF2A6-E344-9AE7-167E-4C022CD3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52" y="1321133"/>
            <a:ext cx="5794548" cy="39660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3AA94A-2043-CC40-32CE-641807BF4044}"/>
              </a:ext>
            </a:extLst>
          </p:cNvPr>
          <p:cNvSpPr txBox="1"/>
          <p:nvPr/>
        </p:nvSpPr>
        <p:spPr>
          <a:xfrm>
            <a:off x="3635896" y="228143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1.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进入内核态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CE6AEB-281C-EBE9-EE6A-43CB84E80CFB}"/>
              </a:ext>
            </a:extLst>
          </p:cNvPr>
          <p:cNvSpPr txBox="1"/>
          <p:nvPr/>
        </p:nvSpPr>
        <p:spPr>
          <a:xfrm>
            <a:off x="5004048" y="2911542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2.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保存处理器上下文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57D32C-7DF7-56C2-8634-37A544295748}"/>
              </a:ext>
            </a:extLst>
          </p:cNvPr>
          <p:cNvSpPr txBox="1"/>
          <p:nvPr/>
        </p:nvSpPr>
        <p:spPr>
          <a:xfrm>
            <a:off x="5868144" y="3854450"/>
            <a:ext cx="1640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3.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进程上下文切换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6A7D89-FDCC-DAC9-2920-6EB26A94500A}"/>
              </a:ext>
            </a:extLst>
          </p:cNvPr>
          <p:cNvSpPr txBox="1"/>
          <p:nvPr/>
        </p:nvSpPr>
        <p:spPr>
          <a:xfrm>
            <a:off x="6507407" y="4325904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恢复处理器上下文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5C20EC-9CB5-13AE-C6E2-F3684EB6915A}"/>
              </a:ext>
            </a:extLst>
          </p:cNvPr>
          <p:cNvSpPr txBox="1"/>
          <p:nvPr/>
        </p:nvSpPr>
        <p:spPr>
          <a:xfrm>
            <a:off x="7236296" y="315028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5.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返回用户态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286A70-F8D3-B0D1-4E0B-EF9CF2636A73}"/>
              </a:ext>
            </a:extLst>
          </p:cNvPr>
          <p:cNvSpPr txBox="1"/>
          <p:nvPr/>
        </p:nvSpPr>
        <p:spPr>
          <a:xfrm>
            <a:off x="3815433" y="270361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中断处理入口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2DA9EE-496B-DB5C-40E1-0C325E34E153}"/>
              </a:ext>
            </a:extLst>
          </p:cNvPr>
          <p:cNvSpPr txBox="1"/>
          <p:nvPr/>
        </p:nvSpPr>
        <p:spPr>
          <a:xfrm>
            <a:off x="2553817" y="465770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传说中的</a:t>
            </a:r>
            <a:r>
              <a:rPr kumimoji="1" lang="en-US" altLang="zh-CN" sz="1200" dirty="0">
                <a:solidFill>
                  <a:srgbClr val="C00000"/>
                </a:solidFill>
              </a:rPr>
              <a:t>schedule</a:t>
            </a:r>
            <a:r>
              <a:rPr kumimoji="1" lang="zh-CN" altLang="en-US" sz="1200" dirty="0">
                <a:solidFill>
                  <a:srgbClr val="C00000"/>
                </a:solidFill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7673289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代码拆解：保存处理器上下文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为了支持处理器上下文保存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恢复，</a:t>
            </a:r>
            <a:r>
              <a:rPr kumimoji="1" lang="en-US" altLang="zh-CN" dirty="0" err="1"/>
              <a:t>ChCore</a:t>
            </a:r>
            <a:r>
              <a:rPr kumimoji="1" lang="zh-CN" altLang="en-US" dirty="0"/>
              <a:t>首先提供了相关数据结构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处理器上下文始终处于内核栈底（</a:t>
            </a:r>
            <a:r>
              <a:rPr kumimoji="1" lang="zh-CN" altLang="en-US" dirty="0">
                <a:solidFill>
                  <a:srgbClr val="C00000"/>
                </a:solidFill>
              </a:rPr>
              <a:t>为什么要这样设计呢？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5C6154-ED7D-0E68-218B-256114CF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782946"/>
            <a:ext cx="3034319" cy="28270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449E58B-A2FE-4B09-2CDE-83DD1C2F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782946"/>
            <a:ext cx="500197" cy="23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D0471-BAAD-00AC-5DEE-24A93EAF2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613" y="3151882"/>
            <a:ext cx="278741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645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代码拆解：保存处理器上下文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200" dirty="0"/>
              <a:t>在内核栈上分配一块内存（正好是</a:t>
            </a:r>
            <a:r>
              <a:rPr kumimoji="1" lang="en-US" altLang="zh-CN" sz="2200" dirty="0" err="1"/>
              <a:t>ctx</a:t>
            </a:r>
            <a:r>
              <a:rPr kumimoji="1" lang="zh-CN" altLang="en-US" sz="2200" dirty="0"/>
              <a:t>），依次放入相关寄存器</a:t>
            </a:r>
            <a:endParaRPr kumimoji="1" lang="en-US" altLang="zh-CN" sz="2200" dirty="0"/>
          </a:p>
          <a:p>
            <a:pPr lvl="1"/>
            <a:r>
              <a:rPr kumimoji="1" lang="zh-CN" altLang="en-US" dirty="0"/>
              <a:t>内核栈顶：执行前</a:t>
            </a:r>
            <a:r>
              <a:rPr kumimoji="1" lang="en-US" altLang="zh-CN" b="1" dirty="0" err="1"/>
              <a:t>ctx</a:t>
            </a:r>
            <a:r>
              <a:rPr kumimoji="1" lang="en-US" altLang="zh-CN" b="1" dirty="0"/>
              <a:t> + #ARCH_EXEC_CONT_SIZE</a:t>
            </a:r>
            <a:r>
              <a:rPr kumimoji="1" lang="zh-CN" altLang="en-US" dirty="0"/>
              <a:t>，执行后</a:t>
            </a:r>
            <a:r>
              <a:rPr kumimoji="1" lang="en-US" altLang="zh-CN" dirty="0" err="1"/>
              <a:t>ctx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1EC35C-E467-24CC-90CE-BDBD0736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38" y="2580167"/>
            <a:ext cx="5855374" cy="29392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29B5A4-23B5-BDB3-9FEA-12A18C8CB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38" y="2636264"/>
            <a:ext cx="3034319" cy="28270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AD579F-5465-C6D0-C86A-9184C0D31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94" y="2636264"/>
            <a:ext cx="500197" cy="238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32D832E-9B74-F6D0-382A-AF04A44125AB}"/>
              </a:ext>
            </a:extLst>
          </p:cNvPr>
          <p:cNvSpPr txBox="1"/>
          <p:nvPr/>
        </p:nvSpPr>
        <p:spPr>
          <a:xfrm>
            <a:off x="3440921" y="221819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（为什么能保证？）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ACE33-C826-EFD0-9D29-BC3819D738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901" y="2976648"/>
            <a:ext cx="278741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34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A854C-893A-3B9C-AD07-0B42B1A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代码拆解：中断处理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D555D-B5A4-B4CA-169B-83B6D2B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在保存完处理器上下文之后，进入时钟中断处理逻辑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A55B7-0897-1A49-D86A-3211031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FB3C4E-577C-769B-D5D4-098E39C08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945548"/>
            <a:ext cx="4947245" cy="37249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8C3F5F-C91B-56C6-1280-75EDEC980ED3}"/>
              </a:ext>
            </a:extLst>
          </p:cNvPr>
          <p:cNvSpPr txBox="1"/>
          <p:nvPr/>
        </p:nvSpPr>
        <p:spPr>
          <a:xfrm>
            <a:off x="438397" y="3808040"/>
            <a:ext cx="1829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便于下次再触发时钟</a:t>
            </a:r>
            <a:endParaRPr kumimoji="1" lang="en-US" altLang="zh-CN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12B3938D-6FAE-4C24-1566-6653787AB43A}"/>
              </a:ext>
            </a:extLst>
          </p:cNvPr>
          <p:cNvCxnSpPr>
            <a:cxnSpLocks/>
          </p:cNvCxnSpPr>
          <p:nvPr/>
        </p:nvCxnSpPr>
        <p:spPr>
          <a:xfrm flipH="1" flipV="1">
            <a:off x="2123728" y="3961928"/>
            <a:ext cx="835242" cy="477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DDCCF15-94A5-AED9-1D7B-58FC9201DD64}"/>
              </a:ext>
            </a:extLst>
          </p:cNvPr>
          <p:cNvSpPr txBox="1"/>
          <p:nvPr/>
        </p:nvSpPr>
        <p:spPr>
          <a:xfrm>
            <a:off x="64800" y="4191544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时间片归零前，无需切换</a:t>
            </a:r>
            <a:endParaRPr kumimoji="1" lang="en-US" altLang="zh-CN" sz="1400" b="1" dirty="0">
              <a:solidFill>
                <a:srgbClr val="C00000"/>
              </a:solidFill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4F7E77E-F64F-59EC-8A2F-C5DEE824C234}"/>
              </a:ext>
            </a:extLst>
          </p:cNvPr>
          <p:cNvCxnSpPr>
            <a:cxnSpLocks/>
          </p:cNvCxnSpPr>
          <p:nvPr/>
        </p:nvCxnSpPr>
        <p:spPr>
          <a:xfrm flipH="1" flipV="1">
            <a:off x="2109514" y="4357649"/>
            <a:ext cx="835242" cy="477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0354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A854C-893A-3B9C-AD07-0B42B1A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代码拆解：进程调度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D555D-B5A4-B4CA-169B-83B6D2B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当时间片用尽后，调用之前提到的</a:t>
            </a:r>
            <a:r>
              <a:rPr kumimoji="1" lang="en-US" altLang="zh-CN" dirty="0" err="1"/>
              <a:t>pick_next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选取一个进程后，为它配置时间片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注意这里切换了进程上下文</a:t>
            </a:r>
            <a:r>
              <a:rPr kumimoji="1" lang="en-US" altLang="zh-CN" dirty="0" err="1"/>
              <a:t>curr_proc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A55B7-0897-1A49-D86A-3211031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C5328F-4AD6-98A4-77BF-ED03A2879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785492"/>
            <a:ext cx="6102707" cy="23453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1F3D63-6C68-D9D3-05C7-1C1BE081D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233" y="2981265"/>
            <a:ext cx="3947255" cy="1810293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99387B3-49A1-7BF1-2D15-24EF39A24971}"/>
              </a:ext>
            </a:extLst>
          </p:cNvPr>
          <p:cNvCxnSpPr/>
          <p:nvPr/>
        </p:nvCxnSpPr>
        <p:spPr>
          <a:xfrm flipV="1">
            <a:off x="3230865" y="3115281"/>
            <a:ext cx="3322335" cy="10801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FAA66BA-E643-8FA1-4606-FEEB9ECAD19B}"/>
              </a:ext>
            </a:extLst>
          </p:cNvPr>
          <p:cNvSpPr/>
          <p:nvPr/>
        </p:nvSpPr>
        <p:spPr>
          <a:xfrm>
            <a:off x="611560" y="4081636"/>
            <a:ext cx="2619305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08152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366F-1E8B-BE52-11DC-9F499AE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代码拆解：虚拟地址空间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D862C-E92C-ACC2-4D70-0F29408E9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虚拟地址空间切换较简单：设置</a:t>
            </a:r>
            <a:r>
              <a:rPr kumimoji="1" lang="en-US" altLang="zh-CN" dirty="0"/>
              <a:t>TTBR0_EL1</a:t>
            </a:r>
          </a:p>
          <a:p>
            <a:pPr lvl="1"/>
            <a:r>
              <a:rPr kumimoji="1" lang="zh-CN" altLang="en-US" dirty="0"/>
              <a:t>同时返回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处理器上下文所在地址，作为下个函数的参数</a:t>
            </a:r>
            <a:endParaRPr kumimoji="1" lang="en-US" altLang="zh-CN" dirty="0"/>
          </a:p>
          <a:p>
            <a:r>
              <a:rPr kumimoji="1" lang="zh-CN" altLang="en-US" dirty="0"/>
              <a:t>内核栈切换：直接将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所在地址移入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1902B-E50B-E7FA-647C-F442E73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649E8E-EB8F-371A-1208-49B7AF07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669333"/>
            <a:ext cx="4968552" cy="16276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9DBEA8-E449-FB73-45FE-C77B7A81D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219319"/>
            <a:ext cx="3048000" cy="317500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792581C-DE86-E760-2A96-CFFC3CC51B08}"/>
              </a:ext>
            </a:extLst>
          </p:cNvPr>
          <p:cNvCxnSpPr/>
          <p:nvPr/>
        </p:nvCxnSpPr>
        <p:spPr>
          <a:xfrm flipH="1">
            <a:off x="1907704" y="3465140"/>
            <a:ext cx="3312368" cy="3284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75F62B5-5D95-2D66-2C60-8E8939192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668" y="3845177"/>
            <a:ext cx="4006884" cy="1277151"/>
          </a:xfrm>
          <a:prstGeom prst="rect">
            <a:avLst/>
          </a:prstGeom>
        </p:spPr>
      </p:pic>
      <p:cxnSp>
        <p:nvCxnSpPr>
          <p:cNvPr id="12" name="曲线连接符 11">
            <a:extLst>
              <a:ext uri="{FF2B5EF4-FFF2-40B4-BE49-F238E27FC236}">
                <a16:creationId xmlns:a16="http://schemas.microsoft.com/office/drawing/2014/main" id="{E2C7466B-7EA2-C005-AEA9-C6FFA01C787E}"/>
              </a:ext>
            </a:extLst>
          </p:cNvPr>
          <p:cNvCxnSpPr/>
          <p:nvPr/>
        </p:nvCxnSpPr>
        <p:spPr>
          <a:xfrm flipV="1">
            <a:off x="827584" y="4009628"/>
            <a:ext cx="4392488" cy="1095509"/>
          </a:xfrm>
          <a:prstGeom prst="curvedConnector3">
            <a:avLst>
              <a:gd name="adj1" fmla="val 6655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3952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366F-1E8B-BE52-11DC-9F499AE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代码拆解：处理器上下文恢复及返回用户态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D862C-E92C-ACC2-4D70-0F29408E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3771636"/>
          </a:xfrm>
        </p:spPr>
        <p:txBody>
          <a:bodyPr/>
          <a:lstStyle/>
          <a:p>
            <a:r>
              <a:rPr kumimoji="1" lang="zh-CN" altLang="en-US" dirty="0"/>
              <a:t>由于之前的内核栈切换操作，栈顶地址正好与进程的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地址相同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因此只需依次从栈上获取相应寄存器的值即可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结束后，内核栈变为</a:t>
            </a:r>
            <a:r>
              <a:rPr kumimoji="1" lang="zh-CN" altLang="en-US" b="1" dirty="0"/>
              <a:t>空</a:t>
            </a:r>
            <a:r>
              <a:rPr kumimoji="1" lang="zh-CN" altLang="en-US" dirty="0"/>
              <a:t>（栈顶：</a:t>
            </a:r>
            <a:r>
              <a:rPr kumimoji="1" lang="en-US" altLang="zh-CN" b="1" dirty="0" err="1"/>
              <a:t>ctx</a:t>
            </a:r>
            <a:r>
              <a:rPr kumimoji="1" lang="en-US" altLang="zh-CN" b="1" dirty="0"/>
              <a:t>+#ARCH_EXEC_CONT_SIZE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1902B-E50B-E7FA-647C-F442E73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E43F17-50F7-FD16-C204-AE7ADDE3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77" y="3205378"/>
            <a:ext cx="3840232" cy="24277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40711A-199D-D760-49F1-EC7E2D815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3225799"/>
            <a:ext cx="1308100" cy="2311400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E088819-13D1-EC1E-873E-3CBED48131D8}"/>
              </a:ext>
            </a:extLst>
          </p:cNvPr>
          <p:cNvCxnSpPr>
            <a:cxnSpLocks/>
          </p:cNvCxnSpPr>
          <p:nvPr/>
        </p:nvCxnSpPr>
        <p:spPr>
          <a:xfrm>
            <a:off x="6156176" y="5537199"/>
            <a:ext cx="2880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9D40B46-D9FE-AE26-E0F2-3710FDB4E15A}"/>
              </a:ext>
            </a:extLst>
          </p:cNvPr>
          <p:cNvSpPr txBox="1"/>
          <p:nvPr/>
        </p:nvSpPr>
        <p:spPr>
          <a:xfrm>
            <a:off x="5282091" y="5353683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SP_EL1</a:t>
            </a:r>
            <a:endParaRPr kumimoji="1" lang="zh-CN" altLang="en-US" sz="1600" b="1" dirty="0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B9B4D175-5EBF-EBD0-BCF5-303D7D552D1D}"/>
              </a:ext>
            </a:extLst>
          </p:cNvPr>
          <p:cNvCxnSpPr>
            <a:cxnSpLocks/>
          </p:cNvCxnSpPr>
          <p:nvPr/>
        </p:nvCxnSpPr>
        <p:spPr>
          <a:xfrm>
            <a:off x="7740352" y="3697705"/>
            <a:ext cx="2279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24AEE48-96C2-5D5E-83FA-108ADE017C1B}"/>
              </a:ext>
            </a:extLst>
          </p:cNvPr>
          <p:cNvCxnSpPr>
            <a:cxnSpLocks/>
          </p:cNvCxnSpPr>
          <p:nvPr/>
        </p:nvCxnSpPr>
        <p:spPr>
          <a:xfrm flipV="1">
            <a:off x="7968332" y="3697705"/>
            <a:ext cx="0" cy="1825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0B589585-C30A-2083-81DE-AFB79382B532}"/>
              </a:ext>
            </a:extLst>
          </p:cNvPr>
          <p:cNvCxnSpPr>
            <a:cxnSpLocks/>
          </p:cNvCxnSpPr>
          <p:nvPr/>
        </p:nvCxnSpPr>
        <p:spPr>
          <a:xfrm>
            <a:off x="7740352" y="5522960"/>
            <a:ext cx="227980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1034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35EB9-1B2A-4689-8850-516D0A1E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实现小结（以数据结构为线索）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F6D23-1EC2-60A5-4C83-377C9A6B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共涉及两次权限等级切换、三次栈切换</a:t>
            </a:r>
            <a:endParaRPr kumimoji="1" lang="en-US" altLang="zh-CN" dirty="0"/>
          </a:p>
          <a:p>
            <a:r>
              <a:rPr kumimoji="1" lang="zh-CN" altLang="en-US" dirty="0"/>
              <a:t>内核栈的切换是进程切换执行的“分界点”</a:t>
            </a:r>
            <a:endParaRPr kumimoji="1" lang="en-US" altLang="zh-CN" dirty="0"/>
          </a:p>
          <a:p>
            <a:r>
              <a:rPr kumimoji="1" lang="zh-CN" altLang="en-US" dirty="0"/>
              <a:t>内核栈在进出内核时</a:t>
            </a:r>
            <a:r>
              <a:rPr kumimoji="1" lang="zh-CN" altLang="en-US" dirty="0">
                <a:solidFill>
                  <a:srgbClr val="C00000"/>
                </a:solidFill>
              </a:rPr>
              <a:t>均为空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1B54B-5107-C525-0637-F63BC9C1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82256C-B4CD-90C2-4358-498CBCAB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219319"/>
            <a:ext cx="6334472" cy="242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1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62376</TotalTime>
  <Words>4846</Words>
  <Application>Microsoft Macintosh PowerPoint</Application>
  <PresentationFormat>On-screen Show (16:10)</PresentationFormat>
  <Paragraphs>733</Paragraphs>
  <Slides>81</Slides>
  <Notes>29</Notes>
  <HiddenSlides>15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DengXian</vt:lpstr>
      <vt:lpstr>Microsoft YaHei</vt:lpstr>
      <vt:lpstr>Arial</vt:lpstr>
      <vt:lpstr>Calibri</vt:lpstr>
      <vt:lpstr>Candara</vt:lpstr>
      <vt:lpstr>Consolas</vt:lpstr>
      <vt:lpstr>Courier New</vt:lpstr>
      <vt:lpstr>Office 主题​​</vt:lpstr>
      <vt:lpstr>PowerPoint Presentation</vt:lpstr>
      <vt:lpstr>回顾：OS分配物理内存资源</vt:lpstr>
      <vt:lpstr>回顾：内核物理内存管理的需求和评价指标</vt:lpstr>
      <vt:lpstr>总结：物理内存管理</vt:lpstr>
      <vt:lpstr>进程</vt:lpstr>
      <vt:lpstr>回顾：分时复用有限的CPU资源</vt:lpstr>
      <vt:lpstr>回顾：应用程序与进程</vt:lpstr>
      <vt:lpstr>回顾：进程的状态数据</vt:lpstr>
      <vt:lpstr>处理器上下文(CPU Context)</vt:lpstr>
      <vt:lpstr>进程的表示：PCB</vt:lpstr>
      <vt:lpstr>进程：运行中的程序</vt:lpstr>
      <vt:lpstr>如何表示进程：进程控制块（PCB）</vt:lpstr>
      <vt:lpstr>内核栈与用户栈</vt:lpstr>
      <vt:lpstr>简化模型：单一线程的进程</vt:lpstr>
      <vt:lpstr>进程的创建</vt:lpstr>
      <vt:lpstr>回顾：从程序员视角如何使用进程？</vt:lpstr>
      <vt:lpstr>如何实现进程的创建？</vt:lpstr>
      <vt:lpstr>进程创建的实现</vt:lpstr>
      <vt:lpstr>进程创建（一）：PCB相关初始化</vt:lpstr>
      <vt:lpstr>进程创建（二）：可执行文件加载</vt:lpstr>
      <vt:lpstr>进程创建（三）：准备运行环境</vt:lpstr>
      <vt:lpstr>进程创建（四）：处理器上下文初始化</vt:lpstr>
      <vt:lpstr>进程的退出与等待</vt:lpstr>
      <vt:lpstr>回顾：从程序员视角如何使用进程？</vt:lpstr>
      <vt:lpstr>回顾：从程序员视角如何使用进程？</vt:lpstr>
      <vt:lpstr>进程退出的实现（第一版）</vt:lpstr>
      <vt:lpstr>进程退出的实现（第一版）</vt:lpstr>
      <vt:lpstr>回顾：从程序员视角如何使用进程？</vt:lpstr>
      <vt:lpstr>回顾：从程序员视角如何使用进程？</vt:lpstr>
      <vt:lpstr>进程等待的实现（第一版）</vt:lpstr>
      <vt:lpstr>第一版实现的限制</vt:lpstr>
      <vt:lpstr>改进-1：为进程添加退出状态支持</vt:lpstr>
      <vt:lpstr>改进-2：修改process_waitpid</vt:lpstr>
      <vt:lpstr>还有什么可以改进的地方呢？安全性</vt:lpstr>
      <vt:lpstr>改进：限制进程等待的范围</vt:lpstr>
      <vt:lpstr>改进后的实现</vt:lpstr>
      <vt:lpstr>一个关于process_waitpid的疑问</vt:lpstr>
      <vt:lpstr>一个关于process_waitpid的疑问</vt:lpstr>
      <vt:lpstr>进程的状态</vt:lpstr>
      <vt:lpstr>还有什么需求呢？睡眠</vt:lpstr>
      <vt:lpstr>回顾代码：进程的执行状态</vt:lpstr>
      <vt:lpstr>进程的五种典型执行状态</vt:lpstr>
      <vt:lpstr>进程执行状态的典型应用案例：调度</vt:lpstr>
      <vt:lpstr>案例分析：LINUX进程创建</vt:lpstr>
      <vt:lpstr>经典创建方法：fork()</vt:lpstr>
      <vt:lpstr>在程序中使用fork</vt:lpstr>
      <vt:lpstr>在程序中使用fork</vt:lpstr>
      <vt:lpstr>在程序中使用fork</vt:lpstr>
      <vt:lpstr>fork的实现</vt:lpstr>
      <vt:lpstr>fork的优缺点分析</vt:lpstr>
      <vt:lpstr>fork的替代接口</vt:lpstr>
      <vt:lpstr>fork的替代接口</vt:lpstr>
      <vt:lpstr>案例分析：ChCore微内核进程管理</vt:lpstr>
      <vt:lpstr>回顾：微内核的解耦设计</vt:lpstr>
      <vt:lpstr>PCB的解耦设计</vt:lpstr>
      <vt:lpstr>PCB的解耦设计</vt:lpstr>
      <vt:lpstr>ChChore的进程创建</vt:lpstr>
      <vt:lpstr>进程切换</vt:lpstr>
      <vt:lpstr>进程切换的基本步骤</vt:lpstr>
      <vt:lpstr>处理器上下文 vs. 进程上下文</vt:lpstr>
      <vt:lpstr>回顾：处理器上下文的结构</vt:lpstr>
      <vt:lpstr>进程的切换节点</vt:lpstr>
      <vt:lpstr>进程切换的全过程（1）：p0进入内核态</vt:lpstr>
      <vt:lpstr>进程切换的全过程（2）：p0处理器上下文保存</vt:lpstr>
      <vt:lpstr>进程切换的全过程（3.1）：虚拟地址空间切换</vt:lpstr>
      <vt:lpstr>进程切换的全过程（3.2）：内核栈切换</vt:lpstr>
      <vt:lpstr>进程切换的全过程（3.3）：进程上下文切换</vt:lpstr>
      <vt:lpstr>进程切换的全过程（4）：p1处理器上下文恢复</vt:lpstr>
      <vt:lpstr>进程切换的全过程（5）：p1处理器上下文恢复</vt:lpstr>
      <vt:lpstr>案例分析：LINUX进程切换</vt:lpstr>
      <vt:lpstr>PowerPoint Presentation</vt:lpstr>
      <vt:lpstr>PowerPoint Presentation</vt:lpstr>
      <vt:lpstr>案例分析：ChCore的进程切换实现</vt:lpstr>
      <vt:lpstr>进程切换实现总览：以时钟中断处理为例</vt:lpstr>
      <vt:lpstr>代码拆解：保存处理器上下文</vt:lpstr>
      <vt:lpstr>代码拆解：保存处理器上下文</vt:lpstr>
      <vt:lpstr>代码拆解：中断处理</vt:lpstr>
      <vt:lpstr>代码拆解：进程调度</vt:lpstr>
      <vt:lpstr>代码拆解：虚拟地址空间/内核栈切换</vt:lpstr>
      <vt:lpstr>代码拆解：处理器上下文恢复及返回用户态</vt:lpstr>
      <vt:lpstr>ChCore实现小结（以数据结构为线索）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5027</cp:revision>
  <cp:lastPrinted>2016-06-13T07:55:34Z</cp:lastPrinted>
  <dcterms:created xsi:type="dcterms:W3CDTF">2017-11-24T09:35:45Z</dcterms:created>
  <dcterms:modified xsi:type="dcterms:W3CDTF">2025-10-24T07:33:26Z</dcterms:modified>
</cp:coreProperties>
</file>