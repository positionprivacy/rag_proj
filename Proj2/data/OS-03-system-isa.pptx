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750" r:id="rId2"/>
    <p:sldId id="2612" r:id="rId3"/>
    <p:sldId id="2745" r:id="rId4"/>
    <p:sldId id="2279" r:id="rId5"/>
    <p:sldId id="1367" r:id="rId6"/>
    <p:sldId id="2684" r:id="rId7"/>
    <p:sldId id="2746" r:id="rId8"/>
    <p:sldId id="2686" r:id="rId9"/>
    <p:sldId id="2683" r:id="rId10"/>
    <p:sldId id="2747" r:id="rId11"/>
    <p:sldId id="2262" r:id="rId12"/>
    <p:sldId id="2748" r:id="rId13"/>
    <p:sldId id="2749" r:id="rId14"/>
    <p:sldId id="2271" r:id="rId15"/>
    <p:sldId id="2272" r:id="rId16"/>
    <p:sldId id="2668" r:id="rId17"/>
    <p:sldId id="2669" r:id="rId18"/>
    <p:sldId id="2761" r:id="rId19"/>
    <p:sldId id="2687" r:id="rId20"/>
    <p:sldId id="2691" r:id="rId21"/>
    <p:sldId id="2690" r:id="rId22"/>
    <p:sldId id="2762" r:id="rId23"/>
    <p:sldId id="2693" r:id="rId24"/>
    <p:sldId id="2751" r:id="rId25"/>
    <p:sldId id="2280" r:id="rId26"/>
    <p:sldId id="2263" r:id="rId27"/>
    <p:sldId id="2265" r:id="rId28"/>
    <p:sldId id="2266" r:id="rId29"/>
    <p:sldId id="2267" r:id="rId30"/>
    <p:sldId id="2268" r:id="rId31"/>
    <p:sldId id="2681" r:id="rId32"/>
    <p:sldId id="2664" r:id="rId33"/>
    <p:sldId id="2660" r:id="rId34"/>
    <p:sldId id="831" r:id="rId35"/>
    <p:sldId id="832" r:id="rId36"/>
    <p:sldId id="833" r:id="rId37"/>
    <p:sldId id="835" r:id="rId38"/>
    <p:sldId id="836" r:id="rId39"/>
    <p:sldId id="837" r:id="rId40"/>
    <p:sldId id="838" r:id="rId4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BE384A"/>
    <a:srgbClr val="E9CED1"/>
    <a:srgbClr val="0432FF"/>
    <a:srgbClr val="941100"/>
    <a:srgbClr val="212121"/>
    <a:srgbClr val="005493"/>
    <a:srgbClr val="FF2F92"/>
    <a:srgbClr val="9437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 autoAdjust="0"/>
    <p:restoredTop sz="87671" autoAdjust="0"/>
  </p:normalViewPr>
  <p:slideViewPr>
    <p:cSldViewPr>
      <p:cViewPr varScale="1">
        <p:scale>
          <a:sx n="115" d="100"/>
          <a:sy n="115" d="100"/>
        </p:scale>
        <p:origin x="228" y="8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76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420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969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50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45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063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655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421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370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125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12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28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09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162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24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CN" dirty="0"/>
              <a:t>ddrp: </a:t>
            </a:r>
            <a:r>
              <a:rPr lang="en-US" b="0" i="0" dirty="0">
                <a:effectLst/>
                <a:latin typeface="Lato" panose="020F0502020204030204" pitchFamily="34" charset="0"/>
              </a:rPr>
              <a:t>Address of 4KB page at a PC-relative offset.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570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60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333500"/>
            <a:ext cx="8305800" cy="368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DBEE7-F07F-4F17-B469-9D8E2C6C5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83ADD-AF08-4246-BEC2-8C2986ACBC71}" type="datetime1">
              <a:rPr lang="zh-CN" altLang="en-US"/>
              <a:pPr>
                <a:defRPr/>
              </a:pPr>
              <a:t>2025/11/16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BBEF7-D178-45B6-8BF6-DBA481F98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9D779-CBA4-43B3-B610-7BE8A88FF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3629B-B32B-4F92-90FE-77D30D0C64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2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189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  <p:sldLayoutId id="2147483658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4800" dirty="0"/>
              <a:t>ARM</a:t>
            </a:r>
            <a:r>
              <a:rPr kumimoji="1" lang="zh-CN" altLang="en-US" sz="4800" dirty="0"/>
              <a:t>汇编 </a:t>
            </a:r>
            <a:r>
              <a:rPr kumimoji="1" lang="en-US" altLang="zh-CN" sz="4800" dirty="0"/>
              <a:t>– </a:t>
            </a:r>
            <a:r>
              <a:rPr kumimoji="1" lang="zh-CN" altLang="en-US" sz="4800" dirty="0"/>
              <a:t>系统</a:t>
            </a:r>
            <a:r>
              <a:rPr kumimoji="1" lang="en-US" altLang="zh-CN" sz="4800" dirty="0"/>
              <a:t>ISA</a:t>
            </a:r>
            <a:endParaRPr kumimoji="1" lang="zh-CN" altLang="en-US" sz="4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83FF-040E-B245-9D59-3939C018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回顾：特权级的必要性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8C6D9-AAC0-5D42-B548-63B268CD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一台计算机上同时运行多个应用程序，如何保证不同应用间的隔离？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如果所有的应用均能完全控制硬件计算资源，则会导致混乱</a:t>
            </a:r>
            <a:endParaRPr kumimoji="1" lang="en-US" altLang="zh-CN" sz="1800" dirty="0"/>
          </a:p>
          <a:p>
            <a:pPr lvl="2"/>
            <a:r>
              <a:rPr kumimoji="1" lang="zh-CN" altLang="en-US" sz="1700" dirty="0"/>
              <a:t>例如：某个应用希望关机，某个应用希望格式化硬盘</a:t>
            </a:r>
            <a:endParaRPr kumimoji="1" lang="en-US" altLang="zh-CN" sz="1700" dirty="0"/>
          </a:p>
          <a:p>
            <a:pPr lvl="1"/>
            <a:r>
              <a:rPr kumimoji="1" lang="zh-CN" altLang="en-US" sz="1800" dirty="0"/>
              <a:t>因此必须先让应用降权，不允许直接改变全局的系统状态</a:t>
            </a:r>
            <a:endParaRPr kumimoji="1" lang="en-US" altLang="zh-CN" sz="1800" dirty="0"/>
          </a:p>
          <a:p>
            <a:pPr lvl="2"/>
            <a:r>
              <a:rPr kumimoji="1" lang="zh-CN" altLang="en-US" sz="1700" dirty="0"/>
              <a:t>例如：中断是否打开</a:t>
            </a:r>
            <a:endParaRPr kumimoji="1" lang="en-US" altLang="zh-CN" sz="2200" dirty="0"/>
          </a:p>
          <a:p>
            <a:r>
              <a:rPr kumimoji="1" lang="zh-CN" altLang="en-US" sz="2000" dirty="0"/>
              <a:t>方案：必须要有不同的权限级</a:t>
            </a:r>
            <a:r>
              <a:rPr kumimoji="1" lang="en-US" altLang="zh-CN" sz="2000" dirty="0"/>
              <a:t>——</a:t>
            </a:r>
            <a:r>
              <a:rPr kumimoji="1" lang="zh-CN" altLang="en-US" sz="2000" dirty="0"/>
              <a:t>至少两种权限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低权限：不允许改变全局系统状态，用来运行应用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高权限：集中运行能改变全局系统状态的操作，形成了操作系统</a:t>
            </a:r>
            <a:endParaRPr kumimoji="1" lang="en-US" altLang="zh-CN" sz="1800" dirty="0"/>
          </a:p>
          <a:p>
            <a:pPr lvl="2"/>
            <a:r>
              <a:rPr kumimoji="1" lang="zh-CN" altLang="en-US" sz="1400" dirty="0"/>
              <a:t>特权操作：操作设备（读取文件、发送网络包</a:t>
            </a:r>
            <a:r>
              <a:rPr kumimoji="1" lang="en-US" altLang="zh-CN" sz="1400" dirty="0"/>
              <a:t>…</a:t>
            </a:r>
            <a:r>
              <a:rPr kumimoji="1" lang="zh-CN" altLang="en-US" sz="1400" dirty="0"/>
              <a:t>）、调整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频率、提供进程间通信</a:t>
            </a:r>
            <a:r>
              <a:rPr kumimoji="1" lang="en-US" altLang="zh-CN" sz="1400" dirty="0"/>
              <a:t>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37EDAF-519C-854C-ADD2-62185BDE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04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再次俯瞰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3263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通用寄存器（未包含浮点寄存器）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624310" y="4505340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434565" y="4074659"/>
            <a:ext cx="1482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异常掩码、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特权级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等执行状态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16732" y="4392578"/>
            <a:ext cx="725928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SP</a:t>
            </a:r>
            <a:r>
              <a:rPr lang="en-US" altLang="zh-CN" b="1" baseline="-25000" dirty="0">
                <a:solidFill>
                  <a:srgbClr val="C00000"/>
                </a:solidFill>
              </a:rPr>
              <a:t>el0</a:t>
            </a:r>
            <a:endParaRPr lang="zh-CN" alt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579456" y="4133310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1069005" y="4787331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4326" y="264147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400228" y="2487587"/>
            <a:ext cx="843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SP_EL1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55297" y="3149136"/>
            <a:ext cx="1440160" cy="531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1</a:t>
            </a:r>
          </a:p>
          <a:p>
            <a:pPr algn="ctr"/>
            <a:r>
              <a:rPr kumimoji="1" lang="zh-CN" altLang="en-US" sz="1200" dirty="0"/>
              <a:t>代码和数据</a:t>
            </a:r>
            <a:endParaRPr kumimoji="1" lang="zh-CN" altLang="en-US" sz="1400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88008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448709" y="4726196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PC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12F891-0408-EBC3-FD0B-8ACD4F96AB00}"/>
              </a:ext>
            </a:extLst>
          </p:cNvPr>
          <p:cNvSpPr/>
          <p:nvPr/>
        </p:nvSpPr>
        <p:spPr>
          <a:xfrm>
            <a:off x="6458811" y="3857111"/>
            <a:ext cx="1440160" cy="531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2</a:t>
            </a:r>
          </a:p>
          <a:p>
            <a:pPr algn="ctr"/>
            <a:r>
              <a:rPr kumimoji="1" lang="zh-CN" altLang="en-US" sz="1200" dirty="0"/>
              <a:t>代码和数据</a:t>
            </a:r>
            <a:endParaRPr kumimoji="1" lang="zh-CN" altLang="en-US" sz="14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E9D9192-3F34-5E41-C886-798ADAD41DC3}"/>
              </a:ext>
            </a:extLst>
          </p:cNvPr>
          <p:cNvSpPr/>
          <p:nvPr/>
        </p:nvSpPr>
        <p:spPr>
          <a:xfrm>
            <a:off x="6458811" y="4559309"/>
            <a:ext cx="1440160" cy="5318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操作系统</a:t>
            </a:r>
            <a:endParaRPr kumimoji="1" lang="en-US" altLang="zh-CN" sz="1400" dirty="0"/>
          </a:p>
          <a:p>
            <a:pPr algn="ctr"/>
            <a:r>
              <a:rPr kumimoji="1" lang="zh-CN" altLang="en-US" sz="1200" dirty="0"/>
              <a:t>代码和数据</a:t>
            </a:r>
            <a:endParaRPr kumimoji="1" lang="zh-CN" altLang="en-US" sz="1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5193234-63AA-10C8-F58D-5B253DB6FD02}"/>
              </a:ext>
            </a:extLst>
          </p:cNvPr>
          <p:cNvSpPr/>
          <p:nvPr/>
        </p:nvSpPr>
        <p:spPr>
          <a:xfrm>
            <a:off x="6455297" y="1286866"/>
            <a:ext cx="1440160" cy="3980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1</a:t>
            </a:r>
            <a:r>
              <a:rPr kumimoji="1" lang="zh-CN" altLang="en-US" sz="1400" dirty="0"/>
              <a:t>栈</a:t>
            </a:r>
            <a:endParaRPr kumimoji="1" lang="en-US" altLang="zh-CN" sz="14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B06B71B-0501-3BB0-5C0B-B11D5F839550}"/>
              </a:ext>
            </a:extLst>
          </p:cNvPr>
          <p:cNvSpPr/>
          <p:nvPr/>
        </p:nvSpPr>
        <p:spPr>
          <a:xfrm>
            <a:off x="6454166" y="1777960"/>
            <a:ext cx="1440160" cy="3980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2</a:t>
            </a:r>
            <a:r>
              <a:rPr kumimoji="1" lang="zh-CN" altLang="en-US" sz="1400" dirty="0"/>
              <a:t>栈</a:t>
            </a:r>
            <a:endParaRPr kumimoji="1" lang="en-US" altLang="zh-CN" sz="14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9A409F0-7169-C2CB-3A14-2713BD4CC53A}"/>
              </a:ext>
            </a:extLst>
          </p:cNvPr>
          <p:cNvSpPr/>
          <p:nvPr/>
        </p:nvSpPr>
        <p:spPr>
          <a:xfrm>
            <a:off x="6454166" y="2269054"/>
            <a:ext cx="1440160" cy="398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操作系统栈</a:t>
            </a:r>
            <a:endParaRPr kumimoji="1" lang="en-US" altLang="zh-CN" sz="1400" dirty="0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69F41A93-5DAE-7E68-B5F8-87EF6D2C94FD}"/>
              </a:ext>
            </a:extLst>
          </p:cNvPr>
          <p:cNvCxnSpPr/>
          <p:nvPr/>
        </p:nvCxnSpPr>
        <p:spPr>
          <a:xfrm flipH="1">
            <a:off x="7884703" y="168496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98BEB613-1C3A-9545-48BA-89A30C02D39D}"/>
              </a:ext>
            </a:extLst>
          </p:cNvPr>
          <p:cNvSpPr txBox="1"/>
          <p:nvPr/>
        </p:nvSpPr>
        <p:spPr>
          <a:xfrm>
            <a:off x="8377109" y="1528039"/>
            <a:ext cx="843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SP_EL0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A4746BD-E777-D825-8B51-D22DB84B2216}"/>
              </a:ext>
            </a:extLst>
          </p:cNvPr>
          <p:cNvSpPr/>
          <p:nvPr/>
        </p:nvSpPr>
        <p:spPr>
          <a:xfrm>
            <a:off x="1768969" y="4392578"/>
            <a:ext cx="725928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SP</a:t>
            </a:r>
            <a:r>
              <a:rPr lang="en-US" altLang="zh-CN" b="1" baseline="-25000" dirty="0">
                <a:solidFill>
                  <a:srgbClr val="C00000"/>
                </a:solidFill>
              </a:rPr>
              <a:t>el1</a:t>
            </a:r>
            <a:endParaRPr lang="zh-CN" alt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C95191E-8CBF-65F5-7B3E-E05CE6860AD7}"/>
              </a:ext>
            </a:extLst>
          </p:cNvPr>
          <p:cNvSpPr txBox="1"/>
          <p:nvPr/>
        </p:nvSpPr>
        <p:spPr>
          <a:xfrm>
            <a:off x="2394499" y="41333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B8AA8F9-ADE4-1E99-F964-B31C742CABD6}"/>
              </a:ext>
            </a:extLst>
          </p:cNvPr>
          <p:cNvSpPr txBox="1"/>
          <p:nvPr/>
        </p:nvSpPr>
        <p:spPr>
          <a:xfrm>
            <a:off x="1642660" y="4133310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8361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特权级别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1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458F0-07CB-4ADF-AD69-31243354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ARMv8.4</a:t>
            </a:r>
            <a:r>
              <a:rPr lang="zh-CN" altLang="en-US" dirty="0"/>
              <a:t>特权级 </a:t>
            </a:r>
            <a:r>
              <a:rPr lang="en-US" altLang="zh-CN" dirty="0"/>
              <a:t>(Exception</a:t>
            </a:r>
            <a:r>
              <a:rPr lang="zh-CN" altLang="en-US" dirty="0"/>
              <a:t> </a:t>
            </a:r>
            <a:r>
              <a:rPr lang="en-US" altLang="zh-CN" dirty="0"/>
              <a:t>Level)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E300251-09B6-9AA5-4437-DD4421AF8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78" y="3102363"/>
            <a:ext cx="2324100" cy="5842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E98FDE-3C28-4842-97B2-B2C395C5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B81E4E-9380-B545-BC2C-FB65FA346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33364"/>
            <a:ext cx="7342909" cy="35906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95F3757-A3E7-F4C8-44C5-2082E63B1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53" y="3876069"/>
            <a:ext cx="2100483" cy="5279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441DBA4-79E0-B841-8267-A1ABA4597F9F}"/>
              </a:ext>
            </a:extLst>
          </p:cNvPr>
          <p:cNvSpPr txBox="1"/>
          <p:nvPr/>
        </p:nvSpPr>
        <p:spPr>
          <a:xfrm>
            <a:off x="7647076" y="2425452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s-EL0</a:t>
            </a:r>
            <a:endParaRPr kumimoji="1"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703B8B-7543-3846-B063-6212A1963121}"/>
              </a:ext>
            </a:extLst>
          </p:cNvPr>
          <p:cNvSpPr txBox="1"/>
          <p:nvPr/>
        </p:nvSpPr>
        <p:spPr>
          <a:xfrm>
            <a:off x="7659544" y="3102363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s-EL1</a:t>
            </a:r>
            <a:endParaRPr kumimoji="1"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885F61-399A-6748-BA4B-51DC732FE357}"/>
              </a:ext>
            </a:extLst>
          </p:cNvPr>
          <p:cNvSpPr txBox="1"/>
          <p:nvPr/>
        </p:nvSpPr>
        <p:spPr>
          <a:xfrm>
            <a:off x="7660448" y="3926859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s-EL2</a:t>
            </a:r>
            <a:endParaRPr kumimoji="1" lang="zh-CN" altLang="en-US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024D86-1361-B448-906F-D1632240C2AF}"/>
              </a:ext>
            </a:extLst>
          </p:cNvPr>
          <p:cNvSpPr txBox="1"/>
          <p:nvPr/>
        </p:nvSpPr>
        <p:spPr>
          <a:xfrm>
            <a:off x="2332213" y="1433309"/>
            <a:ext cx="2029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(Normal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World)</a:t>
            </a:r>
            <a:endParaRPr kumimoji="1"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19482C-2C56-F34C-9F2D-1F2F6A2DDDAA}"/>
              </a:ext>
            </a:extLst>
          </p:cNvPr>
          <p:cNvSpPr txBox="1"/>
          <p:nvPr/>
        </p:nvSpPr>
        <p:spPr>
          <a:xfrm>
            <a:off x="5436096" y="1433309"/>
            <a:ext cx="2002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(Secure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World)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1538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系统状态寄存器：</a:t>
            </a:r>
            <a:r>
              <a:rPr lang="en-US" altLang="zh-CN" dirty="0"/>
              <a:t>PSTATE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867328" cy="377163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抽象进程状态信息（</a:t>
            </a:r>
            <a:r>
              <a:rPr lang="en-US" altLang="zh-CN" dirty="0"/>
              <a:t>PSTATE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条件码 </a:t>
            </a:r>
            <a:r>
              <a:rPr lang="en-US" altLang="zh-CN" dirty="0"/>
              <a:t>(Condition flags)</a:t>
            </a:r>
          </a:p>
          <a:p>
            <a:pPr lvl="2"/>
            <a:r>
              <a:rPr lang="en-US" altLang="zh-CN" dirty="0"/>
              <a:t>NZCV</a:t>
            </a:r>
          </a:p>
          <a:p>
            <a:pPr lvl="1"/>
            <a:r>
              <a:rPr lang="zh-CN" altLang="en-US" dirty="0"/>
              <a:t>执行状态 </a:t>
            </a:r>
            <a:r>
              <a:rPr lang="en-US" altLang="zh-CN" dirty="0"/>
              <a:t>(Execution state controls)</a:t>
            </a:r>
          </a:p>
          <a:p>
            <a:pPr lvl="2"/>
            <a:r>
              <a:rPr lang="en-US" altLang="zh-CN" b="1" dirty="0" err="1">
                <a:solidFill>
                  <a:srgbClr val="C00000"/>
                </a:solidFill>
              </a:rPr>
              <a:t>CurrentEL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</a:rPr>
              <a:t>CPU</a:t>
            </a:r>
            <a:r>
              <a:rPr lang="zh-CN" altLang="en-US" b="1" dirty="0">
                <a:solidFill>
                  <a:srgbClr val="C00000"/>
                </a:solidFill>
              </a:rPr>
              <a:t>当前特权级别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异常掩码 </a:t>
            </a:r>
            <a:r>
              <a:rPr lang="en-US" altLang="zh-CN" dirty="0"/>
              <a:t>(Exception mask bits)</a:t>
            </a:r>
          </a:p>
          <a:p>
            <a:pPr lvl="2"/>
            <a:r>
              <a:rPr lang="en-US" altLang="zh-CN" dirty="0"/>
              <a:t>DAIF</a:t>
            </a:r>
          </a:p>
          <a:p>
            <a:pPr lvl="1"/>
            <a:r>
              <a:rPr lang="zh-CN" altLang="en-US" dirty="0"/>
              <a:t>访问控制 </a:t>
            </a:r>
            <a:r>
              <a:rPr lang="en-US" altLang="zh-CN" dirty="0"/>
              <a:t>(Access control bits)</a:t>
            </a:r>
          </a:p>
          <a:p>
            <a:pPr lvl="2"/>
            <a:r>
              <a:rPr lang="zh-CN" altLang="en-US" dirty="0"/>
              <a:t>例如</a:t>
            </a:r>
            <a:r>
              <a:rPr lang="en-US" altLang="zh-CN" dirty="0"/>
              <a:t>PAN</a:t>
            </a:r>
            <a:r>
              <a:rPr lang="zh-CN" altLang="en-US" dirty="0"/>
              <a:t>（</a:t>
            </a:r>
            <a:r>
              <a:rPr lang="en-US" altLang="zh-CN" dirty="0"/>
              <a:t>Privileged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Never)</a:t>
            </a:r>
          </a:p>
          <a:p>
            <a:pPr lvl="1">
              <a:defRPr/>
            </a:pPr>
            <a:endParaRPr lang="en-US" altLang="zh-CN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D03210-2CE2-41A9-8BDF-6BBD1B4BA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11" y="1417340"/>
            <a:ext cx="28087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18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0FAEB-3102-D8F1-8EEC-86AAA0A5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用户</a:t>
            </a:r>
            <a:r>
              <a:rPr kumimoji="1" lang="en-US" altLang="zh-CN" dirty="0"/>
              <a:t>ISA</a:t>
            </a:r>
            <a:r>
              <a:rPr kumimoji="1" lang="zh-CN" altLang="en-US" dirty="0"/>
              <a:t>与系统</a:t>
            </a:r>
            <a:r>
              <a:rPr kumimoji="1" lang="en-US" altLang="zh-CN" dirty="0"/>
              <a:t>ISA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FB1F6A-51A4-324A-485D-8C4803926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7787208" cy="3612232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用户</a:t>
            </a:r>
            <a:r>
              <a:rPr kumimoji="1" lang="en-US" altLang="zh-CN" dirty="0"/>
              <a:t>ISA</a:t>
            </a:r>
          </a:p>
          <a:p>
            <a:pPr lvl="1"/>
            <a:r>
              <a:rPr kumimoji="1" lang="zh-CN" altLang="en-US" dirty="0"/>
              <a:t>通用寄存器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（用户）栈寄存器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条件码寄存器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运算指令等</a:t>
            </a:r>
            <a:endParaRPr kumimoji="1" lang="en-US" altLang="zh-CN" dirty="0"/>
          </a:p>
          <a:p>
            <a:r>
              <a:rPr kumimoji="1" lang="zh-CN" altLang="en-US" dirty="0"/>
              <a:t>系统</a:t>
            </a:r>
            <a:r>
              <a:rPr kumimoji="1" lang="en-US" altLang="zh-CN" dirty="0"/>
              <a:t>ISA</a:t>
            </a:r>
          </a:p>
          <a:p>
            <a:pPr lvl="1"/>
            <a:r>
              <a:rPr kumimoji="1" lang="zh-CN" altLang="en-US" dirty="0"/>
              <a:t>系统寄存器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31E18-45A7-9D3F-A784-75F7BF46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3A1B6A-86DD-7D4D-A66A-55BD881D98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480537"/>
            <a:ext cx="5263137" cy="32235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540B8C5-9915-4FA9-02D8-045B3474C7CC}"/>
              </a:ext>
            </a:extLst>
          </p:cNvPr>
          <p:cNvSpPr/>
          <p:nvPr/>
        </p:nvSpPr>
        <p:spPr>
          <a:xfrm>
            <a:off x="4427984" y="3361556"/>
            <a:ext cx="1512168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967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7EE76-B197-8147-BBFC-BD1D611A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用户态（</a:t>
            </a:r>
            <a:r>
              <a:rPr kumimoji="1" lang="en-US" altLang="zh-CN" dirty="0"/>
              <a:t>EL0</a:t>
            </a:r>
            <a:r>
              <a:rPr kumimoji="1" lang="zh-CN" altLang="en-US" dirty="0"/>
              <a:t>）与内核态（</a:t>
            </a:r>
            <a:r>
              <a:rPr kumimoji="1" lang="en-US" altLang="zh-CN" dirty="0"/>
              <a:t>EL1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5B9DE6-E07B-AC4E-8D65-B42AC148F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Helvetica" pitchFamily="2" charset="0"/>
              </a:rPr>
              <a:t>用户态</a:t>
            </a:r>
            <a:r>
              <a:rPr lang="zh-CN" altLang="en-US" dirty="0">
                <a:effectLst/>
                <a:latin typeface="Helvetica" pitchFamily="2" charset="0"/>
              </a:rPr>
              <a:t>（</a:t>
            </a:r>
            <a:r>
              <a:rPr lang="en" altLang="zh-CN" dirty="0">
                <a:effectLst/>
                <a:latin typeface="Helvetica" pitchFamily="2" charset="0"/>
              </a:rPr>
              <a:t>User-mode</a:t>
            </a:r>
            <a:r>
              <a:rPr lang="zh-CN" altLang="en" dirty="0">
                <a:effectLst/>
                <a:latin typeface="Helvetica" pitchFamily="2" charset="0"/>
              </a:rPr>
              <a:t>）</a:t>
            </a:r>
            <a:endParaRPr lang="en-US" altLang="zh-CN" dirty="0">
              <a:effectLst/>
              <a:latin typeface="Helvetica" pitchFamily="2" charset="0"/>
            </a:endParaRPr>
          </a:p>
          <a:p>
            <a:pPr lvl="1"/>
            <a:r>
              <a:rPr lang="zh-CN" altLang="en-US" dirty="0">
                <a:effectLst/>
                <a:latin typeface="Helvetica" pitchFamily="2" charset="0"/>
              </a:rPr>
              <a:t>只能使用</a:t>
            </a:r>
            <a:r>
              <a:rPr lang="zh-CN" altLang="en-US" dirty="0">
                <a:effectLst/>
                <a:highlight>
                  <a:srgbClr val="FFFF00"/>
                </a:highlight>
                <a:latin typeface="Helvetica" pitchFamily="2" charset="0"/>
              </a:rPr>
              <a:t>用户 </a:t>
            </a:r>
            <a:r>
              <a:rPr lang="en" altLang="zh-CN" dirty="0">
                <a:effectLst/>
                <a:highlight>
                  <a:srgbClr val="FFFF00"/>
                </a:highlight>
                <a:latin typeface="Helvetica" pitchFamily="2" charset="0"/>
              </a:rPr>
              <a:t>ISA</a:t>
            </a:r>
            <a:endParaRPr lang="en-US" altLang="zh-CN" dirty="0">
              <a:effectLst/>
              <a:highlight>
                <a:srgbClr val="FFFF00"/>
              </a:highlight>
              <a:latin typeface="Helvetica" pitchFamily="2" charset="0"/>
            </a:endParaRPr>
          </a:p>
          <a:p>
            <a:r>
              <a:rPr lang="zh-CN" altLang="en-US" b="1" dirty="0">
                <a:effectLst/>
                <a:latin typeface="Helvetica" pitchFamily="2" charset="0"/>
              </a:rPr>
              <a:t>内核态</a:t>
            </a:r>
            <a:r>
              <a:rPr lang="zh-CN" altLang="en-US" dirty="0">
                <a:effectLst/>
                <a:latin typeface="Helvetica" pitchFamily="2" charset="0"/>
              </a:rPr>
              <a:t>（</a:t>
            </a:r>
            <a:r>
              <a:rPr lang="en" altLang="zh-CN" dirty="0">
                <a:effectLst/>
                <a:latin typeface="Helvetica" pitchFamily="2" charset="0"/>
              </a:rPr>
              <a:t>Kernel-mode</a:t>
            </a:r>
            <a:r>
              <a:rPr lang="zh-CN" altLang="en" dirty="0">
                <a:effectLst/>
                <a:latin typeface="Helvetica" pitchFamily="2" charset="0"/>
              </a:rPr>
              <a:t>）</a:t>
            </a:r>
            <a:endParaRPr lang="en-US" altLang="zh-CN" dirty="0">
              <a:effectLst/>
              <a:latin typeface="Helvetica" pitchFamily="2" charset="0"/>
            </a:endParaRPr>
          </a:p>
          <a:p>
            <a:pPr lvl="1"/>
            <a:r>
              <a:rPr lang="zh-CN" altLang="en-US" dirty="0">
                <a:effectLst/>
                <a:latin typeface="Helvetica" pitchFamily="2" charset="0"/>
              </a:rPr>
              <a:t>可以同时使用</a:t>
            </a:r>
            <a:r>
              <a:rPr lang="zh-CN" altLang="en-US" dirty="0">
                <a:effectLst/>
                <a:highlight>
                  <a:srgbClr val="FFFF00"/>
                </a:highlight>
                <a:latin typeface="Helvetica" pitchFamily="2" charset="0"/>
              </a:rPr>
              <a:t>系统 </a:t>
            </a:r>
            <a:r>
              <a:rPr lang="en" altLang="zh-CN" dirty="0">
                <a:effectLst/>
                <a:highlight>
                  <a:srgbClr val="FFFF00"/>
                </a:highlight>
                <a:latin typeface="Helvetica" pitchFamily="2" charset="0"/>
              </a:rPr>
              <a:t>ISA </a:t>
            </a:r>
            <a:r>
              <a:rPr lang="zh-CN" altLang="en-US" dirty="0">
                <a:effectLst/>
                <a:latin typeface="Helvetica" pitchFamily="2" charset="0"/>
              </a:rPr>
              <a:t>和</a:t>
            </a:r>
            <a:r>
              <a:rPr lang="zh-CN" altLang="en-US" dirty="0">
                <a:effectLst/>
                <a:highlight>
                  <a:srgbClr val="FFFF00"/>
                </a:highlight>
                <a:latin typeface="Helvetica" pitchFamily="2" charset="0"/>
              </a:rPr>
              <a:t>用户</a:t>
            </a:r>
            <a:r>
              <a:rPr lang="en" altLang="zh-CN" dirty="0">
                <a:effectLst/>
                <a:highlight>
                  <a:srgbClr val="FFFF00"/>
                </a:highlight>
                <a:latin typeface="Helvetica" pitchFamily="2" charset="0"/>
              </a:rPr>
              <a:t>ISA</a:t>
            </a:r>
          </a:p>
          <a:p>
            <a:r>
              <a:rPr lang="zh-CN" altLang="en" dirty="0">
                <a:latin typeface="Helvetica" pitchFamily="2" charset="0"/>
              </a:rPr>
              <a:t>操作系统</a:t>
            </a:r>
            <a:r>
              <a:rPr lang="zh-CN" altLang="en-US" dirty="0">
                <a:latin typeface="Helvetica" pitchFamily="2" charset="0"/>
              </a:rPr>
              <a:t>往往同时包含内核态与用户态的代码</a:t>
            </a:r>
            <a:endParaRPr lang="en-US" altLang="zh-CN" dirty="0">
              <a:latin typeface="Helvetica" pitchFamily="2" charset="0"/>
            </a:endParaRPr>
          </a:p>
          <a:p>
            <a:pPr lvl="1"/>
            <a:r>
              <a:rPr lang="zh-CN" altLang="en-US" dirty="0">
                <a:effectLst/>
                <a:latin typeface="Helvetica" pitchFamily="2" charset="0"/>
              </a:rPr>
              <a:t>如：</a:t>
            </a:r>
            <a:r>
              <a:rPr lang="en-US" altLang="zh-CN" dirty="0">
                <a:effectLst/>
                <a:latin typeface="Helvetica" pitchFamily="2" charset="0"/>
              </a:rPr>
              <a:t>Unix</a:t>
            </a:r>
            <a:r>
              <a:rPr lang="zh-CN" altLang="en-US" dirty="0">
                <a:effectLst/>
                <a:latin typeface="Helvetica" pitchFamily="2" charset="0"/>
              </a:rPr>
              <a:t>包含内核态的</a:t>
            </a:r>
            <a:r>
              <a:rPr lang="en-US" altLang="zh-CN" dirty="0">
                <a:effectLst/>
                <a:latin typeface="Helvetica" pitchFamily="2" charset="0"/>
              </a:rPr>
              <a:t>kernel</a:t>
            </a:r>
            <a:r>
              <a:rPr lang="zh-CN" altLang="en-US" dirty="0">
                <a:effectLst/>
                <a:latin typeface="Helvetica" pitchFamily="2" charset="0"/>
              </a:rPr>
              <a:t> 与 用户态的 </a:t>
            </a:r>
            <a:r>
              <a:rPr lang="en-US" altLang="zh-CN" dirty="0">
                <a:effectLst/>
                <a:latin typeface="Helvetica" pitchFamily="2" charset="0"/>
              </a:rPr>
              <a:t>shell</a:t>
            </a:r>
            <a:endParaRPr lang="zh-CN" altLang="en" dirty="0">
              <a:effectLst/>
              <a:latin typeface="Helvetica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F100D5-5150-FB4A-8F7E-6C1EEC61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132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7FEA5-E582-FE47-B175-E20A13F9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" altLang="zh-CN" sz="2800" dirty="0"/>
              <a:t>AArch64 </a:t>
            </a:r>
            <a:r>
              <a:rPr kumimoji="1" lang="zh-CN" altLang="en-US" sz="2800" dirty="0"/>
              <a:t>中常见寄存器在不同特权级的可见情况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7E8EAC-326C-CD48-8170-5A525F76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275BCD-31D2-B844-9FB0-62F96B348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273324"/>
            <a:ext cx="6807200" cy="42291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F390FFA-C81D-68D8-E09A-841B47F433FE}"/>
              </a:ext>
            </a:extLst>
          </p:cNvPr>
          <p:cNvSpPr txBox="1"/>
          <p:nvPr/>
        </p:nvSpPr>
        <p:spPr>
          <a:xfrm>
            <a:off x="4158264" y="1143325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+mn-ea"/>
              </a:rPr>
              <a:t>用户</a:t>
            </a:r>
            <a:r>
              <a:rPr kumimoji="1" lang="en-US" altLang="zh-CN" sz="1400" dirty="0">
                <a:solidFill>
                  <a:srgbClr val="C00000"/>
                </a:solidFill>
                <a:latin typeface="+mn-ea"/>
              </a:rPr>
              <a:t>ISA</a:t>
            </a:r>
            <a:endParaRPr kumimoji="1" lang="zh-CN" altLang="en-US" sz="14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E29A8B-DA1B-B660-AE94-FE4ABE577AB9}"/>
              </a:ext>
            </a:extLst>
          </p:cNvPr>
          <p:cNvSpPr txBox="1"/>
          <p:nvPr/>
        </p:nvSpPr>
        <p:spPr>
          <a:xfrm>
            <a:off x="4918771" y="1138211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+mn-ea"/>
              </a:rPr>
              <a:t>系统</a:t>
            </a:r>
            <a:r>
              <a:rPr kumimoji="1" lang="en-US" altLang="zh-CN" sz="1400" dirty="0">
                <a:solidFill>
                  <a:srgbClr val="C00000"/>
                </a:solidFill>
                <a:latin typeface="+mn-ea"/>
              </a:rPr>
              <a:t>ISA</a:t>
            </a:r>
            <a:endParaRPr kumimoji="1" lang="zh-CN" altLang="en-US" sz="14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FAADC-A3C8-F59A-221C-C3373F17D7BA}"/>
              </a:ext>
            </a:extLst>
          </p:cNvPr>
          <p:cNvSpPr txBox="1"/>
          <p:nvPr/>
        </p:nvSpPr>
        <p:spPr>
          <a:xfrm>
            <a:off x="111260" y="5428718"/>
            <a:ext cx="5631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Saved Program Status </a:t>
            </a:r>
            <a:r>
              <a:rPr lang="en-US" sz="1000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Register</a:t>
            </a:r>
            <a:r>
              <a:rPr lang="zh-CN" altLang="en-US" sz="1000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、</a:t>
            </a:r>
            <a:r>
              <a:rPr lang="en-US" sz="1000" dirty="0"/>
              <a:t>Vector Base Address Register</a:t>
            </a:r>
            <a:r>
              <a:rPr lang="zh-CN" altLang="en-US" sz="1000" dirty="0"/>
              <a:t>、</a:t>
            </a:r>
            <a:r>
              <a:rPr lang="en-US" sz="1000" dirty="0"/>
              <a:t>Exception Syndrome Register</a:t>
            </a:r>
            <a:endParaRPr lang="en-CN" sz="1000" dirty="0"/>
          </a:p>
        </p:txBody>
      </p:sp>
    </p:spTree>
    <p:extLst>
      <p:ext uri="{BB962C8B-B14F-4D97-AF65-F5344CB8AC3E}">
        <p14:creationId xmlns:p14="http://schemas.microsoft.com/office/powerpoint/2010/main" val="2342698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特权级切换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EL0</a:t>
            </a:r>
            <a:r>
              <a:rPr lang="zh-CN" altLang="en-US" dirty="0"/>
              <a:t>与</a:t>
            </a:r>
            <a:r>
              <a:rPr lang="en-US" altLang="zh-CN" dirty="0"/>
              <a:t>EL1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67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F4BE4AD-F25D-1042-AF00-2AF90CB8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用户态和内核态之间的控制流跳转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1CE6E6-54A2-4445-B0BC-7A8E163E7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初始时</a:t>
            </a:r>
            <a:r>
              <a:rPr lang="en-US" altLang="zh-CN" dirty="0"/>
              <a:t>CPU</a:t>
            </a:r>
            <a:r>
              <a:rPr lang="zh-CN" altLang="en-US" dirty="0"/>
              <a:t>处于用户态（</a:t>
            </a:r>
            <a:r>
              <a:rPr lang="en-US" altLang="zh-CN" dirty="0"/>
              <a:t>EL0</a:t>
            </a:r>
            <a:r>
              <a:rPr lang="zh-CN" altLang="en-US" dirty="0"/>
              <a:t>）执行应用程序，如何改变</a:t>
            </a:r>
            <a:r>
              <a:rPr lang="en-US" altLang="zh-CN" dirty="0"/>
              <a:t>CPU</a:t>
            </a:r>
            <a:r>
              <a:rPr lang="zh-CN" altLang="en-US" dirty="0"/>
              <a:t>控制流从用户态进入内核态？</a:t>
            </a:r>
            <a:endParaRPr lang="en-US" altLang="zh-CN" dirty="0"/>
          </a:p>
          <a:p>
            <a:pPr lvl="1"/>
            <a:r>
              <a:rPr lang="zh-CN" altLang="en-US" dirty="0"/>
              <a:t>已知的两种改变控制流的方式：</a:t>
            </a:r>
            <a:endParaRPr lang="en-US" altLang="zh-CN" dirty="0"/>
          </a:p>
          <a:p>
            <a:pPr lvl="2"/>
            <a:r>
              <a:rPr lang="zh-CN" altLang="en-US" dirty="0"/>
              <a:t>跳转指令，如 </a:t>
            </a:r>
            <a:r>
              <a:rPr lang="en-US" altLang="zh-CN" dirty="0"/>
              <a:t>b</a:t>
            </a:r>
          </a:p>
          <a:p>
            <a:pPr lvl="2"/>
            <a:r>
              <a:rPr lang="zh-CN" altLang="en-US" dirty="0"/>
              <a:t>过程调用与返回指令，如 </a:t>
            </a:r>
            <a:r>
              <a:rPr lang="en-US" altLang="zh-CN" dirty="0"/>
              <a:t>bl</a:t>
            </a:r>
            <a:r>
              <a:rPr lang="zh-CN" altLang="en-US" dirty="0"/>
              <a:t> 和 </a:t>
            </a:r>
            <a:r>
              <a:rPr lang="en-US" altLang="zh-CN" dirty="0"/>
              <a:t>ret</a:t>
            </a:r>
          </a:p>
          <a:p>
            <a:pPr lvl="1"/>
            <a:r>
              <a:rPr lang="zh-CN" altLang="en-US" dirty="0"/>
              <a:t>这两种方式只能在同一种模式之间跳转</a:t>
            </a:r>
            <a:endParaRPr lang="en-US" altLang="zh-CN" dirty="0"/>
          </a:p>
          <a:p>
            <a:pPr lvl="1"/>
            <a:r>
              <a:rPr lang="zh-CN" altLang="en-US" dirty="0"/>
              <a:t>需要</a:t>
            </a:r>
            <a:r>
              <a:rPr lang="zh-CN" altLang="en-US" dirty="0">
                <a:highlight>
                  <a:srgbClr val="FFFF00"/>
                </a:highlight>
              </a:rPr>
              <a:t>新的指令</a:t>
            </a:r>
            <a:r>
              <a:rPr lang="zh-CN" altLang="en-US" dirty="0"/>
              <a:t>（</a:t>
            </a:r>
            <a:r>
              <a:rPr lang="zh-CN" altLang="en-US" b="1" dirty="0">
                <a:solidFill>
                  <a:srgbClr val="C00000"/>
                </a:solidFill>
              </a:rPr>
              <a:t>在控制流跳转的同时进行特权级切换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2"/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svc/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eret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7111C5-263B-C942-B241-ACD01719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68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29A2F-8739-1575-F308-8F889072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特权级切换的必要性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DE6F1A-D0E1-0AD4-B672-96CC780DA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操作系统的职责之一：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服务应用、管理应用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特权级切换的必要性：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控制权移交给内核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服务：应用程序向操作系统请求服务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管理：操作系统能够切换不同应用程序执行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否则，错误</a:t>
            </a:r>
            <a:r>
              <a:rPr kumimoji="1" lang="en-US" altLang="zh-CN" dirty="0"/>
              <a:t>/</a:t>
            </a:r>
            <a:r>
              <a:rPr kumimoji="1" lang="zh-CN" altLang="en-US" dirty="0"/>
              <a:t>恶意程序死循环怎么办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AFCD9D-7329-1887-2013-1FCC65E4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943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9D00E-3A03-6C44-9B05-AACAA2C4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何时发生特权级切换：发生异常的时候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C397AA-714B-8942-9E5D-A0381E360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89548"/>
            <a:ext cx="8229600" cy="2335661"/>
          </a:xfrm>
        </p:spPr>
        <p:txBody>
          <a:bodyPr>
            <a:normAutofit fontScale="62500" lnSpcReduction="20000"/>
          </a:bodyPr>
          <a:lstStyle/>
          <a:p>
            <a:r>
              <a:rPr kumimoji="1" lang="zh-CN" altLang="en-US" dirty="0">
                <a:highlight>
                  <a:srgbClr val="FFFF00"/>
                </a:highlight>
              </a:rPr>
              <a:t>同步异常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zh-CN" altLang="en-US" dirty="0"/>
              <a:t>执行当前指令触发异常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第一类：用户程序主动发起：</a:t>
            </a:r>
            <a:r>
              <a:rPr kumimoji="1" lang="en-US" altLang="zh-CN" b="1" dirty="0"/>
              <a:t>svc</a:t>
            </a:r>
            <a:r>
              <a:rPr kumimoji="1" lang="zh-CN" altLang="en-US" b="1" dirty="0"/>
              <a:t>指令</a:t>
            </a:r>
            <a:r>
              <a:rPr kumimoji="1" lang="zh-CN" altLang="en-US" dirty="0"/>
              <a:t>（</a:t>
            </a:r>
            <a:r>
              <a:rPr kumimoji="1" lang="en-US" altLang="zh-CN" dirty="0"/>
              <a:t>OS</a:t>
            </a:r>
            <a:r>
              <a:rPr kumimoji="1" lang="zh-CN" altLang="en-US" dirty="0"/>
              <a:t>利用</a:t>
            </a:r>
            <a:r>
              <a:rPr kumimoji="1" lang="en-US" altLang="zh-CN" dirty="0" err="1"/>
              <a:t>eret</a:t>
            </a:r>
            <a:r>
              <a:rPr kumimoji="1" lang="zh-CN" altLang="en-US" dirty="0"/>
              <a:t>指令返回）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第二类：非主动，例如用户程序意外访问空指针：普通</a:t>
            </a:r>
            <a:r>
              <a:rPr kumimoji="1" lang="en-US" altLang="zh-CN" dirty="0" err="1"/>
              <a:t>ldr</a:t>
            </a:r>
            <a:r>
              <a:rPr kumimoji="1" lang="zh-CN" altLang="en-US" dirty="0"/>
              <a:t>指令（</a:t>
            </a:r>
            <a:r>
              <a:rPr kumimoji="1" lang="en-US" altLang="zh-CN" dirty="0"/>
              <a:t>OS</a:t>
            </a:r>
            <a:r>
              <a:rPr kumimoji="1" lang="zh-CN" altLang="en-US" dirty="0"/>
              <a:t>“杀死”出错程序）</a:t>
            </a:r>
            <a:endParaRPr kumimoji="1" lang="en-US" altLang="zh-CN" dirty="0"/>
          </a:p>
          <a:p>
            <a:r>
              <a:rPr kumimoji="1" lang="zh-CN" altLang="en-US" dirty="0">
                <a:highlight>
                  <a:srgbClr val="FFFF00"/>
                </a:highlight>
              </a:rPr>
              <a:t>异步异常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收到中断信号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从外设发来的中断，例如屏幕点击、鼠标、收到网络包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CPU</a:t>
            </a:r>
            <a:r>
              <a:rPr kumimoji="1" lang="zh-CN" altLang="en-US" dirty="0"/>
              <a:t>时钟中断，例如定时器超时</a:t>
            </a:r>
            <a:endParaRPr kumimoji="1" lang="en-US" altLang="zh-CN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44C6E21-8720-D549-B81F-DC2CF94C19BA}"/>
              </a:ext>
            </a:extLst>
          </p:cNvPr>
          <p:cNvGrpSpPr>
            <a:grpSpLocks/>
          </p:cNvGrpSpPr>
          <p:nvPr/>
        </p:nvGrpSpPr>
        <p:grpSpPr bwMode="auto">
          <a:xfrm>
            <a:off x="1612961" y="1245351"/>
            <a:ext cx="5626039" cy="1828800"/>
            <a:chOff x="2133600" y="3412435"/>
            <a:chExt cx="7953350" cy="22263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17C1B55-8FC2-9346-877D-5CB26FC5C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9650" y="3412435"/>
              <a:ext cx="1499015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用户程序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AD29955-E434-6B4F-AC90-0A36FA75A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4" y="3505200"/>
              <a:ext cx="665085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OS</a:t>
              </a: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733F1C5F-C415-FB44-8CAA-DA0783334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4038" y="3875088"/>
              <a:ext cx="0" cy="598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A52B5421-1C4F-F340-BCF4-C1100C615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0388" y="44799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0FD41685-604A-8E41-B86B-91E07FBAA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3438" y="44862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FCA430B1-CE2C-014D-853D-C2ECD74DF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688" y="4549775"/>
              <a:ext cx="2832100" cy="546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38314620-B986-1545-BE53-977AF7D22A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575" y="4637088"/>
              <a:ext cx="17463" cy="100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5A3A68-4133-514B-8115-1801994E4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49" y="4086429"/>
              <a:ext cx="846374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异常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820349-80A3-FA4D-9C36-91B5D736B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1549" y="4388131"/>
              <a:ext cx="4035401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异常处理函数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4397D8-82B2-784C-A51A-9DE490C42B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82154">
              <a:off x="3209376" y="4885510"/>
              <a:ext cx="2931199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异常返回指令</a:t>
              </a:r>
              <a:r>
                <a:rPr lang="en-US" altLang="zh-CN" sz="1800" b="0" i="1" dirty="0">
                  <a:latin typeface="Arial" panose="020B0604020202020204" pitchFamily="34" charset="0"/>
                </a:rPr>
                <a:t>(</a:t>
              </a:r>
              <a:r>
                <a:rPr lang="en-US" altLang="zh-CN" sz="1800" b="0" i="1" dirty="0" err="1">
                  <a:latin typeface="Arial" panose="020B0604020202020204" pitchFamily="34" charset="0"/>
                </a:rPr>
                <a:t>e</a:t>
              </a:r>
              <a:r>
                <a:rPr lang="en-US" altLang="zh-CN" sz="1800" i="1" dirty="0" err="1">
                  <a:latin typeface="Arial" panose="020B0604020202020204" pitchFamily="34" charset="0"/>
                </a:rPr>
                <a:t>ret</a:t>
              </a:r>
              <a:r>
                <a:rPr lang="en-US" altLang="zh-CN" sz="1800" b="0" i="1" dirty="0"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9A8BE960-54AA-8742-A4C0-B013712C0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969026"/>
              <a:ext cx="915964" cy="48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curr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DEAE8DD8-6DA7-5C49-BF4D-EF3E0BDC8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4432852"/>
              <a:ext cx="904633" cy="48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88E1B637-AFC8-094F-B61A-D6C5652E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F314E4-D6DD-9FAB-2D15-494077121FB5}"/>
              </a:ext>
            </a:extLst>
          </p:cNvPr>
          <p:cNvSpPr txBox="1"/>
          <p:nvPr/>
        </p:nvSpPr>
        <p:spPr>
          <a:xfrm>
            <a:off x="676818" y="174923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当前指令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A8F6E1-8DF4-D11D-FAA4-E10A709ED493}"/>
              </a:ext>
            </a:extLst>
          </p:cNvPr>
          <p:cNvSpPr txBox="1"/>
          <p:nvPr/>
        </p:nvSpPr>
        <p:spPr>
          <a:xfrm>
            <a:off x="587049" y="213560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下一条指令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7B209C-3A43-C955-C856-E5D371A65F74}"/>
              </a:ext>
            </a:extLst>
          </p:cNvPr>
          <p:cNvSpPr txBox="1"/>
          <p:nvPr/>
        </p:nvSpPr>
        <p:spPr>
          <a:xfrm>
            <a:off x="2929076" y="2992224"/>
            <a:ext cx="648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问：</a:t>
            </a:r>
            <a:r>
              <a:rPr kumimoji="1" lang="en-US" altLang="zh-CN" dirty="0">
                <a:solidFill>
                  <a:srgbClr val="C00000"/>
                </a:solidFill>
              </a:rPr>
              <a:t>OS</a:t>
            </a:r>
            <a:r>
              <a:rPr kumimoji="1" lang="zh-CN" altLang="en-US" dirty="0">
                <a:solidFill>
                  <a:srgbClr val="C00000"/>
                </a:solidFill>
              </a:rPr>
              <a:t>处理完异常后一定返回到被打断执行的用户程序吗？</a:t>
            </a:r>
          </a:p>
        </p:txBody>
      </p:sp>
    </p:spTree>
    <p:extLst>
      <p:ext uri="{BB962C8B-B14F-4D97-AF65-F5344CB8AC3E}">
        <p14:creationId xmlns:p14="http://schemas.microsoft.com/office/powerpoint/2010/main" val="182222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EF0A6-AD9E-DB4D-927D-0461E985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异常处理函数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E6A3C-7CD0-2442-9436-0587A75DE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异常处理函数属于操作系统的一部分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运行在内核态的代码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异常处理函数完成异常处理后，将通过下述操作之一转移控制权：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回到发生异常时正在执行的指令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回到发生异常时的下一条指令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切换到其它进程执行</a:t>
            </a:r>
            <a:endParaRPr kumimoji="1" lang="en-US" altLang="zh-CN" sz="1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4232F6-0ADC-FB47-96AF-E4EB4002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CA3276-7FE5-770B-CC77-5EC36D5745FB}"/>
              </a:ext>
            </a:extLst>
          </p:cNvPr>
          <p:cNvSpPr txBox="1"/>
          <p:nvPr/>
        </p:nvSpPr>
        <p:spPr>
          <a:xfrm>
            <a:off x="4765183" y="3735168"/>
            <a:ext cx="3943708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思考：什么情况返回到当前指令？</a:t>
            </a:r>
            <a:br>
              <a:rPr kumimoji="1" lang="en-US" altLang="zh-CN" dirty="0">
                <a:solidFill>
                  <a:srgbClr val="C00000"/>
                </a:solidFill>
                <a:latin typeface="+mn-ea"/>
              </a:rPr>
            </a:b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          什么情况返回到下一条指令？</a:t>
            </a:r>
          </a:p>
        </p:txBody>
      </p:sp>
    </p:spTree>
    <p:extLst>
      <p:ext uri="{BB962C8B-B14F-4D97-AF65-F5344CB8AC3E}">
        <p14:creationId xmlns:p14="http://schemas.microsoft.com/office/powerpoint/2010/main" val="56323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D5B82-0F7A-DD40-8ACD-40F9E06F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异常向量表：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找到异常处理函数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C638ED-2194-1547-BB31-82B1A37EA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操作系统内核预先在一张表，表中准备好不同类型异常的处理函数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基地址存储在</a:t>
            </a:r>
            <a:r>
              <a:rPr kumimoji="1"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VBAR_EL1</a:t>
            </a:r>
            <a:r>
              <a:rPr kumimoji="1" lang="zh-CN" altLang="en-US" sz="1800" dirty="0"/>
              <a:t>寄存器中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系统寄存器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en-US" altLang="zh-CN" sz="2000" dirty="0"/>
              <a:t>CPU</a:t>
            </a:r>
            <a:r>
              <a:rPr kumimoji="1" lang="zh-CN" altLang="en-US" sz="2000" dirty="0"/>
              <a:t>在异常发生时自动跳转到相应处理函数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同步异常：主动下陷</a:t>
            </a:r>
            <a:r>
              <a:rPr kumimoji="1" lang="en-US" altLang="zh-CN" sz="1800" dirty="0"/>
              <a:t>svc</a:t>
            </a:r>
            <a:r>
              <a:rPr kumimoji="1" lang="zh-CN" altLang="en-US" sz="1800" dirty="0"/>
              <a:t>、指令执行出错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异步异常：中断（</a:t>
            </a:r>
            <a:r>
              <a:rPr kumimoji="1" lang="en-US" altLang="zh-CN" sz="1800" dirty="0"/>
              <a:t>IRQ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FIQ</a:t>
            </a:r>
            <a:r>
              <a:rPr kumimoji="1" lang="zh-CN" altLang="en-US" sz="1800" dirty="0"/>
              <a:t>）、</a:t>
            </a:r>
            <a:r>
              <a:rPr kumimoji="1" lang="en-US" altLang="zh-CN" sz="1800" dirty="0" err="1"/>
              <a:t>SError</a:t>
            </a:r>
            <a:endParaRPr kumimoji="1" lang="zh-CN" altLang="en-US" sz="1800" dirty="0"/>
          </a:p>
        </p:txBody>
      </p:sp>
      <p:grpSp>
        <p:nvGrpSpPr>
          <p:cNvPr id="5" name="组合 14">
            <a:extLst>
              <a:ext uri="{FF2B5EF4-FFF2-40B4-BE49-F238E27FC236}">
                <a16:creationId xmlns:a16="http://schemas.microsoft.com/office/drawing/2014/main" id="{8E9F481A-3EF8-094D-893C-5D7667D2F7E7}"/>
              </a:ext>
            </a:extLst>
          </p:cNvPr>
          <p:cNvGrpSpPr>
            <a:grpSpLocks/>
          </p:cNvGrpSpPr>
          <p:nvPr/>
        </p:nvGrpSpPr>
        <p:grpSpPr bwMode="auto">
          <a:xfrm>
            <a:off x="6228184" y="2343884"/>
            <a:ext cx="2835275" cy="2723153"/>
            <a:chOff x="3271727" y="3918075"/>
            <a:chExt cx="2925665" cy="2920111"/>
          </a:xfrm>
        </p:grpSpPr>
        <p:grpSp>
          <p:nvGrpSpPr>
            <p:cNvPr id="6" name="组合 12">
              <a:extLst>
                <a:ext uri="{FF2B5EF4-FFF2-40B4-BE49-F238E27FC236}">
                  <a16:creationId xmlns:a16="http://schemas.microsoft.com/office/drawing/2014/main" id="{853D375B-4740-9744-A042-6F0706683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1727" y="3918075"/>
              <a:ext cx="2925665" cy="2920111"/>
              <a:chOff x="4469218" y="3600836"/>
              <a:chExt cx="3197679" cy="3191610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C2E6B8B5-5710-264F-823B-5E4365AA7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9218" y="3600836"/>
                <a:ext cx="3197679" cy="3096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59" tIns="33335" rIns="67859" bIns="33335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 b="1" dirty="0">
                    <a:latin typeface="Arial" panose="020B0604020202020204" pitchFamily="34" charset="0"/>
                  </a:rPr>
                  <a:t>异常向量表</a:t>
                </a:r>
                <a:endParaRPr lang="en-US" altLang="zh-CN" sz="18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" name="Rectangle 19">
                <a:extLst>
                  <a:ext uri="{FF2B5EF4-FFF2-40B4-BE49-F238E27FC236}">
                    <a16:creationId xmlns:a16="http://schemas.microsoft.com/office/drawing/2014/main" id="{DC9ECDFD-D72F-3242-92F2-E37453243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4160791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同步异常处理函数</a:t>
                </a:r>
                <a:endParaRPr lang="en-US" altLang="zh-CN" sz="15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159B2FB9-E12E-EE4A-9DD5-4C4F545F5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5378971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快速中断处理函数</a:t>
                </a:r>
                <a:r>
                  <a:rPr lang="en-US" altLang="zh-CN" sz="1500" b="1" dirty="0">
                    <a:latin typeface="Arial" panose="020B0604020202020204" pitchFamily="34" charset="0"/>
                  </a:rPr>
                  <a:t>(FIQ)</a:t>
                </a:r>
              </a:p>
            </p:txBody>
          </p:sp>
          <p:sp>
            <p:nvSpPr>
              <p:cNvPr id="11" name="Text Box 25">
                <a:extLst>
                  <a:ext uri="{FF2B5EF4-FFF2-40B4-BE49-F238E27FC236}">
                    <a16:creationId xmlns:a16="http://schemas.microsoft.com/office/drawing/2014/main" id="{B54F1E99-2107-714B-A09F-D18A02392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3707" y="6466354"/>
                <a:ext cx="425217" cy="326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latin typeface="Arial" panose="020B0604020202020204" pitchFamily="34" charset="0"/>
                  </a:rPr>
                  <a:t>...</a:t>
                </a:r>
              </a:p>
            </p:txBody>
          </p:sp>
          <p:sp>
            <p:nvSpPr>
              <p:cNvPr id="12" name="Rectangle 19">
                <a:extLst>
                  <a:ext uri="{FF2B5EF4-FFF2-40B4-BE49-F238E27FC236}">
                    <a16:creationId xmlns:a16="http://schemas.microsoft.com/office/drawing/2014/main" id="{1C0436C9-2805-E64F-A90F-015841BC0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4728993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中断处理函数</a:t>
                </a:r>
                <a:r>
                  <a:rPr lang="en-US" altLang="zh-CN" sz="1500" b="1" dirty="0">
                    <a:latin typeface="Arial" panose="020B0604020202020204" pitchFamily="34" charset="0"/>
                  </a:rPr>
                  <a:t>(IRQ)</a:t>
                </a:r>
              </a:p>
            </p:txBody>
          </p:sp>
          <p:sp>
            <p:nvSpPr>
              <p:cNvPr id="13" name="Rectangle 23">
                <a:extLst>
                  <a:ext uri="{FF2B5EF4-FFF2-40B4-BE49-F238E27FC236}">
                    <a16:creationId xmlns:a16="http://schemas.microsoft.com/office/drawing/2014/main" id="{6DC5C571-6EC5-7A4C-9166-2014706C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6006293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系统错误异常处理函数</a:t>
                </a:r>
                <a:endParaRPr lang="en-US" altLang="zh-CN" sz="15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Text Box 25">
              <a:extLst>
                <a:ext uri="{FF2B5EF4-FFF2-40B4-BE49-F238E27FC236}">
                  <a16:creationId xmlns:a16="http://schemas.microsoft.com/office/drawing/2014/main" id="{52A1FC3E-DB8D-8D4D-99E7-F0BBEA94D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444" y="4117391"/>
              <a:ext cx="410477" cy="298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ts val="146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...</a:t>
              </a:r>
            </a:p>
          </p:txBody>
        </p:sp>
      </p:grp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D6C055EB-4DD6-F248-AE72-E7B208B6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704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A2BC6-B1FF-9F43-98D6-08CE7C75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的执行逻辑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C3882-8356-6244-860F-DFA13455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en-US" altLang="zh-CN" sz="1800" dirty="0"/>
              <a:t>CPU</a:t>
            </a:r>
            <a:r>
              <a:rPr kumimoji="1" lang="zh-CN" altLang="en-US" sz="1800" dirty="0"/>
              <a:t>的执行逻辑很简单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600" dirty="0"/>
              <a:t>以</a:t>
            </a:r>
            <a:r>
              <a:rPr kumimoji="1" lang="en-US" altLang="zh-CN" sz="1600" dirty="0"/>
              <a:t>PC</a:t>
            </a:r>
            <a:r>
              <a:rPr kumimoji="1" lang="zh-CN" altLang="en-US" sz="1600" dirty="0"/>
              <a:t>的值为地址从内存中获取一条指令并执行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PC+=4</a:t>
            </a:r>
            <a:r>
              <a:rPr kumimoji="1" lang="zh-CN" altLang="en-US" sz="1600" dirty="0"/>
              <a:t>，</a:t>
            </a:r>
            <a:r>
              <a:rPr kumimoji="1" lang="en-US" altLang="zh-CN" sz="1600" dirty="0" err="1"/>
              <a:t>goto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（简化，未表示跳转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函数调用）</a:t>
            </a:r>
            <a:endParaRPr kumimoji="1" lang="en-US" altLang="zh-CN" sz="1600" dirty="0"/>
          </a:p>
          <a:p>
            <a:pPr marL="400050"/>
            <a:r>
              <a:rPr kumimoji="1" lang="zh-CN" altLang="en-US" sz="1800" dirty="0"/>
              <a:t>执行过程中可能发生两种情况</a:t>
            </a:r>
            <a:endParaRPr kumimoji="1" lang="en-US" altLang="zh-CN" sz="1800" dirty="0"/>
          </a:p>
          <a:p>
            <a:pPr marL="800100" lvl="1">
              <a:buFont typeface="+mj-lt"/>
              <a:buAutoNum type="arabicPeriod"/>
            </a:pPr>
            <a:r>
              <a:rPr kumimoji="1" lang="zh-CN" altLang="en-US" sz="1600" dirty="0"/>
              <a:t>指令执行出现异常，比如</a:t>
            </a:r>
            <a:r>
              <a:rPr kumimoji="1" lang="en-US" altLang="zh-CN" sz="1600" dirty="0"/>
              <a:t>svc</a:t>
            </a:r>
            <a:r>
              <a:rPr kumimoji="1" lang="zh-CN" altLang="en-US" sz="1600" dirty="0"/>
              <a:t>、缺页（同步异常）</a:t>
            </a:r>
            <a:endParaRPr kumimoji="1" lang="en-US" altLang="zh-CN" sz="1600" dirty="0"/>
          </a:p>
          <a:p>
            <a:pPr marL="800100" lvl="1">
              <a:buFont typeface="+mj-lt"/>
              <a:buAutoNum type="arabicPeriod"/>
            </a:pPr>
            <a:r>
              <a:rPr kumimoji="1" lang="zh-CN" altLang="en-US" sz="1600" dirty="0"/>
              <a:t>外部设备触发中断（异步异常）</a:t>
            </a:r>
            <a:endParaRPr kumimoji="1" lang="en-US" altLang="zh-CN" sz="1600" dirty="0"/>
          </a:p>
          <a:p>
            <a:pPr marL="400050"/>
            <a:r>
              <a:rPr kumimoji="1" lang="zh-CN" altLang="en-US" sz="1800" dirty="0"/>
              <a:t>这两种情况在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平台均称为「异常」</a:t>
            </a:r>
            <a:endParaRPr kumimoji="1" lang="en-US" altLang="zh-CN" sz="1800" dirty="0"/>
          </a:p>
          <a:p>
            <a:pPr marL="800100" lvl="1"/>
            <a:r>
              <a:rPr kumimoji="1" lang="zh-CN" altLang="en-US" sz="1600" dirty="0"/>
              <a:t>均会导致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陷入内核态，并根据异常向量表找到对应的处理函数执行</a:t>
            </a:r>
            <a:endParaRPr kumimoji="1" lang="en-US" altLang="zh-CN" sz="1600" dirty="0"/>
          </a:p>
          <a:p>
            <a:pPr marL="800100" lvl="1"/>
            <a:r>
              <a:rPr kumimoji="1" lang="zh-CN" altLang="en-US" sz="1600" dirty="0"/>
              <a:t>处理函数执行完后，执行流</a:t>
            </a:r>
            <a:r>
              <a:rPr kumimoji="1" lang="zh-CN" altLang="en-US" sz="1600" u="sng" dirty="0"/>
              <a:t>需要</a:t>
            </a:r>
            <a:r>
              <a:rPr kumimoji="1" lang="zh-CN" altLang="en-US" sz="1600" dirty="0"/>
              <a:t>恢复到之前被打断的地方继续运行</a:t>
            </a:r>
            <a:endParaRPr kumimoji="1" lang="en-US" altLang="zh-CN" sz="1600" dirty="0"/>
          </a:p>
          <a:p>
            <a:pPr marL="1200150" lvl="2"/>
            <a:r>
              <a:rPr kumimoji="1" lang="zh-CN" altLang="en-US" sz="1400" dirty="0"/>
              <a:t>注意与</a:t>
            </a:r>
            <a:r>
              <a:rPr kumimoji="1" lang="en-US" altLang="zh-CN" sz="1400" dirty="0"/>
              <a:t>x86</a:t>
            </a:r>
            <a:r>
              <a:rPr kumimoji="1" lang="zh-CN" altLang="en-US" sz="1400" dirty="0"/>
              <a:t>相关概念的区别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07D7A2-D73B-E648-9F6B-75646501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145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22812-95FB-F749-A3E1-733E28F9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操作系统关于异常处理的任务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2459F5-142E-154D-ABC3-4CF34C3A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435280" cy="4044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000" dirty="0"/>
              <a:t>一、实现对异常向量表的设置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该设置是系统初始化的重要工作之一：在开启中断和启动第一个应用之前</a:t>
            </a:r>
            <a:endParaRPr kumimoji="1" lang="en-US" altLang="zh-CN" sz="1800" dirty="0"/>
          </a:p>
          <a:p>
            <a:pPr lvl="1"/>
            <a:r>
              <a:rPr kumimoji="1" lang="en-US" altLang="zh-CN" sz="18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msr</a:t>
            </a:r>
            <a:r>
              <a:rPr kumimoji="1" lang="zh-CN" altLang="en-US" sz="1800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800" b="1" dirty="0">
                <a:solidFill>
                  <a:srgbClr val="C00000"/>
                </a:solidFill>
                <a:highlight>
                  <a:srgbClr val="FFFF00"/>
                </a:highlight>
              </a:rPr>
              <a:t>vbar_el1</a:t>
            </a:r>
            <a:r>
              <a:rPr kumimoji="1" lang="en-US" altLang="zh-CN" sz="1800" dirty="0">
                <a:highlight>
                  <a:srgbClr val="FFFF00"/>
                </a:highlight>
              </a:rPr>
              <a:t>,</a:t>
            </a:r>
            <a:r>
              <a:rPr kumimoji="1" lang="zh-CN" altLang="en-US" sz="1800" dirty="0">
                <a:highlight>
                  <a:srgbClr val="FFFF00"/>
                </a:highlight>
              </a:rPr>
              <a:t> </a:t>
            </a:r>
            <a:r>
              <a:rPr kumimoji="1" lang="en-US" altLang="zh-CN" sz="1800" dirty="0">
                <a:highlight>
                  <a:srgbClr val="FFFF00"/>
                </a:highlight>
              </a:rPr>
              <a:t>x0</a:t>
            </a:r>
            <a:r>
              <a:rPr kumimoji="1" lang="zh-CN" altLang="en-US" sz="1800" dirty="0"/>
              <a:t> （是内核态才能使用的指令，内核才能访问的寄存器）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zh-CN" altLang="en-US" sz="2000" dirty="0"/>
              <a:t>二、实现对不同异常（中断）的处理函数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处理应用程序出错的情况：如访问空指针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Q</a:t>
            </a:r>
            <a:r>
              <a:rPr kumimoji="1" lang="zh-CN" altLang="en-US" sz="1600" dirty="0"/>
              <a:t>：内核如果自己运行出错怎么办？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一类特殊的同步异常：系统调用，由应用主动触发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Q</a:t>
            </a:r>
            <a:r>
              <a:rPr kumimoji="1" lang="zh-CN" altLang="en-US" sz="1600" dirty="0"/>
              <a:t>：内核如何识别出是系统调用（而不是其他异常）？</a:t>
            </a:r>
            <a:endParaRPr kumimoji="1" lang="en-US" altLang="zh-CN" sz="1600" dirty="0"/>
          </a:p>
          <a:p>
            <a:pPr lvl="2"/>
            <a:r>
              <a:rPr kumimoji="1" lang="en-US" altLang="zh-CN" sz="1400" b="1" dirty="0" err="1">
                <a:solidFill>
                  <a:srgbClr val="C00000"/>
                </a:solidFill>
              </a:rPr>
              <a:t>mrs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1400" b="1" dirty="0">
                <a:solidFill>
                  <a:srgbClr val="C00000"/>
                </a:solidFill>
              </a:rPr>
              <a:t>x1, esr_el1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，内核通过 </a:t>
            </a:r>
            <a:r>
              <a:rPr kumimoji="1" lang="en-US" altLang="zh-CN" sz="1400" b="1" dirty="0">
                <a:solidFill>
                  <a:srgbClr val="C00000"/>
                </a:solidFill>
              </a:rPr>
              <a:t>ESR_EL1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寄存器读取陷入内核的原因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处理来自外部设备的中断：如收取网络包、获取键盘输入等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CAA86B-F3A4-F745-A4FC-A9FA7A65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27E10-1D84-56AA-D240-BDB7FCCACE97}"/>
              </a:ext>
            </a:extLst>
          </p:cNvPr>
          <p:cNvSpPr txBox="1"/>
          <p:nvPr/>
        </p:nvSpPr>
        <p:spPr>
          <a:xfrm>
            <a:off x="59339" y="5449097"/>
            <a:ext cx="25314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Move to Register from Special Register</a:t>
            </a:r>
            <a:endParaRPr lang="en-CN" sz="1050" dirty="0"/>
          </a:p>
        </p:txBody>
      </p:sp>
    </p:spTree>
    <p:extLst>
      <p:ext uri="{BB962C8B-B14F-4D97-AF65-F5344CB8AC3E}">
        <p14:creationId xmlns:p14="http://schemas.microsoft.com/office/powerpoint/2010/main" val="379726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操作系统异常处理示意图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C33B95A-F563-8245-ABA2-939ACFA799D6}"/>
              </a:ext>
            </a:extLst>
          </p:cNvPr>
          <p:cNvSpPr/>
          <p:nvPr/>
        </p:nvSpPr>
        <p:spPr>
          <a:xfrm>
            <a:off x="6588224" y="2722776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342015D-14F6-3243-8FA2-D1DF6A7A42C4}"/>
              </a:ext>
            </a:extLst>
          </p:cNvPr>
          <p:cNvSpPr/>
          <p:nvPr/>
        </p:nvSpPr>
        <p:spPr>
          <a:xfrm>
            <a:off x="6588224" y="3010808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0A1EB2C-0D9F-634D-8A2D-8BEAF0DFC5E4}"/>
              </a:ext>
            </a:extLst>
          </p:cNvPr>
          <p:cNvSpPr/>
          <p:nvPr/>
        </p:nvSpPr>
        <p:spPr>
          <a:xfrm>
            <a:off x="6588224" y="3298840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403DF31-609D-FD42-8346-0552014CDC35}"/>
              </a:ext>
            </a:extLst>
          </p:cNvPr>
          <p:cNvSpPr/>
          <p:nvPr/>
        </p:nvSpPr>
        <p:spPr>
          <a:xfrm>
            <a:off x="6588224" y="3586872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2B43012-ED24-C143-8479-2BE36577D76C}"/>
              </a:ext>
            </a:extLst>
          </p:cNvPr>
          <p:cNvSpPr txBox="1"/>
          <p:nvPr/>
        </p:nvSpPr>
        <p:spPr>
          <a:xfrm>
            <a:off x="7591529" y="2794784"/>
            <a:ext cx="1512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Exception</a:t>
            </a:r>
            <a:r>
              <a:rPr kumimoji="1" lang="zh-CN" altLang="en-US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</a:p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Table</a:t>
            </a:r>
            <a:endParaRPr kumimoji="1" lang="zh-CN" altLang="en-US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155C1134-5D16-7E45-BBD8-FAEC31C125E4}"/>
              </a:ext>
            </a:extLst>
          </p:cNvPr>
          <p:cNvCxnSpPr/>
          <p:nvPr/>
        </p:nvCxnSpPr>
        <p:spPr>
          <a:xfrm>
            <a:off x="755576" y="2261111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E2E5F30-577D-DA4B-AA62-6CD810564B32}"/>
              </a:ext>
            </a:extLst>
          </p:cNvPr>
          <p:cNvCxnSpPr/>
          <p:nvPr/>
        </p:nvCxnSpPr>
        <p:spPr>
          <a:xfrm>
            <a:off x="755576" y="4522976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0865318-FC59-CF43-ACC8-327B908C7C96}"/>
              </a:ext>
            </a:extLst>
          </p:cNvPr>
          <p:cNvSpPr txBox="1"/>
          <p:nvPr/>
        </p:nvSpPr>
        <p:spPr>
          <a:xfrm>
            <a:off x="760384" y="1613039"/>
            <a:ext cx="251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Application</a:t>
            </a:r>
            <a:r>
              <a:rPr kumimoji="1" lang="zh-CN" altLang="en-US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(CPU)</a:t>
            </a:r>
            <a:endParaRPr kumimoji="1" lang="zh-CN" altLang="en-US" sz="2400" dirty="0">
              <a:solidFill>
                <a:srgbClr val="1F497D">
                  <a:lumMod val="75000"/>
                </a:srgbClr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5E240A6-94CE-5F4F-8CFA-4CFD86A9653D}"/>
              </a:ext>
            </a:extLst>
          </p:cNvPr>
          <p:cNvSpPr txBox="1"/>
          <p:nvPr/>
        </p:nvSpPr>
        <p:spPr>
          <a:xfrm>
            <a:off x="755577" y="3125208"/>
            <a:ext cx="7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OS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7C70DFC-7EDF-CD42-BDCA-E9DC9A523387}"/>
              </a:ext>
            </a:extLst>
          </p:cNvPr>
          <p:cNvSpPr txBox="1"/>
          <p:nvPr/>
        </p:nvSpPr>
        <p:spPr>
          <a:xfrm>
            <a:off x="755577" y="4738999"/>
            <a:ext cx="208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I/O</a:t>
            </a:r>
            <a:r>
              <a:rPr kumimoji="1" lang="zh-CN" altLang="en-US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Device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67D04F11-50C8-B44B-8827-BF7BCB74C0D9}"/>
              </a:ext>
            </a:extLst>
          </p:cNvPr>
          <p:cNvCxnSpPr>
            <a:endCxn id="67" idx="0"/>
          </p:cNvCxnSpPr>
          <p:nvPr/>
        </p:nvCxnSpPr>
        <p:spPr>
          <a:xfrm>
            <a:off x="5292080" y="1843870"/>
            <a:ext cx="1872208" cy="87890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F7158A35-3BCD-024E-BDF4-A589AB09B4C6}"/>
              </a:ext>
            </a:extLst>
          </p:cNvPr>
          <p:cNvCxnSpPr>
            <a:endCxn id="70" idx="2"/>
          </p:cNvCxnSpPr>
          <p:nvPr/>
        </p:nvCxnSpPr>
        <p:spPr>
          <a:xfrm flipV="1">
            <a:off x="5287272" y="3874904"/>
            <a:ext cx="1877016" cy="110973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94D85CCD-545F-8C43-9001-E87E800C0BC7}"/>
              </a:ext>
            </a:extLst>
          </p:cNvPr>
          <p:cNvCxnSpPr/>
          <p:nvPr/>
        </p:nvCxnSpPr>
        <p:spPr>
          <a:xfrm>
            <a:off x="3847112" y="272277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431A657C-16E1-404F-932B-62EDDCDB626E}"/>
              </a:ext>
            </a:extLst>
          </p:cNvPr>
          <p:cNvCxnSpPr/>
          <p:nvPr/>
        </p:nvCxnSpPr>
        <p:spPr>
          <a:xfrm>
            <a:off x="3847112" y="286679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F7B2CFAA-AE85-354E-BD87-8D96397ADA81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D6D5DAC5-AFB6-1548-B4AF-148ED1105E5E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0BBAAD2A-4357-244D-80BE-B0D444585437}"/>
              </a:ext>
            </a:extLst>
          </p:cNvPr>
          <p:cNvCxnSpPr/>
          <p:nvPr/>
        </p:nvCxnSpPr>
        <p:spPr>
          <a:xfrm>
            <a:off x="3847112" y="315482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10E6ED06-CB9C-F34C-AF87-3FE7AD52F4A6}"/>
              </a:ext>
            </a:extLst>
          </p:cNvPr>
          <p:cNvCxnSpPr/>
          <p:nvPr/>
        </p:nvCxnSpPr>
        <p:spPr>
          <a:xfrm>
            <a:off x="3847112" y="329884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7236E992-E794-5846-8ACF-98B52A9A241A}"/>
              </a:ext>
            </a:extLst>
          </p:cNvPr>
          <p:cNvCxnSpPr/>
          <p:nvPr/>
        </p:nvCxnSpPr>
        <p:spPr>
          <a:xfrm>
            <a:off x="3847112" y="344285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248AD4-A62B-0042-BCC5-BEAB9CB8B38D}"/>
              </a:ext>
            </a:extLst>
          </p:cNvPr>
          <p:cNvCxnSpPr/>
          <p:nvPr/>
        </p:nvCxnSpPr>
        <p:spPr>
          <a:xfrm>
            <a:off x="3847112" y="358687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AAAC4727-B0CB-264B-A62F-42D2B982D195}"/>
              </a:ext>
            </a:extLst>
          </p:cNvPr>
          <p:cNvCxnSpPr/>
          <p:nvPr/>
        </p:nvCxnSpPr>
        <p:spPr>
          <a:xfrm>
            <a:off x="3847112" y="373088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60204ED6-5405-1841-A11A-4348213F2182}"/>
              </a:ext>
            </a:extLst>
          </p:cNvPr>
          <p:cNvCxnSpPr/>
          <p:nvPr/>
        </p:nvCxnSpPr>
        <p:spPr>
          <a:xfrm>
            <a:off x="3847112" y="387490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5891C142-7CC4-7840-ACCC-B5567164D6ED}"/>
              </a:ext>
            </a:extLst>
          </p:cNvPr>
          <p:cNvCxnSpPr/>
          <p:nvPr/>
        </p:nvCxnSpPr>
        <p:spPr>
          <a:xfrm>
            <a:off x="3847112" y="401892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673E740A-3EB4-E647-BB6B-F7A7891E3745}"/>
              </a:ext>
            </a:extLst>
          </p:cNvPr>
          <p:cNvCxnSpPr/>
          <p:nvPr/>
        </p:nvCxnSpPr>
        <p:spPr>
          <a:xfrm>
            <a:off x="3847112" y="416293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9F3D84B9-E4B3-534D-8624-FF0350119DD4}"/>
              </a:ext>
            </a:extLst>
          </p:cNvPr>
          <p:cNvCxnSpPr>
            <a:stCxn id="68" idx="1"/>
          </p:cNvCxnSpPr>
          <p:nvPr/>
        </p:nvCxnSpPr>
        <p:spPr>
          <a:xfrm rot="10800000">
            <a:off x="4567193" y="2866792"/>
            <a:ext cx="2021033" cy="28803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7AF35630-642A-9441-B864-FED19DC4E207}"/>
              </a:ext>
            </a:extLst>
          </p:cNvPr>
          <p:cNvCxnSpPr>
            <a:stCxn id="69" idx="1"/>
          </p:cNvCxnSpPr>
          <p:nvPr/>
        </p:nvCxnSpPr>
        <p:spPr>
          <a:xfrm rot="10800000" flipV="1">
            <a:off x="4567192" y="3442856"/>
            <a:ext cx="2021032" cy="50405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DCD2B448-B4D2-D443-AB94-9740A5FBF606}"/>
              </a:ext>
            </a:extLst>
          </p:cNvPr>
          <p:cNvSpPr txBox="1"/>
          <p:nvPr/>
        </p:nvSpPr>
        <p:spPr>
          <a:xfrm>
            <a:off x="2384901" y="3160339"/>
            <a:ext cx="1462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Services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0708FE6-B70A-9642-9372-3A02D47E86AF}"/>
              </a:ext>
            </a:extLst>
          </p:cNvPr>
          <p:cNvSpPr txBox="1"/>
          <p:nvPr/>
        </p:nvSpPr>
        <p:spPr>
          <a:xfrm>
            <a:off x="5073651" y="1417340"/>
            <a:ext cx="229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Exception/</a:t>
            </a:r>
            <a:r>
              <a:rPr kumimoji="1" lang="en-US" altLang="zh-CN" dirty="0" err="1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syscalls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8EBB1D3-B72A-C946-A917-F66886F67F9D}"/>
              </a:ext>
            </a:extLst>
          </p:cNvPr>
          <p:cNvSpPr txBox="1"/>
          <p:nvPr/>
        </p:nvSpPr>
        <p:spPr>
          <a:xfrm>
            <a:off x="5287272" y="502703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Interrupt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7BD167-8A02-E82D-98B3-63A448768D56}"/>
              </a:ext>
            </a:extLst>
          </p:cNvPr>
          <p:cNvSpPr txBox="1"/>
          <p:nvPr/>
        </p:nvSpPr>
        <p:spPr>
          <a:xfrm>
            <a:off x="6563300" y="2728291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042680-4673-FF07-90AF-62B2D2695F3A}"/>
              </a:ext>
            </a:extLst>
          </p:cNvPr>
          <p:cNvSpPr txBox="1"/>
          <p:nvPr/>
        </p:nvSpPr>
        <p:spPr>
          <a:xfrm>
            <a:off x="6556176" y="3013565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D9E6B9-29F8-0F95-6CAE-38C10A934269}"/>
              </a:ext>
            </a:extLst>
          </p:cNvPr>
          <p:cNvSpPr txBox="1"/>
          <p:nvPr/>
        </p:nvSpPr>
        <p:spPr>
          <a:xfrm>
            <a:off x="6563300" y="3282061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16C45C-86F7-9371-C42A-05C1C7CABDE6}"/>
              </a:ext>
            </a:extLst>
          </p:cNvPr>
          <p:cNvSpPr txBox="1"/>
          <p:nvPr/>
        </p:nvSpPr>
        <p:spPr>
          <a:xfrm>
            <a:off x="6556176" y="3600810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37270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0D906-CE26-E846-86BD-6E973BAD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用户态</a:t>
            </a:r>
            <a:r>
              <a:rPr kumimoji="1" lang="en-US" altLang="zh-CN" sz="3200" dirty="0"/>
              <a:t>/</a:t>
            </a:r>
            <a:r>
              <a:rPr kumimoji="1" lang="zh-CN" altLang="en-US" sz="3200" dirty="0"/>
              <a:t>内核态切换时的处理器状态变化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BCA101-6387-C441-A0C6-68823E461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145704"/>
            <a:ext cx="5982645" cy="442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09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AEFD0-EA9C-F243-8B1F-433114FC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处理器在切换过程中的任务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BBA26-9EB4-F848-A7BF-DE7070F78A87}"/>
              </a:ext>
            </a:extLst>
          </p:cNvPr>
          <p:cNvSpPr txBox="1">
            <a:spLocks/>
          </p:cNvSpPr>
          <p:nvPr/>
        </p:nvSpPr>
        <p:spPr>
          <a:xfrm>
            <a:off x="457200" y="1333500"/>
            <a:ext cx="8579296" cy="404427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将发生异常事件的指令地址保存在</a:t>
            </a:r>
            <a:r>
              <a:rPr lang="en" altLang="zh-CN" sz="2000" dirty="0"/>
              <a:t>ELR_EL1</a:t>
            </a:r>
            <a:r>
              <a:rPr lang="zh-CN" altLang="en-US" sz="2000" dirty="0"/>
              <a:t>中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将异常事件的原因保存在</a:t>
            </a:r>
            <a:r>
              <a:rPr lang="en" altLang="zh-CN" sz="2000" dirty="0"/>
              <a:t>ESR_EL1</a:t>
            </a:r>
            <a:endParaRPr lang="en-US" altLang="zh-CN" sz="2000" dirty="0"/>
          </a:p>
          <a:p>
            <a:pPr lvl="1"/>
            <a:r>
              <a:rPr lang="zh-CN" altLang="en-US" sz="1800" dirty="0"/>
              <a:t>例如，是执行</a:t>
            </a:r>
            <a:r>
              <a:rPr lang="en" altLang="zh-CN" sz="1800" dirty="0"/>
              <a:t>svc</a:t>
            </a:r>
            <a:r>
              <a:rPr lang="zh-CN" altLang="en-US" sz="1800" dirty="0"/>
              <a:t>指令导致的，还是访存缺页导致的</a:t>
            </a:r>
            <a:endParaRPr lang="en" altLang="zh-CN" sz="18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将处理器的当前状态（即</a:t>
            </a:r>
            <a:r>
              <a:rPr lang="en" altLang="zh-CN" sz="2000" dirty="0"/>
              <a:t>PSTATE</a:t>
            </a:r>
            <a:r>
              <a:rPr lang="zh-CN" altLang="en-US" sz="2000" dirty="0"/>
              <a:t>）保存在</a:t>
            </a:r>
            <a:r>
              <a:rPr lang="en" altLang="zh-CN" sz="2000" dirty="0"/>
              <a:t>SPSR_EL1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栈寄存器不再使用</a:t>
            </a:r>
            <a:r>
              <a:rPr lang="en" altLang="zh-CN" sz="2000" dirty="0"/>
              <a:t>SP_EL0</a:t>
            </a:r>
            <a:r>
              <a:rPr lang="zh-CN" altLang="en" sz="2000" dirty="0"/>
              <a:t>（</a:t>
            </a:r>
            <a:r>
              <a:rPr lang="zh-CN" altLang="en-US" sz="2000" dirty="0"/>
              <a:t>用户态栈寄存器），开始使用</a:t>
            </a:r>
            <a:r>
              <a:rPr lang="en" altLang="zh-CN" sz="2000" dirty="0"/>
              <a:t>SP_EL1</a:t>
            </a:r>
          </a:p>
          <a:p>
            <a:pPr lvl="1"/>
            <a:r>
              <a:rPr lang="zh-CN" altLang="en-US" sz="1800" dirty="0"/>
              <a:t>内核态栈寄存器，需要由操作系统提前设置</a:t>
            </a:r>
            <a:endParaRPr lang="en-US" altLang="zh-CN" sz="18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修改</a:t>
            </a:r>
            <a:r>
              <a:rPr lang="en" altLang="zh-CN" sz="2000" dirty="0"/>
              <a:t>PSTATE</a:t>
            </a:r>
            <a:r>
              <a:rPr lang="zh-CN" altLang="en-US" sz="2000" dirty="0"/>
              <a:t>寄存器中的特权级标志位，设置为内核态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找到异常处理函数的入口地址，并将该地址写入</a:t>
            </a:r>
            <a:r>
              <a:rPr lang="en" altLang="zh-CN" sz="2000" dirty="0"/>
              <a:t>PC</a:t>
            </a:r>
            <a:r>
              <a:rPr lang="zh-CN" altLang="en" sz="2000" dirty="0"/>
              <a:t>，</a:t>
            </a:r>
            <a:r>
              <a:rPr lang="zh-CN" altLang="en-US" sz="2000" dirty="0"/>
              <a:t>开始运行操作系统</a:t>
            </a:r>
            <a:endParaRPr lang="en-US" altLang="zh-CN" sz="2000" dirty="0"/>
          </a:p>
          <a:p>
            <a:pPr lvl="1"/>
            <a:r>
              <a:rPr lang="zh-CN" altLang="en-US" sz="1800" dirty="0"/>
              <a:t>根据</a:t>
            </a:r>
            <a:r>
              <a:rPr lang="en" altLang="zh-CN" sz="1800" dirty="0"/>
              <a:t>VBAR_EL1</a:t>
            </a:r>
            <a:r>
              <a:rPr lang="zh-CN" altLang="en-US" sz="1800" dirty="0"/>
              <a:t>寄存器保存的异常向量表基地址，以及发生异常事件的类型确定</a:t>
            </a:r>
          </a:p>
        </p:txBody>
      </p:sp>
    </p:spTree>
    <p:extLst>
      <p:ext uri="{BB962C8B-B14F-4D97-AF65-F5344CB8AC3E}">
        <p14:creationId xmlns:p14="http://schemas.microsoft.com/office/powerpoint/2010/main" val="734113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为什么操作系统不能直接使用应用程序在用户态的栈呢？</a:t>
            </a:r>
            <a:endParaRPr lang="en-US" altLang="zh-CN" sz="2400" dirty="0"/>
          </a:p>
          <a:p>
            <a:r>
              <a:rPr lang="zh-CN" altLang="en-US" sz="1600" b="0" dirty="0"/>
              <a:t>用户态和内核态的隔离：为了保护系统安全，用户程序和内核的内存是隔离的，操作系统不能直接访问用户栈。栈的保护：用户栈用于存储局部变量和函数信息，直接操作会破坏程序的正常执行。上下文切换：操作系统在上下文切换时需要保存和恢复进程的状态，不会直接操作应用栈。权限控制：用户态和内核态有不同的权限，直接访问用户栈会破坏这种权限隔离。栈的使用语义不同：用户栈和内核栈的用途不同，直接操作可能导致混淆。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278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处理器的这些操作都是必要的么？</a:t>
            </a:r>
            <a:endParaRPr lang="en-US" altLang="zh-CN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2400" dirty="0"/>
              <a:t>PC</a:t>
            </a:r>
            <a:r>
              <a:rPr lang="zh-CN" altLang="en-US" sz="2400" dirty="0"/>
              <a:t>寄存器的值必须由处理器保存</a:t>
            </a:r>
            <a:endParaRPr lang="en-US" altLang="zh-CN" sz="2400" dirty="0"/>
          </a:p>
          <a:p>
            <a:pPr lvl="1"/>
            <a:r>
              <a:rPr lang="zh-CN" altLang="en-US" sz="2200" dirty="0"/>
              <a:t>否则当操作系统开始执行时，</a:t>
            </a:r>
            <a:r>
              <a:rPr lang="en" altLang="zh-CN" sz="2200" dirty="0"/>
              <a:t>PC</a:t>
            </a:r>
            <a:r>
              <a:rPr lang="zh-CN" altLang="en-US" sz="2200" dirty="0"/>
              <a:t>将被覆盖</a:t>
            </a:r>
            <a:endParaRPr lang="en-US" altLang="zh-CN" sz="2200" dirty="0"/>
          </a:p>
          <a:p>
            <a:pPr lvl="1"/>
            <a:endParaRPr lang="en-US" altLang="zh-CN" sz="2200" dirty="0"/>
          </a:p>
          <a:p>
            <a:r>
              <a:rPr lang="zh-CN" altLang="en-US" sz="2400" dirty="0"/>
              <a:t>栈的切换也必须由硬件完成</a:t>
            </a:r>
            <a:endParaRPr lang="en-US" altLang="zh-CN" sz="2400" dirty="0"/>
          </a:p>
          <a:p>
            <a:pPr lvl="1"/>
            <a:r>
              <a:rPr lang="zh-CN" altLang="en-US" sz="2200" dirty="0"/>
              <a:t>否则操作系统有可能使用用户态的栈，导致安全问题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9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2809B-CCBA-D34F-8839-FCA141BA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eret</a:t>
            </a:r>
            <a:r>
              <a:rPr kumimoji="1" lang="zh-CN" altLang="en-US" dirty="0"/>
              <a:t>：从内核态返回到用户态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165A4-911C-2749-89B1-35BBB234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 dirty="0"/>
              <a:t>将</a:t>
            </a:r>
            <a:r>
              <a:rPr kumimoji="1" lang="en" altLang="zh-CN" dirty="0"/>
              <a:t>SPSR_EL1</a:t>
            </a:r>
            <a:r>
              <a:rPr kumimoji="1" lang="zh-CN" altLang="en-US" dirty="0"/>
              <a:t>中的处理器状态写入</a:t>
            </a:r>
            <a:r>
              <a:rPr kumimoji="1" lang="en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marL="914400" lvl="1" indent="-514350"/>
            <a:r>
              <a:rPr kumimoji="1" lang="zh-CN" altLang="en-US" dirty="0"/>
              <a:t>处理器状态也从 </a:t>
            </a:r>
            <a:r>
              <a:rPr kumimoji="1" lang="en" altLang="zh-CN" dirty="0"/>
              <a:t>EL1 </a:t>
            </a:r>
            <a:r>
              <a:rPr kumimoji="1" lang="zh-CN" altLang="en-US" dirty="0"/>
              <a:t>切换到 </a:t>
            </a:r>
            <a:r>
              <a:rPr kumimoji="1" lang="en" altLang="zh-CN" dirty="0"/>
              <a:t>EL0</a:t>
            </a:r>
            <a:endParaRPr kumimoji="1"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栈寄存器不再使用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" dirty="0">
                <a:effectLst/>
                <a:latin typeface="Helvetica" pitchFamily="2" charset="0"/>
              </a:rPr>
              <a:t>，</a:t>
            </a:r>
            <a:r>
              <a:rPr lang="zh-CN" altLang="en-US" dirty="0">
                <a:effectLst/>
                <a:latin typeface="Helvetica" pitchFamily="2" charset="0"/>
              </a:rPr>
              <a:t>开始使用</a:t>
            </a:r>
            <a:r>
              <a:rPr lang="en" altLang="zh-CN" dirty="0">
                <a:effectLst/>
                <a:latin typeface="Helvetica" pitchFamily="2" charset="0"/>
              </a:rPr>
              <a:t>SP_EL0</a:t>
            </a:r>
            <a:endParaRPr lang="en-US" altLang="zh-CN" dirty="0"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注意：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-US" dirty="0">
                <a:effectLst/>
                <a:latin typeface="Helvetica" pitchFamily="2" charset="0"/>
              </a:rPr>
              <a:t>的值并没有改变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下一次下陷时，操作系统依然会使用这个内核栈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将</a:t>
            </a:r>
            <a:r>
              <a:rPr lang="en" altLang="zh-CN" dirty="0">
                <a:effectLst/>
                <a:latin typeface="Helvetica" pitchFamily="2" charset="0"/>
              </a:rPr>
              <a:t>ELR_EL1</a:t>
            </a:r>
            <a:r>
              <a:rPr lang="zh-CN" altLang="en-US" dirty="0">
                <a:effectLst/>
                <a:latin typeface="Helvetica" pitchFamily="2" charset="0"/>
              </a:rPr>
              <a:t>中的地址写入</a:t>
            </a:r>
            <a:r>
              <a:rPr lang="en" altLang="zh-CN" dirty="0">
                <a:effectLst/>
                <a:latin typeface="Helvetica" pitchFamily="2" charset="0"/>
              </a:rPr>
              <a:t>PC</a:t>
            </a:r>
            <a:r>
              <a:rPr lang="zh-CN" altLang="en-US" dirty="0">
                <a:effectLst/>
                <a:latin typeface="Helvetica" pitchFamily="2" charset="0"/>
              </a:rPr>
              <a:t>，并执行应用程序代码</a:t>
            </a:r>
          </a:p>
          <a:p>
            <a:pPr marL="514350" indent="-514350">
              <a:buFont typeface="+mj-lt"/>
              <a:buAutoNum type="arabicPeriod"/>
            </a:pPr>
            <a:endParaRPr kumimoji="1" lang="zh-CN" altLang="en" dirty="0"/>
          </a:p>
          <a:p>
            <a:pPr marL="514350" indent="-514350">
              <a:buFont typeface="+mj-lt"/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B16A08-FD63-4644-BD3A-564EC001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39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AA0D6-0722-784A-92BE-0BA4AA14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操作系统在切换过程中的任务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86EF7-8B23-3141-90F1-F24251FC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主要任务：将属于应用程序的 </a:t>
            </a:r>
            <a:r>
              <a:rPr kumimoji="1" lang="en" altLang="zh-CN" sz="2400" dirty="0"/>
              <a:t>CPU </a:t>
            </a:r>
            <a:r>
              <a:rPr kumimoji="1" lang="zh-CN" altLang="en-US" sz="2400" dirty="0"/>
              <a:t>状态保存到内存中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用于之后恢复应用程序继续运行</a:t>
            </a:r>
            <a:endParaRPr kumimoji="1" lang="en-US" altLang="zh-CN" sz="2000" dirty="0"/>
          </a:p>
          <a:p>
            <a:r>
              <a:rPr kumimoji="1" lang="zh-CN" altLang="en-US" sz="2400" dirty="0"/>
              <a:t>应用程序需要保存的运行状态称为处理器上下文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处理器上下文（</a:t>
            </a:r>
            <a:r>
              <a:rPr kumimoji="1" lang="en" altLang="zh-CN" sz="2000" dirty="0"/>
              <a:t>Processor Context</a:t>
            </a:r>
            <a:r>
              <a:rPr kumimoji="1" lang="zh-CN" altLang="en-US" sz="2000" dirty="0"/>
              <a:t>）：</a:t>
            </a:r>
            <a:r>
              <a:rPr kumimoji="1" lang="zh-CN" altLang="en-US" sz="2000" dirty="0">
                <a:solidFill>
                  <a:schemeClr val="accent1"/>
                </a:solidFill>
              </a:rPr>
              <a:t>应用程序在完成切换后恢复执行所需的最小处理器状态集合</a:t>
            </a:r>
            <a:endParaRPr kumimoji="1" lang="en-US" altLang="zh-CN" sz="20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处理器上下文中的寄存器具体包括：</a:t>
            </a:r>
            <a:endParaRPr kumimoji="1" lang="en-US" altLang="zh-CN" sz="2000" dirty="0"/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通用寄存器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X0-X30</a:t>
            </a:r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特殊寄存器，主要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包括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PC</a:t>
            </a:r>
            <a:r>
              <a:rPr lang="zh-CN" altLang="en" sz="1800" dirty="0">
                <a:solidFill>
                  <a:srgbClr val="000000"/>
                </a:solidFill>
                <a:latin typeface="Helvetica" pitchFamily="2" charset="0"/>
              </a:rPr>
              <a:t>、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SP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和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PSTATE</a:t>
            </a:r>
          </a:p>
          <a:p>
            <a:pPr lvl="2"/>
            <a:r>
              <a:rPr lang="zh-CN" altLang="en-US" sz="1800" dirty="0">
                <a:solidFill>
                  <a:schemeClr val="tx1"/>
                </a:solidFill>
                <a:latin typeface="Helvetica" pitchFamily="2" charset="0"/>
              </a:rPr>
              <a:t>系统寄存器，包括页表基地址寄存器等</a:t>
            </a:r>
          </a:p>
          <a:p>
            <a:pPr lvl="2"/>
            <a:endParaRPr kumimoji="1" lang="zh-CN" altLang="en-US" sz="18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7FFAB-E392-D94A-B2FA-80C333A1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189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286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硬件提供了一对指令</a:t>
            </a:r>
            <a:r>
              <a:rPr kumimoji="1" lang="en-US" altLang="zh-CN" sz="2400" dirty="0"/>
              <a:t>svc/</a:t>
            </a:r>
            <a:r>
              <a:rPr kumimoji="1" lang="en-US" altLang="zh-CN" sz="2400" dirty="0" err="1"/>
              <a:t>eret</a:t>
            </a:r>
            <a:r>
              <a:rPr kumimoji="1" lang="zh-CN" altLang="en-US" sz="2400" dirty="0"/>
              <a:t>指令在用户态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内核态间切换</a:t>
            </a:r>
            <a:endParaRPr kumimoji="1" lang="en-US" altLang="zh-CN" sz="2400" dirty="0"/>
          </a:p>
          <a:p>
            <a:r>
              <a:rPr kumimoji="1" lang="zh-CN" altLang="en-US" sz="2400" dirty="0"/>
              <a:t>系统调用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用户与操作系统之间，类似于过程调用的接口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通过受限的方式访问内核提供的服务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CAA63033-28D2-8B41-BA8A-DDC966B66C9F}"/>
              </a:ext>
            </a:extLst>
          </p:cNvPr>
          <p:cNvGrpSpPr>
            <a:grpSpLocks/>
          </p:cNvGrpSpPr>
          <p:nvPr/>
        </p:nvGrpSpPr>
        <p:grpSpPr bwMode="auto">
          <a:xfrm>
            <a:off x="2555776" y="3613944"/>
            <a:ext cx="5160962" cy="1547812"/>
            <a:chOff x="1995126" y="4260645"/>
            <a:chExt cx="6882197" cy="20635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A49BE1-B378-9B44-8A3F-AD8006789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126" y="4260645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F82DF-EF5C-E848-93AF-44C8F9898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4" y="4414838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21927C0-E695-FF43-A612-C7F620A3E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7F1FA58-39CC-514E-B01A-0F2F4D5E5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C9C3C3B6-FD69-1A4D-882C-73C3D2EB3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D0B46FF2-6453-3C4F-BE89-B1FC7F72E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53CFF04-6976-4548-AD53-4394C97E4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3B4995ED-42DC-1042-AD1C-AEB02DAC2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B030275C-013A-A34B-AF77-09D1BDB1C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latin typeface="Arial" panose="020B0604020202020204" pitchFamily="34" charset="0"/>
              </a:endParaRP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ACF33873-25D6-2245-8B1F-9F71993CE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790" y="4699001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2D9355AB-3AF3-7E45-9654-277DB9D16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14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E056-F2FD-0D4A-ABEB-DB43B2FB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下常见的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的系统调用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A980249-4284-7748-A65E-C9B32A1B835B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51013"/>
          <a:ext cx="7924800" cy="3168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描述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getcwd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 current working directory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129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kill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Send signal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to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Duplicate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 descriptor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getpid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process 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56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brk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Set the top of heap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215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munmap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Unmap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a file from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clone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Create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221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execve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Execute a program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80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fstat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 status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Map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into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93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_exit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Terminate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the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260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 for process to stop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349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0CF89-8B97-9A45-ABF7-2DA8A11D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2F75D-9AC5-A640-B6BA-1D523AD61EDC}"/>
              </a:ext>
            </a:extLst>
          </p:cNvPr>
          <p:cNvSpPr txBox="1">
            <a:spLocks noChangeArrowheads="1"/>
          </p:cNvSpPr>
          <p:nvPr/>
        </p:nvSpPr>
        <p:spPr>
          <a:xfrm>
            <a:off x="466725" y="1273324"/>
            <a:ext cx="8210550" cy="3429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	.section .rodata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	.LC0: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		.string "hello, world\n"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	.text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da-DK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5    .</a:t>
            </a:r>
            <a:r>
              <a:rPr lang="da-DK" altLang="zh-CN" sz="2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align</a:t>
            </a:r>
            <a:r>
              <a:rPr lang="da-DK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2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	.global main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	.type main, %function</a:t>
            </a:r>
          </a:p>
          <a:p>
            <a:pPr>
              <a:lnSpc>
                <a:spcPct val="100000"/>
              </a:lnSpc>
              <a:buFontTx/>
              <a:buAutoNum type="arabicPlain" startAt="8"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main:</a:t>
            </a:r>
          </a:p>
        </p:txBody>
      </p:sp>
    </p:spTree>
    <p:extLst>
      <p:ext uri="{BB962C8B-B14F-4D97-AF65-F5344CB8AC3E}">
        <p14:creationId xmlns:p14="http://schemas.microsoft.com/office/powerpoint/2010/main" val="2148151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9A727-E218-1145-98BF-2DE93D8F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B2C2CE-301F-B648-9F60-853C420E41B0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1524000"/>
            <a:ext cx="8705850" cy="4038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i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First, call write(1, "hello, world\n", 13)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	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x8, #0x40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write is system call 64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x0, #0x1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Arg1:stdout has descriptor 1</a:t>
            </a:r>
          </a:p>
          <a:p>
            <a:pPr marL="457200" indent="-457200">
              <a:lnSpc>
                <a:spcPts val="1500"/>
              </a:lnSpc>
              <a:buFontTx/>
              <a:buAutoNum type="arabicPlain" startAt="11"/>
              <a:defRPr/>
            </a:pP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adrp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x3, .LC0  	</a:t>
            </a:r>
            <a:endParaRPr lang="en-US" altLang="zh-CN" sz="18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457200" indent="-457200">
              <a:lnSpc>
                <a:spcPts val="1500"/>
              </a:lnSpc>
              <a:buFontTx/>
              <a:buAutoNum type="arabicPlain" startAt="11"/>
              <a:defRPr/>
            </a:pP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x1,x3,:lo12:.LC0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Arg2:Hello world string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x2, #0xd    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Arg3:string length</a:t>
            </a:r>
            <a:endParaRPr lang="en-US" altLang="zh-CN" sz="20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 	</a:t>
            </a:r>
            <a:r>
              <a:rPr lang="en-US" altLang="zh-CN" sz="2000" dirty="0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svc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	 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Make the system call</a:t>
            </a:r>
            <a:endParaRPr lang="en-US" altLang="zh-CN" sz="20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i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Next, call exit(0)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	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x8, #0x5d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_exit is system call 93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x0, #0x0    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Arg1:exit status is 0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	</a:t>
            </a:r>
            <a:r>
              <a:rPr lang="en-US" altLang="zh-CN" sz="2000" dirty="0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svc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	 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Make the system call</a:t>
            </a:r>
            <a:endParaRPr lang="en-US" altLang="zh-CN" sz="2000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277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7707A-529B-D740-BE43-B947975F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系统调用的参数传递（常见的软件约定）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10FC3-6776-A64E-BC46-7F249891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最多允许</a:t>
            </a:r>
            <a:r>
              <a:rPr lang="en-US" altLang="zh-CN" sz="2400" dirty="0"/>
              <a:t>8</a:t>
            </a:r>
            <a:r>
              <a:rPr lang="zh-CN" altLang="en-US" sz="2400" dirty="0"/>
              <a:t>个参数</a:t>
            </a:r>
            <a:endParaRPr lang="en-US" altLang="zh-CN" sz="2400" dirty="0"/>
          </a:p>
          <a:p>
            <a:pPr lvl="1"/>
            <a:r>
              <a:rPr lang="en-US" altLang="zh-CN" sz="2000" dirty="0"/>
              <a:t>x0-x7</a:t>
            </a:r>
            <a:r>
              <a:rPr lang="zh-CN" altLang="en-US" sz="2000" dirty="0"/>
              <a:t>寄存器</a:t>
            </a:r>
            <a:endParaRPr lang="en-US" altLang="zh-CN" sz="2000" dirty="0"/>
          </a:p>
          <a:p>
            <a:pPr lvl="1"/>
            <a:r>
              <a:rPr lang="en-US" altLang="zh-CN" sz="2000" dirty="0"/>
              <a:t>x8</a:t>
            </a:r>
            <a:r>
              <a:rPr lang="zh-CN" altLang="en-US" sz="2000" dirty="0"/>
              <a:t>用于存放系统调用编号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en-US" sz="2400" dirty="0"/>
              <a:t>返回值存放于</a:t>
            </a:r>
            <a:r>
              <a:rPr lang="en-US" altLang="zh-CN" sz="2400" dirty="0"/>
              <a:t>x0</a:t>
            </a:r>
            <a:r>
              <a:rPr lang="zh-CN" altLang="en-US" sz="2400" dirty="0"/>
              <a:t>寄存器中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A6232F3D-52DE-2C42-A188-AEC073FEDFF7}"/>
              </a:ext>
            </a:extLst>
          </p:cNvPr>
          <p:cNvGrpSpPr>
            <a:grpSpLocks/>
          </p:cNvGrpSpPr>
          <p:nvPr/>
        </p:nvGrpSpPr>
        <p:grpSpPr bwMode="auto">
          <a:xfrm>
            <a:off x="1403648" y="3865612"/>
            <a:ext cx="5160962" cy="1547812"/>
            <a:chOff x="1995126" y="4260645"/>
            <a:chExt cx="6882197" cy="206353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FE45552-2F54-9048-AC36-D1765217F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126" y="4260645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9E3A88DE-6E8D-FF4E-ACA6-72787252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4" y="4414838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6EE9D883-6409-1540-AA0C-552AA9974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EC68EC2-0B15-D34C-81D1-7A7E44446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26812408-75D8-404D-B817-3A0D58C9A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B41F6D40-6456-4E45-8195-25371F2A1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60CF470-9072-4C48-91DE-97DB1F577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61CD1B7F-5E26-D24C-BEF0-BC0BEAE34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67DAE1D5-24A5-1243-91C2-8028ECD12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latin typeface="Arial" panose="020B0604020202020204" pitchFamily="34" charset="0"/>
              </a:endParaRP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06ACBF27-656F-4942-B8FE-03618D30D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790" y="4699001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73CF394E-29EF-DE4A-852B-983677512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86628819-021F-A646-A639-2F6FDF22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485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79BD1-26D1-EE4D-A28B-038035C9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系统调用返回值与</a:t>
            </a:r>
            <a:r>
              <a:rPr kumimoji="1" lang="en-US" altLang="zh-CN" dirty="0" err="1"/>
              <a:t>errno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98E72-A554-1743-BC96-44ED228E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系统调用通过寄存器向应用传递返回值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一般设置为 </a:t>
            </a:r>
            <a:r>
              <a:rPr kumimoji="1" lang="en-US" altLang="zh-CN" dirty="0"/>
              <a:t>-</a:t>
            </a:r>
            <a:r>
              <a:rPr kumimoji="1" lang="en-US" altLang="zh-CN" dirty="0" err="1"/>
              <a:t>errno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库对系统调用的 </a:t>
            </a:r>
            <a:r>
              <a:rPr kumimoji="1" lang="en-US" altLang="zh-CN" dirty="0"/>
              <a:t>wrapper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会将系统调用的返回值转换为库函数形式的返回值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EBD6E-31AE-5E49-A7E6-4EEEEA58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57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7514-7389-5A46-972A-E4990EE6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Q:</a:t>
            </a:r>
            <a:r>
              <a:rPr kumimoji="1" lang="zh-CN" altLang="en-US" dirty="0"/>
              <a:t> 如果寄存器放不下参数怎么办？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68689-2ACB-2F45-B093-53777F58C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寄存器放不下，只能通过内存传参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将参数放在内存中，将指针放在寄存器中传给内核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内核通过指针访问相关参数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存在安全的隐患（后续课程会进一步介绍）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395E8F-1D90-C94E-AE15-B8574363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8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B1194-6EB9-6D47-B0A3-2D66C22B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如何跟踪系统调用？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C9842-3476-8F4C-9FBF-B98D243B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34BE084-1540-884B-9E4C-7339A66A2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653477"/>
            <a:ext cx="6688523" cy="294032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execve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("./hello2", ["./hello2"], [/* 59 </a:t>
            </a: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vars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 */]) = 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(0) = 0xca9000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(0xcaa1c0) = 0xcaa1c0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…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(0xccc000) = 0xccc000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write(1, "Hello world!\n", 13) = 13 </a:t>
            </a:r>
            <a:endParaRPr kumimoji="1" lang="zh-CN" altLang="en-US" sz="1400" dirty="0">
              <a:solidFill>
                <a:srgbClr val="FF0000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…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D025A4-26CB-EA47-A2D5-1E5D3C176704}"/>
              </a:ext>
            </a:extLst>
          </p:cNvPr>
          <p:cNvSpPr/>
          <p:nvPr/>
        </p:nvSpPr>
        <p:spPr>
          <a:xfrm>
            <a:off x="1187625" y="2173424"/>
            <a:ext cx="6180687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strace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-o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hello.out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./hello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E28517-94CB-344E-A989-3BA4F0F0D952}"/>
              </a:ext>
            </a:extLst>
          </p:cNvPr>
          <p:cNvSpPr/>
          <p:nvPr/>
        </p:nvSpPr>
        <p:spPr>
          <a:xfrm>
            <a:off x="1187625" y="1246906"/>
            <a:ext cx="6180687" cy="7386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main() {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zh-CN" altLang="en-US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write(1, "Hello world!\n", 13);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}</a:t>
            </a:r>
            <a:endParaRPr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28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系统调用优化：</a:t>
            </a:r>
            <a:r>
              <a:rPr kumimoji="1" lang="en-US" altLang="zh-CN" dirty="0" err="1"/>
              <a:t>vDSO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dirty="0"/>
              <a:t>Virtual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Dynamic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Shared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Object</a:t>
            </a:r>
            <a:endParaRPr kumimoji="1" lang="zh-CN" altLang="en-US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411DDC-740D-4FF0-F06B-FFC1DFAACA69}"/>
              </a:ext>
            </a:extLst>
          </p:cNvPr>
          <p:cNvSpPr txBox="1"/>
          <p:nvPr/>
        </p:nvSpPr>
        <p:spPr>
          <a:xfrm>
            <a:off x="1763688" y="1345332"/>
            <a:ext cx="4104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VDSO </a:t>
            </a:r>
            <a:r>
              <a:rPr lang="zh-CN" altLang="en-US"/>
              <a:t>是一种特殊的共享库，内核提供它，并将其映射到每个进程的地址空间。它的主要目的是将某些系统调用转化为直接的用户态函数调用，减少不必要的上下文切换和内核态的开销。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1439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动机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系统调用的时延不可忽略</a:t>
            </a:r>
          </a:p>
          <a:p>
            <a:pPr lvl="1"/>
            <a:r>
              <a:rPr kumimoji="1" lang="zh-CN" altLang="en-US" dirty="0"/>
              <a:t>尤其是调用非常频繁的情况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系统调用实际执行逻辑很简单</a:t>
            </a:r>
            <a:endParaRPr kumimoji="1" lang="en-US" altLang="zh-CN" dirty="0"/>
          </a:p>
          <a:p>
            <a:pPr lvl="1"/>
            <a:endParaRPr kumimoji="1" lang="zh-CN" altLang="en-US" dirty="0"/>
          </a:p>
          <a:p>
            <a:r>
              <a:rPr kumimoji="1" lang="zh-CN" altLang="en-US" dirty="0"/>
              <a:t>如何降低系统调用的时延？</a:t>
            </a:r>
          </a:p>
          <a:p>
            <a:pPr lvl="1"/>
            <a:r>
              <a:rPr kumimoji="1" lang="zh-CN" altLang="en-US" dirty="0"/>
              <a:t>特权级切换造成的时间开销</a:t>
            </a:r>
          </a:p>
          <a:p>
            <a:pPr lvl="1"/>
            <a:r>
              <a:rPr kumimoji="1" lang="zh-CN" altLang="en-US" dirty="0"/>
              <a:t>如果没有特权级切换，那么就不需要保存恢复状态</a:t>
            </a:r>
          </a:p>
        </p:txBody>
      </p:sp>
    </p:spTree>
    <p:extLst>
      <p:ext uri="{BB962C8B-B14F-4D97-AF65-F5344CB8AC3E}">
        <p14:creationId xmlns:p14="http://schemas.microsoft.com/office/powerpoint/2010/main" val="3916980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i="1" dirty="0" err="1"/>
              <a:t>gettimeofday</a:t>
            </a:r>
            <a:endParaRPr kumimoji="1"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394"/>
            <a:ext cx="6858000" cy="403737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内核定义</a:t>
            </a:r>
          </a:p>
          <a:p>
            <a:pPr lvl="1"/>
            <a:r>
              <a:rPr kumimoji="1" lang="zh-CN" altLang="en-US" sz="1800" dirty="0"/>
              <a:t>在编译时作为内核的一部分</a:t>
            </a:r>
          </a:p>
          <a:p>
            <a:r>
              <a:rPr kumimoji="1" lang="zh-CN" altLang="en-US" sz="2400" dirty="0"/>
              <a:t>用户态运行</a:t>
            </a:r>
          </a:p>
          <a:p>
            <a:pPr lvl="1"/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gettimeofday</a:t>
            </a:r>
            <a:r>
              <a:rPr kumimoji="1" lang="zh-CN" altLang="en-US" sz="1800" dirty="0"/>
              <a:t>的代码加载到一块与应用共享的内存页</a:t>
            </a:r>
          </a:p>
          <a:p>
            <a:pPr lvl="1"/>
            <a:r>
              <a:rPr kumimoji="1" lang="zh-CN" altLang="en-US" sz="1800" dirty="0"/>
              <a:t>这个页称为：</a:t>
            </a:r>
            <a:r>
              <a:rPr kumimoji="1" lang="en-US" altLang="zh-CN" sz="1800" dirty="0" err="1"/>
              <a:t>vDSO</a:t>
            </a:r>
            <a:endParaRPr kumimoji="1" lang="zh-CN" altLang="en-US" sz="1800" dirty="0"/>
          </a:p>
          <a:p>
            <a:pPr lvl="2"/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Dynamic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Shared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Object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Time</a:t>
            </a:r>
            <a:r>
              <a:rPr kumimoji="1" lang="zh-CN" altLang="en-US" sz="1800" dirty="0"/>
              <a:t> 的值同样映射到用户态空间（只读）</a:t>
            </a:r>
          </a:p>
          <a:p>
            <a:pPr lvl="2"/>
            <a:r>
              <a:rPr kumimoji="1" lang="zh-CN" altLang="en-US" sz="1800" dirty="0"/>
              <a:t>只有在内核态才能更新这个值</a:t>
            </a:r>
            <a:endParaRPr kumimoji="1" lang="en-US" altLang="zh-CN" sz="1800" dirty="0"/>
          </a:p>
          <a:p>
            <a:r>
              <a:rPr kumimoji="1" lang="en-US" altLang="zh-CN" sz="2400" dirty="0"/>
              <a:t>Q</a:t>
            </a:r>
            <a:r>
              <a:rPr kumimoji="1" lang="zh-CN" altLang="en-US" sz="2400" dirty="0"/>
              <a:t>：和以前的</a:t>
            </a:r>
            <a:r>
              <a:rPr kumimoji="1" lang="en-US" altLang="zh-CN" sz="2400" dirty="0" err="1"/>
              <a:t>gettimeofday</a:t>
            </a:r>
            <a:r>
              <a:rPr kumimoji="1" lang="zh-CN" altLang="en-US" sz="2400" dirty="0"/>
              <a:t>相比有什么区别？</a:t>
            </a:r>
          </a:p>
        </p:txBody>
      </p:sp>
    </p:spTree>
    <p:extLst>
      <p:ext uri="{BB962C8B-B14F-4D97-AF65-F5344CB8AC3E}">
        <p14:creationId xmlns:p14="http://schemas.microsoft.com/office/powerpoint/2010/main" val="936686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系统调用优化：</a:t>
            </a:r>
            <a:r>
              <a:rPr kumimoji="1" lang="en-US" altLang="zh-CN" dirty="0"/>
              <a:t>Flex-SC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ts val="1000"/>
              </a:spcBef>
            </a:pPr>
            <a:r>
              <a:rPr lang="en-US" altLang="zh-CN" dirty="0"/>
              <a:t>Flexible System Call Scheduling with Exception-Less System Calls,</a:t>
            </a:r>
            <a:r>
              <a:rPr lang="zh-CN" altLang="en-US" dirty="0"/>
              <a:t> </a:t>
            </a:r>
            <a:r>
              <a:rPr lang="en-US" altLang="zh-CN" dirty="0"/>
              <a:t>OSDI’10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1CC23-2545-0389-6BB0-967B9BB69861}"/>
              </a:ext>
            </a:extLst>
          </p:cNvPr>
          <p:cNvSpPr txBox="1"/>
          <p:nvPr/>
        </p:nvSpPr>
        <p:spPr>
          <a:xfrm>
            <a:off x="1043608" y="913284"/>
            <a:ext cx="698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FLEX-SC </a:t>
            </a:r>
            <a:r>
              <a:rPr lang="zh-CN" altLang="en-US" dirty="0"/>
              <a:t>是一种结合硬件和软件优化的方法，通过硬件支持的系统调用快速路径，减少系统调用的延迟和开销。它通常被用于提高操作系统中的系统调用处理速度，特别是在虚拟化和高并发环境下。</a:t>
            </a:r>
          </a:p>
        </p:txBody>
      </p:sp>
    </p:spTree>
    <p:extLst>
      <p:ext uri="{BB962C8B-B14F-4D97-AF65-F5344CB8AC3E}">
        <p14:creationId xmlns:p14="http://schemas.microsoft.com/office/powerpoint/2010/main" val="1840491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动机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9348"/>
            <a:ext cx="7775207" cy="3528392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如何进一步降低系统调用的时延？</a:t>
            </a:r>
          </a:p>
          <a:p>
            <a:pPr lvl="1"/>
            <a:r>
              <a:rPr kumimoji="1" lang="zh-CN" altLang="en-US" sz="2000" dirty="0"/>
              <a:t>不仅仅是 </a:t>
            </a:r>
            <a:r>
              <a:rPr kumimoji="1" lang="en-US" altLang="zh-CN" sz="2000" dirty="0" err="1"/>
              <a:t>gettimeofday</a:t>
            </a:r>
            <a:r>
              <a:rPr kumimoji="1" lang="en-US" altLang="zh-CN" sz="2000" dirty="0"/>
              <a:t>()</a:t>
            </a:r>
            <a:endParaRPr kumimoji="1" lang="zh-CN" altLang="en-US" sz="2000" dirty="0"/>
          </a:p>
          <a:p>
            <a:r>
              <a:rPr kumimoji="1" lang="en-US" altLang="zh-CN" sz="2400" dirty="0"/>
              <a:t>"</a:t>
            </a:r>
            <a:r>
              <a:rPr kumimoji="1" lang="zh-CN" altLang="en-US" sz="2400" dirty="0"/>
              <a:t>时间都去哪儿了？</a:t>
            </a:r>
            <a:r>
              <a:rPr kumimoji="1" lang="en-US" altLang="zh-CN" sz="2400" dirty="0"/>
              <a:t>"</a:t>
            </a:r>
            <a:endParaRPr kumimoji="1" lang="zh-CN" altLang="en-US" sz="2400" dirty="0"/>
          </a:p>
          <a:p>
            <a:pPr lvl="1"/>
            <a:r>
              <a:rPr kumimoji="1" lang="zh-CN" altLang="en-US" sz="2000" dirty="0"/>
              <a:t>大部分是用来做状态的切换</a:t>
            </a:r>
          </a:p>
          <a:p>
            <a:pPr lvl="2"/>
            <a:r>
              <a:rPr kumimoji="1" lang="zh-CN" altLang="en-US" sz="1800" dirty="0"/>
              <a:t>保存和恢复状态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权限的切换</a:t>
            </a:r>
          </a:p>
          <a:p>
            <a:pPr lvl="1"/>
            <a:r>
              <a:rPr kumimoji="1" lang="en-US" altLang="zh-CN" sz="2000" dirty="0"/>
              <a:t>Cache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pollution</a:t>
            </a:r>
            <a:endParaRPr kumimoji="1" lang="zh-CN" altLang="en-US" sz="2000" dirty="0"/>
          </a:p>
          <a:p>
            <a:r>
              <a:rPr kumimoji="1" lang="zh-CN" altLang="en-US" sz="2400" dirty="0"/>
              <a:t>是否有可能在不切换状态的情况下实现系统调用？</a:t>
            </a:r>
          </a:p>
        </p:txBody>
      </p:sp>
    </p:spTree>
    <p:extLst>
      <p:ext uri="{BB962C8B-B14F-4D97-AF65-F5344CB8AC3E}">
        <p14:creationId xmlns:p14="http://schemas.microsoft.com/office/powerpoint/2010/main" val="11792471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Flexible System Call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一种新的</a:t>
            </a:r>
            <a:r>
              <a:rPr lang="en-US" altLang="zh-CN" sz="2400" dirty="0" err="1"/>
              <a:t>syscall</a:t>
            </a:r>
            <a:r>
              <a:rPr lang="zh-CN" altLang="en-US" sz="2400" dirty="0"/>
              <a:t>机制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/>
            <a:r>
              <a:rPr lang="zh-CN" altLang="en-US" sz="2000" dirty="0"/>
              <a:t>引入 </a:t>
            </a:r>
            <a:r>
              <a:rPr lang="en-US" altLang="zh-CN" sz="2000" b="1" dirty="0">
                <a:solidFill>
                  <a:srgbClr val="0070C0"/>
                </a:solidFill>
              </a:rPr>
              <a:t>system call page</a:t>
            </a:r>
            <a:r>
              <a:rPr lang="zh-CN" altLang="en-US" sz="2000" b="1" dirty="0"/>
              <a:t> </a:t>
            </a:r>
            <a:r>
              <a:rPr lang="zh-CN" altLang="en-US" sz="2000" dirty="0"/>
              <a:t>，由 </a:t>
            </a:r>
            <a:r>
              <a:rPr lang="en-US" altLang="zh-CN" sz="2000" dirty="0"/>
              <a:t>user</a:t>
            </a:r>
            <a:r>
              <a:rPr lang="zh-CN" altLang="en-US" sz="2000" dirty="0"/>
              <a:t> </a:t>
            </a:r>
            <a:r>
              <a:rPr lang="en-US" altLang="zh-CN" sz="2000" dirty="0"/>
              <a:t>&amp;</a:t>
            </a:r>
            <a:r>
              <a:rPr lang="zh-CN" altLang="en-US" sz="2000" dirty="0"/>
              <a:t> </a:t>
            </a:r>
            <a:r>
              <a:rPr lang="en-US" altLang="zh-CN" sz="2000" dirty="0"/>
              <a:t>kernel</a:t>
            </a:r>
            <a:r>
              <a:rPr lang="zh-CN" altLang="en-US" sz="2000" dirty="0"/>
              <a:t> 共享</a:t>
            </a:r>
            <a:endParaRPr lang="en-US" altLang="zh-CN" sz="2000" dirty="0"/>
          </a:p>
          <a:p>
            <a:pPr lvl="1"/>
            <a:r>
              <a:rPr lang="zh-CN" altLang="en-US" sz="2000" dirty="0"/>
              <a:t>用户进程可以将系统调用的请求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push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到</a:t>
            </a:r>
            <a:r>
              <a:rPr lang="en-US" altLang="zh-CN" sz="2000" dirty="0"/>
              <a:t> system call page</a:t>
            </a:r>
          </a:p>
          <a:p>
            <a:pPr lvl="1"/>
            <a:r>
              <a:rPr lang="zh-CN" altLang="en-US" sz="2000" dirty="0"/>
              <a:t>内核会从</a:t>
            </a:r>
            <a:r>
              <a:rPr lang="en-US" altLang="zh-CN" sz="2000" dirty="0"/>
              <a:t>system call page </a:t>
            </a:r>
            <a:r>
              <a:rPr lang="en-US" altLang="zh-CN" sz="2000" b="1" dirty="0">
                <a:solidFill>
                  <a:srgbClr val="0070C0"/>
                </a:solidFill>
              </a:rPr>
              <a:t>poll</a:t>
            </a:r>
            <a:r>
              <a:rPr lang="en-US" altLang="zh-CN" sz="2000" dirty="0"/>
              <a:t> system call </a:t>
            </a:r>
            <a:r>
              <a:rPr lang="zh-CN" altLang="en-US" sz="2000" dirty="0"/>
              <a:t>请求</a:t>
            </a:r>
          </a:p>
          <a:p>
            <a:r>
              <a:rPr lang="en-US" altLang="zh-CN" sz="2400" dirty="0"/>
              <a:t>Exception-less </a:t>
            </a:r>
            <a:r>
              <a:rPr lang="en-US" altLang="zh-CN" sz="2400" dirty="0" err="1"/>
              <a:t>syscall</a:t>
            </a:r>
            <a:endParaRPr lang="zh-CN" altLang="en-US" sz="2400" dirty="0"/>
          </a:p>
          <a:p>
            <a:pPr lvl="1"/>
            <a:r>
              <a:rPr lang="zh-CN" altLang="en-US" sz="2000" dirty="0"/>
              <a:t>将系统调用的调用和执行解耦，可分布到不同的</a:t>
            </a:r>
            <a:r>
              <a:rPr lang="en-US" altLang="zh-CN" sz="2000" dirty="0"/>
              <a:t>CPU</a:t>
            </a:r>
            <a:r>
              <a:rPr lang="zh-CN" altLang="en-US" sz="2000" dirty="0"/>
              <a:t>核</a:t>
            </a:r>
            <a:endParaRPr lang="en-US" altLang="zh-CN" sz="2000" dirty="0"/>
          </a:p>
          <a:p>
            <a:pPr lvl="1"/>
            <a:endParaRPr lang="en-US" altLang="zh-CN" sz="1667" dirty="0"/>
          </a:p>
        </p:txBody>
      </p:sp>
    </p:spTree>
    <p:extLst>
      <p:ext uri="{BB962C8B-B14F-4D97-AF65-F5344CB8AC3E}">
        <p14:creationId xmlns:p14="http://schemas.microsoft.com/office/powerpoint/2010/main" val="158126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67" dirty="0"/>
              <a:t>System Call</a:t>
            </a:r>
            <a:r>
              <a:rPr kumimoji="1" lang="zh-CN" altLang="en-US" sz="3667" dirty="0"/>
              <a:t>的另一种方法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657368"/>
            <a:ext cx="6360707" cy="3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43675</TotalTime>
  <Words>2652</Words>
  <Application>Microsoft Office PowerPoint</Application>
  <PresentationFormat>全屏显示(16:10)</PresentationFormat>
  <Paragraphs>467</Paragraphs>
  <Slides>40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DengXian</vt:lpstr>
      <vt:lpstr>等线 Light</vt:lpstr>
      <vt:lpstr>宋体</vt:lpstr>
      <vt:lpstr>Microsoft YaHei</vt:lpstr>
      <vt:lpstr>Microsoft YaHei</vt:lpstr>
      <vt:lpstr>Microsoft YaHei Light</vt:lpstr>
      <vt:lpstr>Arial</vt:lpstr>
      <vt:lpstr>Calibri</vt:lpstr>
      <vt:lpstr>Cascadia Code</vt:lpstr>
      <vt:lpstr>Consolas</vt:lpstr>
      <vt:lpstr>Courier New</vt:lpstr>
      <vt:lpstr>Helvetica</vt:lpstr>
      <vt:lpstr>Lato</vt:lpstr>
      <vt:lpstr>Times New Roman</vt:lpstr>
      <vt:lpstr>Office 主题​​</vt:lpstr>
      <vt:lpstr>ARM汇编 – 系统ISA</vt:lpstr>
      <vt:lpstr>回顾：特权级的必要性</vt:lpstr>
      <vt:lpstr>再次俯瞰</vt:lpstr>
      <vt:lpstr>特权级别</vt:lpstr>
      <vt:lpstr>ARMv8.4特权级 (Exception Level)</vt:lpstr>
      <vt:lpstr>系统状态寄存器：PSTATE</vt:lpstr>
      <vt:lpstr>用户ISA与系统ISA</vt:lpstr>
      <vt:lpstr>用户态（EL0）与内核态（EL1）</vt:lpstr>
      <vt:lpstr>AArch64 中常见寄存器在不同特权级的可见情况</vt:lpstr>
      <vt:lpstr>特权级切换</vt:lpstr>
      <vt:lpstr>用户态和内核态之间的控制流跳转</vt:lpstr>
      <vt:lpstr>特权级切换的必要性</vt:lpstr>
      <vt:lpstr>何时发生特权级切换：发生异常的时候</vt:lpstr>
      <vt:lpstr>异常处理函数</vt:lpstr>
      <vt:lpstr>异常向量表：CPU找到异常处理函数</vt:lpstr>
      <vt:lpstr>小结：CPU的执行逻辑</vt:lpstr>
      <vt:lpstr>操作系统关于异常处理的任务</vt:lpstr>
      <vt:lpstr>操作系统异常处理示意图</vt:lpstr>
      <vt:lpstr>用户态/内核态切换时的处理器状态变化</vt:lpstr>
      <vt:lpstr>处理器在切换过程中的任务</vt:lpstr>
      <vt:lpstr>思考题</vt:lpstr>
      <vt:lpstr>处理器的这些操作都是必要的么？</vt:lpstr>
      <vt:lpstr>eret：从内核态返回到用户态</vt:lpstr>
      <vt:lpstr>操作系统在切换过程中的任务</vt:lpstr>
      <vt:lpstr>系统调用</vt:lpstr>
      <vt:lpstr>系统调用</vt:lpstr>
      <vt:lpstr>AArch64下常见的Linux的系统调用</vt:lpstr>
      <vt:lpstr>系统调用例子</vt:lpstr>
      <vt:lpstr>系统调用例子</vt:lpstr>
      <vt:lpstr>系统调用的参数传递（常见的软件约定）</vt:lpstr>
      <vt:lpstr>系统调用返回值与errno</vt:lpstr>
      <vt:lpstr>Q: 如果寄存器放不下参数怎么办？</vt:lpstr>
      <vt:lpstr>如何跟踪系统调用？</vt:lpstr>
      <vt:lpstr>系统调用优化：vDSO</vt:lpstr>
      <vt:lpstr>动机</vt:lpstr>
      <vt:lpstr>gettimeofday</vt:lpstr>
      <vt:lpstr>系统调用优化：Flex-SC</vt:lpstr>
      <vt:lpstr>动机</vt:lpstr>
      <vt:lpstr>Flexible System Call</vt:lpstr>
      <vt:lpstr>System Call的另一种方法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嘉佑 施</cp:lastModifiedBy>
  <cp:revision>1876</cp:revision>
  <cp:lastPrinted>2020-03-02T13:38:09Z</cp:lastPrinted>
  <dcterms:created xsi:type="dcterms:W3CDTF">2017-11-24T09:35:45Z</dcterms:created>
  <dcterms:modified xsi:type="dcterms:W3CDTF">2025-11-16T16:06:10Z</dcterms:modified>
</cp:coreProperties>
</file>