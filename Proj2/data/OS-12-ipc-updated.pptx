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8"/>
  </p:notesMasterIdLst>
  <p:handoutMasterIdLst>
    <p:handoutMasterId r:id="rId59"/>
  </p:handoutMasterIdLst>
  <p:sldIdLst>
    <p:sldId id="2775" r:id="rId2"/>
    <p:sldId id="1359" r:id="rId3"/>
    <p:sldId id="1362" r:id="rId4"/>
    <p:sldId id="2347" r:id="rId5"/>
    <p:sldId id="2340" r:id="rId6"/>
    <p:sldId id="2348" r:id="rId7"/>
    <p:sldId id="2353" r:id="rId8"/>
    <p:sldId id="2349" r:id="rId9"/>
    <p:sldId id="2350" r:id="rId10"/>
    <p:sldId id="2351" r:id="rId11"/>
    <p:sldId id="2352" r:id="rId12"/>
    <p:sldId id="2354" r:id="rId13"/>
    <p:sldId id="2770" r:id="rId14"/>
    <p:sldId id="2355" r:id="rId15"/>
    <p:sldId id="2357" r:id="rId16"/>
    <p:sldId id="2359" r:id="rId17"/>
    <p:sldId id="2360" r:id="rId18"/>
    <p:sldId id="2362" r:id="rId19"/>
    <p:sldId id="2364" r:id="rId20"/>
    <p:sldId id="2336" r:id="rId21"/>
    <p:sldId id="2318" r:id="rId22"/>
    <p:sldId id="2322" r:id="rId23"/>
    <p:sldId id="2323" r:id="rId24"/>
    <p:sldId id="2283" r:id="rId25"/>
    <p:sldId id="2337" r:id="rId26"/>
    <p:sldId id="2339" r:id="rId27"/>
    <p:sldId id="2296" r:id="rId28"/>
    <p:sldId id="2333" r:id="rId29"/>
    <p:sldId id="2313" r:id="rId30"/>
    <p:sldId id="2292" r:id="rId31"/>
    <p:sldId id="2299" r:id="rId32"/>
    <p:sldId id="2301" r:id="rId33"/>
    <p:sldId id="2302" r:id="rId34"/>
    <p:sldId id="2303" r:id="rId35"/>
    <p:sldId id="2304" r:id="rId36"/>
    <p:sldId id="2305" r:id="rId37"/>
    <p:sldId id="2268" r:id="rId38"/>
    <p:sldId id="2320" r:id="rId39"/>
    <p:sldId id="2375" r:id="rId40"/>
    <p:sldId id="2332" r:id="rId41"/>
    <p:sldId id="2376" r:id="rId42"/>
    <p:sldId id="2377" r:id="rId43"/>
    <p:sldId id="2378" r:id="rId44"/>
    <p:sldId id="2380" r:id="rId45"/>
    <p:sldId id="2379" r:id="rId46"/>
    <p:sldId id="2771" r:id="rId47"/>
    <p:sldId id="2772" r:id="rId48"/>
    <p:sldId id="2774" r:id="rId49"/>
    <p:sldId id="2773" r:id="rId50"/>
    <p:sldId id="2315" r:id="rId51"/>
    <p:sldId id="2317" r:id="rId52"/>
    <p:sldId id="2316" r:id="rId53"/>
    <p:sldId id="1361" r:id="rId54"/>
    <p:sldId id="2326" r:id="rId55"/>
    <p:sldId id="2327" r:id="rId56"/>
    <p:sldId id="2331" r:id="rId57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3" pos="179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B92"/>
    <a:srgbClr val="941100"/>
    <a:srgbClr val="212121"/>
    <a:srgbClr val="005493"/>
    <a:srgbClr val="FF2F92"/>
    <a:srgbClr val="9437FF"/>
    <a:srgbClr val="73FEFF"/>
    <a:srgbClr val="ED3C64"/>
    <a:srgbClr val="FF93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51" autoAdjust="0"/>
    <p:restoredTop sz="83012" autoAdjust="0"/>
  </p:normalViewPr>
  <p:slideViewPr>
    <p:cSldViewPr>
      <p:cViewPr varScale="1">
        <p:scale>
          <a:sx n="119" d="100"/>
          <a:sy n="119" d="100"/>
        </p:scale>
        <p:origin x="1744" y="192"/>
      </p:cViewPr>
      <p:guideLst>
        <p:guide orient="horz" pos="2480"/>
        <p:guide pos="295"/>
        <p:guide pos="1791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3048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2025/11/7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2025/11/7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2964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8106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835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440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255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8720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9082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(CPU</a:t>
            </a:r>
            <a:r>
              <a:rPr kumimoji="1" lang="zh-CN" altLang="en-US" dirty="0"/>
              <a:t>轮询资源浪费</a:t>
            </a:r>
            <a:r>
              <a:rPr kumimoji="1" lang="en-US" altLang="zh-CN" dirty="0"/>
              <a:t>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868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134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0146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0671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5661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96665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这里的调用者进程对应前面的客户端进程、被调用者进程对应服务端进程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1498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2373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权限表对应</a:t>
            </a:r>
            <a:r>
              <a:rPr kumimoji="1" lang="en-US" altLang="zh-CN" dirty="0"/>
              <a:t>capability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这里的迁移线程方案主要用作不同进程之间的线程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9293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共享内存虽然可以避免拷贝，但是也存在很多其他问题：包括</a:t>
            </a:r>
            <a:r>
              <a:rPr kumimoji="1" lang="en-US" altLang="zh-CN" dirty="0"/>
              <a:t>TOCTTOU</a:t>
            </a:r>
            <a:r>
              <a:rPr kumimoji="1" lang="zh-CN" altLang="en-US" dirty="0"/>
              <a:t>问题，临时动态映射问题，重映射会有</a:t>
            </a:r>
            <a:r>
              <a:rPr kumimoji="1" lang="en-US" altLang="zh-CN" dirty="0"/>
              <a:t>TLB</a:t>
            </a:r>
            <a:r>
              <a:rPr kumimoji="1" lang="zh-CN" altLang="en-US" dirty="0"/>
              <a:t> </a:t>
            </a:r>
            <a:r>
              <a:rPr kumimoji="1" lang="en-US" altLang="zh-CN" dirty="0"/>
              <a:t>shootdown</a:t>
            </a:r>
            <a:r>
              <a:rPr kumimoji="1" lang="zh-CN" altLang="en-US" dirty="0"/>
              <a:t>等。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拷贝还可以通过</a:t>
            </a:r>
            <a:r>
              <a:rPr kumimoji="1" lang="en-US" altLang="zh-CN" dirty="0"/>
              <a:t>DMA</a:t>
            </a:r>
            <a:r>
              <a:rPr kumimoji="1" lang="zh-CN" altLang="en-US" dirty="0"/>
              <a:t>实现。不过</a:t>
            </a:r>
            <a:r>
              <a:rPr kumimoji="1" lang="en-US" altLang="zh-CN" dirty="0"/>
              <a:t>DMA</a:t>
            </a:r>
            <a:r>
              <a:rPr kumimoji="1" lang="zh-CN" altLang="en-US" dirty="0"/>
              <a:t>只对于大数据的拷贝有加速，而小数据会更慢。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79554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共享寄存器主要是针对于通用寄存器，用作参数传递。</a:t>
            </a:r>
            <a:endParaRPr kumimoji="1" lang="en-US" altLang="zh-CN" dirty="0"/>
          </a:p>
          <a:p>
            <a:r>
              <a:rPr kumimoji="1" lang="zh-CN" altLang="en-US" dirty="0"/>
              <a:t>其他的如栈寄存器</a:t>
            </a:r>
            <a:r>
              <a:rPr kumimoji="1" lang="en-US" altLang="zh-CN" dirty="0" err="1"/>
              <a:t>sp</a:t>
            </a:r>
            <a:r>
              <a:rPr kumimoji="1" lang="zh-CN" altLang="en-US" dirty="0"/>
              <a:t>等，还是要变化的。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8019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/>
              <a:t>A-stack</a:t>
            </a:r>
            <a:r>
              <a:rPr lang="zh-CN" altLang="en-US" sz="1200" dirty="0"/>
              <a:t>在两个进程上的映射代表了一个通信连接的建立。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10080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9655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/>
              <a:t>运行栈地址是在被调用者进程自己的地址空间中的栈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7841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参数主要放在通用寄存器上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3297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sz="1200" dirty="0"/>
              <a:t>参数栈是为了共享传递参数，而执行栈是为了执行代码已经处理局部变量等使用的</a:t>
            </a:r>
            <a:endParaRPr lang="en-US" altLang="zh-CN" sz="1200" dirty="0"/>
          </a:p>
          <a:p>
            <a:pPr marL="228600" indent="-228600">
              <a:buAutoNum type="arabicPeriod"/>
            </a:pPr>
            <a:r>
              <a:rPr kumimoji="1" lang="zh-CN" altLang="en-US" dirty="0"/>
              <a:t>地址空间的切换（来自硬件限制）是最主要的性能开销</a:t>
            </a:r>
            <a:endParaRPr lang="en-US" altLang="zh-CN" sz="1200" dirty="0"/>
          </a:p>
          <a:p>
            <a:pPr marL="228600" indent="-228600">
              <a:buAutoNum type="arabicPeriod"/>
            </a:pPr>
            <a:r>
              <a:rPr lang="zh-CN" altLang="en-US" sz="1200" dirty="0"/>
              <a:t>安全的。因为是同步</a:t>
            </a:r>
            <a:r>
              <a:rPr lang="en-US" altLang="zh-CN" sz="1200" dirty="0"/>
              <a:t>IPC</a:t>
            </a:r>
            <a:r>
              <a:rPr lang="zh-CN" altLang="en-US" sz="1200" dirty="0"/>
              <a:t>，所以在被调用者上下文执行的时候，其实没有其他人可以去读写</a:t>
            </a:r>
            <a:r>
              <a:rPr lang="en-US" altLang="zh-CN" sz="1200" dirty="0"/>
              <a:t>A-stack</a:t>
            </a:r>
            <a:r>
              <a:rPr lang="zh-CN" altLang="en-US" sz="1200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55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957CF-D285-6193-41C5-2876DE898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D4C2D0E-6D7E-FBCD-0C0B-CF4CFE8A46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A2DC7FC-9162-0A10-925E-C6C1B52FE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173B48-794A-E76C-3080-1C678932A2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3250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013E5-B409-5385-B0BD-0C3CC19EC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A2C215-A263-BF06-C782-E0EEDE985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03C94FE-4DEA-50CE-AE22-1A038937A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zh-CN" altLang="en-US" sz="1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9B03FC-7FEA-368C-693F-184F79DFC6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3955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89866-21A2-8C7A-746C-AAF2C1CD9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8A1D36-919A-46B4-9452-9E6EB66FF3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8BEB939-DF57-1909-DAEB-C4C7511EB5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ActivityManagerProxy</a:t>
            </a:r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indent="-228600">
              <a:buAutoNum type="arabicPeriod"/>
            </a:pP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ActivityManagerService</a:t>
            </a:r>
            <a:endParaRPr lang="zh-CN" altLang="en-US" sz="1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38BC93-0C4E-7174-46A1-1FF41432F3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2361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E3C59-EA60-A387-0522-75C423267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F914B3-55E6-345E-2755-AFD91E567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31EB56-3DD4-4F94-4E8A-D70F7A205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zh-CN" altLang="en-US" sz="1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3578B6-2008-FA3D-CC9E-9BC6B35D8A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47730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A68B3-FAFE-8D29-D363-3F07E6C81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92A96E-1D80-AAE9-EA66-FAFE270265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FF88628-2A96-AB00-FEC6-DFB3EEA6F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zh-CN" altLang="en-US" sz="1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2ECF3A-1B95-8A7C-9375-68E5935456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5673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C52F6-01D8-37EF-3B4A-009115838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F5579A-EFC4-0798-9845-A2ADCF407B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3D98EB2-4BDE-5435-A994-48F60978C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zh-CN" altLang="en-US" sz="1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2D30AA-6D60-E3C2-B058-93A61129BF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0085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9FB3C-A750-8D35-E111-847CB2853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E8CDD56-CCAA-6DE3-B51E-203C3861E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EAB514D-E575-5780-684F-8E14ACBAB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zh-CN" altLang="en-US" sz="1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596F52-95B4-518B-0B72-3000AF7FF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13256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96AAB-A676-CA6B-4708-31FAAB6C0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DFA6DF-90C3-F59C-1CF9-4194908E94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373C2F-80F9-A39A-DB2C-5F3A06E4A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zh-CN" altLang="en-US" sz="1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F8C9FB-968C-41C0-9EA4-56B27481F7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53789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8021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8867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7278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62884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24994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19732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852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legalcod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CS3601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 操作系统（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2025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  <a:ea typeface="微软雅黑"/>
              </a:rPr>
              <a:t>秋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副标题 5">
            <a:extLst>
              <a:ext uri="{FF2B5EF4-FFF2-40B4-BE49-F238E27FC236}">
                <a16:creationId xmlns:a16="http://schemas.microsoft.com/office/drawing/2014/main" id="{8E6E9FE5-704E-7677-1033-E056DF5C6602}"/>
              </a:ext>
            </a:extLst>
          </p:cNvPr>
          <p:cNvSpPr txBox="1">
            <a:spLocks/>
          </p:cNvSpPr>
          <p:nvPr/>
        </p:nvSpPr>
        <p:spPr>
          <a:xfrm>
            <a:off x="685800" y="3297888"/>
            <a:ext cx="7772400" cy="1225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董明凯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IPADS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kumimoji="1" lang="zh-CN" altLang="en-US" sz="1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上海交通大学</a:t>
            </a:r>
            <a:endParaRPr kumimoji="1" lang="en-US" altLang="zh-CN" sz="1800" b="0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标题 4">
            <a:extLst>
              <a:ext uri="{FF2B5EF4-FFF2-40B4-BE49-F238E27FC236}">
                <a16:creationId xmlns:a16="http://schemas.microsoft.com/office/drawing/2014/main" id="{FE63B074-4EAD-E0DD-F6F2-823C69D06894}"/>
              </a:ext>
            </a:extLst>
          </p:cNvPr>
          <p:cNvSpPr txBox="1">
            <a:spLocks/>
          </p:cNvSpPr>
          <p:nvPr/>
        </p:nvSpPr>
        <p:spPr>
          <a:xfrm>
            <a:off x="685800" y="1720996"/>
            <a:ext cx="7772400" cy="12250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pPr>
              <a:lnSpc>
                <a:spcPct val="110000"/>
              </a:lnSpc>
            </a:pPr>
            <a:r>
              <a:rPr kumimoji="1" lang="zh-CN" altLang="en-US" sz="4800" dirty="0"/>
              <a:t>进程间通信</a:t>
            </a:r>
          </a:p>
        </p:txBody>
      </p:sp>
    </p:spTree>
    <p:extLst>
      <p:ext uri="{BB962C8B-B14F-4D97-AF65-F5344CB8AC3E}">
        <p14:creationId xmlns:p14="http://schemas.microsoft.com/office/powerpoint/2010/main" val="1079004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+mn-lt"/>
              </a:rPr>
              <a:t>版权声明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>
                <a:latin typeface="+mn-lt"/>
              </a:rPr>
              <a:t>本内容版权归</a:t>
            </a:r>
            <a:r>
              <a:rPr lang="zh-CN" altLang="en-US" sz="2000">
                <a:latin typeface="+mn-lt"/>
              </a:rPr>
              <a:t>上海交通大学并行与分布式系统研究所</a:t>
            </a:r>
            <a:r>
              <a:rPr lang="zh-CN" altLang="en-US" sz="2000" b="0">
                <a:latin typeface="+mn-lt"/>
              </a:rPr>
              <a:t>所有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使用者可以将全部或部分本内容免费用于非商业用途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使用者在使用全部或部分本内容时请注明来源：</a:t>
            </a:r>
            <a:endParaRPr lang="en-US" altLang="zh-CN" sz="2000" b="0">
              <a:latin typeface="+mn-lt"/>
            </a:endParaRPr>
          </a:p>
          <a:p>
            <a:pPr lvl="1"/>
            <a:r>
              <a:rPr lang="zh-CN" altLang="en-US" sz="1600"/>
              <a:t>内容来自：上海交通大学并行与分布式系统研究所</a:t>
            </a:r>
            <a:r>
              <a:rPr lang="en-US" altLang="zh-CN" sz="1600"/>
              <a:t>+</a:t>
            </a:r>
            <a:r>
              <a:rPr lang="zh-CN" altLang="en-US" sz="1600"/>
              <a:t>材料名字</a:t>
            </a:r>
            <a:endParaRPr lang="en-US" altLang="zh-CN" sz="1600"/>
          </a:p>
          <a:p>
            <a:r>
              <a:rPr lang="zh-CN" altLang="en-US" sz="2000" b="0">
                <a:latin typeface="+mn-lt"/>
              </a:rPr>
              <a:t>对于不遵守此声明或者其他违法使用本内容者，将依法保留追究权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本内容的发布采用 </a:t>
            </a:r>
            <a:r>
              <a:rPr lang="en-US" altLang="zh-CN" sz="2000" b="0">
                <a:latin typeface="+mn-lt"/>
              </a:rPr>
              <a:t>Creative Commons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Attribution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4.0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License</a:t>
            </a:r>
            <a:endParaRPr lang="en-US" altLang="zh-CN" sz="2400" b="0">
              <a:latin typeface="+mn-lt"/>
            </a:endParaRPr>
          </a:p>
          <a:p>
            <a:pPr lvl="1"/>
            <a:r>
              <a:rPr lang="zh-CN" altLang="en-US" sz="1600">
                <a:latin typeface="+mn-lt"/>
              </a:rPr>
              <a:t>完整文本：</a:t>
            </a:r>
            <a:r>
              <a:rPr lang="en-US" altLang="zh-CN" sz="1600">
                <a:latin typeface="+mn-lt"/>
                <a:hlinkClick r:id="rId3"/>
              </a:rPr>
              <a:t>https://creativecommons.org/licenses/by/4.0/legalcode</a:t>
            </a:r>
            <a:endParaRPr lang="en-US" altLang="zh-CN" sz="1800" b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75993-6B82-2A4E-883D-B9872C50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B6CD8E-E1BB-0446-BC0D-4ECD1AD74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</a:t>
            </a:r>
            <a:r>
              <a:rPr kumimoji="1" lang="en-US" altLang="zh-CN" dirty="0"/>
              <a:t>:</a:t>
            </a:r>
            <a:r>
              <a:rPr kumimoji="1" lang="zh-CN" altLang="en-US" dirty="0"/>
              <a:t> 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E4A4E6-C5B5-BD46-A3C0-E6C277BCC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进程是计算机程序运行时的抽象</a:t>
            </a:r>
            <a:endParaRPr kumimoji="1" lang="en-US" altLang="zh-CN" sz="2400" dirty="0"/>
          </a:p>
          <a:p>
            <a:pPr lvl="1"/>
            <a:r>
              <a:rPr kumimoji="1" lang="zh-CN" altLang="en-US" dirty="0"/>
              <a:t>静态部分</a:t>
            </a:r>
            <a:r>
              <a:rPr kumimoji="1" lang="en-US" altLang="zh-CN" dirty="0"/>
              <a:t>:</a:t>
            </a:r>
            <a:r>
              <a:rPr kumimoji="1" lang="zh-CN" altLang="en-US" dirty="0"/>
              <a:t> 程序运行需要的代码和数据</a:t>
            </a:r>
            <a:endParaRPr kumimoji="1" lang="en-US" altLang="zh-CN" dirty="0"/>
          </a:p>
          <a:p>
            <a:pPr lvl="1"/>
            <a:r>
              <a:rPr kumimoji="1" lang="zh-CN" altLang="en-US" sz="2000" dirty="0"/>
              <a:t>动态部分</a:t>
            </a:r>
            <a:r>
              <a:rPr kumimoji="1" lang="en-US" altLang="zh-CN" sz="2000" dirty="0"/>
              <a:t>:</a:t>
            </a:r>
            <a:r>
              <a:rPr kumimoji="1" lang="zh-CN" altLang="en-US" sz="2000" dirty="0"/>
              <a:t> 程序运行期间的</a:t>
            </a:r>
            <a:r>
              <a:rPr kumimoji="1" lang="zh-CN" altLang="en-US" sz="2000" dirty="0">
                <a:solidFill>
                  <a:srgbClr val="C00000"/>
                </a:solidFill>
              </a:rPr>
              <a:t>状态</a:t>
            </a:r>
            <a:br>
              <a:rPr kumimoji="1" lang="en-US" altLang="zh-CN" sz="2000" dirty="0">
                <a:solidFill>
                  <a:srgbClr val="C00000"/>
                </a:solidFill>
              </a:rPr>
            </a:br>
            <a:r>
              <a:rPr kumimoji="1" lang="en-US" altLang="zh-CN" sz="2000" dirty="0"/>
              <a:t>(</a:t>
            </a:r>
            <a:r>
              <a:rPr kumimoji="1" lang="zh-CN" altLang="en-US" sz="2000" dirty="0"/>
              <a:t>程序计数器、堆、栈</a:t>
            </a:r>
            <a:r>
              <a:rPr kumimoji="1" lang="en-US" altLang="zh-CN" sz="2000" dirty="0"/>
              <a:t>……</a:t>
            </a:r>
            <a:r>
              <a:rPr kumimoji="1" lang="en-US" altLang="zh-CN" dirty="0"/>
              <a:t>)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kumimoji="1" lang="zh-CN" altLang="en-US" sz="2400" dirty="0"/>
              <a:t>进程具有独立的虚拟地址空间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每个进程都具有</a:t>
            </a:r>
            <a:r>
              <a:rPr kumimoji="1" lang="en-US" altLang="zh-CN" sz="2000" dirty="0"/>
              <a:t>"</a:t>
            </a:r>
            <a:r>
              <a:rPr kumimoji="1" lang="zh-CN" altLang="en-US" sz="2000" dirty="0"/>
              <a:t>独占全部内存</a:t>
            </a:r>
            <a:r>
              <a:rPr kumimoji="1" lang="en-US" altLang="zh-CN" sz="2000" dirty="0"/>
              <a:t>"</a:t>
            </a:r>
            <a:r>
              <a:rPr kumimoji="1" lang="zh-CN" altLang="en-US" sz="2000" dirty="0"/>
              <a:t>的假象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内核中同样包含内核栈和内核代码、数据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5A2A54-5333-9146-981D-09D47C9A1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0C4DC9-CCF6-3146-9AFC-DC40271317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1346339"/>
            <a:ext cx="2018144" cy="3537757"/>
          </a:xfrm>
          <a:prstGeom prst="rect">
            <a:avLst/>
          </a:prstGeom>
        </p:spPr>
      </p:pic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DA219C-341D-D64A-9C8B-9B91ED835F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7159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2FE8C7-46F2-8342-A193-908914831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使用多个进程的应用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BA8C6E-F029-1A4A-B959-2D7A2F331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一些应用程序选择使用不同进程来运行不同模块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优势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：功能模块化，避免重复造轮子（如数据库、界面绘制）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优势</a:t>
            </a:r>
            <a:r>
              <a:rPr kumimoji="1" lang="en-US" altLang="zh-CN" dirty="0"/>
              <a:t>-2</a:t>
            </a:r>
            <a:r>
              <a:rPr kumimoji="1" lang="zh-CN" altLang="en-US" dirty="0"/>
              <a:t>：增强模块间隔离，增强安全保障（敏感数据的隔离）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优势</a:t>
            </a:r>
            <a:r>
              <a:rPr kumimoji="1" lang="en-US" altLang="zh-CN" dirty="0"/>
              <a:t>-3</a:t>
            </a:r>
            <a:r>
              <a:rPr kumimoji="1" lang="zh-CN" altLang="en-US" dirty="0"/>
              <a:t>：提高应用容错能力，限制故障在模块间的传播</a:t>
            </a:r>
            <a:endParaRPr kumimoji="1" lang="en-US" altLang="zh-CN" dirty="0"/>
          </a:p>
          <a:p>
            <a:r>
              <a:rPr kumimoji="1" lang="zh-CN" altLang="en-US" dirty="0"/>
              <a:t>然而不同进程拥有不同的内存地址空间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进程与进程之间无法直接进行通信和交互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需要一种进程间通信的方式</a:t>
            </a:r>
            <a:endParaRPr kumimoji="1" lang="en-US" altLang="zh-CN" dirty="0"/>
          </a:p>
          <a:p>
            <a:pPr lvl="2"/>
            <a:r>
              <a:rPr kumimoji="1" lang="en-US" altLang="zh-CN" b="1" dirty="0">
                <a:solidFill>
                  <a:schemeClr val="accent1"/>
                </a:solidFill>
              </a:rPr>
              <a:t>IPC</a:t>
            </a:r>
            <a:r>
              <a:rPr kumimoji="1" lang="zh-CN" altLang="en-US" dirty="0"/>
              <a:t>：</a:t>
            </a:r>
            <a:r>
              <a:rPr kumimoji="1" lang="en-US" altLang="zh-CN" dirty="0"/>
              <a:t>Inter-Process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Communication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64109E-E34E-B747-8C66-78EFC4A10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3A2CD7-7827-9849-BF60-3E9D1DFF71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7785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41F028-D02A-F849-96D0-41D074975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常见</a:t>
            </a:r>
            <a:r>
              <a:rPr kumimoji="1" lang="en-US" altLang="zh-CN" dirty="0"/>
              <a:t>IPC</a:t>
            </a:r>
            <a:r>
              <a:rPr kumimoji="1" lang="zh-CN" altLang="en-US" dirty="0"/>
              <a:t>的类型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33C9C2-E706-7740-9B0B-B04961C46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966BE5-8E89-404B-99DB-DAFC08BF63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BDB7F4A-0E32-C74A-8DEC-58B688539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906710"/>
              </p:ext>
            </p:extLst>
          </p:nvPr>
        </p:nvGraphicFramePr>
        <p:xfrm>
          <a:off x="719956" y="1335968"/>
          <a:ext cx="7704088" cy="2881184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26022">
                  <a:extLst>
                    <a:ext uri="{9D8B030D-6E8A-4147-A177-3AD203B41FA5}">
                      <a16:colId xmlns:a16="http://schemas.microsoft.com/office/drawing/2014/main" val="1585941552"/>
                    </a:ext>
                  </a:extLst>
                </a:gridCol>
                <a:gridCol w="1926022">
                  <a:extLst>
                    <a:ext uri="{9D8B030D-6E8A-4147-A177-3AD203B41FA5}">
                      <a16:colId xmlns:a16="http://schemas.microsoft.com/office/drawing/2014/main" val="2435578935"/>
                    </a:ext>
                  </a:extLst>
                </a:gridCol>
                <a:gridCol w="1926022">
                  <a:extLst>
                    <a:ext uri="{9D8B030D-6E8A-4147-A177-3AD203B41FA5}">
                      <a16:colId xmlns:a16="http://schemas.microsoft.com/office/drawing/2014/main" val="2516145049"/>
                    </a:ext>
                  </a:extLst>
                </a:gridCol>
                <a:gridCol w="1926022">
                  <a:extLst>
                    <a:ext uri="{9D8B030D-6E8A-4147-A177-3AD203B41FA5}">
                      <a16:colId xmlns:a16="http://schemas.microsoft.com/office/drawing/2014/main" val="4068793969"/>
                    </a:ext>
                  </a:extLst>
                </a:gridCol>
              </a:tblGrid>
              <a:tr h="504488">
                <a:tc>
                  <a:txBody>
                    <a:bodyPr/>
                    <a:lstStyle/>
                    <a:p>
                      <a:pPr algn="l"/>
                      <a:r>
                        <a:rPr lang="en-CN" dirty="0">
                          <a:solidFill>
                            <a:schemeClr val="accent1"/>
                          </a:solidFill>
                        </a:rPr>
                        <a:t>IPC</a:t>
                      </a:r>
                      <a:r>
                        <a:rPr lang="en-US" dirty="0" err="1">
                          <a:solidFill>
                            <a:schemeClr val="accent1"/>
                          </a:solidFill>
                        </a:rPr>
                        <a:t>机制</a:t>
                      </a:r>
                      <a:endParaRPr lang="en-CN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>
                          <a:solidFill>
                            <a:schemeClr val="accent1"/>
                          </a:solidFill>
                        </a:rPr>
                        <a:t>数据抽象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>
                          <a:solidFill>
                            <a:schemeClr val="accent1"/>
                          </a:solidFill>
                        </a:rPr>
                        <a:t>参与者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solidFill>
                            <a:schemeClr val="accent1"/>
                          </a:solidFill>
                        </a:rPr>
                        <a:t>方向</a:t>
                      </a:r>
                      <a:endParaRPr lang="en-CN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10477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管道/pipe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accent1"/>
                          </a:solidFill>
                        </a:rPr>
                        <a:t>文件接口</a:t>
                      </a:r>
                      <a:endParaRPr lang="en-CN" dirty="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两个进程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单向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4882423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共享内存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>
                          <a:solidFill>
                            <a:schemeClr val="accent1"/>
                          </a:solidFill>
                        </a:rPr>
                        <a:t>内存</a:t>
                      </a:r>
                      <a:r>
                        <a:rPr lang="zh-CN" altLang="en-US" dirty="0">
                          <a:solidFill>
                            <a:schemeClr val="accent1"/>
                          </a:solidFill>
                        </a:rPr>
                        <a:t>接口</a:t>
                      </a:r>
                      <a:endParaRPr lang="en-CN" dirty="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dirty="0"/>
                        <a:t>多进程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dirty="0"/>
                        <a:t>单向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双向</a:t>
                      </a:r>
                      <a:endParaRPr lang="en-C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0177361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消息队列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>
                          <a:solidFill>
                            <a:schemeClr val="accent1"/>
                          </a:solidFill>
                        </a:rPr>
                        <a:t>消息</a:t>
                      </a:r>
                      <a:r>
                        <a:rPr lang="zh-CN" altLang="en-US" dirty="0">
                          <a:solidFill>
                            <a:schemeClr val="accent1"/>
                          </a:solidFill>
                        </a:rPr>
                        <a:t>接口</a:t>
                      </a:r>
                      <a:endParaRPr lang="en-CN" dirty="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多进程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dirty="0"/>
                        <a:t>单向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双向</a:t>
                      </a:r>
                      <a:endParaRPr lang="en-C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5418575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信号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accent1"/>
                          </a:solidFill>
                        </a:rPr>
                        <a:t>信号接口</a:t>
                      </a:r>
                      <a:endParaRPr lang="en-CN" dirty="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N" dirty="0"/>
                        <a:t>多进程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单向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6767635"/>
                  </a:ext>
                </a:extLst>
              </a:tr>
              <a:tr h="504488"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套接字/socket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accent1"/>
                          </a:solidFill>
                        </a:rPr>
                        <a:t>文件接口</a:t>
                      </a:r>
                      <a:endParaRPr lang="en-CN" dirty="0">
                        <a:solidFill>
                          <a:schemeClr val="accent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两个进程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单向</a:t>
                      </a:r>
                      <a:r>
                        <a:rPr lang="en-US" altLang="zh-CN" dirty="0"/>
                        <a:t>/</a:t>
                      </a:r>
                      <a:r>
                        <a:rPr lang="zh-CN" altLang="en-US" dirty="0"/>
                        <a:t>双向</a:t>
                      </a:r>
                      <a:endParaRPr lang="en-C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045166"/>
                  </a:ext>
                </a:extLst>
              </a:tr>
            </a:tbl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56AEFFBF-7871-4A79-7D6D-B33549F6B0D3}"/>
              </a:ext>
            </a:extLst>
          </p:cNvPr>
          <p:cNvSpPr/>
          <p:nvPr/>
        </p:nvSpPr>
        <p:spPr>
          <a:xfrm>
            <a:off x="2411760" y="1817592"/>
            <a:ext cx="1730151" cy="9679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30D7B6C-703C-68CC-D218-4104B65A3E2D}"/>
              </a:ext>
            </a:extLst>
          </p:cNvPr>
          <p:cNvSpPr/>
          <p:nvPr/>
        </p:nvSpPr>
        <p:spPr>
          <a:xfrm>
            <a:off x="2411760" y="3733202"/>
            <a:ext cx="1730151" cy="48395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3D6F5F-FF33-900A-1F51-085DA9A81968}"/>
              </a:ext>
            </a:extLst>
          </p:cNvPr>
          <p:cNvSpPr txBox="1"/>
          <p:nvPr/>
        </p:nvSpPr>
        <p:spPr>
          <a:xfrm>
            <a:off x="3923928" y="4506341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现有接口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3A5905-0002-8BC8-F7BB-FEA20BE2A0E6}"/>
              </a:ext>
            </a:extLst>
          </p:cNvPr>
          <p:cNvSpPr txBox="1"/>
          <p:nvPr/>
        </p:nvSpPr>
        <p:spPr>
          <a:xfrm>
            <a:off x="1683109" y="308799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新接口</a:t>
            </a:r>
          </a:p>
        </p:txBody>
      </p: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344C6349-4031-6FEE-F8AD-4F22153D8402}"/>
              </a:ext>
            </a:extLst>
          </p:cNvPr>
          <p:cNvCxnSpPr>
            <a:stCxn id="3" idx="6"/>
            <a:endCxn id="8" idx="0"/>
          </p:cNvCxnSpPr>
          <p:nvPr/>
        </p:nvCxnSpPr>
        <p:spPr>
          <a:xfrm>
            <a:off x="4141911" y="2301542"/>
            <a:ext cx="342427" cy="2204799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6155C5F2-5442-EE6F-72C1-2CE3E5599098}"/>
              </a:ext>
            </a:extLst>
          </p:cNvPr>
          <p:cNvCxnSpPr>
            <a:cxnSpLocks/>
            <a:stCxn id="6" idx="6"/>
            <a:endCxn id="8" idx="0"/>
          </p:cNvCxnSpPr>
          <p:nvPr/>
        </p:nvCxnSpPr>
        <p:spPr>
          <a:xfrm>
            <a:off x="4141911" y="3975177"/>
            <a:ext cx="342427" cy="531164"/>
          </a:xfrm>
          <a:prstGeom prst="curved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Left Brace 14">
            <a:extLst>
              <a:ext uri="{FF2B5EF4-FFF2-40B4-BE49-F238E27FC236}">
                <a16:creationId xmlns:a16="http://schemas.microsoft.com/office/drawing/2014/main" id="{D125A942-E80D-F684-732D-712641000784}"/>
              </a:ext>
            </a:extLst>
          </p:cNvPr>
          <p:cNvSpPr/>
          <p:nvPr/>
        </p:nvSpPr>
        <p:spPr>
          <a:xfrm>
            <a:off x="2513502" y="2871072"/>
            <a:ext cx="217983" cy="792088"/>
          </a:xfrm>
          <a:prstGeom prst="leftBrace">
            <a:avLst>
              <a:gd name="adj1" fmla="val 36934"/>
              <a:gd name="adj2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24623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/>
      <p:bldP spid="9" grpId="0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5CAFB9-A2E7-5E46-AFF1-983C9F09F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简单</a:t>
            </a:r>
            <a:r>
              <a:rPr kumimoji="1" lang="en-US" altLang="zh-CN" dirty="0"/>
              <a:t>IPC</a:t>
            </a:r>
            <a:r>
              <a:rPr kumimoji="1" lang="zh-CN" altLang="en-US" dirty="0"/>
              <a:t>的消息接口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E3E77B-3D20-F040-A800-F0C5C4CA6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000" dirty="0"/>
              <a:t>简单</a:t>
            </a:r>
            <a:r>
              <a:rPr kumimoji="1" lang="en-US" altLang="zh-CN" sz="2000" dirty="0"/>
              <a:t>IPC</a:t>
            </a:r>
            <a:r>
              <a:rPr kumimoji="1" lang="zh-CN" altLang="en-US" sz="2000" dirty="0"/>
              <a:t>的消息接口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发送消息：</a:t>
            </a:r>
            <a:r>
              <a:rPr kumimoji="1" lang="en" altLang="zh-CN" sz="1800" dirty="0"/>
              <a:t>Send(message)</a:t>
            </a:r>
          </a:p>
          <a:p>
            <a:pPr lvl="1"/>
            <a:r>
              <a:rPr kumimoji="1" lang="zh-CN" altLang="en-US" sz="1800" dirty="0"/>
              <a:t>接收消息：</a:t>
            </a:r>
            <a:r>
              <a:rPr kumimoji="1" lang="en" altLang="zh-CN" sz="1800" dirty="0" err="1"/>
              <a:t>Recv</a:t>
            </a:r>
            <a:r>
              <a:rPr kumimoji="1" lang="en" altLang="zh-CN" sz="1800" dirty="0"/>
              <a:t>(message)</a:t>
            </a:r>
          </a:p>
          <a:p>
            <a:pPr marL="457200" lvl="1" indent="0">
              <a:buNone/>
            </a:pPr>
            <a:endParaRPr kumimoji="1" lang="en" altLang="zh-CN" sz="1800" dirty="0"/>
          </a:p>
          <a:p>
            <a:pPr lvl="1"/>
            <a:r>
              <a:rPr kumimoji="1" lang="zh-CN" altLang="en-US" sz="1800" dirty="0"/>
              <a:t>远程方法调用：</a:t>
            </a:r>
            <a:r>
              <a:rPr kumimoji="1" lang="en" altLang="zh-CN" sz="1800" dirty="0"/>
              <a:t>RPC(</a:t>
            </a:r>
            <a:r>
              <a:rPr kumimoji="1" lang="en" altLang="zh-CN" sz="1800" dirty="0" err="1"/>
              <a:t>req_message</a:t>
            </a:r>
            <a:r>
              <a:rPr kumimoji="1" lang="en" altLang="zh-CN" sz="1800" dirty="0"/>
              <a:t>, </a:t>
            </a:r>
            <a:r>
              <a:rPr kumimoji="1" lang="en" altLang="zh-CN" sz="1800" dirty="0" err="1"/>
              <a:t>resp_message</a:t>
            </a:r>
            <a:r>
              <a:rPr kumimoji="1" lang="en" altLang="zh-CN" sz="1800" dirty="0"/>
              <a:t>)</a:t>
            </a:r>
          </a:p>
          <a:p>
            <a:pPr lvl="1"/>
            <a:r>
              <a:rPr kumimoji="1" lang="zh-CN" altLang="en-US" sz="1800" dirty="0"/>
              <a:t>远程方法调用的回复：</a:t>
            </a:r>
            <a:r>
              <a:rPr kumimoji="1" lang="en" altLang="zh-CN" sz="1800" dirty="0"/>
              <a:t>Reply(</a:t>
            </a:r>
            <a:r>
              <a:rPr kumimoji="1" lang="en" altLang="zh-CN" sz="1800" dirty="0" err="1"/>
              <a:t>resp_message</a:t>
            </a:r>
            <a:r>
              <a:rPr kumimoji="1" lang="en" altLang="zh-CN" sz="1800" dirty="0"/>
              <a:t>)</a:t>
            </a: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B10D48-3185-1A46-BA19-5C473C350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88259C-DC01-2E4D-A865-6FFB41A419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0091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8A93FA0B-439C-314C-963C-0B4DC8967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简单</a:t>
            </a:r>
            <a:r>
              <a:rPr lang="en-US" altLang="zh-CN" dirty="0"/>
              <a:t>IPC</a:t>
            </a:r>
            <a:r>
              <a:rPr lang="zh-CN" altLang="en-US" dirty="0"/>
              <a:t>的设计与实现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CC608A4-5961-3540-B8FB-48232C4F1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A4D3D6-0F51-8E42-BF85-657DDDB78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E546E2-EDE7-D043-AF11-1521B1C470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9111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ED7D01-12EB-144B-AE3F-A8C316F19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</a:t>
            </a:r>
            <a:r>
              <a:rPr kumimoji="1" lang="en-US" altLang="zh-CN" dirty="0"/>
              <a:t>IPC</a:t>
            </a:r>
            <a:r>
              <a:rPr kumimoji="1" lang="zh-CN" altLang="en-US" dirty="0"/>
              <a:t>：消息的发送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2C4D01-C387-D74A-88B1-865FD52F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4A61D5-72B0-4444-AE63-D8BD481846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770BA4F-4543-5448-BF46-F0233FAEA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702" y="1341586"/>
            <a:ext cx="6002595" cy="305334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FAD8949-9C49-8843-8A10-A90C9399A8E3}"/>
              </a:ext>
            </a:extLst>
          </p:cNvPr>
          <p:cNvSpPr txBox="1"/>
          <p:nvPr/>
        </p:nvSpPr>
        <p:spPr>
          <a:xfrm>
            <a:off x="457200" y="4585692"/>
            <a:ext cx="814724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发送者和消费者需要依赖于一个通信连接chan，作为一个媒介进行消息的传输</a:t>
            </a:r>
          </a:p>
        </p:txBody>
      </p:sp>
    </p:spTree>
    <p:extLst>
      <p:ext uri="{BB962C8B-B14F-4D97-AF65-F5344CB8AC3E}">
        <p14:creationId xmlns:p14="http://schemas.microsoft.com/office/powerpoint/2010/main" val="2109203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DF037C-1036-7346-BF08-216A75D13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</a:t>
            </a:r>
            <a:r>
              <a:rPr kumimoji="1" lang="en-US" altLang="zh-CN" dirty="0"/>
              <a:t>IPC</a:t>
            </a:r>
            <a:r>
              <a:rPr kumimoji="1" lang="zh-CN" altLang="en-US" dirty="0"/>
              <a:t>：消息的接收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AD92EC-988F-844E-9F3D-D92FAB5B7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89CE5F-2A93-1445-9B8F-DD3D4C06E6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EC75F2B-B108-E64A-8B20-E98912C60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262" y="1342597"/>
            <a:ext cx="6245476" cy="353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044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CC4297-EEBA-404B-8F18-AE76F81D0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简单</a:t>
            </a:r>
            <a:r>
              <a:rPr kumimoji="1" lang="en-US" altLang="zh-CN" dirty="0"/>
              <a:t>IPC</a:t>
            </a:r>
            <a:r>
              <a:rPr kumimoji="1" lang="zh-CN" altLang="en-US" dirty="0"/>
              <a:t>：消息的远程方法调用（发送者）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86444F-FBB7-3A45-A783-F93DF0F6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BCA83A-8188-5343-9B50-FD2711BB39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FF69EB2-C717-3145-A287-BF26890EA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263" y="1505579"/>
            <a:ext cx="6245475" cy="351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84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22AEF4-5847-5948-8D7B-2F7348A6B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7220"/>
            <a:ext cx="8229600" cy="900442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/>
              <a:t>简单</a:t>
            </a:r>
            <a:r>
              <a:rPr kumimoji="1" lang="en-US" altLang="zh-CN" dirty="0"/>
              <a:t>IPC</a:t>
            </a:r>
            <a:r>
              <a:rPr kumimoji="1" lang="zh-CN" altLang="en-US" dirty="0"/>
              <a:t>：消息的远程方法调用（接收者）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07A386-DB55-6D43-8C7C-23BECD1BD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B19431-F2C2-DD42-B6AA-0432A80DE5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3A10610-A75F-1148-822A-57EEAD991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263" y="1286248"/>
            <a:ext cx="6245475" cy="382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029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93CBE9-FCD8-BE45-A9CE-59DBF63C7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简单</a:t>
            </a:r>
            <a:r>
              <a:rPr kumimoji="1" lang="en-US" altLang="zh-CN" sz="3200" dirty="0"/>
              <a:t>IPC</a:t>
            </a:r>
            <a:r>
              <a:rPr kumimoji="1" lang="zh-CN" altLang="en-US" sz="3200" dirty="0"/>
              <a:t>的两个阶段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9BFF43-8C70-B644-8137-9CAD43D33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阶段</a:t>
            </a:r>
            <a:r>
              <a:rPr kumimoji="1" lang="en-US" altLang="zh-CN" sz="2000" dirty="0"/>
              <a:t>-1</a:t>
            </a:r>
            <a:r>
              <a:rPr kumimoji="1" lang="zh-CN" altLang="en-US" sz="2000" dirty="0"/>
              <a:t>：准备阶段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建立通信连接，即进程间的信道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假设内核已经为两个进程映射了一段共享内存</a:t>
            </a:r>
            <a:endParaRPr kumimoji="1" lang="en-US" altLang="zh-CN" sz="1800" dirty="0"/>
          </a:p>
          <a:p>
            <a:r>
              <a:rPr kumimoji="1" lang="zh-CN" altLang="en-US" sz="2000" dirty="0"/>
              <a:t>阶段</a:t>
            </a:r>
            <a:r>
              <a:rPr kumimoji="1" lang="en-US" altLang="zh-CN" sz="2000" dirty="0"/>
              <a:t>-2</a:t>
            </a:r>
            <a:r>
              <a:rPr kumimoji="1" lang="zh-CN" altLang="en-US" sz="2000" dirty="0"/>
              <a:t>：通信阶段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数据传递</a:t>
            </a:r>
            <a:endParaRPr kumimoji="1" lang="en-US" altLang="zh-CN" sz="1800" dirty="0"/>
          </a:p>
          <a:p>
            <a:pPr lvl="2"/>
            <a:r>
              <a:rPr kumimoji="1" lang="en-US" altLang="zh-CN" sz="1800" dirty="0"/>
              <a:t>"</a:t>
            </a:r>
            <a:r>
              <a:rPr kumimoji="1" lang="zh-CN" altLang="en-US" sz="1800" dirty="0"/>
              <a:t>消息</a:t>
            </a:r>
            <a:r>
              <a:rPr kumimoji="1" lang="en-US" altLang="zh-CN" sz="1800" dirty="0"/>
              <a:t>"</a:t>
            </a:r>
            <a:r>
              <a:rPr kumimoji="1" lang="zh-CN" altLang="en-US" sz="1800" dirty="0"/>
              <a:t>抽象：通常包含头部（含魔数）和数据内容（</a:t>
            </a:r>
            <a:r>
              <a:rPr kumimoji="1" lang="en-US" altLang="zh-CN" sz="1800" dirty="0"/>
              <a:t>500</a:t>
            </a:r>
            <a:r>
              <a:rPr kumimoji="1" lang="zh-CN" altLang="en-US" sz="1800" dirty="0"/>
              <a:t>字节）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通信机制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两个消息保存在共享内存中：发送者消息、接收者消息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发送者和接收者通过</a:t>
            </a:r>
            <a:r>
              <a:rPr kumimoji="1" lang="zh-CN" altLang="en-US" sz="1800" b="1" dirty="0">
                <a:solidFill>
                  <a:schemeClr val="accent1"/>
                </a:solidFill>
              </a:rPr>
              <a:t>轮询</a:t>
            </a:r>
            <a:r>
              <a:rPr kumimoji="1" lang="zh-CN" altLang="en-US" sz="1800" dirty="0"/>
              <a:t>消息的状态作为通知机制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2F183C-285B-8044-9B7B-956CC5FB1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4D38DA-9029-6845-8FD2-3A83BA4EFF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636517E-772B-DD44-9BC9-4F1E6CE48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087" y="193204"/>
            <a:ext cx="4904409" cy="150807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CE0E760-B257-514A-B599-6A0AE5E6BD7C}"/>
              </a:ext>
            </a:extLst>
          </p:cNvPr>
          <p:cNvSpPr txBox="1"/>
          <p:nvPr/>
        </p:nvSpPr>
        <p:spPr>
          <a:xfrm>
            <a:off x="6726322" y="2786762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chemeClr val="accent1"/>
                </a:solidFill>
              </a:rPr>
              <a:t>一般不包含指针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9BC4DDB4-7975-4D4E-8B33-7A18EAF3EE9E}"/>
              </a:ext>
            </a:extLst>
          </p:cNvPr>
          <p:cNvCxnSpPr/>
          <p:nvPr/>
        </p:nvCxnSpPr>
        <p:spPr>
          <a:xfrm flipV="1">
            <a:off x="6300192" y="3073524"/>
            <a:ext cx="432048" cy="360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1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C5DE3-29AF-3A4E-21A2-46F78D667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E9A74-C8D8-397D-9A9C-9895391D3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</a:t>
            </a:r>
            <a:r>
              <a:rPr kumimoji="1" lang="en-US" altLang="zh-CN" dirty="0"/>
              <a:t>IPC</a:t>
            </a:r>
            <a:r>
              <a:rPr kumimoji="1" lang="zh-CN" altLang="en-US" dirty="0"/>
              <a:t>数据传递的两种方法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D16512-E0CC-9028-5294-3072FAE5C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：基于共享内存的数据传递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操作系统在通信过程中不干预数据传输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操作系统仅负责准备阶段的映射</a:t>
            </a:r>
            <a:endParaRPr kumimoji="1" lang="en-US" altLang="zh-CN" dirty="0"/>
          </a:p>
          <a:p>
            <a:pPr marL="457200" lvl="1" indent="0">
              <a:buNone/>
            </a:pPr>
            <a:r>
              <a:rPr kumimoji="1" lang="zh-CN" altLang="en-US" dirty="0"/>
              <a:t>优势：</a:t>
            </a:r>
            <a:endParaRPr kumimoji="1" lang="en-US" altLang="zh-CN" dirty="0"/>
          </a:p>
          <a:p>
            <a:pPr lvl="1"/>
            <a:r>
              <a:rPr kumimoji="1" lang="zh-CN" altLang="en-US" sz="2000" dirty="0"/>
              <a:t>无需切换到内核态即可完成</a:t>
            </a:r>
            <a:r>
              <a:rPr kumimoji="1" lang="en-US" altLang="zh-CN" sz="2000" dirty="0"/>
              <a:t>IPC</a:t>
            </a:r>
            <a:r>
              <a:rPr kumimoji="1" lang="zh-CN" altLang="en-US" sz="2000" dirty="0"/>
              <a:t>（多核场景下）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完全由用户态控制，定制能力更强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可实现零内存拷贝（无需内核介入）</a:t>
            </a:r>
            <a:endParaRPr kumimoji="1" lang="en-US" altLang="zh-CN" sz="2000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F160D3-8EE7-985F-ADDE-BBCD46BC6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E87E07-C91A-C790-CF2E-3CF3560E43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6287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9B69E2-987D-FE4C-8473-95B0B67D3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</a:t>
            </a:r>
            <a:r>
              <a:rPr kumimoji="1" lang="en-US" altLang="zh-CN" dirty="0"/>
              <a:t>IPC</a:t>
            </a:r>
            <a:r>
              <a:rPr kumimoji="1" lang="zh-CN" altLang="en-US" dirty="0"/>
              <a:t>数据传递的两种方法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577637-44D3-A24A-86BF-13775B111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方法</a:t>
            </a:r>
            <a:r>
              <a:rPr kumimoji="1" lang="en-US" altLang="zh-CN" dirty="0"/>
              <a:t>-2</a:t>
            </a:r>
            <a:r>
              <a:rPr kumimoji="1" lang="zh-CN" altLang="en-US" dirty="0"/>
              <a:t>：基于操作系统辅助的数据传递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操作系统提供接口（系统调用）：</a:t>
            </a:r>
            <a:r>
              <a:rPr kumimoji="1" lang="en-US" altLang="zh-CN" dirty="0"/>
              <a:t>Send</a:t>
            </a:r>
            <a:r>
              <a:rPr kumimoji="1" lang="zh-CN" altLang="en-US" dirty="0"/>
              <a:t>、</a:t>
            </a:r>
            <a:r>
              <a:rPr kumimoji="1" lang="en-US" altLang="zh-CN" dirty="0" err="1"/>
              <a:t>Recv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通过内核态内存来传递数据，无需在用户态建立共享内存</a:t>
            </a:r>
            <a:endParaRPr kumimoji="1" lang="en-US" altLang="zh-CN" dirty="0"/>
          </a:p>
          <a:p>
            <a:pPr marL="457200" lvl="1" indent="0">
              <a:buNone/>
            </a:pPr>
            <a:r>
              <a:rPr kumimoji="1" lang="zh-CN" altLang="en-US" sz="2000" dirty="0"/>
              <a:t>优势：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抽象更简单，用户态直接调用接口，使用更方便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安全性保证更强，发送者在消息被接收时通常无法修改消息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多方（多进程）通信时更灵活、更安全</a:t>
            </a:r>
            <a:endParaRPr kumimoji="1" lang="en-US" altLang="zh-CN" sz="2000" dirty="0"/>
          </a:p>
          <a:p>
            <a:pPr lvl="1"/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3188D7-60B8-A947-BF7A-CA8414BE6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9E6E7A-449A-BB4A-BC05-2343E3B9D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549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CD612-A184-1E4B-B523-BF98CE107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</a:t>
            </a:r>
            <a:r>
              <a:rPr kumimoji="1" lang="en-US" altLang="zh-CN" dirty="0"/>
              <a:t>IPC</a:t>
            </a:r>
            <a:r>
              <a:rPr kumimoji="1" lang="zh-CN" altLang="en-US" dirty="0"/>
              <a:t>的通知机制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0A9176-F72A-4849-8D52-A955E1635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方法</a:t>
            </a:r>
            <a:r>
              <a:rPr kumimoji="1" lang="en-US" altLang="zh-CN" sz="2000" dirty="0"/>
              <a:t>-1</a:t>
            </a:r>
            <a:r>
              <a:rPr kumimoji="1" lang="zh-CN" altLang="en-US" sz="2000" dirty="0"/>
              <a:t>：基于轮询（消息头部的状态信息）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缺点：大量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计算资源的浪费</a:t>
            </a:r>
            <a:endParaRPr kumimoji="1" lang="en-US" altLang="zh-CN" sz="1800" dirty="0"/>
          </a:p>
          <a:p>
            <a:r>
              <a:rPr kumimoji="1" lang="zh-CN" altLang="en-US" sz="2000" dirty="0"/>
              <a:t>方法</a:t>
            </a:r>
            <a:r>
              <a:rPr kumimoji="1" lang="en-US" altLang="zh-CN" sz="2000" dirty="0"/>
              <a:t>-2</a:t>
            </a:r>
            <a:r>
              <a:rPr kumimoji="1" lang="zh-CN" altLang="en-US" sz="2000" dirty="0"/>
              <a:t>：基于控制流转移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由内核控制进程的运行状态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优点：进程只有在条件满足的情况下才运行，避免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浪费</a:t>
            </a:r>
            <a:endParaRPr kumimoji="1"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AD5327-46DE-2F46-B47E-AA0224600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0CE11B-4151-7945-AF05-249180385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1B72A46-C95D-4346-8126-F63E5B345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261" y="3577580"/>
            <a:ext cx="6245476" cy="206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613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1415C8-5915-C443-A535-8E447C072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IPC</a:t>
            </a:r>
            <a:r>
              <a:rPr kumimoji="1" lang="zh-CN" altLang="en-US" dirty="0"/>
              <a:t>控制流：同步和异步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E4528F-297F-1D4F-AC04-0C094182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同步</a:t>
            </a:r>
            <a:r>
              <a:rPr kumimoji="1" lang="en-US" altLang="zh-CN" dirty="0"/>
              <a:t>IPC</a:t>
            </a:r>
          </a:p>
          <a:p>
            <a:pPr lvl="1"/>
            <a:r>
              <a:rPr kumimoji="1" lang="en-US" altLang="zh-CN" dirty="0"/>
              <a:t>IPC</a:t>
            </a:r>
            <a:r>
              <a:rPr kumimoji="1" lang="zh-CN" altLang="en-US" dirty="0"/>
              <a:t>操作会阻塞进程直到操作完成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线性的控制流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调用者继续运行时，返回结果已经</a:t>
            </a:r>
            <a:r>
              <a:rPr kumimoji="1" lang="en-US" altLang="zh-CN" dirty="0"/>
              <a:t>ready</a:t>
            </a:r>
          </a:p>
          <a:p>
            <a:r>
              <a:rPr kumimoji="1" lang="zh-CN" altLang="en-US" dirty="0"/>
              <a:t>异步</a:t>
            </a:r>
            <a:r>
              <a:rPr kumimoji="1" lang="en-US" altLang="zh-CN" dirty="0"/>
              <a:t>IPC</a:t>
            </a:r>
          </a:p>
          <a:p>
            <a:pPr lvl="1"/>
            <a:r>
              <a:rPr kumimoji="1" lang="zh-CN" altLang="en-US" dirty="0"/>
              <a:t>进程发起</a:t>
            </a:r>
            <a:r>
              <a:rPr kumimoji="1" lang="en-US" altLang="zh-CN" dirty="0"/>
              <a:t>IPC</a:t>
            </a:r>
            <a:r>
              <a:rPr kumimoji="1" lang="zh-CN" altLang="en-US" dirty="0"/>
              <a:t>操作后即可返回而不需要等待其完成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通过轮询或回调函数（需内核支持）来获取返回结果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5BACD0-F0C1-E949-A094-D01DACBE0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D1992C-AA0C-AC43-90DA-1FBD55ECFB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116160D-47AB-6B41-9C8E-B6646BFE7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096" y="589088"/>
            <a:ext cx="3461823" cy="222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417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FC5FB9-6AA1-CE40-905F-1EC7AC9DA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IPC</a:t>
            </a:r>
            <a:r>
              <a:rPr kumimoji="1" lang="zh-CN" altLang="en-US" dirty="0"/>
              <a:t>的超时机制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B983AA-7E03-C04A-96F5-F2A8E3393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435280" cy="3771636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一种新的错误：超时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传统的函数调用不存在超时问题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IPC</a:t>
            </a:r>
            <a:r>
              <a:rPr kumimoji="1" lang="zh-CN" altLang="en-US" sz="1800" dirty="0"/>
              <a:t>涉及两个进程，分别有独立的控制流</a:t>
            </a:r>
            <a:endParaRPr kumimoji="1" lang="en-US" altLang="zh-CN" sz="1800" dirty="0"/>
          </a:p>
          <a:p>
            <a:r>
              <a:rPr kumimoji="1" lang="zh-CN" altLang="en-US" sz="2000" dirty="0"/>
              <a:t>超时可能的原因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被调用者是恶意的：故意不返回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被调用者不是恶意的：运行时间过长、调度时间过长、请求丢失等</a:t>
            </a:r>
            <a:endParaRPr kumimoji="1" lang="en-US" altLang="zh-CN" sz="1800" dirty="0"/>
          </a:p>
          <a:p>
            <a:r>
              <a:rPr kumimoji="1" lang="zh-CN" altLang="en-US" sz="2000" dirty="0"/>
              <a:t>超时机制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应用可自行设置超时的阈值，但如何选择合适的阈值却很难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特殊的超时机制：阻塞、立即返回（要求被调用者处于可立即响应的状态）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D9A699-8C11-D741-A4AB-1A9685C1B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EE2A49-3DED-CC40-8FF1-9305BA37D6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2424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3B776D-44C8-D14B-852F-F3B081854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IPC</a:t>
            </a:r>
            <a:r>
              <a:rPr kumimoji="1" lang="zh-CN" altLang="en-US" dirty="0"/>
              <a:t>的权限检查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C55759-1765-6146-8C7B-E83E37EE1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宏内核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通常基于权限检查的机制实现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如：</a:t>
            </a:r>
            <a:r>
              <a:rPr kumimoji="1" lang="en-US" altLang="zh-CN" sz="1800" dirty="0"/>
              <a:t>Linux</a:t>
            </a:r>
            <a:r>
              <a:rPr kumimoji="1" lang="zh-CN" altLang="en-US" sz="1800" dirty="0"/>
              <a:t>中与文件的权限检查结合在一起（以后介绍）</a:t>
            </a:r>
            <a:endParaRPr kumimoji="1" lang="en-US" altLang="zh-CN" sz="1800" dirty="0"/>
          </a:p>
          <a:p>
            <a:r>
              <a:rPr kumimoji="1" lang="zh-CN" altLang="en-US" sz="2000" dirty="0"/>
              <a:t>微内核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通常基于</a:t>
            </a:r>
            <a:r>
              <a:rPr kumimoji="1" lang="en-US" altLang="zh-CN" sz="1800" dirty="0"/>
              <a:t>Capability</a:t>
            </a:r>
            <a:r>
              <a:rPr kumimoji="1" lang="zh-CN" altLang="en-US" sz="1800" dirty="0"/>
              <a:t>安全检查机制实现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如</a:t>
            </a:r>
            <a:r>
              <a:rPr kumimoji="1" lang="en-US" altLang="zh-CN" sz="1800" dirty="0"/>
              <a:t>seL4</a:t>
            </a:r>
            <a:r>
              <a:rPr kumimoji="1" lang="zh-CN" altLang="en-US" sz="1800" dirty="0"/>
              <a:t>将通信连接抽象为内核对象，不同进程对于内核对象的访问权限与操作有</a:t>
            </a:r>
            <a:r>
              <a:rPr kumimoji="1" lang="en-US" altLang="zh-CN" sz="1800" dirty="0"/>
              <a:t>Capability</a:t>
            </a:r>
            <a:r>
              <a:rPr kumimoji="1" lang="zh-CN" altLang="en-US" sz="1800" dirty="0"/>
              <a:t>来刻画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Capability</a:t>
            </a:r>
            <a:r>
              <a:rPr kumimoji="1" lang="zh-CN" altLang="en-US" sz="1800" dirty="0"/>
              <a:t>保存在内核中，与进程绑定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进程发起</a:t>
            </a:r>
            <a:r>
              <a:rPr kumimoji="1" lang="en-US" altLang="zh-CN" sz="1800" dirty="0"/>
              <a:t>IPC</a:t>
            </a:r>
            <a:r>
              <a:rPr kumimoji="1" lang="zh-CN" altLang="en-US" sz="1800" dirty="0"/>
              <a:t>时，内核检查其是否拥有对应的</a:t>
            </a:r>
            <a:r>
              <a:rPr kumimoji="1" lang="en-US" altLang="zh-CN" sz="1800" dirty="0"/>
              <a:t>Capability</a:t>
            </a: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115B00-DED3-5749-AAED-00B3E6BBD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DA3FA2-44F9-4D41-AC45-30796B3966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1418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CE39AA-AF56-A64A-8981-5E4BECBAD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IPC</a:t>
            </a:r>
            <a:r>
              <a:rPr kumimoji="1" lang="zh-CN" altLang="en-US" dirty="0"/>
              <a:t>的小结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23E2DF-2AA8-6347-AFAF-1EA7926C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651878-B0C7-2441-9BD7-C0ED2DE2D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A5A4C99-2FE6-F04F-9BD5-C16A16F836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957"/>
          <a:stretch/>
        </p:blipFill>
        <p:spPr>
          <a:xfrm>
            <a:off x="86543" y="1655931"/>
            <a:ext cx="4239588" cy="303140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EC46DC6-6B72-EB48-9CC8-B667F4C90F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770"/>
          <a:stretch/>
        </p:blipFill>
        <p:spPr>
          <a:xfrm>
            <a:off x="4446875" y="1792393"/>
            <a:ext cx="4663547" cy="296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9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共享内存（内存接口的</a:t>
            </a:r>
            <a:r>
              <a:rPr kumimoji="1" lang="en-US" altLang="zh-CN" dirty="0"/>
              <a:t>IPC</a:t>
            </a:r>
            <a:r>
              <a:rPr kumimoji="1" lang="zh-CN" altLang="en-US" dirty="0"/>
              <a:t>）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9624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共享内存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基础实现</a:t>
            </a:r>
            <a:r>
              <a:rPr kumimoji="1" lang="en-US" altLang="zh-CN" dirty="0"/>
              <a:t>:</a:t>
            </a:r>
            <a:r>
              <a:rPr kumimoji="1" lang="zh-CN" altLang="en-US" dirty="0"/>
              <a:t> 共享区域</a:t>
            </a:r>
            <a:endParaRPr kumimoji="1" lang="en-US" altLang="zh-CN" dirty="0"/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#define BUFFER_SIZE 10</a:t>
            </a:r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typedef struct {</a:t>
            </a:r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	. . .</a:t>
            </a:r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} item;</a:t>
            </a:r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item buffer[BUFFER_SIZE];</a:t>
            </a:r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volatile</a:t>
            </a:r>
            <a:r>
              <a:rPr lang="zh-CN" altLang="en-US" sz="1900" dirty="0">
                <a:latin typeface="Arial" charset="0"/>
                <a:ea typeface="宋体" charset="0"/>
              </a:rPr>
              <a:t> </a:t>
            </a:r>
            <a:r>
              <a:rPr lang="en-US" altLang="zh-CN" sz="1900" dirty="0">
                <a:latin typeface="Arial" charset="0"/>
                <a:ea typeface="宋体" charset="0"/>
              </a:rPr>
              <a:t>int </a:t>
            </a:r>
            <a:r>
              <a:rPr lang="en-US" altLang="zh-CN" sz="1900" dirty="0" err="1">
                <a:latin typeface="Arial" charset="0"/>
                <a:ea typeface="宋体" charset="0"/>
              </a:rPr>
              <a:t>buffer_write_cnt</a:t>
            </a:r>
            <a:r>
              <a:rPr lang="en-US" altLang="zh-CN" sz="1900" dirty="0">
                <a:latin typeface="Arial" charset="0"/>
                <a:ea typeface="宋体" charset="0"/>
              </a:rPr>
              <a:t> = 0;</a:t>
            </a:r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volatile</a:t>
            </a:r>
            <a:r>
              <a:rPr lang="zh-CN" altLang="en-US" sz="1900" dirty="0">
                <a:latin typeface="Arial" charset="0"/>
                <a:ea typeface="宋体" charset="0"/>
              </a:rPr>
              <a:t> </a:t>
            </a:r>
            <a:r>
              <a:rPr lang="en-US" altLang="zh-CN" sz="1900" dirty="0">
                <a:latin typeface="Arial" charset="0"/>
                <a:ea typeface="宋体" charset="0"/>
              </a:rPr>
              <a:t>int </a:t>
            </a:r>
            <a:r>
              <a:rPr lang="en-US" altLang="zh-CN" sz="1900" dirty="0" err="1">
                <a:latin typeface="Arial" charset="0"/>
                <a:ea typeface="宋体" charset="0"/>
              </a:rPr>
              <a:t>buffer_read_cnt</a:t>
            </a:r>
            <a:r>
              <a:rPr lang="en-US" altLang="zh-CN" sz="1900" dirty="0">
                <a:latin typeface="Arial" charset="0"/>
                <a:ea typeface="宋体" charset="0"/>
              </a:rPr>
              <a:t> = 0;</a:t>
            </a:r>
          </a:p>
          <a:p>
            <a:pPr lvl="3">
              <a:buNone/>
            </a:pPr>
            <a:r>
              <a:rPr kumimoji="1" lang="en-US" altLang="zh-CN" sz="1900" dirty="0">
                <a:latin typeface="Arial" charset="0"/>
                <a:ea typeface="宋体" charset="0"/>
              </a:rPr>
              <a:t>volatile</a:t>
            </a:r>
            <a:r>
              <a:rPr kumimoji="1" lang="zh-CN" altLang="en-US" sz="1900" dirty="0">
                <a:latin typeface="Arial" charset="0"/>
                <a:ea typeface="宋体" charset="0"/>
              </a:rPr>
              <a:t> </a:t>
            </a:r>
            <a:r>
              <a:rPr kumimoji="1" lang="en-US" altLang="zh-CN" sz="1900" dirty="0">
                <a:latin typeface="Arial" charset="0"/>
                <a:ea typeface="宋体" charset="0"/>
              </a:rPr>
              <a:t>int</a:t>
            </a:r>
            <a:r>
              <a:rPr kumimoji="1" lang="zh-CN" altLang="en-US" sz="1900" dirty="0">
                <a:latin typeface="Arial" charset="0"/>
                <a:ea typeface="宋体" charset="0"/>
              </a:rPr>
              <a:t> </a:t>
            </a:r>
            <a:r>
              <a:rPr kumimoji="1" lang="en-US" altLang="zh-CN" sz="1900" dirty="0" err="1">
                <a:latin typeface="Arial" charset="0"/>
                <a:ea typeface="宋体" charset="0"/>
              </a:rPr>
              <a:t>empty_slot</a:t>
            </a:r>
            <a:r>
              <a:rPr kumimoji="1" lang="zh-CN" altLang="en-US" sz="1900" dirty="0">
                <a:latin typeface="Arial" charset="0"/>
                <a:ea typeface="宋体" charset="0"/>
              </a:rPr>
              <a:t> </a:t>
            </a:r>
            <a:r>
              <a:rPr kumimoji="1" lang="en-US" altLang="zh-CN" sz="1900" dirty="0">
                <a:latin typeface="Arial" charset="0"/>
                <a:ea typeface="宋体" charset="0"/>
              </a:rPr>
              <a:t>=</a:t>
            </a:r>
            <a:r>
              <a:rPr kumimoji="1" lang="zh-CN" altLang="en-US" sz="1900" dirty="0">
                <a:latin typeface="Arial" charset="0"/>
                <a:ea typeface="宋体" charset="0"/>
              </a:rPr>
              <a:t> </a:t>
            </a:r>
            <a:r>
              <a:rPr kumimoji="1" lang="en-US" altLang="zh-CN" sz="1900" dirty="0">
                <a:latin typeface="Arial" charset="0"/>
                <a:ea typeface="宋体" charset="0"/>
              </a:rPr>
              <a:t>BUFFER_SIZE;</a:t>
            </a:r>
          </a:p>
          <a:p>
            <a:pPr lvl="3">
              <a:buNone/>
            </a:pPr>
            <a:r>
              <a:rPr lang="en-US" altLang="zh-CN" sz="1900" dirty="0">
                <a:latin typeface="Arial" charset="0"/>
                <a:ea typeface="宋体" charset="0"/>
              </a:rPr>
              <a:t>volatile</a:t>
            </a:r>
            <a:r>
              <a:rPr lang="zh-CN" altLang="en-US" sz="1900" dirty="0">
                <a:latin typeface="Arial" charset="0"/>
                <a:ea typeface="宋体" charset="0"/>
              </a:rPr>
              <a:t> </a:t>
            </a:r>
            <a:r>
              <a:rPr lang="en-US" altLang="zh-CN" sz="1900" dirty="0">
                <a:latin typeface="Arial" charset="0"/>
                <a:ea typeface="宋体" charset="0"/>
              </a:rPr>
              <a:t>int</a:t>
            </a:r>
            <a:r>
              <a:rPr lang="zh-CN" altLang="en-US" sz="1900" dirty="0">
                <a:latin typeface="Arial" charset="0"/>
                <a:ea typeface="宋体" charset="0"/>
              </a:rPr>
              <a:t> </a:t>
            </a:r>
            <a:r>
              <a:rPr lang="en-US" altLang="zh-CN" sz="1900" dirty="0" err="1">
                <a:latin typeface="Arial" charset="0"/>
                <a:ea typeface="宋体" charset="0"/>
              </a:rPr>
              <a:t>filled_slot</a:t>
            </a:r>
            <a:r>
              <a:rPr lang="zh-CN" altLang="en-US" sz="1900" dirty="0">
                <a:latin typeface="Arial" charset="0"/>
                <a:ea typeface="宋体" charset="0"/>
              </a:rPr>
              <a:t> </a:t>
            </a:r>
            <a:r>
              <a:rPr lang="en-US" altLang="zh-CN" sz="1900" dirty="0">
                <a:latin typeface="Arial" charset="0"/>
                <a:ea typeface="宋体" charset="0"/>
              </a:rPr>
              <a:t>=</a:t>
            </a:r>
            <a:r>
              <a:rPr lang="zh-CN" altLang="en-US" sz="1900" dirty="0">
                <a:latin typeface="Arial" charset="0"/>
                <a:ea typeface="宋体" charset="0"/>
              </a:rPr>
              <a:t> </a:t>
            </a:r>
            <a:r>
              <a:rPr lang="en-US" altLang="zh-CN" sz="1900" dirty="0">
                <a:latin typeface="Arial" charset="0"/>
                <a:ea typeface="宋体" charset="0"/>
              </a:rPr>
              <a:t>0;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040FA2-C351-BE42-9C2F-2C0C583107B3}"/>
              </a:ext>
            </a:extLst>
          </p:cNvPr>
          <p:cNvSpPr/>
          <p:nvPr/>
        </p:nvSpPr>
        <p:spPr>
          <a:xfrm>
            <a:off x="1763688" y="1781073"/>
            <a:ext cx="3168352" cy="2843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7D47D1-84DB-A742-8829-A7617DC0C925}"/>
              </a:ext>
            </a:extLst>
          </p:cNvPr>
          <p:cNvSpPr txBox="1"/>
          <p:nvPr/>
        </p:nvSpPr>
        <p:spPr>
          <a:xfrm>
            <a:off x="5868144" y="3003258"/>
            <a:ext cx="2749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共享数据区域，容量为</a:t>
            </a:r>
            <a:r>
              <a:rPr kumimoji="1" lang="en-US" altLang="zh-CN" dirty="0"/>
              <a:t>10</a:t>
            </a: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1AC5B214-F07D-4C46-9C7D-27E1486CA2DD}"/>
              </a:ext>
            </a:extLst>
          </p:cNvPr>
          <p:cNvCxnSpPr>
            <a:cxnSpLocks/>
            <a:stCxn id="7" idx="1"/>
            <a:endCxn id="6" idx="3"/>
          </p:cNvCxnSpPr>
          <p:nvPr/>
        </p:nvCxnSpPr>
        <p:spPr>
          <a:xfrm flipH="1" flipV="1">
            <a:off x="4932040" y="1923243"/>
            <a:ext cx="936104" cy="1264681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7DA3CCFA-3C0F-B743-9FE2-B8084EABB79A}"/>
              </a:ext>
            </a:extLst>
          </p:cNvPr>
          <p:cNvSpPr/>
          <p:nvPr/>
        </p:nvSpPr>
        <p:spPr>
          <a:xfrm>
            <a:off x="1763688" y="3577580"/>
            <a:ext cx="4464496" cy="13885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49DF6C0F-B9B0-8746-95A5-2B5C493B11ED}"/>
              </a:ext>
            </a:extLst>
          </p:cNvPr>
          <p:cNvCxnSpPr>
            <a:cxnSpLocks/>
            <a:stCxn id="21" idx="1"/>
            <a:endCxn id="18" idx="3"/>
          </p:cNvCxnSpPr>
          <p:nvPr/>
        </p:nvCxnSpPr>
        <p:spPr>
          <a:xfrm flipH="1">
            <a:off x="6228184" y="4246819"/>
            <a:ext cx="283820" cy="25029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E252410A-E45C-2543-96DC-4AE7678DFEE3}"/>
              </a:ext>
            </a:extLst>
          </p:cNvPr>
          <p:cNvSpPr txBox="1"/>
          <p:nvPr/>
        </p:nvSpPr>
        <p:spPr>
          <a:xfrm>
            <a:off x="6512004" y="406215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共享状态</a:t>
            </a:r>
          </a:p>
        </p:txBody>
      </p:sp>
      <p:sp>
        <p:nvSpPr>
          <p:cNvPr id="15" name="矩形 5">
            <a:extLst>
              <a:ext uri="{FF2B5EF4-FFF2-40B4-BE49-F238E27FC236}">
                <a16:creationId xmlns:a16="http://schemas.microsoft.com/office/drawing/2014/main" id="{2F30F9EB-282D-F13A-7D0C-A7CA268F1A7F}"/>
              </a:ext>
            </a:extLst>
          </p:cNvPr>
          <p:cNvSpPr/>
          <p:nvPr/>
        </p:nvSpPr>
        <p:spPr>
          <a:xfrm>
            <a:off x="1763332" y="3246389"/>
            <a:ext cx="3168352" cy="2843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" name="直线箭头连接符 7">
            <a:extLst>
              <a:ext uri="{FF2B5EF4-FFF2-40B4-BE49-F238E27FC236}">
                <a16:creationId xmlns:a16="http://schemas.microsoft.com/office/drawing/2014/main" id="{AA99C6DA-624E-6671-8250-3945BCD4663A}"/>
              </a:ext>
            </a:extLst>
          </p:cNvPr>
          <p:cNvCxnSpPr>
            <a:cxnSpLocks/>
          </p:cNvCxnSpPr>
          <p:nvPr/>
        </p:nvCxnSpPr>
        <p:spPr>
          <a:xfrm flipH="1">
            <a:off x="4931684" y="3219319"/>
            <a:ext cx="936104" cy="202538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CC069470-00EA-B9EE-53FB-1D7D2B517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743" y="215913"/>
            <a:ext cx="3570271" cy="164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5284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基于共享内存的生产者消费者问题实现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基础实现</a:t>
            </a:r>
            <a:r>
              <a:rPr kumimoji="1" lang="en-US" altLang="zh-CN" dirty="0"/>
              <a:t>:</a:t>
            </a:r>
            <a:r>
              <a:rPr kumimoji="1" lang="zh-CN" altLang="en-US" dirty="0"/>
              <a:t> 发送者 </a:t>
            </a:r>
            <a:r>
              <a:rPr kumimoji="1" lang="en-US" altLang="zh-CN" dirty="0"/>
              <a:t>(</a:t>
            </a:r>
            <a:r>
              <a:rPr kumimoji="1" lang="zh-CN" altLang="en-US" dirty="0"/>
              <a:t>生产者</a:t>
            </a:r>
            <a:r>
              <a:rPr kumimoji="1" lang="en-US" altLang="zh-CN" dirty="0"/>
              <a:t>)</a:t>
            </a:r>
          </a:p>
          <a:p>
            <a:pPr lvl="3">
              <a:buNone/>
            </a:pPr>
            <a:r>
              <a:rPr kumimoji="1" lang="en-US" altLang="zh-CN" dirty="0"/>
              <a:t>while (</a:t>
            </a:r>
            <a:r>
              <a:rPr kumimoji="1" lang="en-US" altLang="zh-CN" dirty="0" err="1"/>
              <a:t>new_package</a:t>
            </a:r>
            <a:r>
              <a:rPr kumimoji="1" lang="en-US" altLang="zh-CN" dirty="0"/>
              <a:t>) {</a:t>
            </a:r>
            <a:br>
              <a:rPr kumimoji="1" lang="en-US" altLang="zh-CN" dirty="0"/>
            </a:br>
            <a:r>
              <a:rPr kumimoji="1" lang="en-US" altLang="zh-CN" dirty="0"/>
              <a:t>  /* Produce an item/msg */</a:t>
            </a:r>
          </a:p>
          <a:p>
            <a:pPr lvl="3">
              <a:buNone/>
            </a:pPr>
            <a:r>
              <a:rPr kumimoji="1" lang="en-US" altLang="zh-CN" dirty="0"/>
              <a:t>        while (</a:t>
            </a:r>
            <a:r>
              <a:rPr kumimoji="1" lang="en-US" altLang="zh-CN" dirty="0" err="1"/>
              <a:t>empty_slot</a:t>
            </a:r>
            <a:r>
              <a:rPr kumimoji="1" lang="zh-CN" altLang="en-US" dirty="0"/>
              <a:t> </a:t>
            </a:r>
            <a:r>
              <a:rPr kumimoji="1" lang="en-US" altLang="zh-CN" dirty="0"/>
              <a:t>==</a:t>
            </a:r>
            <a:r>
              <a:rPr kumimoji="1" lang="zh-CN" altLang="en-US" dirty="0"/>
              <a:t> </a:t>
            </a:r>
            <a:r>
              <a:rPr kumimoji="1" lang="en-US" altLang="zh-CN" dirty="0"/>
              <a:t>0)</a:t>
            </a:r>
          </a:p>
          <a:p>
            <a:pPr lvl="3">
              <a:buNone/>
            </a:pPr>
            <a:r>
              <a:rPr kumimoji="1" lang="en-US" altLang="zh-CN" dirty="0"/>
              <a:t>	        ;   /* do nothing -- no free buffers */</a:t>
            </a:r>
          </a:p>
          <a:p>
            <a:pPr lvl="3">
              <a:buNone/>
            </a:pPr>
            <a:r>
              <a:rPr kumimoji="1" lang="zh-CN" altLang="en-US" dirty="0"/>
              <a:t>       </a:t>
            </a:r>
            <a:r>
              <a:rPr kumimoji="1" lang="en-US" altLang="zh-CN" dirty="0" err="1"/>
              <a:t>empty_slot</a:t>
            </a:r>
            <a:r>
              <a:rPr kumimoji="1" lang="zh-CN" altLang="en-US" dirty="0"/>
              <a:t> </a:t>
            </a:r>
            <a:r>
              <a:rPr kumimoji="1" lang="en-US" altLang="zh-CN" dirty="0"/>
              <a:t>--;</a:t>
            </a:r>
          </a:p>
          <a:p>
            <a:pPr lvl="3">
              <a:buNone/>
            </a:pPr>
            <a:r>
              <a:rPr kumimoji="1" lang="en-US" altLang="zh-CN" dirty="0"/>
              <a:t>	    buffer[</a:t>
            </a:r>
            <a:r>
              <a:rPr kumimoji="1" lang="en-US" altLang="zh-CN" dirty="0" err="1"/>
              <a:t>buffer_write_cnt</a:t>
            </a:r>
            <a:r>
              <a:rPr kumimoji="1" lang="en-US" altLang="zh-CN" dirty="0"/>
              <a:t>] = msg;</a:t>
            </a:r>
          </a:p>
          <a:p>
            <a:pPr lvl="3">
              <a:buNone/>
            </a:pPr>
            <a:r>
              <a:rPr kumimoji="1" lang="en-US" altLang="zh-CN" dirty="0"/>
              <a:t>	    </a:t>
            </a:r>
            <a:r>
              <a:rPr kumimoji="1" lang="en-US" altLang="zh-CN" dirty="0" err="1"/>
              <a:t>buffer_write_cnt</a:t>
            </a:r>
            <a:r>
              <a:rPr kumimoji="1" lang="en-US" altLang="zh-CN" dirty="0"/>
              <a:t> = (</a:t>
            </a:r>
            <a:r>
              <a:rPr kumimoji="1" lang="en-US" altLang="zh-CN" dirty="0" err="1"/>
              <a:t>buffer_write_cnt</a:t>
            </a:r>
            <a:r>
              <a:rPr kumimoji="1" lang="en-US" altLang="zh-CN" dirty="0"/>
              <a:t> + 1) % BUFFER_SIZE;</a:t>
            </a:r>
          </a:p>
          <a:p>
            <a:pPr lvl="3">
              <a:buNone/>
            </a:pPr>
            <a:r>
              <a:rPr kumimoji="1" lang="zh-CN" altLang="en-US" dirty="0"/>
              <a:t>       </a:t>
            </a:r>
            <a:r>
              <a:rPr kumimoji="1" lang="en-US" altLang="zh-CN" dirty="0" err="1"/>
              <a:t>filled_slot</a:t>
            </a:r>
            <a:r>
              <a:rPr kumimoji="1" lang="zh-CN" altLang="en-US" dirty="0"/>
              <a:t> </a:t>
            </a:r>
            <a:r>
              <a:rPr kumimoji="1" lang="en-US" altLang="zh-CN" dirty="0"/>
              <a:t>++;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pPr lvl="3">
              <a:buNone/>
            </a:pPr>
            <a:r>
              <a:rPr kumimoji="1" lang="zh-CN" altLang="en-US" dirty="0"/>
              <a:t>       </a:t>
            </a:r>
            <a:r>
              <a:rPr kumimoji="1" lang="en-US" altLang="zh-CN" dirty="0"/>
              <a:t>…</a:t>
            </a:r>
          </a:p>
          <a:p>
            <a:pPr lvl="3">
              <a:buNone/>
            </a:pPr>
            <a:r>
              <a:rPr kumimoji="1" lang="en-US" altLang="zh-CN" dirty="0"/>
              <a:t>     }</a:t>
            </a:r>
          </a:p>
          <a:p>
            <a:pPr lvl="3">
              <a:buNone/>
            </a:pP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72CC52-460D-FB44-B2EF-5C82DB00BC31}"/>
              </a:ext>
            </a:extLst>
          </p:cNvPr>
          <p:cNvSpPr/>
          <p:nvPr/>
        </p:nvSpPr>
        <p:spPr>
          <a:xfrm>
            <a:off x="2334856" y="2554092"/>
            <a:ext cx="4181360" cy="5598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67AC24-726E-7A4E-BAA2-DE756BE22FF0}"/>
              </a:ext>
            </a:extLst>
          </p:cNvPr>
          <p:cNvSpPr txBox="1"/>
          <p:nvPr/>
        </p:nvSpPr>
        <p:spPr>
          <a:xfrm>
            <a:off x="5364088" y="1647504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当没有空间时，发送者盲等</a:t>
            </a:r>
            <a:endParaRPr kumimoji="1" lang="en-US" altLang="zh-CN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59F354EE-B0D7-3F4B-B99C-F1B6156D0126}"/>
              </a:ext>
            </a:extLst>
          </p:cNvPr>
          <p:cNvCxnSpPr>
            <a:cxnSpLocks/>
            <a:stCxn id="7" idx="1"/>
            <a:endCxn id="6" idx="0"/>
          </p:cNvCxnSpPr>
          <p:nvPr/>
        </p:nvCxnSpPr>
        <p:spPr>
          <a:xfrm flipH="1">
            <a:off x="4425536" y="1832170"/>
            <a:ext cx="938552" cy="721922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D74C04AB-5BD9-204C-A5CD-5E8DCA333BB9}"/>
              </a:ext>
            </a:extLst>
          </p:cNvPr>
          <p:cNvSpPr txBox="1"/>
          <p:nvPr/>
        </p:nvSpPr>
        <p:spPr>
          <a:xfrm>
            <a:off x="6756561" y="3505282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发送者放置消息 </a:t>
            </a:r>
            <a:endParaRPr kumimoji="1" lang="en-US" altLang="zh-CN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7E25EE5-3857-0E4C-ABC3-04963F438C30}"/>
              </a:ext>
            </a:extLst>
          </p:cNvPr>
          <p:cNvSpPr/>
          <p:nvPr/>
        </p:nvSpPr>
        <p:spPr>
          <a:xfrm>
            <a:off x="2334856" y="3577580"/>
            <a:ext cx="3259774" cy="2970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3EA61726-1396-7743-B16A-89A924CDB460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5584799" y="3689948"/>
            <a:ext cx="1171762" cy="31635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62739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基于共享内存的生产者消费者问题实现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基础实现</a:t>
            </a:r>
            <a:r>
              <a:rPr kumimoji="1" lang="en-US" altLang="zh-CN" dirty="0"/>
              <a:t>:</a:t>
            </a:r>
            <a:r>
              <a:rPr kumimoji="1" lang="zh-CN" altLang="en-US" dirty="0"/>
              <a:t> 接收者</a:t>
            </a:r>
            <a:endParaRPr kumimoji="1" lang="en-US" altLang="zh-CN" dirty="0"/>
          </a:p>
          <a:p>
            <a:pPr lvl="3">
              <a:buNone/>
            </a:pPr>
            <a:r>
              <a:rPr kumimoji="1" lang="en-US" altLang="zh-CN" dirty="0"/>
              <a:t>while (</a:t>
            </a:r>
            <a:r>
              <a:rPr kumimoji="1" lang="en-US" altLang="zh-CN" dirty="0" err="1"/>
              <a:t>wait_package</a:t>
            </a:r>
            <a:r>
              <a:rPr kumimoji="1" lang="en-US" altLang="zh-CN" dirty="0"/>
              <a:t>) {</a:t>
            </a:r>
          </a:p>
          <a:p>
            <a:pPr lvl="3">
              <a:buNone/>
            </a:pPr>
            <a:r>
              <a:rPr kumimoji="1" lang="en-US" altLang="zh-CN" dirty="0"/>
              <a:t>          while (</a:t>
            </a:r>
            <a:r>
              <a:rPr kumimoji="1" lang="en-US" altLang="zh-CN" dirty="0" err="1"/>
              <a:t>filled_slot</a:t>
            </a:r>
            <a:r>
              <a:rPr kumimoji="1" lang="zh-CN" altLang="en-US" dirty="0"/>
              <a:t> </a:t>
            </a:r>
            <a:r>
              <a:rPr kumimoji="1" lang="en-US" altLang="zh-CN" dirty="0"/>
              <a:t>==</a:t>
            </a:r>
            <a:r>
              <a:rPr kumimoji="1" lang="zh-CN" altLang="en-US" dirty="0"/>
              <a:t> </a:t>
            </a:r>
            <a:r>
              <a:rPr kumimoji="1" lang="en-US" altLang="zh-CN" dirty="0"/>
              <a:t>0)</a:t>
            </a:r>
          </a:p>
          <a:p>
            <a:pPr lvl="3">
              <a:buNone/>
            </a:pPr>
            <a:r>
              <a:rPr kumimoji="1" lang="en-US" altLang="zh-CN" dirty="0"/>
              <a:t>                 ; // do nothing -- nothing to consume</a:t>
            </a:r>
          </a:p>
          <a:p>
            <a:pPr lvl="3">
              <a:buNone/>
            </a:pPr>
            <a:r>
              <a:rPr kumimoji="1" lang="en-US" altLang="zh-CN" dirty="0"/>
              <a:t>	     </a:t>
            </a:r>
            <a:r>
              <a:rPr kumimoji="1" lang="en-US" altLang="zh-CN" dirty="0" err="1"/>
              <a:t>filled_slot</a:t>
            </a:r>
            <a:r>
              <a:rPr kumimoji="1" lang="en-US" altLang="zh-CN" dirty="0"/>
              <a:t>--;</a:t>
            </a:r>
            <a:r>
              <a:rPr kumimoji="1" lang="zh-CN" altLang="en-US" dirty="0"/>
              <a:t> </a:t>
            </a:r>
            <a:r>
              <a:rPr kumimoji="1" lang="en-US" altLang="zh-CN" dirty="0"/>
              <a:t>// remove an item from the buffer</a:t>
            </a:r>
          </a:p>
          <a:p>
            <a:pPr lvl="3">
              <a:buNone/>
            </a:pPr>
            <a:r>
              <a:rPr kumimoji="1" lang="en-US" altLang="zh-CN" dirty="0"/>
              <a:t>	     item = buffer[</a:t>
            </a:r>
            <a:r>
              <a:rPr kumimoji="1" lang="en-US" altLang="zh-CN" dirty="0" err="1"/>
              <a:t>buffer_read_cnt</a:t>
            </a:r>
            <a:r>
              <a:rPr kumimoji="1" lang="en-US" altLang="zh-CN" dirty="0"/>
              <a:t>];</a:t>
            </a:r>
          </a:p>
          <a:p>
            <a:pPr lvl="3">
              <a:buNone/>
            </a:pPr>
            <a:r>
              <a:rPr kumimoji="1" lang="en-US" altLang="zh-CN" dirty="0"/>
              <a:t>	     </a:t>
            </a:r>
            <a:r>
              <a:rPr kumimoji="1" lang="en-US" altLang="zh-CN" dirty="0" err="1"/>
              <a:t>buffer_read_cnt</a:t>
            </a:r>
            <a:r>
              <a:rPr kumimoji="1" lang="en-US" altLang="zh-CN" dirty="0"/>
              <a:t> = (</a:t>
            </a:r>
            <a:r>
              <a:rPr kumimoji="1" lang="en-US" altLang="zh-CN" dirty="0" err="1"/>
              <a:t>buffer_read_cnt</a:t>
            </a:r>
            <a:r>
              <a:rPr kumimoji="1" lang="en-US" altLang="zh-CN" dirty="0"/>
              <a:t> + 1) % BUFFER SIZE;</a:t>
            </a:r>
          </a:p>
          <a:p>
            <a:pPr lvl="3">
              <a:buNone/>
            </a:pPr>
            <a:r>
              <a:rPr kumimoji="1" lang="zh-CN" altLang="en-US" dirty="0"/>
              <a:t>         </a:t>
            </a:r>
            <a:r>
              <a:rPr kumimoji="1" lang="en-US" altLang="zh-CN" dirty="0" err="1"/>
              <a:t>empty_slot</a:t>
            </a:r>
            <a:r>
              <a:rPr kumimoji="1" lang="en-US" altLang="zh-CN" dirty="0"/>
              <a:t>++;</a:t>
            </a:r>
          </a:p>
          <a:p>
            <a:pPr lvl="3">
              <a:buNone/>
            </a:pPr>
            <a:r>
              <a:rPr kumimoji="1" lang="en-US" altLang="zh-CN" dirty="0"/>
              <a:t>	     return item;</a:t>
            </a:r>
          </a:p>
          <a:p>
            <a:pPr lvl="3">
              <a:buNone/>
            </a:pPr>
            <a:r>
              <a:rPr kumimoji="1" lang="en-US" altLang="zh-CN" dirty="0"/>
              <a:t>     }</a:t>
            </a:r>
          </a:p>
          <a:p>
            <a:pPr lvl="3">
              <a:buNone/>
            </a:pP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CB67AC-28B4-894D-B1B1-C14ED8412112}"/>
              </a:ext>
            </a:extLst>
          </p:cNvPr>
          <p:cNvSpPr/>
          <p:nvPr/>
        </p:nvSpPr>
        <p:spPr>
          <a:xfrm>
            <a:off x="2481320" y="2244131"/>
            <a:ext cx="4181360" cy="75738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DA1677D-7417-834D-A5B6-1292721243FC}"/>
              </a:ext>
            </a:extLst>
          </p:cNvPr>
          <p:cNvSpPr txBox="1"/>
          <p:nvPr/>
        </p:nvSpPr>
        <p:spPr>
          <a:xfrm>
            <a:off x="5039648" y="1329943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当没有新消息时，接收者盲目等待</a:t>
            </a:r>
            <a:endParaRPr kumimoji="1" lang="en-US" altLang="zh-CN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5B92E0A4-DAAF-B841-BF95-1FE30D83C19E}"/>
              </a:ext>
            </a:extLst>
          </p:cNvPr>
          <p:cNvCxnSpPr>
            <a:cxnSpLocks/>
            <a:stCxn id="7" idx="1"/>
            <a:endCxn id="6" idx="0"/>
          </p:cNvCxnSpPr>
          <p:nvPr/>
        </p:nvCxnSpPr>
        <p:spPr>
          <a:xfrm flipH="1">
            <a:off x="4572000" y="1514609"/>
            <a:ext cx="467648" cy="729522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902A4091-E042-8144-8BF8-0EB736FF0D14}"/>
              </a:ext>
            </a:extLst>
          </p:cNvPr>
          <p:cNvSpPr txBox="1"/>
          <p:nvPr/>
        </p:nvSpPr>
        <p:spPr>
          <a:xfrm>
            <a:off x="6641835" y="3339054"/>
            <a:ext cx="1864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接收者获取消息 </a:t>
            </a:r>
            <a:endParaRPr kumimoji="1" lang="en-US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084F162-DC84-0345-93E7-B7EFA65342DC}"/>
              </a:ext>
            </a:extLst>
          </p:cNvPr>
          <p:cNvSpPr/>
          <p:nvPr/>
        </p:nvSpPr>
        <p:spPr>
          <a:xfrm>
            <a:off x="2411759" y="3345905"/>
            <a:ext cx="3138263" cy="4416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EBD3E06A-DFA6-2D41-BD82-B367E9490F0D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5550022" y="3523720"/>
            <a:ext cx="1091813" cy="22652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4825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共享内存的问题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缺少通知机制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若轮询检查，则导致</a:t>
            </a:r>
            <a:r>
              <a:rPr kumimoji="1" lang="en-US" altLang="zh-CN" dirty="0"/>
              <a:t>CPU</a:t>
            </a:r>
            <a:r>
              <a:rPr kumimoji="1" lang="zh-CN" altLang="en-US" dirty="0"/>
              <a:t>资源浪费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若周期性检查，则可能导致较长的等待时延</a:t>
            </a:r>
            <a:endParaRPr kumimoji="1" lang="en-US" altLang="zh-CN" dirty="0"/>
          </a:p>
          <a:p>
            <a:pPr lvl="1"/>
            <a:r>
              <a:rPr kumimoji="1" lang="zh-CN" altLang="en-US" b="1" dirty="0"/>
              <a:t>根本原因：</a:t>
            </a:r>
            <a:r>
              <a:rPr kumimoji="1" lang="zh-CN" altLang="en-US" dirty="0"/>
              <a:t>共享内存的抽象过于底层；缺少</a:t>
            </a:r>
            <a:r>
              <a:rPr kumimoji="1" lang="en-US" altLang="zh-CN" dirty="0"/>
              <a:t>OS</a:t>
            </a:r>
            <a:r>
              <a:rPr kumimoji="1" lang="zh-CN" altLang="en-US" dirty="0"/>
              <a:t>更多支持</a:t>
            </a:r>
            <a:endParaRPr kumimoji="1" lang="en-US" altLang="zh-CN" dirty="0"/>
          </a:p>
          <a:p>
            <a:r>
              <a:rPr kumimoji="1" lang="en-US" altLang="zh-CN" dirty="0"/>
              <a:t>TOCTTOU</a:t>
            </a:r>
            <a:r>
              <a:rPr kumimoji="1" lang="zh-CN" altLang="en-US" dirty="0"/>
              <a:t> （</a:t>
            </a:r>
            <a:r>
              <a:rPr kumimoji="1" lang="en-US" altLang="zh-CN" dirty="0"/>
              <a:t>Time-of-check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Time-of-use</a:t>
            </a:r>
            <a:r>
              <a:rPr kumimoji="1" lang="zh-CN" altLang="en-US" dirty="0"/>
              <a:t>）问题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当接收者直接用共享内存上的数据时，可能存在被发送者恶意篡改的情况（发生在接收者检查完数据之后，使用数据之前）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这可能导致</a:t>
            </a:r>
            <a:r>
              <a:rPr kumimoji="1" lang="en-US" altLang="zh-CN" dirty="0"/>
              <a:t>buffer</a:t>
            </a:r>
            <a:r>
              <a:rPr kumimoji="1" lang="zh-CN" altLang="en-US" dirty="0"/>
              <a:t> </a:t>
            </a:r>
            <a:r>
              <a:rPr kumimoji="1" lang="en-US" altLang="zh-CN" dirty="0"/>
              <a:t>overflow</a:t>
            </a:r>
            <a:r>
              <a:rPr kumimoji="1" lang="zh-CN" altLang="en-US" dirty="0"/>
              <a:t>等问题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60151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消息传递（</a:t>
            </a:r>
            <a:r>
              <a:rPr kumimoji="1" lang="en-US" altLang="zh-CN" dirty="0"/>
              <a:t>Message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Passing</a:t>
            </a:r>
            <a:r>
              <a:rPr kumimoji="1" lang="zh-CN" altLang="en-US" dirty="0"/>
              <a:t>）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86771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154861-FD70-2B42-B101-96230FB99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CN" dirty="0"/>
              <a:t>消息</a:t>
            </a:r>
            <a:r>
              <a:rPr kumimoji="1" lang="zh-CN" altLang="en-US" dirty="0"/>
              <a:t>队列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36F44C-A3B0-3A4E-9145-338C415FF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一种消息传递机制</a:t>
            </a:r>
            <a:endParaRPr kumimoji="1" lang="en-US" altLang="zh-CN" dirty="0"/>
          </a:p>
          <a:p>
            <a:r>
              <a:rPr kumimoji="1" lang="zh-CN" altLang="en-US" dirty="0"/>
              <a:t>设计选择：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间接通信方式，信箱为内核中维护的消息队列结构体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有（有限的）缓存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没有超时机制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支持多个（大于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）的参与者进行通信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通常是非阻塞的（不考虑如内核缓存区满等异常情况）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04572B-E1C7-3D49-86F0-E20258A81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DF6D54-FE07-CC45-B8BA-B27A5D892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23496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消息队列</a:t>
            </a:r>
            <a:r>
              <a:rPr kumimoji="1" lang="en-US" altLang="zh-CN" dirty="0"/>
              <a:t>:</a:t>
            </a:r>
            <a:r>
              <a:rPr kumimoji="1" lang="zh-CN" altLang="en-US" dirty="0"/>
              <a:t> 带类型的消息传递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180183"/>
          </a:xfrm>
        </p:spPr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消息队列</a:t>
            </a:r>
            <a:r>
              <a:rPr kumimoji="1" lang="en-US" altLang="zh-CN" dirty="0"/>
              <a:t>:</a:t>
            </a:r>
            <a:r>
              <a:rPr kumimoji="1" lang="zh-CN" altLang="en-US" dirty="0"/>
              <a:t> 以链表的方式组织消息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任何有权限的进程都可以访问队列，写入或者读取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支持异步通信 </a:t>
            </a:r>
            <a:r>
              <a:rPr kumimoji="1" lang="en-US" altLang="zh-CN" dirty="0"/>
              <a:t>(</a:t>
            </a:r>
            <a:r>
              <a:rPr kumimoji="1" lang="zh-CN" altLang="en-US" dirty="0"/>
              <a:t>非阻塞</a:t>
            </a:r>
            <a:r>
              <a:rPr kumimoji="1" lang="en-US" altLang="zh-CN" dirty="0"/>
              <a:t>)</a:t>
            </a:r>
          </a:p>
          <a:p>
            <a:r>
              <a:rPr kumimoji="1" lang="zh-CN" altLang="en-US" dirty="0"/>
              <a:t>消息的格式</a:t>
            </a:r>
            <a:r>
              <a:rPr kumimoji="1" lang="en-US" altLang="zh-CN" dirty="0"/>
              <a:t>:</a:t>
            </a:r>
            <a:r>
              <a:rPr kumimoji="1" lang="zh-CN" altLang="en-US" dirty="0"/>
              <a:t> 类型 </a:t>
            </a:r>
            <a:r>
              <a:rPr kumimoji="1" lang="en-US" altLang="zh-CN" dirty="0"/>
              <a:t>+</a:t>
            </a:r>
            <a:r>
              <a:rPr kumimoji="1" lang="zh-CN" altLang="en-US" dirty="0"/>
              <a:t> 数据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类型：由一个整型表示，具体的意义由用户决定</a:t>
            </a:r>
            <a:endParaRPr kumimoji="1" lang="en-US" altLang="zh-CN" dirty="0"/>
          </a:p>
          <a:p>
            <a:r>
              <a:rPr kumimoji="1" lang="zh-CN" altLang="en-US" dirty="0"/>
              <a:t>消息队列是间接消息传递方式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通过共享一个队列来建立连接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5E66142-933E-B841-9748-0FA84AB13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3506269"/>
            <a:ext cx="3962400" cy="1559119"/>
          </a:xfrm>
          <a:prstGeom prst="rect">
            <a:avLst/>
          </a:prstGeom>
        </p:spPr>
      </p:pic>
      <p:sp>
        <p:nvSpPr>
          <p:cNvPr id="7" name="圆角矩形 6">
            <a:extLst>
              <a:ext uri="{FF2B5EF4-FFF2-40B4-BE49-F238E27FC236}">
                <a16:creationId xmlns:a16="http://schemas.microsoft.com/office/drawing/2014/main" id="{C25EB64A-EEEC-F747-80DA-ECE9398925B5}"/>
              </a:ext>
            </a:extLst>
          </p:cNvPr>
          <p:cNvSpPr/>
          <p:nvPr/>
        </p:nvSpPr>
        <p:spPr>
          <a:xfrm>
            <a:off x="7236296" y="337220"/>
            <a:ext cx="1728192" cy="18722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 err="1"/>
              <a:t>Ftok</a:t>
            </a:r>
            <a:r>
              <a:rPr lang="en-US" altLang="zh-CN" sz="2000" b="1" dirty="0"/>
              <a:t>();</a:t>
            </a:r>
            <a:endParaRPr kumimoji="1" lang="en-US" altLang="zh-CN" sz="2000" b="1" dirty="0"/>
          </a:p>
          <a:p>
            <a:r>
              <a:rPr kumimoji="1" lang="en-US" altLang="zh-CN" sz="2000" b="1" dirty="0" err="1"/>
              <a:t>Msgget</a:t>
            </a:r>
            <a:r>
              <a:rPr kumimoji="1" lang="en-US" altLang="zh-CN" sz="2000" b="1" dirty="0"/>
              <a:t>();</a:t>
            </a:r>
          </a:p>
          <a:p>
            <a:r>
              <a:rPr kumimoji="1" lang="en-US" altLang="zh-CN" sz="2000" b="1" dirty="0" err="1"/>
              <a:t>Msgsnd</a:t>
            </a:r>
            <a:r>
              <a:rPr kumimoji="1" lang="en-US" altLang="zh-CN" sz="2000" b="1" dirty="0"/>
              <a:t>();</a:t>
            </a:r>
          </a:p>
          <a:p>
            <a:r>
              <a:rPr lang="en-US" altLang="zh-CN" sz="2000" b="1" dirty="0" err="1"/>
              <a:t>Msgrcv</a:t>
            </a:r>
            <a:r>
              <a:rPr lang="en-US" altLang="zh-CN" sz="2000" b="1" dirty="0"/>
              <a:t>();</a:t>
            </a:r>
          </a:p>
          <a:p>
            <a:r>
              <a:rPr lang="en-US" altLang="zh-CN" sz="2000" b="1" dirty="0" err="1"/>
              <a:t>Msgctl</a:t>
            </a:r>
            <a:r>
              <a:rPr lang="en-US" altLang="zh-CN" sz="2000" b="1" dirty="0"/>
              <a:t>();</a:t>
            </a:r>
            <a:endParaRPr kumimoji="1"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7997316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393B57-2A0E-FF4D-B905-DF3B8CCF6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消息队列的例子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54255B-79EE-C442-B34F-BB07303F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D6505B-E43A-4A42-A21C-A541EC6340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E022B5F-83CC-C24E-BDE5-BAEF1C06F17A}"/>
              </a:ext>
            </a:extLst>
          </p:cNvPr>
          <p:cNvSpPr/>
          <p:nvPr/>
        </p:nvSpPr>
        <p:spPr>
          <a:xfrm>
            <a:off x="251520" y="1807342"/>
            <a:ext cx="4104456" cy="2809636"/>
          </a:xfrm>
          <a:prstGeom prst="roundRect">
            <a:avLst>
              <a:gd name="adj" fmla="val 545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 =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ftok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("./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msgque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 11); 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msgid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msgget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(key, 0666 |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IPC_CREAT); 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message.mesg_type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1; 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msgsnd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msgid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&amp;message,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(message), 0); 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063AE72-46E1-754F-90C6-3489D0CD7B9C}"/>
              </a:ext>
            </a:extLst>
          </p:cNvPr>
          <p:cNvSpPr/>
          <p:nvPr/>
        </p:nvSpPr>
        <p:spPr>
          <a:xfrm>
            <a:off x="4716016" y="1807342"/>
            <a:ext cx="4258815" cy="2820396"/>
          </a:xfrm>
          <a:prstGeom prst="roundRect">
            <a:avLst>
              <a:gd name="adj" fmla="val 514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 =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ftok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("./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msgque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 11); 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msgid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msgget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(key, 0666 |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IPC_CREAT); 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msgrcv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msgid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&amp;message, 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sizeof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(message), 1, 0); 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msgctl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msgid</a:t>
            </a:r>
            <a:r>
              <a:rPr lang="en-US" altLang="zh-CN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IPC_RMID, NULL);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1E0154-BA90-984C-85CB-3F087A46D3FF}"/>
              </a:ext>
            </a:extLst>
          </p:cNvPr>
          <p:cNvSpPr txBox="1"/>
          <p:nvPr/>
        </p:nvSpPr>
        <p:spPr>
          <a:xfrm>
            <a:off x="1686509" y="1283659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发送者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2013B6-3CBF-4044-992C-75D137F331A7}"/>
              </a:ext>
            </a:extLst>
          </p:cNvPr>
          <p:cNvSpPr txBox="1"/>
          <p:nvPr/>
        </p:nvSpPr>
        <p:spPr>
          <a:xfrm>
            <a:off x="6233355" y="1288064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接收者</a:t>
            </a:r>
          </a:p>
        </p:txBody>
      </p:sp>
    </p:spTree>
    <p:extLst>
      <p:ext uri="{BB962C8B-B14F-4D97-AF65-F5344CB8AC3E}">
        <p14:creationId xmlns:p14="http://schemas.microsoft.com/office/powerpoint/2010/main" val="13323780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消息队列：带类型的消息传递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540223"/>
          </a:xfrm>
        </p:spPr>
        <p:txBody>
          <a:bodyPr>
            <a:normAutofit lnSpcReduction="10000"/>
          </a:bodyPr>
          <a:lstStyle/>
          <a:p>
            <a:r>
              <a:rPr kumimoji="1" lang="zh-CN" altLang="en-US" dirty="0"/>
              <a:t>消息队列的组织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基本遵循</a:t>
            </a:r>
            <a:r>
              <a:rPr kumimoji="1" lang="en-US" altLang="zh-CN" dirty="0"/>
              <a:t>FIFO</a:t>
            </a:r>
            <a:r>
              <a:rPr kumimoji="1" lang="zh-CN" altLang="en-US" dirty="0"/>
              <a:t> </a:t>
            </a:r>
            <a:r>
              <a:rPr kumimoji="1" lang="en-US" altLang="zh-CN" dirty="0"/>
              <a:t>(First-In-First-Out</a:t>
            </a:r>
            <a:r>
              <a:rPr kumimoji="1" lang="zh-CN" altLang="en-US" dirty="0"/>
              <a:t>）先进先出原则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消息队列的写入：增加在队列尾部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消息队列的读取：默认从队首获取消息</a:t>
            </a:r>
            <a:endParaRPr kumimoji="1" lang="en-US" altLang="zh-CN" dirty="0"/>
          </a:p>
          <a:p>
            <a:r>
              <a:rPr kumimoji="1" lang="zh-CN" altLang="en-US" dirty="0"/>
              <a:t>允许按照类型查询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Recv</a:t>
            </a:r>
            <a:r>
              <a:rPr kumimoji="1" lang="en-US" altLang="zh-CN" dirty="0"/>
              <a:t>(A,</a:t>
            </a:r>
            <a:r>
              <a:rPr kumimoji="1" lang="zh-CN" altLang="en-US" dirty="0"/>
              <a:t> </a:t>
            </a:r>
            <a:r>
              <a:rPr kumimoji="1" lang="en-US" altLang="zh-CN" dirty="0">
                <a:solidFill>
                  <a:schemeClr val="accent1"/>
                </a:solidFill>
              </a:rPr>
              <a:t>type</a:t>
            </a:r>
            <a:r>
              <a:rPr kumimoji="1" lang="en-US" altLang="zh-CN" dirty="0"/>
              <a:t>,</a:t>
            </a:r>
            <a:r>
              <a:rPr kumimoji="1" lang="zh-CN" altLang="en-US" dirty="0"/>
              <a:t> </a:t>
            </a:r>
            <a:r>
              <a:rPr kumimoji="1" lang="en-US" altLang="zh-CN" dirty="0"/>
              <a:t>message)</a:t>
            </a:r>
          </a:p>
          <a:p>
            <a:pPr lvl="1"/>
            <a:r>
              <a:rPr kumimoji="1" lang="zh-CN" altLang="en-US" dirty="0"/>
              <a:t>类型为</a:t>
            </a:r>
            <a:r>
              <a:rPr kumimoji="1" lang="en-US" altLang="zh-CN" dirty="0"/>
              <a:t>0</a:t>
            </a:r>
            <a:r>
              <a:rPr kumimoji="1" lang="zh-CN" altLang="en-US" dirty="0"/>
              <a:t>时返回第一个消息 </a:t>
            </a:r>
            <a:r>
              <a:rPr kumimoji="1" lang="en-US" altLang="zh-CN" dirty="0"/>
              <a:t>(FIFO)</a:t>
            </a:r>
          </a:p>
          <a:p>
            <a:pPr lvl="1"/>
            <a:r>
              <a:rPr kumimoji="1" lang="zh-CN" altLang="en-US" dirty="0"/>
              <a:t>类型有值时按照类型查询消息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如</a:t>
            </a:r>
            <a:r>
              <a:rPr kumimoji="1" lang="en-US" altLang="zh-CN" dirty="0"/>
              <a:t>type</a:t>
            </a:r>
            <a:r>
              <a:rPr kumimoji="1" lang="zh-CN" altLang="en-US" dirty="0"/>
              <a:t>为正数，则返回第一个类型为</a:t>
            </a:r>
            <a:r>
              <a:rPr kumimoji="1" lang="en-US" altLang="zh-CN" dirty="0"/>
              <a:t>type</a:t>
            </a:r>
            <a:r>
              <a:rPr kumimoji="1" lang="zh-CN" altLang="en-US" dirty="0"/>
              <a:t>的消息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2404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轻量级远程方法调用 </a:t>
            </a:r>
            <a:r>
              <a:rPr kumimoji="1" lang="en-US" altLang="zh-CN" dirty="0"/>
              <a:t>(LRPC)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Lightweight</a:t>
            </a:r>
            <a:r>
              <a:rPr kumimoji="1" lang="zh-CN" altLang="en-US" dirty="0"/>
              <a:t> </a:t>
            </a:r>
            <a:r>
              <a:rPr kumimoji="1" lang="en-US" altLang="zh-CN" dirty="0"/>
              <a:t>Remote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Procedure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(LRPC)</a:t>
            </a:r>
            <a:r>
              <a:rPr kumimoji="1" lang="zh-CN" altLang="en-US" dirty="0"/>
              <a:t> 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3694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IPC</a:t>
            </a:r>
            <a:r>
              <a:rPr kumimoji="1" lang="zh-CN" altLang="en-US" dirty="0"/>
              <a:t>通常会带来较大的性能损失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340"/>
            <a:ext cx="8229600" cy="387962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传统的进程间通信机制通常会结合以下机制：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通知：告诉目标进程事件的发生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调度：修改进程的运行状态以及系统的调度队列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传输：传输一个消息的数据过去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缺少一个轻量的远程调用机制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客户端进程切换到服务端进程，执行特定的函数 </a:t>
            </a:r>
            <a:r>
              <a:rPr kumimoji="1" lang="en-US" altLang="zh-CN" dirty="0"/>
              <a:t>(Handler)</a:t>
            </a:r>
          </a:p>
          <a:p>
            <a:pPr lvl="1"/>
            <a:r>
              <a:rPr kumimoji="1" lang="zh-CN" altLang="en-US" dirty="0"/>
              <a:t>参数的传递和结果的返回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48368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轻量级远程调用 </a:t>
            </a:r>
            <a:r>
              <a:rPr kumimoji="1" lang="en-US" altLang="zh-CN" dirty="0"/>
              <a:t>(LRPC)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Lightweight</a:t>
            </a:r>
            <a:r>
              <a:rPr kumimoji="1" lang="zh-CN" altLang="en-US" dirty="0"/>
              <a:t> </a:t>
            </a:r>
            <a:r>
              <a:rPr kumimoji="1" lang="en-US" altLang="zh-CN" dirty="0"/>
              <a:t>Remote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Procedure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Call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(LRPC)</a:t>
            </a:r>
            <a:r>
              <a:rPr kumimoji="1" lang="zh-CN" altLang="en-US" dirty="0"/>
              <a:t> </a:t>
            </a:r>
            <a:endParaRPr kumimoji="1" lang="en-US" altLang="zh-CN" dirty="0"/>
          </a:p>
          <a:p>
            <a:r>
              <a:rPr kumimoji="1" lang="zh-CN" altLang="en-US" dirty="0"/>
              <a:t>解决两个主要问题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控制流转换</a:t>
            </a:r>
            <a:r>
              <a:rPr kumimoji="1" lang="en-US" altLang="zh-CN" dirty="0"/>
              <a:t>:</a:t>
            </a:r>
            <a:r>
              <a:rPr kumimoji="1" lang="zh-CN" altLang="en-US" dirty="0"/>
              <a:t> </a:t>
            </a:r>
            <a:r>
              <a:rPr kumimoji="1" lang="en-US" altLang="zh-CN" dirty="0"/>
              <a:t>Client</a:t>
            </a:r>
            <a:r>
              <a:rPr kumimoji="1" lang="zh-CN" altLang="en-US" dirty="0"/>
              <a:t>进程快速通知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数据传输</a:t>
            </a:r>
            <a:r>
              <a:rPr kumimoji="1" lang="en-US" altLang="zh-CN" dirty="0"/>
              <a:t>:</a:t>
            </a:r>
            <a:r>
              <a:rPr kumimoji="1" lang="zh-CN" altLang="en-US" dirty="0"/>
              <a:t> 将栈和寄存器参数传递给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进程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DC2250FF-027C-5F45-B464-3FA3A75ACB8C}"/>
              </a:ext>
            </a:extLst>
          </p:cNvPr>
          <p:cNvSpPr/>
          <p:nvPr/>
        </p:nvSpPr>
        <p:spPr>
          <a:xfrm>
            <a:off x="2915816" y="4162454"/>
            <a:ext cx="2996737" cy="99930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b" anchorCtr="0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内核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33611D95-DCC0-C243-AF43-856E7B6C9858}"/>
              </a:ext>
            </a:extLst>
          </p:cNvPr>
          <p:cNvSpPr/>
          <p:nvPr/>
        </p:nvSpPr>
        <p:spPr>
          <a:xfrm>
            <a:off x="2915816" y="3461806"/>
            <a:ext cx="1270239" cy="547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Client</a:t>
            </a:r>
            <a:r>
              <a:rPr kumimoji="1" lang="zh-CN" altLang="en-US" sz="1600" dirty="0"/>
              <a:t> 进程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FFAE270E-B02B-CB44-AC7C-D50B3C077186}"/>
              </a:ext>
            </a:extLst>
          </p:cNvPr>
          <p:cNvSpPr/>
          <p:nvPr/>
        </p:nvSpPr>
        <p:spPr>
          <a:xfrm>
            <a:off x="5145765" y="4405959"/>
            <a:ext cx="263342" cy="1768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EBD82B40-F150-634F-AB01-A44CF6719B03}"/>
              </a:ext>
            </a:extLst>
          </p:cNvPr>
          <p:cNvSpPr/>
          <p:nvPr/>
        </p:nvSpPr>
        <p:spPr>
          <a:xfrm>
            <a:off x="3419264" y="4405960"/>
            <a:ext cx="263342" cy="1768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3000389E-46BC-8A4C-B08B-EED99D645131}"/>
              </a:ext>
            </a:extLst>
          </p:cNvPr>
          <p:cNvSpPr/>
          <p:nvPr/>
        </p:nvSpPr>
        <p:spPr>
          <a:xfrm>
            <a:off x="4642316" y="3470448"/>
            <a:ext cx="1270239" cy="547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dirty="0"/>
              <a:t>Server</a:t>
            </a:r>
            <a:r>
              <a:rPr kumimoji="1" lang="zh-CN" altLang="en-US" sz="1600" dirty="0"/>
              <a:t> 进程</a:t>
            </a:r>
          </a:p>
        </p:txBody>
      </p:sp>
      <p:cxnSp>
        <p:nvCxnSpPr>
          <p:cNvPr id="83" name="直线箭头连接符 82">
            <a:extLst>
              <a:ext uri="{FF2B5EF4-FFF2-40B4-BE49-F238E27FC236}">
                <a16:creationId xmlns:a16="http://schemas.microsoft.com/office/drawing/2014/main" id="{8A256BAA-38BB-F947-B969-7A4EAD545306}"/>
              </a:ext>
            </a:extLst>
          </p:cNvPr>
          <p:cNvCxnSpPr>
            <a:cxnSpLocks/>
            <a:stCxn id="79" idx="2"/>
            <a:endCxn id="81" idx="0"/>
          </p:cNvCxnSpPr>
          <p:nvPr/>
        </p:nvCxnSpPr>
        <p:spPr>
          <a:xfrm flipH="1">
            <a:off x="3550935" y="4009796"/>
            <a:ext cx="1" cy="396164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箭头连接符 83">
            <a:extLst>
              <a:ext uri="{FF2B5EF4-FFF2-40B4-BE49-F238E27FC236}">
                <a16:creationId xmlns:a16="http://schemas.microsoft.com/office/drawing/2014/main" id="{D283A515-75B0-5642-9FC7-A6A1A61FA88E}"/>
              </a:ext>
            </a:extLst>
          </p:cNvPr>
          <p:cNvCxnSpPr>
            <a:cxnSpLocks/>
            <a:stCxn id="87" idx="3"/>
            <a:endCxn id="80" idx="1"/>
          </p:cNvCxnSpPr>
          <p:nvPr/>
        </p:nvCxnSpPr>
        <p:spPr>
          <a:xfrm>
            <a:off x="5006038" y="4494361"/>
            <a:ext cx="139727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67785673-7DB8-7A4D-A5F9-2AA7FDDD676D}"/>
              </a:ext>
            </a:extLst>
          </p:cNvPr>
          <p:cNvCxnSpPr>
            <a:cxnSpLocks/>
            <a:stCxn id="80" idx="0"/>
            <a:endCxn id="82" idx="2"/>
          </p:cNvCxnSpPr>
          <p:nvPr/>
        </p:nvCxnSpPr>
        <p:spPr>
          <a:xfrm flipV="1">
            <a:off x="5277436" y="4018438"/>
            <a:ext cx="0" cy="387521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 85">
            <a:extLst>
              <a:ext uri="{FF2B5EF4-FFF2-40B4-BE49-F238E27FC236}">
                <a16:creationId xmlns:a16="http://schemas.microsoft.com/office/drawing/2014/main" id="{6D3D6FF6-E850-7546-878A-5FDB91EC0731}"/>
              </a:ext>
            </a:extLst>
          </p:cNvPr>
          <p:cNvSpPr/>
          <p:nvPr/>
        </p:nvSpPr>
        <p:spPr>
          <a:xfrm>
            <a:off x="3948618" y="4403600"/>
            <a:ext cx="450538" cy="181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F0459D7C-BDC5-0342-9E9D-F9248CD2B4A3}"/>
              </a:ext>
            </a:extLst>
          </p:cNvPr>
          <p:cNvSpPr/>
          <p:nvPr/>
        </p:nvSpPr>
        <p:spPr>
          <a:xfrm>
            <a:off x="4579736" y="4405959"/>
            <a:ext cx="426302" cy="17680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36E17071-2E07-B34A-82DD-473D1C9CB13A}"/>
              </a:ext>
            </a:extLst>
          </p:cNvPr>
          <p:cNvCxnSpPr>
            <a:cxnSpLocks/>
            <a:stCxn id="86" idx="3"/>
            <a:endCxn id="87" idx="1"/>
          </p:cNvCxnSpPr>
          <p:nvPr/>
        </p:nvCxnSpPr>
        <p:spPr>
          <a:xfrm flipV="1">
            <a:off x="4399156" y="4494361"/>
            <a:ext cx="180580" cy="1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1B2F4CD3-277A-6E48-99F3-79A29310D86C}"/>
              </a:ext>
            </a:extLst>
          </p:cNvPr>
          <p:cNvCxnSpPr>
            <a:cxnSpLocks/>
            <a:stCxn id="81" idx="3"/>
            <a:endCxn id="86" idx="1"/>
          </p:cNvCxnSpPr>
          <p:nvPr/>
        </p:nvCxnSpPr>
        <p:spPr>
          <a:xfrm>
            <a:off x="3682606" y="4494362"/>
            <a:ext cx="266012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9827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控制流转换</a:t>
            </a:r>
            <a:r>
              <a:rPr kumimoji="1" lang="en-US" altLang="zh-CN" dirty="0"/>
              <a:t>:</a:t>
            </a:r>
            <a:r>
              <a:rPr kumimoji="1" lang="zh-CN" altLang="en-US" dirty="0"/>
              <a:t> 调度导致不确定时延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控制流转换需要下陷到内核</a:t>
            </a:r>
            <a:endParaRPr kumimoji="1" lang="en-US" altLang="zh-CN" dirty="0"/>
          </a:p>
          <a:p>
            <a:r>
              <a:rPr kumimoji="1" lang="zh-CN" altLang="en-US" dirty="0"/>
              <a:t>内核系统为了保证公平，会在内核中根据情况进行调度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Client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之间可能会执行多个不相关进程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550657-E364-5445-B88C-9178923860A9}"/>
              </a:ext>
            </a:extLst>
          </p:cNvPr>
          <p:cNvSpPr/>
          <p:nvPr/>
        </p:nvSpPr>
        <p:spPr>
          <a:xfrm>
            <a:off x="4913969" y="3137795"/>
            <a:ext cx="950748" cy="5479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内核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9219A9-A373-6D4E-9B39-58082F34584D}"/>
              </a:ext>
            </a:extLst>
          </p:cNvPr>
          <p:cNvSpPr/>
          <p:nvPr/>
        </p:nvSpPr>
        <p:spPr>
          <a:xfrm>
            <a:off x="2731982" y="3140039"/>
            <a:ext cx="1270239" cy="547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Client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929FCBA-698D-7747-92B1-8ABECC037011}"/>
              </a:ext>
            </a:extLst>
          </p:cNvPr>
          <p:cNvSpPr/>
          <p:nvPr/>
        </p:nvSpPr>
        <p:spPr>
          <a:xfrm>
            <a:off x="6732240" y="3137795"/>
            <a:ext cx="1270239" cy="547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Server</a:t>
            </a:r>
            <a:endParaRPr kumimoji="1" lang="zh-CN" altLang="en-US" dirty="0"/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DB3D9046-A819-134D-8073-CC28368E9A01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 flipV="1">
            <a:off x="4002221" y="3411790"/>
            <a:ext cx="911748" cy="2244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FD3F0FFA-C9FA-0044-8C37-0405F28B01DE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5864717" y="3411790"/>
            <a:ext cx="867523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B135D9A3-1C99-384C-A519-C91E25492052}"/>
              </a:ext>
            </a:extLst>
          </p:cNvPr>
          <p:cNvSpPr txBox="1"/>
          <p:nvPr/>
        </p:nvSpPr>
        <p:spPr>
          <a:xfrm>
            <a:off x="192595" y="3227124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用户期望的控制流转换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A9CD0CD-8B35-3146-8058-6797B0BF8486}"/>
              </a:ext>
            </a:extLst>
          </p:cNvPr>
          <p:cNvSpPr txBox="1"/>
          <p:nvPr/>
        </p:nvSpPr>
        <p:spPr>
          <a:xfrm>
            <a:off x="186352" y="447385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实际的控制流转换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0C27595-8AB2-0D49-B213-F43DBA2859C3}"/>
              </a:ext>
            </a:extLst>
          </p:cNvPr>
          <p:cNvSpPr/>
          <p:nvPr/>
        </p:nvSpPr>
        <p:spPr>
          <a:xfrm>
            <a:off x="4262434" y="4294072"/>
            <a:ext cx="670535" cy="5479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内核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558BB48-0CBD-6D4E-A2D4-9885BDA0DCAF}"/>
              </a:ext>
            </a:extLst>
          </p:cNvPr>
          <p:cNvSpPr/>
          <p:nvPr/>
        </p:nvSpPr>
        <p:spPr>
          <a:xfrm>
            <a:off x="2727590" y="4294072"/>
            <a:ext cx="1270239" cy="547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Client</a:t>
            </a:r>
            <a:endParaRPr kumimoji="1"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1590692-AC73-4840-9155-638F04371313}"/>
              </a:ext>
            </a:extLst>
          </p:cNvPr>
          <p:cNvSpPr/>
          <p:nvPr/>
        </p:nvSpPr>
        <p:spPr>
          <a:xfrm>
            <a:off x="7712742" y="4294072"/>
            <a:ext cx="1270239" cy="547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Server</a:t>
            </a:r>
            <a:endParaRPr kumimoji="1" lang="zh-CN" altLang="en-US" dirty="0"/>
          </a:p>
        </p:txBody>
      </p: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57099BA9-657E-C248-B58D-5E865A55717A}"/>
              </a:ext>
            </a:extLst>
          </p:cNvPr>
          <p:cNvCxnSpPr>
            <a:cxnSpLocks/>
          </p:cNvCxnSpPr>
          <p:nvPr/>
        </p:nvCxnSpPr>
        <p:spPr>
          <a:xfrm>
            <a:off x="3997829" y="4568067"/>
            <a:ext cx="264605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A25CF86C-6FD4-B44E-87AD-7E43E3B42FD3}"/>
              </a:ext>
            </a:extLst>
          </p:cNvPr>
          <p:cNvCxnSpPr>
            <a:cxnSpLocks/>
          </p:cNvCxnSpPr>
          <p:nvPr/>
        </p:nvCxnSpPr>
        <p:spPr>
          <a:xfrm>
            <a:off x="7236296" y="4567506"/>
            <a:ext cx="476446" cy="1122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3D09AC47-B701-7E40-A1D0-B14ACF1162C0}"/>
              </a:ext>
            </a:extLst>
          </p:cNvPr>
          <p:cNvSpPr/>
          <p:nvPr/>
        </p:nvSpPr>
        <p:spPr>
          <a:xfrm>
            <a:off x="6501314" y="4294072"/>
            <a:ext cx="188006" cy="547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4A073A2-B69A-3446-8209-42C7A2263A96}"/>
              </a:ext>
            </a:extLst>
          </p:cNvPr>
          <p:cNvSpPr/>
          <p:nvPr/>
        </p:nvSpPr>
        <p:spPr>
          <a:xfrm>
            <a:off x="6014285" y="4293511"/>
            <a:ext cx="157166" cy="5479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33910BB-12AA-B84C-A4B1-04E0B6B5DE43}"/>
              </a:ext>
            </a:extLst>
          </p:cNvPr>
          <p:cNvSpPr/>
          <p:nvPr/>
        </p:nvSpPr>
        <p:spPr>
          <a:xfrm>
            <a:off x="7017018" y="4294072"/>
            <a:ext cx="157166" cy="5479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DC01EDE1-459C-B445-836D-F4AFAED39B9D}"/>
              </a:ext>
            </a:extLst>
          </p:cNvPr>
          <p:cNvCxnSpPr>
            <a:cxnSpLocks/>
          </p:cNvCxnSpPr>
          <p:nvPr/>
        </p:nvCxnSpPr>
        <p:spPr>
          <a:xfrm flipV="1">
            <a:off x="4932969" y="4567506"/>
            <a:ext cx="563447" cy="1122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CE1B94B4-D628-0145-B2EC-8511035A4118}"/>
              </a:ext>
            </a:extLst>
          </p:cNvPr>
          <p:cNvSpPr/>
          <p:nvPr/>
        </p:nvSpPr>
        <p:spPr>
          <a:xfrm>
            <a:off x="5496416" y="4294072"/>
            <a:ext cx="188006" cy="547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2C4426A1-DA86-8746-AB02-421659FDA9B1}"/>
              </a:ext>
            </a:extLst>
          </p:cNvPr>
          <p:cNvCxnSpPr>
            <a:cxnSpLocks/>
            <a:stCxn id="46" idx="3"/>
            <a:endCxn id="42" idx="1"/>
          </p:cNvCxnSpPr>
          <p:nvPr/>
        </p:nvCxnSpPr>
        <p:spPr>
          <a:xfrm flipV="1">
            <a:off x="5684422" y="4567506"/>
            <a:ext cx="329863" cy="561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7C1EE5C9-8C85-6A41-844B-2F23C9701914}"/>
              </a:ext>
            </a:extLst>
          </p:cNvPr>
          <p:cNvCxnSpPr>
            <a:cxnSpLocks/>
            <a:stCxn id="42" idx="3"/>
            <a:endCxn id="41" idx="1"/>
          </p:cNvCxnSpPr>
          <p:nvPr/>
        </p:nvCxnSpPr>
        <p:spPr>
          <a:xfrm>
            <a:off x="6171451" y="4567506"/>
            <a:ext cx="329863" cy="561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031F9F8B-0E94-7B41-9E6C-DCFA726C7B4F}"/>
              </a:ext>
            </a:extLst>
          </p:cNvPr>
          <p:cNvCxnSpPr>
            <a:cxnSpLocks/>
            <a:stCxn id="41" idx="3"/>
            <a:endCxn id="43" idx="1"/>
          </p:cNvCxnSpPr>
          <p:nvPr/>
        </p:nvCxnSpPr>
        <p:spPr>
          <a:xfrm>
            <a:off x="6689320" y="4568067"/>
            <a:ext cx="327698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0DBC15BB-835E-B747-B086-D5228C2AE40C}"/>
              </a:ext>
            </a:extLst>
          </p:cNvPr>
          <p:cNvSpPr txBox="1"/>
          <p:nvPr/>
        </p:nvSpPr>
        <p:spPr>
          <a:xfrm>
            <a:off x="5864717" y="508045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不相关进程</a:t>
            </a:r>
          </a:p>
        </p:txBody>
      </p:sp>
      <p:pic>
        <p:nvPicPr>
          <p:cNvPr id="66" name="图片 65">
            <a:extLst>
              <a:ext uri="{FF2B5EF4-FFF2-40B4-BE49-F238E27FC236}">
                <a16:creationId xmlns:a16="http://schemas.microsoft.com/office/drawing/2014/main" id="{A8E5D7CB-67BE-9E47-8E2C-EA0D16B84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5645" y="4090574"/>
            <a:ext cx="329863" cy="32986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6E52A435-E174-4C42-863A-8EF8F0B508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090" y="4101842"/>
            <a:ext cx="329863" cy="329863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A2CA1ECF-EE40-6C48-B5C6-54E78CEB6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169" y="4100828"/>
            <a:ext cx="329863" cy="329863"/>
          </a:xfrm>
          <a:prstGeom prst="rect">
            <a:avLst/>
          </a:prstGeom>
        </p:spPr>
      </p:pic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BF584828-5402-E649-BE01-A567B0453DD3}"/>
              </a:ext>
            </a:extLst>
          </p:cNvPr>
          <p:cNvCxnSpPr>
            <a:cxnSpLocks/>
            <a:stCxn id="46" idx="2"/>
          </p:cNvCxnSpPr>
          <p:nvPr/>
        </p:nvCxnSpPr>
        <p:spPr>
          <a:xfrm>
            <a:off x="5590419" y="4842062"/>
            <a:ext cx="405226" cy="282544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线箭头连接符 72">
            <a:extLst>
              <a:ext uri="{FF2B5EF4-FFF2-40B4-BE49-F238E27FC236}">
                <a16:creationId xmlns:a16="http://schemas.microsoft.com/office/drawing/2014/main" id="{B7B6BB69-9246-1440-800D-5728561C14BD}"/>
              </a:ext>
            </a:extLst>
          </p:cNvPr>
          <p:cNvCxnSpPr>
            <a:cxnSpLocks/>
            <a:stCxn id="41" idx="2"/>
          </p:cNvCxnSpPr>
          <p:nvPr/>
        </p:nvCxnSpPr>
        <p:spPr>
          <a:xfrm flipH="1">
            <a:off x="6403355" y="4842062"/>
            <a:ext cx="191962" cy="312265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6920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迁移线程</a:t>
            </a:r>
            <a:r>
              <a:rPr kumimoji="1" lang="en-US" altLang="zh-CN" sz="3200" dirty="0"/>
              <a:t>:</a:t>
            </a:r>
            <a:r>
              <a:rPr kumimoji="1" lang="zh-CN" altLang="en-US" sz="3200" dirty="0"/>
              <a:t> 将</a:t>
            </a:r>
            <a:r>
              <a:rPr kumimoji="1" lang="en-US" altLang="zh-CN" sz="3200" dirty="0"/>
              <a:t>Client</a:t>
            </a:r>
            <a:r>
              <a:rPr kumimoji="1" lang="zh-CN" altLang="en-US" sz="3200" dirty="0"/>
              <a:t>运行在</a:t>
            </a:r>
            <a:r>
              <a:rPr kumimoji="1" lang="en-US" altLang="zh-CN" sz="3200" dirty="0"/>
              <a:t>Server</a:t>
            </a:r>
            <a:r>
              <a:rPr kumimoji="1" lang="zh-CN" altLang="en-US" sz="3200" dirty="0"/>
              <a:t>的上下文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为什么需要做控制流转换</a:t>
            </a:r>
            <a:r>
              <a:rPr kumimoji="1" lang="en-US" altLang="zh-CN" dirty="0"/>
              <a:t>?</a:t>
            </a:r>
          </a:p>
          <a:p>
            <a:pPr lvl="1"/>
            <a:r>
              <a:rPr kumimoji="1" lang="zh-CN" altLang="en-US" dirty="0"/>
              <a:t>使用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的代码和数据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的权限 </a:t>
            </a:r>
            <a:r>
              <a:rPr kumimoji="1" lang="en-US" altLang="zh-CN" dirty="0"/>
              <a:t>(</a:t>
            </a:r>
            <a:r>
              <a:rPr kumimoji="1" lang="zh-CN" altLang="en-US" dirty="0"/>
              <a:t>如访问某些系统资源</a:t>
            </a:r>
            <a:r>
              <a:rPr kumimoji="1" lang="en-US" altLang="zh-CN" dirty="0"/>
              <a:t>)</a:t>
            </a:r>
          </a:p>
          <a:p>
            <a:r>
              <a:rPr kumimoji="1" lang="zh-CN" altLang="en-US" dirty="0"/>
              <a:t>只切换地址空间、权限表等状态，不做调度和线程切换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550657-E364-5445-B88C-9178923860A9}"/>
              </a:ext>
            </a:extLst>
          </p:cNvPr>
          <p:cNvSpPr/>
          <p:nvPr/>
        </p:nvSpPr>
        <p:spPr>
          <a:xfrm>
            <a:off x="4062825" y="4225652"/>
            <a:ext cx="950748" cy="5479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内核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9219A9-A373-6D4E-9B39-58082F34584D}"/>
              </a:ext>
            </a:extLst>
          </p:cNvPr>
          <p:cNvSpPr/>
          <p:nvPr/>
        </p:nvSpPr>
        <p:spPr>
          <a:xfrm>
            <a:off x="1880838" y="4227896"/>
            <a:ext cx="1270239" cy="547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Client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929FCBA-698D-7747-92B1-8ABECC037011}"/>
              </a:ext>
            </a:extLst>
          </p:cNvPr>
          <p:cNvSpPr/>
          <p:nvPr/>
        </p:nvSpPr>
        <p:spPr>
          <a:xfrm>
            <a:off x="5881096" y="4225652"/>
            <a:ext cx="1270239" cy="547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Server</a:t>
            </a:r>
            <a:endParaRPr kumimoji="1" lang="zh-CN" altLang="en-US" dirty="0"/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DB3D9046-A819-134D-8073-CC28368E9A01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 flipV="1">
            <a:off x="3151077" y="4499647"/>
            <a:ext cx="911748" cy="2244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FD3F0FFA-C9FA-0044-8C37-0405F28B01DE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5013573" y="4499647"/>
            <a:ext cx="867523" cy="0"/>
          </a:xfrm>
          <a:prstGeom prst="straightConnector1">
            <a:avLst/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B135D9A3-1C99-384C-A519-C91E25492052}"/>
              </a:ext>
            </a:extLst>
          </p:cNvPr>
          <p:cNvSpPr txBox="1"/>
          <p:nvPr/>
        </p:nvSpPr>
        <p:spPr>
          <a:xfrm>
            <a:off x="3711271" y="3530164"/>
            <a:ext cx="3993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Client</a:t>
            </a:r>
            <a:r>
              <a:rPr kumimoji="1" lang="zh-CN" altLang="en-US" dirty="0"/>
              <a:t>线程获得了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线程的上下文</a:t>
            </a:r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3DA7CF9F-A131-C348-9FEA-3AF4BA131919}"/>
              </a:ext>
            </a:extLst>
          </p:cNvPr>
          <p:cNvCxnSpPr>
            <a:cxnSpLocks/>
          </p:cNvCxnSpPr>
          <p:nvPr/>
        </p:nvCxnSpPr>
        <p:spPr>
          <a:xfrm flipH="1" flipV="1">
            <a:off x="5655548" y="3790400"/>
            <a:ext cx="644644" cy="435252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23342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数据传输</a:t>
            </a:r>
            <a:r>
              <a:rPr kumimoji="1" lang="en-US" altLang="zh-CN" dirty="0"/>
              <a:t>:</a:t>
            </a:r>
            <a:r>
              <a:rPr kumimoji="1" lang="zh-CN" altLang="en-US" dirty="0"/>
              <a:t> 数据拷贝的性能损失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大部分</a:t>
            </a:r>
            <a:r>
              <a:rPr kumimoji="1" lang="en-US" altLang="zh-CN" dirty="0"/>
              <a:t>Unix</a:t>
            </a:r>
            <a:r>
              <a:rPr kumimoji="1" lang="zh-CN" altLang="en-US" dirty="0"/>
              <a:t>类系统，经过内核的传输有</a:t>
            </a:r>
            <a:r>
              <a:rPr kumimoji="1" lang="en-US" altLang="zh-CN" dirty="0"/>
              <a:t>(</a:t>
            </a:r>
            <a:r>
              <a:rPr kumimoji="1" lang="zh-CN" altLang="en-US" dirty="0"/>
              <a:t>至少</a:t>
            </a:r>
            <a:r>
              <a:rPr kumimoji="1" lang="en-US" altLang="zh-CN" dirty="0"/>
              <a:t>)</a:t>
            </a:r>
            <a:r>
              <a:rPr kumimoji="1" lang="zh-CN" altLang="en-US" dirty="0"/>
              <a:t>两次拷贝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Client→</a:t>
            </a:r>
            <a:r>
              <a:rPr kumimoji="1" lang="zh-CN" altLang="en-US" dirty="0"/>
              <a:t>内核</a:t>
            </a:r>
            <a:r>
              <a:rPr kumimoji="1" lang="en-US" altLang="zh-CN" dirty="0"/>
              <a:t>→ Server</a:t>
            </a:r>
          </a:p>
          <a:p>
            <a:r>
              <a:rPr kumimoji="1" lang="zh-CN" altLang="en-US" dirty="0"/>
              <a:t>数据拷贝</a:t>
            </a:r>
            <a:r>
              <a:rPr kumimoji="1" lang="en-US" altLang="zh-CN" dirty="0"/>
              <a:t>:</a:t>
            </a:r>
          </a:p>
          <a:p>
            <a:pPr lvl="1"/>
            <a:r>
              <a:rPr kumimoji="1" lang="zh-CN" altLang="en-US" dirty="0"/>
              <a:t>慢</a:t>
            </a:r>
            <a:r>
              <a:rPr kumimoji="1" lang="en-US" altLang="zh-CN" dirty="0"/>
              <a:t>:</a:t>
            </a:r>
            <a:r>
              <a:rPr kumimoji="1" lang="zh-CN" altLang="en-US" dirty="0"/>
              <a:t> 拷贝本身的性能就不快 </a:t>
            </a:r>
            <a:r>
              <a:rPr kumimoji="1" lang="en-US" altLang="zh-CN" dirty="0"/>
              <a:t>(</a:t>
            </a:r>
            <a:r>
              <a:rPr kumimoji="1" lang="zh-CN" altLang="en-US" dirty="0"/>
              <a:t>内存指令</a:t>
            </a:r>
            <a:r>
              <a:rPr kumimoji="1" lang="en-US" altLang="zh-CN" dirty="0"/>
              <a:t>)</a:t>
            </a:r>
          </a:p>
          <a:p>
            <a:pPr lvl="1"/>
            <a:r>
              <a:rPr kumimoji="1" lang="zh-CN" altLang="en-US" dirty="0"/>
              <a:t>不可扩展</a:t>
            </a:r>
            <a:r>
              <a:rPr kumimoji="1" lang="en-US" altLang="zh-CN" dirty="0"/>
              <a:t>:</a:t>
            </a:r>
            <a:r>
              <a:rPr kumimoji="1" lang="zh-CN" altLang="en-US" dirty="0"/>
              <a:t> 数据量增大</a:t>
            </a:r>
            <a:r>
              <a:rPr kumimoji="1" lang="en-US" altLang="zh-CN" dirty="0"/>
              <a:t>10x</a:t>
            </a:r>
            <a:r>
              <a:rPr kumimoji="1" lang="zh-CN" altLang="en-US" dirty="0"/>
              <a:t>，时延增大</a:t>
            </a:r>
            <a:r>
              <a:rPr kumimoji="1" lang="en-US" altLang="zh-CN" dirty="0"/>
              <a:t>10x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550657-E364-5445-B88C-9178923860A9}"/>
              </a:ext>
            </a:extLst>
          </p:cNvPr>
          <p:cNvSpPr/>
          <p:nvPr/>
        </p:nvSpPr>
        <p:spPr>
          <a:xfrm>
            <a:off x="4100684" y="4583448"/>
            <a:ext cx="950748" cy="54799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内核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9219A9-A373-6D4E-9B39-58082F34584D}"/>
              </a:ext>
            </a:extLst>
          </p:cNvPr>
          <p:cNvSpPr/>
          <p:nvPr/>
        </p:nvSpPr>
        <p:spPr>
          <a:xfrm>
            <a:off x="1918697" y="4585692"/>
            <a:ext cx="1270239" cy="5479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Client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929FCBA-698D-7747-92B1-8ABECC037011}"/>
              </a:ext>
            </a:extLst>
          </p:cNvPr>
          <p:cNvSpPr/>
          <p:nvPr/>
        </p:nvSpPr>
        <p:spPr>
          <a:xfrm>
            <a:off x="5918955" y="4583448"/>
            <a:ext cx="1270239" cy="54799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Server</a:t>
            </a:r>
            <a:endParaRPr kumimoji="1" lang="zh-CN" altLang="en-US" dirty="0"/>
          </a:p>
        </p:txBody>
      </p:sp>
      <p:sp>
        <p:nvSpPr>
          <p:cNvPr id="6" name="任意形状 5">
            <a:extLst>
              <a:ext uri="{FF2B5EF4-FFF2-40B4-BE49-F238E27FC236}">
                <a16:creationId xmlns:a16="http://schemas.microsoft.com/office/drawing/2014/main" id="{3B55A939-E21A-4240-9844-581FE4227C0F}"/>
              </a:ext>
            </a:extLst>
          </p:cNvPr>
          <p:cNvSpPr/>
          <p:nvPr/>
        </p:nvSpPr>
        <p:spPr>
          <a:xfrm>
            <a:off x="2609633" y="4279626"/>
            <a:ext cx="1740568" cy="305150"/>
          </a:xfrm>
          <a:custGeom>
            <a:avLst/>
            <a:gdLst>
              <a:gd name="connsiteX0" fmla="*/ 0 w 1740568"/>
              <a:gd name="connsiteY0" fmla="*/ 537454 h 561518"/>
              <a:gd name="connsiteX1" fmla="*/ 858252 w 1740568"/>
              <a:gd name="connsiteY1" fmla="*/ 44 h 561518"/>
              <a:gd name="connsiteX2" fmla="*/ 1740568 w 1740568"/>
              <a:gd name="connsiteY2" fmla="*/ 561518 h 561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40568" h="561518">
                <a:moveTo>
                  <a:pt x="0" y="537454"/>
                </a:moveTo>
                <a:cubicBezTo>
                  <a:pt x="284078" y="266743"/>
                  <a:pt x="568157" y="-3967"/>
                  <a:pt x="858252" y="44"/>
                </a:cubicBezTo>
                <a:cubicBezTo>
                  <a:pt x="1148347" y="4055"/>
                  <a:pt x="1444457" y="282786"/>
                  <a:pt x="1740568" y="561518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任意形状 6">
            <a:extLst>
              <a:ext uri="{FF2B5EF4-FFF2-40B4-BE49-F238E27FC236}">
                <a16:creationId xmlns:a16="http://schemas.microsoft.com/office/drawing/2014/main" id="{04554BE3-034F-3149-9831-CBA29DB7CB8F}"/>
              </a:ext>
            </a:extLst>
          </p:cNvPr>
          <p:cNvSpPr/>
          <p:nvPr/>
        </p:nvSpPr>
        <p:spPr>
          <a:xfrm>
            <a:off x="4743233" y="4263581"/>
            <a:ext cx="1451810" cy="305151"/>
          </a:xfrm>
          <a:custGeom>
            <a:avLst/>
            <a:gdLst>
              <a:gd name="connsiteX0" fmla="*/ 0 w 1451810"/>
              <a:gd name="connsiteY0" fmla="*/ 665747 h 665747"/>
              <a:gd name="connsiteX1" fmla="*/ 737936 w 1451810"/>
              <a:gd name="connsiteY1" fmla="*/ 0 h 665747"/>
              <a:gd name="connsiteX2" fmla="*/ 1451810 w 1451810"/>
              <a:gd name="connsiteY2" fmla="*/ 665747 h 6657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51810" h="665747">
                <a:moveTo>
                  <a:pt x="0" y="665747"/>
                </a:moveTo>
                <a:cubicBezTo>
                  <a:pt x="247984" y="332873"/>
                  <a:pt x="495968" y="0"/>
                  <a:pt x="737936" y="0"/>
                </a:cubicBezTo>
                <a:cubicBezTo>
                  <a:pt x="979904" y="0"/>
                  <a:pt x="1215857" y="332873"/>
                  <a:pt x="1451810" y="665747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329A6C9-BF67-C749-B829-BFBF9517E01C}"/>
              </a:ext>
            </a:extLst>
          </p:cNvPr>
          <p:cNvSpPr txBox="1"/>
          <p:nvPr/>
        </p:nvSpPr>
        <p:spPr>
          <a:xfrm>
            <a:off x="2456467" y="393762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用户态拷贝到内核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66473F1C-47C3-5F47-8DCC-97F6ADA47ED0}"/>
              </a:ext>
            </a:extLst>
          </p:cNvPr>
          <p:cNvSpPr txBox="1"/>
          <p:nvPr/>
        </p:nvSpPr>
        <p:spPr>
          <a:xfrm>
            <a:off x="4684308" y="393762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内核拷贝到用户态</a:t>
            </a:r>
          </a:p>
        </p:txBody>
      </p:sp>
    </p:spTree>
    <p:extLst>
      <p:ext uri="{BB962C8B-B14F-4D97-AF65-F5344CB8AC3E}">
        <p14:creationId xmlns:p14="http://schemas.microsoft.com/office/powerpoint/2010/main" val="40970609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共享参数栈和寄存器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3975829"/>
          </a:xfrm>
        </p:spPr>
        <p:txBody>
          <a:bodyPr>
            <a:normAutofit fontScale="85000" lnSpcReduction="10000"/>
          </a:bodyPr>
          <a:lstStyle/>
          <a:p>
            <a:r>
              <a:rPr kumimoji="1" lang="zh-CN" altLang="en-US" dirty="0"/>
              <a:t>参数栈 </a:t>
            </a:r>
            <a:r>
              <a:rPr kumimoji="1" lang="en-US" altLang="zh-CN" dirty="0"/>
              <a:t>(Argument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stack</a:t>
            </a:r>
            <a:r>
              <a:rPr kumimoji="1" lang="zh-CN" altLang="en-US" dirty="0"/>
              <a:t>，简称</a:t>
            </a:r>
            <a:r>
              <a:rPr kumimoji="1" lang="en-US" altLang="zh-CN" dirty="0"/>
              <a:t>A-stack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系统内核为每一对</a:t>
            </a:r>
            <a:r>
              <a:rPr kumimoji="1" lang="en-US" altLang="zh-CN" dirty="0"/>
              <a:t>LRPC</a:t>
            </a:r>
            <a:r>
              <a:rPr kumimoji="1" lang="zh-CN" altLang="en-US" dirty="0"/>
              <a:t>连接预先分配好一个</a:t>
            </a:r>
            <a:r>
              <a:rPr kumimoji="1" lang="en-US" altLang="zh-CN" dirty="0"/>
              <a:t>A-stack</a:t>
            </a:r>
          </a:p>
          <a:p>
            <a:pPr lvl="1"/>
            <a:r>
              <a:rPr kumimoji="1" lang="en-US" altLang="zh-CN" dirty="0">
                <a:solidFill>
                  <a:schemeClr val="accent1"/>
                </a:solidFill>
              </a:rPr>
              <a:t>A-stack</a:t>
            </a:r>
            <a:r>
              <a:rPr kumimoji="1" lang="zh-CN" altLang="en-US" dirty="0">
                <a:solidFill>
                  <a:schemeClr val="accent1"/>
                </a:solidFill>
              </a:rPr>
              <a:t>被同时映射在</a:t>
            </a:r>
            <a:r>
              <a:rPr kumimoji="1" lang="en-US" altLang="zh-CN" dirty="0">
                <a:solidFill>
                  <a:schemeClr val="accent1"/>
                </a:solidFill>
              </a:rPr>
              <a:t>Client</a:t>
            </a:r>
            <a:r>
              <a:rPr kumimoji="1" lang="zh-CN" altLang="en-US" dirty="0">
                <a:solidFill>
                  <a:schemeClr val="accent1"/>
                </a:solidFill>
              </a:rPr>
              <a:t>进程和</a:t>
            </a:r>
            <a:r>
              <a:rPr kumimoji="1" lang="en-US" altLang="zh-CN" dirty="0">
                <a:solidFill>
                  <a:schemeClr val="accent1"/>
                </a:solidFill>
              </a:rPr>
              <a:t>Server</a:t>
            </a:r>
            <a:r>
              <a:rPr kumimoji="1" lang="zh-CN" altLang="en-US" dirty="0">
                <a:solidFill>
                  <a:schemeClr val="accent1"/>
                </a:solidFill>
              </a:rPr>
              <a:t>进程地址空间</a:t>
            </a:r>
            <a:endParaRPr kumimoji="1" lang="en-US" altLang="zh-CN" dirty="0">
              <a:solidFill>
                <a:schemeClr val="accent1"/>
              </a:solidFill>
            </a:endParaRPr>
          </a:p>
          <a:p>
            <a:pPr lvl="1"/>
            <a:r>
              <a:rPr kumimoji="1" lang="en-US" altLang="zh-CN" dirty="0"/>
              <a:t>Client</a:t>
            </a:r>
            <a:r>
              <a:rPr kumimoji="1" lang="zh-CN" altLang="en-US" dirty="0"/>
              <a:t>进程只需要将参数准备到</a:t>
            </a:r>
            <a:r>
              <a:rPr kumimoji="1" lang="en-US" altLang="zh-CN" dirty="0"/>
              <a:t>A-stack</a:t>
            </a:r>
            <a:r>
              <a:rPr kumimoji="1" lang="zh-CN" altLang="en-US" dirty="0"/>
              <a:t>即可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不需要内核额外拷贝</a:t>
            </a:r>
            <a:endParaRPr kumimoji="1" lang="en-US" altLang="zh-CN" dirty="0"/>
          </a:p>
          <a:p>
            <a:r>
              <a:rPr kumimoji="1" lang="zh-CN" altLang="en-US" dirty="0"/>
              <a:t>执行栈（</a:t>
            </a:r>
            <a:r>
              <a:rPr kumimoji="1" lang="en-US" altLang="zh-CN" dirty="0"/>
              <a:t>Execution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stack</a:t>
            </a:r>
            <a:r>
              <a:rPr kumimoji="1" lang="zh-CN" altLang="en-US" dirty="0"/>
              <a:t>，简称</a:t>
            </a:r>
            <a:r>
              <a:rPr kumimoji="1" lang="en-US" altLang="zh-CN" dirty="0"/>
              <a:t>E-stack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共享寄存器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普通的上下文切换</a:t>
            </a:r>
            <a:r>
              <a:rPr kumimoji="1" lang="en-US" altLang="zh-CN" dirty="0"/>
              <a:t>:</a:t>
            </a:r>
            <a:r>
              <a:rPr kumimoji="1" lang="zh-CN" altLang="en-US" dirty="0"/>
              <a:t> 保存当前寄存器状态 </a:t>
            </a:r>
            <a:r>
              <a:rPr kumimoji="1" lang="en-US" altLang="zh-CN" dirty="0"/>
              <a:t>→</a:t>
            </a:r>
            <a:r>
              <a:rPr kumimoji="1" lang="zh-CN" altLang="en-US" dirty="0"/>
              <a:t> 恢复切换到的进程寄存器状态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LRPC</a:t>
            </a:r>
            <a:r>
              <a:rPr kumimoji="1" lang="zh-CN" altLang="en-US" dirty="0"/>
              <a:t>迁移进程</a:t>
            </a:r>
            <a:r>
              <a:rPr kumimoji="1" lang="en-US" altLang="zh-CN" dirty="0"/>
              <a:t>:</a:t>
            </a:r>
            <a:r>
              <a:rPr kumimoji="1" lang="zh-CN" altLang="en-US" dirty="0"/>
              <a:t> 直接使用当前的通用寄存器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类似函数调用中用寄存器传递参数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66819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轻量远程调用：通信连接建立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Server</a:t>
            </a:r>
            <a:r>
              <a:rPr kumimoji="1" lang="zh-CN" altLang="en-US" dirty="0"/>
              <a:t>进程通过内核注册一个服务描述符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对应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进程内部的一个处理函数</a:t>
            </a:r>
            <a:r>
              <a:rPr kumimoji="1" lang="en-US" altLang="zh-CN" dirty="0"/>
              <a:t>(Handler)</a:t>
            </a:r>
          </a:p>
          <a:p>
            <a:r>
              <a:rPr kumimoji="1" lang="zh-CN" altLang="en-US" dirty="0"/>
              <a:t>内核为服务描述符预先分配好参数栈</a:t>
            </a:r>
            <a:endParaRPr kumimoji="1" lang="en-US" altLang="zh-CN" dirty="0"/>
          </a:p>
          <a:p>
            <a:r>
              <a:rPr kumimoji="1" lang="zh-CN" altLang="en-US" dirty="0"/>
              <a:t>内核为服务描述符分配好调用记录 </a:t>
            </a:r>
            <a:r>
              <a:rPr kumimoji="1" lang="en-US" altLang="zh-CN" dirty="0"/>
              <a:t>(Linkage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record)</a:t>
            </a:r>
          </a:p>
          <a:p>
            <a:pPr lvl="1"/>
            <a:r>
              <a:rPr kumimoji="1" lang="zh-CN" altLang="en-US" dirty="0"/>
              <a:t>用于从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进程处返回（类似栈）</a:t>
            </a:r>
            <a:endParaRPr kumimoji="1" lang="en-US" altLang="zh-CN" dirty="0"/>
          </a:p>
          <a:p>
            <a:r>
              <a:rPr kumimoji="1" lang="zh-CN" altLang="en-US" dirty="0"/>
              <a:t>内核将参数栈交给</a:t>
            </a:r>
            <a:r>
              <a:rPr kumimoji="1" lang="en-US" altLang="zh-CN" dirty="0"/>
              <a:t>Client</a:t>
            </a:r>
            <a:r>
              <a:rPr kumimoji="1" lang="zh-CN" altLang="en-US" dirty="0"/>
              <a:t>进程，作为一个绑定成功的标志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在通信过程中，通过检查</a:t>
            </a:r>
            <a:r>
              <a:rPr kumimoji="1" lang="en-US" altLang="zh-CN" dirty="0"/>
              <a:t>A-stack</a:t>
            </a:r>
            <a:r>
              <a:rPr kumimoji="1" lang="zh-CN" altLang="en-US" dirty="0"/>
              <a:t>来判断</a:t>
            </a:r>
            <a:r>
              <a:rPr kumimoji="1" lang="en-US" altLang="zh-CN" dirty="0"/>
              <a:t>Client</a:t>
            </a:r>
            <a:r>
              <a:rPr kumimoji="1" lang="zh-CN" altLang="en-US" dirty="0"/>
              <a:t>是否正确发起通信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29319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轻量远程调用：基本用户接口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D94CE97B-F95F-1D46-87B9-3A62C023D40A}"/>
              </a:ext>
            </a:extLst>
          </p:cNvPr>
          <p:cNvSpPr txBox="1">
            <a:spLocks/>
          </p:cNvSpPr>
          <p:nvPr/>
        </p:nvSpPr>
        <p:spPr>
          <a:xfrm>
            <a:off x="323528" y="1100382"/>
            <a:ext cx="4330824" cy="438575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800" dirty="0"/>
              <a:t>Server</a:t>
            </a:r>
            <a:r>
              <a:rPr kumimoji="1" lang="zh-CN" altLang="en-US" sz="1800" dirty="0"/>
              <a:t>进程</a:t>
            </a: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r>
              <a:rPr kumimoji="1" lang="en-US" altLang="zh-CN" sz="1800" dirty="0" err="1"/>
              <a:t>service_descriptor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=</a:t>
            </a:r>
            <a:r>
              <a:rPr kumimoji="1" lang="zh-CN" altLang="en-US" sz="1800" dirty="0"/>
              <a:t> </a:t>
            </a:r>
            <a:r>
              <a:rPr kumimoji="1" lang="en-US" altLang="zh-CN" sz="1800" dirty="0" err="1"/>
              <a:t>register_service</a:t>
            </a:r>
            <a:r>
              <a:rPr kumimoji="1" lang="en-US" altLang="zh-CN" sz="1800" dirty="0"/>
              <a:t>(</a:t>
            </a:r>
            <a:r>
              <a:rPr kumimoji="1" lang="en-US" altLang="zh-CN" sz="1800" dirty="0" err="1"/>
              <a:t>handler_func</a:t>
            </a:r>
            <a:r>
              <a:rPr kumimoji="1" lang="en-US" altLang="zh-CN" sz="1800" dirty="0"/>
              <a:t>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&amp;A-stack,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&amp;E-stack);</a:t>
            </a:r>
          </a:p>
          <a:p>
            <a:pPr lvl="1">
              <a:buFont typeface="Arial" pitchFamily="34" charset="0"/>
              <a:buNone/>
            </a:pP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r>
              <a:rPr kumimoji="1" lang="en-US" altLang="zh-CN" sz="1800" dirty="0"/>
              <a:t>void</a:t>
            </a:r>
            <a:r>
              <a:rPr kumimoji="1" lang="zh-CN" altLang="en-US" sz="1800" dirty="0"/>
              <a:t> </a:t>
            </a:r>
            <a:r>
              <a:rPr kumimoji="1" lang="en-US" altLang="zh-CN" sz="1800" dirty="0" err="1"/>
              <a:t>handler_func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(A-stack,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arg0,..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arg7)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{</a:t>
            </a:r>
            <a:br>
              <a:rPr kumimoji="1" lang="en-US" altLang="zh-CN" sz="1800" dirty="0"/>
            </a:br>
            <a:r>
              <a:rPr kumimoji="1" lang="en-US" altLang="zh-CN" sz="1800" dirty="0"/>
              <a:t>u64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ret;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 </a:t>
            </a:r>
            <a:r>
              <a:rPr kumimoji="1" lang="en-US" altLang="zh-CN" sz="1800" dirty="0"/>
              <a:t>//</a:t>
            </a:r>
            <a:r>
              <a:rPr kumimoji="1" lang="zh-CN" altLang="en-US" sz="1800" dirty="0"/>
              <a:t>从寄存器和</a:t>
            </a:r>
            <a:r>
              <a:rPr kumimoji="1" lang="en-US" altLang="zh-CN" sz="1800" dirty="0"/>
              <a:t>A-stack</a:t>
            </a:r>
            <a:r>
              <a:rPr kumimoji="1" lang="zh-CN" altLang="en-US" sz="1800" dirty="0"/>
              <a:t>中获取参数</a:t>
            </a: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 </a:t>
            </a:r>
            <a:r>
              <a:rPr kumimoji="1" lang="en-US" altLang="zh-CN" sz="1800" dirty="0"/>
              <a:t>//</a:t>
            </a:r>
            <a:r>
              <a:rPr kumimoji="1" lang="zh-CN" altLang="en-US" sz="1800" dirty="0"/>
              <a:t> 使用</a:t>
            </a:r>
            <a:r>
              <a:rPr kumimoji="1" lang="en-US" altLang="zh-CN" sz="1800" dirty="0"/>
              <a:t>E-stack(</a:t>
            </a:r>
            <a:r>
              <a:rPr kumimoji="1" lang="zh-CN" altLang="en-US" sz="1800" dirty="0"/>
              <a:t>运行栈</a:t>
            </a:r>
            <a:r>
              <a:rPr kumimoji="1" lang="en-US" altLang="zh-CN" sz="1800" dirty="0"/>
              <a:t>)</a:t>
            </a:r>
            <a:r>
              <a:rPr kumimoji="1" lang="zh-CN" altLang="en-US" sz="1800" dirty="0"/>
              <a:t>来处理</a:t>
            </a: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 </a:t>
            </a:r>
            <a:r>
              <a:rPr kumimoji="1" lang="en-US" altLang="zh-CN" sz="1800" dirty="0"/>
              <a:t>…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/>
              <a:t>//</a:t>
            </a:r>
            <a:r>
              <a:rPr kumimoji="1" lang="zh-CN" altLang="en-US" sz="1800" dirty="0"/>
              <a:t>返回结果</a:t>
            </a: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ipc_return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(ret);</a:t>
            </a:r>
          </a:p>
          <a:p>
            <a:pPr lvl="1">
              <a:buFont typeface="Arial" pitchFamily="34" charset="0"/>
              <a:buNone/>
            </a:pPr>
            <a:r>
              <a:rPr kumimoji="1" lang="en-US" altLang="zh-CN" sz="1800" dirty="0"/>
              <a:t>}</a:t>
            </a:r>
          </a:p>
          <a:p>
            <a:pPr lvl="3">
              <a:buFont typeface="Arial" pitchFamily="34" charset="0"/>
              <a:buNone/>
            </a:pPr>
            <a:endParaRPr kumimoji="1" lang="en-US" altLang="zh-CN" dirty="0"/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3DC7A370-6245-E140-B14C-625CA6568733}"/>
              </a:ext>
            </a:extLst>
          </p:cNvPr>
          <p:cNvSpPr txBox="1">
            <a:spLocks/>
          </p:cNvSpPr>
          <p:nvPr/>
        </p:nvSpPr>
        <p:spPr>
          <a:xfrm>
            <a:off x="4499992" y="1129308"/>
            <a:ext cx="4425217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1800" dirty="0"/>
              <a:t>Client</a:t>
            </a:r>
            <a:r>
              <a:rPr kumimoji="1" lang="zh-CN" altLang="en-US" sz="1800" dirty="0"/>
              <a:t>进程</a:t>
            </a: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r>
              <a:rPr kumimoji="1" lang="en-US" altLang="zh-CN" sz="1800" dirty="0"/>
              <a:t>A-stack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=</a:t>
            </a:r>
            <a:r>
              <a:rPr kumimoji="1" lang="zh-CN" altLang="en-US" sz="1800" dirty="0"/>
              <a:t> </a:t>
            </a:r>
            <a:r>
              <a:rPr kumimoji="1" lang="en-US" altLang="zh-CN" sz="1800" dirty="0" err="1"/>
              <a:t>service_connect</a:t>
            </a:r>
            <a:r>
              <a:rPr kumimoji="1" lang="en-US" altLang="zh-CN" sz="1800" dirty="0"/>
              <a:t>(</a:t>
            </a:r>
            <a:r>
              <a:rPr kumimoji="1" lang="en-US" altLang="zh-CN" sz="1800" dirty="0" err="1"/>
              <a:t>service_name</a:t>
            </a:r>
            <a:r>
              <a:rPr kumimoji="1" lang="en-US" altLang="zh-CN" sz="1800" dirty="0"/>
              <a:t>);</a:t>
            </a:r>
          </a:p>
          <a:p>
            <a:pPr lvl="1">
              <a:buFont typeface="Arial" pitchFamily="34" charset="0"/>
              <a:buNone/>
            </a:pPr>
            <a:r>
              <a:rPr kumimoji="1" lang="en-US" altLang="zh-CN" sz="1800" dirty="0"/>
              <a:t>/</a:t>
            </a:r>
            <a:r>
              <a:rPr kumimoji="1" lang="zh-CN" altLang="en-US" sz="1800" dirty="0"/>
              <a:t>* 准备数据到</a:t>
            </a:r>
            <a:r>
              <a:rPr kumimoji="1" lang="en-US" altLang="zh-CN" sz="1800" dirty="0"/>
              <a:t>A-stack</a:t>
            </a:r>
            <a:r>
              <a:rPr kumimoji="1" lang="zh-CN" altLang="en-US" sz="1800" dirty="0"/>
              <a:t> *</a:t>
            </a:r>
            <a:r>
              <a:rPr kumimoji="1" lang="en-US" altLang="zh-CN" sz="1800" dirty="0"/>
              <a:t>/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</a:t>
            </a:r>
            <a:r>
              <a:rPr kumimoji="1" lang="en-US" altLang="zh-CN" sz="1800" dirty="0"/>
              <a:t>…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</a:t>
            </a:r>
            <a:r>
              <a:rPr kumimoji="1" lang="en-US" altLang="zh-CN" sz="1800" dirty="0"/>
              <a:t>/</a:t>
            </a:r>
            <a:r>
              <a:rPr kumimoji="1" lang="zh-CN" altLang="en-US" sz="1800" dirty="0"/>
              <a:t>*</a:t>
            </a:r>
            <a:r>
              <a:rPr kumimoji="1" lang="en-US" altLang="zh-CN" sz="1800" dirty="0"/>
              <a:t>arg0—7</a:t>
            </a:r>
            <a:r>
              <a:rPr kumimoji="1" lang="zh-CN" altLang="en-US" sz="1800" dirty="0"/>
              <a:t> 为寄存器数据*</a:t>
            </a:r>
            <a:r>
              <a:rPr kumimoji="1" lang="en-US" altLang="zh-CN" sz="1800" dirty="0"/>
              <a:t>/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</a:t>
            </a:r>
            <a:r>
              <a:rPr kumimoji="1" lang="en-US" altLang="zh-CN" sz="1800" dirty="0" err="1"/>
              <a:t>ipc_call</a:t>
            </a:r>
            <a:r>
              <a:rPr kumimoji="1" lang="en-US" altLang="zh-CN" sz="1800" dirty="0"/>
              <a:t>(A-stack,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arg0,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..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arg7);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</a:t>
            </a: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endParaRPr kumimoji="1" lang="en-US" altLang="zh-CN" sz="1800" dirty="0"/>
          </a:p>
          <a:p>
            <a:pPr lvl="3">
              <a:buFont typeface="Arial" pitchFamily="34" charset="0"/>
              <a:buNone/>
            </a:pPr>
            <a:endParaRPr kumimoji="1" lang="en-US" altLang="zh-CN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B7984A7-FD36-0D40-BCC0-F19512243FB2}"/>
              </a:ext>
            </a:extLst>
          </p:cNvPr>
          <p:cNvSpPr/>
          <p:nvPr/>
        </p:nvSpPr>
        <p:spPr>
          <a:xfrm>
            <a:off x="577162" y="1435513"/>
            <a:ext cx="3994838" cy="9004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C9BFB11-D407-6F40-8345-E01EB940A90B}"/>
              </a:ext>
            </a:extLst>
          </p:cNvPr>
          <p:cNvSpPr txBox="1"/>
          <p:nvPr/>
        </p:nvSpPr>
        <p:spPr>
          <a:xfrm>
            <a:off x="2507871" y="1071364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1"/>
                </a:solidFill>
              </a:rPr>
              <a:t>①</a:t>
            </a:r>
            <a:r>
              <a:rPr kumimoji="1" lang="zh-CN" altLang="en-US" dirty="0">
                <a:solidFill>
                  <a:schemeClr val="accent1"/>
                </a:solidFill>
              </a:rPr>
              <a:t> 注册服务描述符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6C16469-B40F-9543-9290-6C03BEAE03BF}"/>
              </a:ext>
            </a:extLst>
          </p:cNvPr>
          <p:cNvSpPr/>
          <p:nvPr/>
        </p:nvSpPr>
        <p:spPr>
          <a:xfrm>
            <a:off x="4907986" y="1579528"/>
            <a:ext cx="3994838" cy="23574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0582D92-7F58-2343-94C5-5CC0EED96B98}"/>
              </a:ext>
            </a:extLst>
          </p:cNvPr>
          <p:cNvSpPr txBox="1"/>
          <p:nvPr/>
        </p:nvSpPr>
        <p:spPr>
          <a:xfrm>
            <a:off x="6851597" y="1183510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1"/>
                </a:solidFill>
              </a:rPr>
              <a:t>②</a:t>
            </a:r>
            <a:r>
              <a:rPr kumimoji="1" lang="zh-CN" altLang="en-US" dirty="0">
                <a:solidFill>
                  <a:schemeClr val="accent1"/>
                </a:solidFill>
              </a:rPr>
              <a:t> 连接服务并调用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D0ADD43-4B06-6849-BD49-691179C81147}"/>
              </a:ext>
            </a:extLst>
          </p:cNvPr>
          <p:cNvSpPr/>
          <p:nvPr/>
        </p:nvSpPr>
        <p:spPr>
          <a:xfrm>
            <a:off x="577162" y="2564904"/>
            <a:ext cx="3994838" cy="27320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5753523-173D-9845-B3E1-D3804AFA1276}"/>
              </a:ext>
            </a:extLst>
          </p:cNvPr>
          <p:cNvSpPr txBox="1"/>
          <p:nvPr/>
        </p:nvSpPr>
        <p:spPr>
          <a:xfrm>
            <a:off x="4543008" y="4646087"/>
            <a:ext cx="35573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1"/>
                </a:solidFill>
              </a:rPr>
              <a:t>③</a:t>
            </a:r>
            <a:r>
              <a:rPr kumimoji="1" lang="zh-CN" altLang="en-US" dirty="0">
                <a:solidFill>
                  <a:schemeClr val="accent1"/>
                </a:solidFill>
              </a:rPr>
              <a:t> 用</a:t>
            </a:r>
            <a:r>
              <a:rPr kumimoji="1" lang="en-US" altLang="zh-CN" dirty="0">
                <a:solidFill>
                  <a:schemeClr val="accent1"/>
                </a:solidFill>
              </a:rPr>
              <a:t>A-stack</a:t>
            </a:r>
            <a:r>
              <a:rPr kumimoji="1" lang="zh-CN" altLang="en-US" dirty="0">
                <a:solidFill>
                  <a:schemeClr val="accent1"/>
                </a:solidFill>
              </a:rPr>
              <a:t>和寄存器获取参数，</a:t>
            </a:r>
            <a:endParaRPr kumimoji="1" lang="en-US" altLang="zh-CN" dirty="0">
              <a:solidFill>
                <a:schemeClr val="accent1"/>
              </a:solidFill>
            </a:endParaRPr>
          </a:p>
          <a:p>
            <a:r>
              <a:rPr kumimoji="1" lang="zh-CN" altLang="en-US" dirty="0">
                <a:solidFill>
                  <a:schemeClr val="accent1"/>
                </a:solidFill>
              </a:rPr>
              <a:t>用运行栈来执行逻辑</a:t>
            </a:r>
          </a:p>
        </p:txBody>
      </p:sp>
    </p:spTree>
    <p:extLst>
      <p:ext uri="{BB962C8B-B14F-4D97-AF65-F5344CB8AC3E}">
        <p14:creationId xmlns:p14="http://schemas.microsoft.com/office/powerpoint/2010/main" val="631754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轻量远程调用：一次调用过程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内核验证绑定对象的正确性，并找到正确的服务描述符</a:t>
            </a:r>
            <a:endParaRPr kumimoji="1" lang="en-US" altLang="zh-CN" b="0" dirty="0"/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内核验证参数栈和连接记录</a:t>
            </a:r>
            <a:endParaRPr kumimoji="1" lang="en-US" altLang="zh-CN" b="0" dirty="0"/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检查是否有并发调用 </a:t>
            </a:r>
            <a:r>
              <a:rPr kumimoji="1" lang="en-US" altLang="zh-CN" b="0" dirty="0"/>
              <a:t>(</a:t>
            </a:r>
            <a:r>
              <a:rPr kumimoji="1" lang="zh-CN" altLang="en-US" b="0" dirty="0"/>
              <a:t>可能导致</a:t>
            </a:r>
            <a:r>
              <a:rPr kumimoji="1" lang="en-US" altLang="zh-CN" b="0" dirty="0"/>
              <a:t>A-stack</a:t>
            </a:r>
            <a:r>
              <a:rPr kumimoji="1" lang="zh-CN" altLang="en-US" b="0" dirty="0"/>
              <a:t>等异常</a:t>
            </a:r>
            <a:r>
              <a:rPr kumimoji="1" lang="en-US" altLang="zh-CN" b="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将</a:t>
            </a:r>
            <a:r>
              <a:rPr kumimoji="1" lang="en-US" altLang="zh-CN" b="0" dirty="0"/>
              <a:t>Client</a:t>
            </a:r>
            <a:r>
              <a:rPr kumimoji="1" lang="zh-CN" altLang="en-US" b="0" dirty="0"/>
              <a:t>的返回地址和栈指针放到连接记录中</a:t>
            </a:r>
            <a:endParaRPr kumimoji="1" lang="en-US" altLang="zh-CN" b="0" dirty="0"/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将连接记录放到线程控制结构体中的栈上 </a:t>
            </a:r>
            <a:r>
              <a:rPr kumimoji="1" lang="en-US" altLang="zh-CN" b="0" dirty="0"/>
              <a:t>(</a:t>
            </a:r>
            <a:r>
              <a:rPr kumimoji="1" lang="zh-CN" altLang="en-US" b="0" dirty="0"/>
              <a:t>支持嵌套</a:t>
            </a:r>
            <a:r>
              <a:rPr kumimoji="1" lang="en-US" altLang="zh-CN" b="0" dirty="0"/>
              <a:t>LRPC</a:t>
            </a:r>
            <a:r>
              <a:rPr kumimoji="1" lang="zh-CN" altLang="en-US" b="0" dirty="0"/>
              <a:t>调用</a:t>
            </a:r>
            <a:r>
              <a:rPr kumimoji="1" lang="en-US" altLang="zh-CN" b="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找到</a:t>
            </a:r>
            <a:r>
              <a:rPr kumimoji="1" lang="en-US" altLang="zh-CN" b="0" dirty="0"/>
              <a:t>Server</a:t>
            </a:r>
            <a:r>
              <a:rPr kumimoji="1" lang="zh-CN" altLang="en-US" b="0" dirty="0"/>
              <a:t>进程的</a:t>
            </a:r>
            <a:r>
              <a:rPr kumimoji="1" lang="en-US" altLang="zh-CN" b="0" i="1" dirty="0"/>
              <a:t>E-stack</a:t>
            </a:r>
            <a:r>
              <a:rPr kumimoji="1" lang="zh-CN" altLang="en-US" b="0" i="1" dirty="0"/>
              <a:t> </a:t>
            </a:r>
            <a:r>
              <a:rPr kumimoji="1" lang="en-US" altLang="zh-CN" b="0" i="1" dirty="0"/>
              <a:t>(</a:t>
            </a:r>
            <a:r>
              <a:rPr kumimoji="1" lang="zh-CN" altLang="en-US" b="0" dirty="0"/>
              <a:t>执行代码所使用的栈</a:t>
            </a:r>
            <a:r>
              <a:rPr kumimoji="1" lang="en-US" altLang="zh-CN" b="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将当前线程的栈指针设置为</a:t>
            </a:r>
            <a:r>
              <a:rPr kumimoji="1" lang="en-US" altLang="zh-CN" b="0" dirty="0"/>
              <a:t>Server</a:t>
            </a:r>
            <a:r>
              <a:rPr kumimoji="1" lang="zh-CN" altLang="en-US" b="0" dirty="0"/>
              <a:t>进程的运行栈地址</a:t>
            </a:r>
            <a:endParaRPr kumimoji="1" lang="en-US" altLang="zh-CN" b="0" dirty="0"/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将地址空间切换到</a:t>
            </a:r>
            <a:r>
              <a:rPr kumimoji="1" lang="en-US" altLang="zh-CN" b="0" dirty="0"/>
              <a:t>Server</a:t>
            </a:r>
            <a:r>
              <a:rPr kumimoji="1" lang="zh-CN" altLang="en-US" b="0" dirty="0"/>
              <a:t>进程中</a:t>
            </a:r>
            <a:endParaRPr kumimoji="1" lang="en-US" altLang="zh-CN" b="0" dirty="0"/>
          </a:p>
          <a:p>
            <a:pPr marL="457200" indent="-457200">
              <a:buFont typeface="+mj-lt"/>
              <a:buAutoNum type="arabicPeriod"/>
            </a:pPr>
            <a:r>
              <a:rPr kumimoji="1" lang="zh-CN" altLang="en-US" b="0" dirty="0"/>
              <a:t>执行</a:t>
            </a:r>
            <a:r>
              <a:rPr kumimoji="1" lang="en-US" altLang="zh-CN" b="0" dirty="0"/>
              <a:t>Server</a:t>
            </a:r>
            <a:r>
              <a:rPr kumimoji="1" lang="zh-CN" altLang="en-US" b="0" dirty="0"/>
              <a:t>地址空间中的处理函数</a:t>
            </a:r>
            <a:endParaRPr kumimoji="1" lang="en-US" altLang="zh-CN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61489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轻量远程调用：通信调用实现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D94CE97B-F95F-1D46-87B9-3A62C023D40A}"/>
              </a:ext>
            </a:extLst>
          </p:cNvPr>
          <p:cNvSpPr txBox="1">
            <a:spLocks/>
          </p:cNvSpPr>
          <p:nvPr/>
        </p:nvSpPr>
        <p:spPr>
          <a:xfrm>
            <a:off x="323528" y="1100382"/>
            <a:ext cx="8363272" cy="427739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1800" dirty="0"/>
              <a:t>内核中的代码</a:t>
            </a:r>
            <a:endParaRPr kumimoji="1" lang="en-US" altLang="zh-CN" sz="1800" dirty="0"/>
          </a:p>
          <a:p>
            <a:pPr lvl="1">
              <a:buNone/>
            </a:pPr>
            <a:r>
              <a:rPr kumimoji="1" lang="en-US" altLang="zh-CN" sz="1800" dirty="0" err="1"/>
              <a:t>ipc_call</a:t>
            </a:r>
            <a:r>
              <a:rPr kumimoji="1" lang="en-US" altLang="zh-CN" sz="1800" dirty="0"/>
              <a:t>(A-stack,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arg0,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..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arg7):</a:t>
            </a:r>
          </a:p>
          <a:p>
            <a:pPr lvl="1"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verify_binding</a:t>
            </a:r>
            <a:r>
              <a:rPr kumimoji="1" lang="en-US" altLang="zh-CN" sz="1800" dirty="0"/>
              <a:t>(A-stack);</a:t>
            </a:r>
            <a:r>
              <a:rPr kumimoji="1" lang="zh-CN" altLang="en-US" sz="1800" dirty="0"/>
              <a:t>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//</a:t>
            </a:r>
            <a:r>
              <a:rPr kumimoji="1" lang="zh-CN" altLang="en-US" sz="1800" dirty="0">
                <a:solidFill>
                  <a:schemeClr val="accent5"/>
                </a:solidFill>
              </a:rPr>
              <a:t>验证</a:t>
            </a:r>
            <a:r>
              <a:rPr kumimoji="1" lang="en-US" altLang="zh-CN" sz="1800" dirty="0">
                <a:solidFill>
                  <a:schemeClr val="accent5"/>
                </a:solidFill>
              </a:rPr>
              <a:t>A-stack</a:t>
            </a:r>
            <a:r>
              <a:rPr kumimoji="1" lang="zh-CN" altLang="en-US" sz="1800" dirty="0">
                <a:solidFill>
                  <a:schemeClr val="accent5"/>
                </a:solidFill>
              </a:rPr>
              <a:t>正确性 </a:t>
            </a:r>
            <a:endParaRPr kumimoji="1" lang="en-US" altLang="zh-CN" sz="1800" dirty="0">
              <a:solidFill>
                <a:schemeClr val="accent5"/>
              </a:solidFill>
            </a:endParaRP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service_descriptor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=</a:t>
            </a:r>
            <a:r>
              <a:rPr kumimoji="1" lang="zh-CN" altLang="en-US" sz="1800" dirty="0"/>
              <a:t> </a:t>
            </a:r>
            <a:r>
              <a:rPr kumimoji="1" lang="en-US" altLang="zh-CN" sz="1800" dirty="0" err="1"/>
              <a:t>get_desc_from_A</a:t>
            </a:r>
            <a:r>
              <a:rPr kumimoji="1" lang="en-US" altLang="zh-CN" sz="1800" dirty="0"/>
              <a:t>(A-stack);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</a:t>
            </a:r>
            <a:r>
              <a:rPr kumimoji="1" lang="zh-CN" altLang="en-US" sz="1800" dirty="0">
                <a:solidFill>
                  <a:schemeClr val="accent5"/>
                </a:solidFill>
              </a:rPr>
              <a:t>*其他安全检查</a:t>
            </a:r>
            <a:r>
              <a:rPr kumimoji="1" lang="en-US" altLang="zh-CN" sz="1800" dirty="0">
                <a:solidFill>
                  <a:schemeClr val="accent5"/>
                </a:solidFill>
              </a:rPr>
              <a:t>:</a:t>
            </a:r>
            <a:r>
              <a:rPr kumimoji="1" lang="zh-CN" altLang="en-US" sz="1800" dirty="0">
                <a:solidFill>
                  <a:schemeClr val="accent5"/>
                </a:solidFill>
              </a:rPr>
              <a:t> 是否存在并发调用？*</a:t>
            </a:r>
            <a:r>
              <a:rPr kumimoji="1" lang="en-US" altLang="zh-CN" sz="1800" dirty="0">
                <a:solidFill>
                  <a:schemeClr val="accent5"/>
                </a:solidFill>
              </a:rPr>
              <a:t>/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/>
              <a:t>…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save_ctx_to_linkage_record</a:t>
            </a:r>
            <a:r>
              <a:rPr kumimoji="1" lang="en-US" altLang="zh-CN" sz="1800" dirty="0"/>
              <a:t>();</a:t>
            </a:r>
            <a:r>
              <a:rPr kumimoji="1" lang="zh-CN" altLang="en-US" sz="1800" dirty="0"/>
              <a:t>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//</a:t>
            </a:r>
            <a:r>
              <a:rPr kumimoji="1" lang="zh-CN" altLang="en-US" sz="1800" dirty="0">
                <a:solidFill>
                  <a:schemeClr val="accent5"/>
                </a:solidFill>
              </a:rPr>
              <a:t>保存调用信息到连接记录上</a:t>
            </a:r>
            <a:endParaRPr kumimoji="1" lang="en-US" altLang="zh-CN" sz="1800" dirty="0">
              <a:solidFill>
                <a:schemeClr val="accent5"/>
              </a:solidFill>
            </a:endParaRP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save_linkage_record</a:t>
            </a:r>
            <a:r>
              <a:rPr kumimoji="1" lang="en-US" altLang="zh-CN" sz="1800" dirty="0"/>
              <a:t>();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 </a:t>
            </a:r>
            <a:r>
              <a:rPr kumimoji="1" lang="en-US" altLang="zh-CN" sz="1800" dirty="0"/>
              <a:t>…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</a:t>
            </a:r>
            <a:r>
              <a:rPr kumimoji="1" lang="zh-CN" altLang="en-US" sz="1800" dirty="0">
                <a:solidFill>
                  <a:schemeClr val="accent5"/>
                </a:solidFill>
              </a:rPr>
              <a:t>* 切换运行状态 *</a:t>
            </a:r>
            <a:r>
              <a:rPr kumimoji="1" lang="en-US" altLang="zh-CN" sz="1800" dirty="0">
                <a:solidFill>
                  <a:schemeClr val="accent5"/>
                </a:solidFill>
              </a:rPr>
              <a:t>/</a:t>
            </a: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switch_PT</a:t>
            </a:r>
            <a:r>
              <a:rPr kumimoji="1" lang="en-US" altLang="zh-CN" sz="1800" dirty="0"/>
              <a:t>();</a:t>
            </a:r>
            <a:r>
              <a:rPr kumimoji="1" lang="zh-CN" altLang="en-US" sz="1800" dirty="0"/>
              <a:t>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//</a:t>
            </a:r>
            <a:r>
              <a:rPr kumimoji="1" lang="zh-CN" altLang="en-US" sz="1800" dirty="0">
                <a:solidFill>
                  <a:schemeClr val="accent5"/>
                </a:solidFill>
              </a:rPr>
              <a:t>修改页表</a:t>
            </a:r>
            <a:endParaRPr kumimoji="1" lang="en-US" altLang="zh-CN" sz="1800" dirty="0">
              <a:solidFill>
                <a:schemeClr val="accent5"/>
              </a:solidFill>
            </a:endParaRPr>
          </a:p>
          <a:p>
            <a:pPr lvl="1"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switch_cap_table</a:t>
            </a:r>
            <a:r>
              <a:rPr kumimoji="1" lang="en-US" altLang="zh-CN" sz="1800" dirty="0"/>
              <a:t>();</a:t>
            </a:r>
            <a:r>
              <a:rPr kumimoji="1" lang="zh-CN" altLang="en-US" sz="1800" dirty="0"/>
              <a:t>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//</a:t>
            </a:r>
            <a:r>
              <a:rPr kumimoji="1" lang="zh-CN" altLang="en-US" sz="1800" dirty="0">
                <a:solidFill>
                  <a:schemeClr val="accent5"/>
                </a:solidFill>
              </a:rPr>
              <a:t>修改权限表</a:t>
            </a:r>
            <a:endParaRPr kumimoji="1" lang="en-US" altLang="zh-CN" sz="1800" dirty="0">
              <a:solidFill>
                <a:schemeClr val="accent5"/>
              </a:solidFill>
            </a:endParaRPr>
          </a:p>
          <a:p>
            <a:pPr lvl="1"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switch_sp</a:t>
            </a:r>
            <a:r>
              <a:rPr kumimoji="1" lang="en-US" altLang="zh-CN" sz="1800" dirty="0"/>
              <a:t>();</a:t>
            </a:r>
            <a:r>
              <a:rPr kumimoji="1" lang="zh-CN" altLang="en-US" sz="1800" dirty="0"/>
              <a:t>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//</a:t>
            </a:r>
            <a:r>
              <a:rPr kumimoji="1" lang="zh-CN" altLang="en-US" sz="1800" dirty="0">
                <a:solidFill>
                  <a:schemeClr val="accent5"/>
                </a:solidFill>
              </a:rPr>
              <a:t>修改栈地址</a:t>
            </a:r>
            <a:endParaRPr kumimoji="1" lang="en-US" altLang="zh-CN" sz="1800" dirty="0">
              <a:solidFill>
                <a:schemeClr val="accent5"/>
              </a:solidFill>
            </a:endParaRP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/>
              <a:t>….</a:t>
            </a:r>
            <a:r>
              <a:rPr kumimoji="1" lang="zh-CN" altLang="en-US" sz="1800" dirty="0"/>
              <a:t>    </a:t>
            </a:r>
            <a:endParaRPr kumimoji="1" lang="en-US" altLang="zh-CN" sz="1800" dirty="0"/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>
                <a:solidFill>
                  <a:schemeClr val="accent5"/>
                </a:solidFill>
              </a:rPr>
              <a:t>//</a:t>
            </a:r>
            <a:r>
              <a:rPr kumimoji="1" lang="zh-CN" altLang="en-US" sz="1800" dirty="0">
                <a:solidFill>
                  <a:schemeClr val="accent5"/>
                </a:solidFill>
              </a:rPr>
              <a:t>返回到用户态</a:t>
            </a:r>
            <a:r>
              <a:rPr kumimoji="1" lang="en-US" altLang="zh-CN" sz="1800" dirty="0">
                <a:solidFill>
                  <a:schemeClr val="accent5"/>
                </a:solidFill>
              </a:rPr>
              <a:t>(</a:t>
            </a:r>
            <a:r>
              <a:rPr kumimoji="1" lang="zh-CN" altLang="en-US" sz="1800" dirty="0">
                <a:solidFill>
                  <a:schemeClr val="accent5"/>
                </a:solidFill>
              </a:rPr>
              <a:t>服务端进程</a:t>
            </a:r>
            <a:r>
              <a:rPr kumimoji="1" lang="en-US" altLang="zh-CN" sz="1800" dirty="0">
                <a:solidFill>
                  <a:schemeClr val="accent5"/>
                </a:solidFill>
              </a:rPr>
              <a:t>)</a:t>
            </a:r>
            <a:r>
              <a:rPr kumimoji="1" lang="zh-CN" altLang="en-US" sz="1800" dirty="0">
                <a:solidFill>
                  <a:schemeClr val="accent5"/>
                </a:solidFill>
              </a:rPr>
              <a:t>，不修改参数寄存器</a:t>
            </a:r>
            <a:endParaRPr kumimoji="1" lang="en-US" altLang="zh-CN" sz="1800" dirty="0">
              <a:solidFill>
                <a:schemeClr val="accent5"/>
              </a:solidFill>
            </a:endParaRPr>
          </a:p>
          <a:p>
            <a:pPr lvl="1">
              <a:buFont typeface="Arial" pitchFamily="34" charset="0"/>
              <a:buNone/>
            </a:pPr>
            <a:r>
              <a:rPr kumimoji="1" lang="zh-CN" altLang="en-US" sz="1800" dirty="0"/>
              <a:t>    </a:t>
            </a:r>
            <a:r>
              <a:rPr kumimoji="1" lang="en-US" altLang="zh-CN" sz="1800" dirty="0" err="1"/>
              <a:t>ctx_restore_with_args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(ret);</a:t>
            </a:r>
          </a:p>
          <a:p>
            <a:pPr lvl="3">
              <a:buFont typeface="Arial" pitchFamily="34" charset="0"/>
              <a:buNone/>
            </a:pP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74501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轻量远程调用：讨论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CD9D90-0197-B94C-A208-974C2C618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为什么需要将栈分成参数栈和运行栈？</a:t>
            </a:r>
            <a:endParaRPr kumimoji="1" lang="en-US" altLang="zh-CN" dirty="0"/>
          </a:p>
          <a:p>
            <a:r>
              <a:rPr kumimoji="1" lang="en-US" altLang="zh-CN" dirty="0"/>
              <a:t>LRPC</a:t>
            </a:r>
            <a:r>
              <a:rPr kumimoji="1" lang="zh-CN" altLang="en-US" dirty="0"/>
              <a:t>中控制流转换的主要开销是什么？</a:t>
            </a:r>
            <a:endParaRPr kumimoji="1" lang="en-US" altLang="zh-CN" dirty="0"/>
          </a:p>
          <a:p>
            <a:r>
              <a:rPr kumimoji="1" lang="zh-CN" altLang="en-US" dirty="0"/>
              <a:t>在不考虑多线程的情况下，共享参数栈是否安全？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17440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774D4-F5BF-FE62-0263-A3F803595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9F4AEC2-A735-DB7E-6536-9A2F45663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案例分析</a:t>
            </a:r>
            <a:r>
              <a:rPr kumimoji="1" lang="en-US" altLang="zh-CN" dirty="0"/>
              <a:t>:Binder</a:t>
            </a:r>
            <a:r>
              <a:rPr kumimoji="1" lang="zh-CN" altLang="en-US" dirty="0"/>
              <a:t> </a:t>
            </a:r>
            <a:r>
              <a:rPr kumimoji="1" lang="en-US" altLang="zh-CN" dirty="0"/>
              <a:t>IPC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73239BF2-0C2B-05C0-12D1-E5F4269342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58584C-CF06-EB38-49C1-821C3693D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08992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CC04-A7D6-9449-F1ED-ABE1B3705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326B09-03EA-2066-3513-1BE6D6C4C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问题：消息传递过程的内存拷贝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19998E-3CBE-93E2-6087-2AAC5A828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10E34C-08A5-CD36-13AC-86F74901E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75F77E7-8ADA-1FC9-80B2-51E6DC9636A4}"/>
              </a:ext>
            </a:extLst>
          </p:cNvPr>
          <p:cNvGraphicFramePr>
            <a:graphicFrameLocks noGrp="1"/>
          </p:cNvGraphicFramePr>
          <p:nvPr/>
        </p:nvGraphicFramePr>
        <p:xfrm>
          <a:off x="1645983" y="1417340"/>
          <a:ext cx="5778066" cy="237669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26022">
                  <a:extLst>
                    <a:ext uri="{9D8B030D-6E8A-4147-A177-3AD203B41FA5}">
                      <a16:colId xmlns:a16="http://schemas.microsoft.com/office/drawing/2014/main" val="1585941552"/>
                    </a:ext>
                  </a:extLst>
                </a:gridCol>
                <a:gridCol w="1926022">
                  <a:extLst>
                    <a:ext uri="{9D8B030D-6E8A-4147-A177-3AD203B41FA5}">
                      <a16:colId xmlns:a16="http://schemas.microsoft.com/office/drawing/2014/main" val="2435578935"/>
                    </a:ext>
                  </a:extLst>
                </a:gridCol>
                <a:gridCol w="1926022">
                  <a:extLst>
                    <a:ext uri="{9D8B030D-6E8A-4147-A177-3AD203B41FA5}">
                      <a16:colId xmlns:a16="http://schemas.microsoft.com/office/drawing/2014/main" val="2516145049"/>
                    </a:ext>
                  </a:extLst>
                </a:gridCol>
              </a:tblGrid>
              <a:tr h="504488">
                <a:tc>
                  <a:txBody>
                    <a:bodyPr/>
                    <a:lstStyle/>
                    <a:p>
                      <a:pPr algn="l"/>
                      <a:r>
                        <a:rPr lang="en-CN" dirty="0">
                          <a:solidFill>
                            <a:schemeClr val="tx1"/>
                          </a:solidFill>
                        </a:rPr>
                        <a:t>IPC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机制</a:t>
                      </a:r>
                      <a:endParaRPr lang="en-C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内存拷贝次数</a:t>
                      </a:r>
                      <a:endParaRPr lang="en-C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TOCTTOU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攻击</a:t>
                      </a:r>
                      <a:endParaRPr lang="en-CN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10477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管道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CN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无</a:t>
                      </a:r>
                      <a:endParaRPr lang="en-C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4882423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共享内存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CN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有</a:t>
                      </a:r>
                      <a:endParaRPr lang="en-C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0177361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l"/>
                      <a:r>
                        <a:rPr lang="en-CN" dirty="0"/>
                        <a:t>消息队列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CN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无</a:t>
                      </a:r>
                      <a:endParaRPr lang="en-C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5418575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/>
                      <a:r>
                        <a:rPr lang="en-US" altLang="zh-CN" b="1" dirty="0">
                          <a:solidFill>
                            <a:srgbClr val="C00000"/>
                          </a:solidFill>
                        </a:rPr>
                        <a:t>Binder</a:t>
                      </a:r>
                      <a:r>
                        <a:rPr lang="zh-CN" altLang="en-US" b="1" dirty="0">
                          <a:solidFill>
                            <a:srgbClr val="C00000"/>
                          </a:solidFill>
                        </a:rPr>
                        <a:t> </a:t>
                      </a:r>
                      <a:r>
                        <a:rPr lang="en-US" altLang="zh-CN" b="1" dirty="0">
                          <a:solidFill>
                            <a:srgbClr val="C00000"/>
                          </a:solidFill>
                        </a:rPr>
                        <a:t>IPC</a:t>
                      </a:r>
                      <a:endParaRPr lang="en-CN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en-CN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>
                          <a:solidFill>
                            <a:srgbClr val="C00000"/>
                          </a:solidFill>
                        </a:rPr>
                        <a:t>无</a:t>
                      </a:r>
                      <a:endParaRPr lang="en-CN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6767635"/>
                  </a:ext>
                </a:extLst>
              </a:tr>
            </a:tbl>
          </a:graphicData>
        </a:graphic>
      </p:graphicFrame>
      <p:sp>
        <p:nvSpPr>
          <p:cNvPr id="9" name="内容占位符 2">
            <a:extLst>
              <a:ext uri="{FF2B5EF4-FFF2-40B4-BE49-F238E27FC236}">
                <a16:creationId xmlns:a16="http://schemas.microsoft.com/office/drawing/2014/main" id="{A9F3F38A-1F5D-0F84-440C-297347C74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940" y="4153644"/>
            <a:ext cx="8229600" cy="100811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如何兼具</a:t>
            </a:r>
            <a:r>
              <a:rPr kumimoji="1" lang="en-US" altLang="zh-CN" dirty="0"/>
              <a:t>IPC</a:t>
            </a:r>
            <a:r>
              <a:rPr kumimoji="1" lang="zh-CN" altLang="en-US" dirty="0"/>
              <a:t>数据传输的高性能与高安全？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LRPC</a:t>
            </a:r>
            <a:r>
              <a:rPr kumimoji="1" lang="zh-CN" altLang="en-US" dirty="0"/>
              <a:t>未考虑多线程</a:t>
            </a:r>
            <a:r>
              <a:rPr kumimoji="1" lang="en-US" altLang="zh-CN" dirty="0"/>
              <a:t>/</a:t>
            </a:r>
            <a:r>
              <a:rPr kumimoji="1" lang="zh-CN" altLang="en-US" dirty="0"/>
              <a:t>多进程场景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566555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C1A76-E63A-1069-4824-BBECD03AE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5DCB98-B0FD-628A-B0F0-1BCEDC0FC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安卓</a:t>
            </a:r>
            <a:r>
              <a:rPr kumimoji="1" lang="en-US" altLang="zh-CN" dirty="0"/>
              <a:t>Binder</a:t>
            </a:r>
            <a:r>
              <a:rPr kumimoji="1" lang="zh-CN" altLang="en-US" dirty="0"/>
              <a:t> </a:t>
            </a:r>
            <a:r>
              <a:rPr kumimoji="1" lang="en-US" altLang="zh-CN" dirty="0"/>
              <a:t>IPC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CE4794A-4BF8-2682-1A82-6286F8541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1081F1-6611-62F7-FFC0-399C9235F5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E25A03FC-A611-D06D-A5F7-B0A32EC4E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3744416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安卓默认的</a:t>
            </a:r>
            <a:r>
              <a:rPr kumimoji="1" lang="en-US" altLang="zh-CN" dirty="0"/>
              <a:t>IPC</a:t>
            </a:r>
            <a:r>
              <a:rPr kumimoji="1" lang="zh-CN" altLang="en-US" dirty="0"/>
              <a:t>机制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安卓应用间通信默认使用</a:t>
            </a:r>
            <a:r>
              <a:rPr kumimoji="1" lang="en-US" altLang="zh-CN" dirty="0"/>
              <a:t>Binder</a:t>
            </a:r>
          </a:p>
          <a:p>
            <a:r>
              <a:rPr kumimoji="1" lang="zh-CN" altLang="en-US" dirty="0"/>
              <a:t>框架层</a:t>
            </a:r>
            <a:r>
              <a:rPr kumimoji="1" lang="en-US" altLang="zh-CN" dirty="0"/>
              <a:t>Binder</a:t>
            </a:r>
            <a:r>
              <a:rPr kumimoji="1" lang="zh-CN" altLang="en-US" dirty="0"/>
              <a:t>服务框架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发现服务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接口封装</a:t>
            </a:r>
            <a:endParaRPr kumimoji="1" lang="en-US" altLang="zh-CN" dirty="0"/>
          </a:p>
          <a:p>
            <a:r>
              <a:rPr kumimoji="1" lang="zh-CN" altLang="en-US" dirty="0"/>
              <a:t>内核层</a:t>
            </a:r>
            <a:r>
              <a:rPr kumimoji="1" lang="en-US" altLang="zh-CN" dirty="0"/>
              <a:t>Binder</a:t>
            </a:r>
            <a:r>
              <a:rPr kumimoji="1" lang="zh-CN" altLang="en-US" dirty="0"/>
              <a:t>驱动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提供内核层</a:t>
            </a:r>
            <a:r>
              <a:rPr kumimoji="1" lang="en-US" altLang="zh-CN" dirty="0"/>
              <a:t>IPC</a:t>
            </a:r>
            <a:r>
              <a:rPr kumimoji="1" lang="zh-CN" altLang="en-US" dirty="0"/>
              <a:t>能力</a:t>
            </a:r>
            <a:endParaRPr kumimoji="1" lang="en-US" altLang="zh-CN" dirty="0"/>
          </a:p>
        </p:txBody>
      </p:sp>
      <p:pic>
        <p:nvPicPr>
          <p:cNvPr id="3" name="Picture 2" descr="彻底理解Android Binder通信架构 - oude_yang - 博客园">
            <a:extLst>
              <a:ext uri="{FF2B5EF4-FFF2-40B4-BE49-F238E27FC236}">
                <a16:creationId xmlns:a16="http://schemas.microsoft.com/office/drawing/2014/main" id="{1C29AC5D-E1D4-CA50-15A5-4D883A1A1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90" y="2014889"/>
            <a:ext cx="4810110" cy="2339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页脚占位符 4">
            <a:extLst>
              <a:ext uri="{FF2B5EF4-FFF2-40B4-BE49-F238E27FC236}">
                <a16:creationId xmlns:a16="http://schemas.microsoft.com/office/drawing/2014/main" id="{BFEEF52F-4FE5-AFC6-58A9-A058D83B3612}"/>
              </a:ext>
            </a:extLst>
          </p:cNvPr>
          <p:cNvSpPr txBox="1">
            <a:spLocks/>
          </p:cNvSpPr>
          <p:nvPr/>
        </p:nvSpPr>
        <p:spPr>
          <a:xfrm>
            <a:off x="4333890" y="4228609"/>
            <a:ext cx="3962399" cy="13810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" altLang="zh-CN" sz="600" dirty="0"/>
              <a:t>https://</a:t>
            </a:r>
            <a:r>
              <a:rPr lang="en" altLang="zh-CN" sz="600" dirty="0" err="1"/>
              <a:t>www.cnblogs.com</a:t>
            </a:r>
            <a:r>
              <a:rPr lang="en" altLang="zh-CN" sz="600" dirty="0"/>
              <a:t>/Oude/p/12365079.html</a:t>
            </a:r>
            <a:endParaRPr lang="zh-CN" altLang="en-US" sz="600" dirty="0"/>
          </a:p>
        </p:txBody>
      </p:sp>
    </p:spTree>
    <p:extLst>
      <p:ext uri="{BB962C8B-B14F-4D97-AF65-F5344CB8AC3E}">
        <p14:creationId xmlns:p14="http://schemas.microsoft.com/office/powerpoint/2010/main" val="10894145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32540-553F-7869-6D16-A94023911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D90EA3-7A1C-4E5D-6821-687DE1B3B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Binder</a:t>
            </a:r>
            <a:r>
              <a:rPr kumimoji="1" lang="zh-CN" altLang="en-US" dirty="0"/>
              <a:t> </a:t>
            </a:r>
            <a:r>
              <a:rPr kumimoji="1" lang="en-US" altLang="zh-CN" dirty="0"/>
              <a:t>IPC</a:t>
            </a:r>
            <a:r>
              <a:rPr kumimoji="1" lang="zh-CN" altLang="en-US" dirty="0"/>
              <a:t>数据传输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25A27E-5095-266D-7737-491EFE8D6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216" y="1088264"/>
            <a:ext cx="8229600" cy="731911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通过内存映射减少</a:t>
            </a:r>
            <a:r>
              <a:rPr kumimoji="1" lang="en-US" altLang="zh-CN" dirty="0"/>
              <a:t>IPC</a:t>
            </a:r>
            <a:r>
              <a:rPr kumimoji="1" lang="zh-CN" altLang="en-US" dirty="0"/>
              <a:t>数据拷贝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050D1F-4CFB-5655-4C1E-6BC365B6F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5661E7-C842-781A-6333-A4C7B46107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517BFFC-1689-8DDF-B3CC-6A831A96A3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1633364"/>
            <a:ext cx="5556873" cy="355560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E34F98A-9330-A361-2B84-CEC6178C3C48}"/>
              </a:ext>
            </a:extLst>
          </p:cNvPr>
          <p:cNvSpPr txBox="1"/>
          <p:nvPr/>
        </p:nvSpPr>
        <p:spPr>
          <a:xfrm>
            <a:off x="572190" y="3161702"/>
            <a:ext cx="15358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chemeClr val="accent1"/>
                </a:solidFill>
              </a:rPr>
              <a:t>发送端一次数据拷贝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9EF2A9C-5F82-2341-1C20-7A9CBC8FE66E}"/>
              </a:ext>
            </a:extLst>
          </p:cNvPr>
          <p:cNvSpPr txBox="1"/>
          <p:nvPr/>
        </p:nvSpPr>
        <p:spPr>
          <a:xfrm>
            <a:off x="7422043" y="3161702"/>
            <a:ext cx="15358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chemeClr val="accent1"/>
                </a:solidFill>
              </a:rPr>
              <a:t>接受端零次数据拷贝</a:t>
            </a:r>
          </a:p>
        </p:txBody>
      </p:sp>
    </p:spTree>
    <p:extLst>
      <p:ext uri="{BB962C8B-B14F-4D97-AF65-F5344CB8AC3E}">
        <p14:creationId xmlns:p14="http://schemas.microsoft.com/office/powerpoint/2010/main" val="42296155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96E1F-B4BD-FE11-1056-978F1DA85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CD5EB7-4D8E-660C-460F-F666F9C03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数据序列化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BB4935-595E-3640-1C78-BE1DDF2B2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216" y="1088264"/>
            <a:ext cx="6240016" cy="3641444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复杂数据结构无法直接跨进程传输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数据结构嵌套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指针、文件描述符等接收端无法访问</a:t>
            </a:r>
            <a:endParaRPr kumimoji="1" lang="en-US" altLang="zh-CN" dirty="0"/>
          </a:p>
          <a:p>
            <a:r>
              <a:rPr kumimoji="1" lang="zh-CN" altLang="en-US" dirty="0"/>
              <a:t>方案：序列化与反序列化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序列化：将数据结构展开为一个字节串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反序列化：将字节串转换为原有数据结构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844C553-076E-7E7E-1468-72C3E110E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A1D715-803B-6C88-63EE-C2A2DF5FB8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FD3569CF-F70E-1F65-72B2-0D725BC1D2D4}"/>
              </a:ext>
            </a:extLst>
          </p:cNvPr>
          <p:cNvSpPr/>
          <p:nvPr/>
        </p:nvSpPr>
        <p:spPr>
          <a:xfrm>
            <a:off x="1067379" y="4169883"/>
            <a:ext cx="2133600" cy="1152128"/>
          </a:xfrm>
          <a:prstGeom prst="roundRect">
            <a:avLst>
              <a:gd name="adj" fmla="val 717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400" dirty="0"/>
              <a:t>struct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object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Msg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=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{</a:t>
            </a:r>
          </a:p>
          <a:p>
            <a:r>
              <a:rPr kumimoji="1" lang="zh-CN" altLang="en-US" sz="1400" dirty="0"/>
              <a:t>  </a:t>
            </a:r>
            <a:r>
              <a:rPr kumimoji="1" lang="en-US" altLang="zh-CN" sz="1400" dirty="0"/>
              <a:t>int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ID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=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1;</a:t>
            </a:r>
          </a:p>
          <a:p>
            <a:r>
              <a:rPr kumimoji="1" lang="zh-CN" altLang="en-US" sz="1400" dirty="0"/>
              <a:t>  </a:t>
            </a:r>
            <a:r>
              <a:rPr kumimoji="1" lang="en-US" altLang="zh-CN" sz="1400" dirty="0"/>
              <a:t>char</a:t>
            </a:r>
            <a:r>
              <a:rPr kumimoji="1" lang="zh-CN" altLang="en-US" sz="1400" dirty="0"/>
              <a:t>* </a:t>
            </a:r>
            <a:r>
              <a:rPr kumimoji="1" lang="en-US" altLang="zh-CN" sz="1400" dirty="0"/>
              <a:t>name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=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“Bob”;</a:t>
            </a:r>
          </a:p>
          <a:p>
            <a:r>
              <a:rPr kumimoji="1" lang="zh-CN" altLang="en-US" sz="1400" dirty="0"/>
              <a:t>  </a:t>
            </a:r>
            <a:r>
              <a:rPr kumimoji="1" lang="en-US" altLang="zh-CN" sz="1400" dirty="0"/>
              <a:t>struct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data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=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…</a:t>
            </a:r>
          </a:p>
          <a:p>
            <a:r>
              <a:rPr kumimoji="1" lang="en-US" altLang="zh-CN" sz="1400" dirty="0"/>
              <a:t>}</a:t>
            </a:r>
            <a:r>
              <a:rPr kumimoji="1" lang="zh-CN" altLang="en-US" sz="1400" dirty="0"/>
              <a:t>；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1D4B724-23B5-FD3B-3885-971A3B1A80B8}"/>
              </a:ext>
            </a:extLst>
          </p:cNvPr>
          <p:cNvSpPr/>
          <p:nvPr/>
        </p:nvSpPr>
        <p:spPr>
          <a:xfrm>
            <a:off x="4864868" y="4577572"/>
            <a:ext cx="3473208" cy="304271"/>
          </a:xfrm>
          <a:prstGeom prst="roundRect">
            <a:avLst>
              <a:gd name="adj" fmla="val 717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400" dirty="0"/>
              <a:t>“Msg”:{“ID”:1,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“name”: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“Bob”,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“data”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=</a:t>
            </a:r>
            <a:r>
              <a:rPr kumimoji="1" lang="zh-CN" altLang="en-US" sz="1400" dirty="0"/>
              <a:t> </a:t>
            </a:r>
            <a:r>
              <a:rPr kumimoji="1" lang="en-US" altLang="zh-CN" sz="1400" dirty="0"/>
              <a:t>{…}}</a:t>
            </a:r>
          </a:p>
        </p:txBody>
      </p:sp>
      <p:sp>
        <p:nvSpPr>
          <p:cNvPr id="14" name="右箭头 13">
            <a:extLst>
              <a:ext uri="{FF2B5EF4-FFF2-40B4-BE49-F238E27FC236}">
                <a16:creationId xmlns:a16="http://schemas.microsoft.com/office/drawing/2014/main" id="{842FD79F-D4CB-A49C-E121-CE36FB7B1C68}"/>
              </a:ext>
            </a:extLst>
          </p:cNvPr>
          <p:cNvSpPr/>
          <p:nvPr/>
        </p:nvSpPr>
        <p:spPr>
          <a:xfrm>
            <a:off x="3576784" y="4439439"/>
            <a:ext cx="936104" cy="1440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右箭头 15">
            <a:extLst>
              <a:ext uri="{FF2B5EF4-FFF2-40B4-BE49-F238E27FC236}">
                <a16:creationId xmlns:a16="http://schemas.microsoft.com/office/drawing/2014/main" id="{BB4DC5FF-A942-72BF-0089-6D311F307566}"/>
              </a:ext>
            </a:extLst>
          </p:cNvPr>
          <p:cNvSpPr/>
          <p:nvPr/>
        </p:nvSpPr>
        <p:spPr>
          <a:xfrm rot="10800000">
            <a:off x="3576785" y="4831519"/>
            <a:ext cx="936104" cy="1440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499BBA7-1833-07E5-8A84-CEF34EDF2536}"/>
              </a:ext>
            </a:extLst>
          </p:cNvPr>
          <p:cNvSpPr txBox="1"/>
          <p:nvPr/>
        </p:nvSpPr>
        <p:spPr>
          <a:xfrm>
            <a:off x="3276925" y="4129354"/>
            <a:ext cx="15358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/>
              <a:t>序列化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E742E34-4481-36CB-7393-743393E0A4B1}"/>
              </a:ext>
            </a:extLst>
          </p:cNvPr>
          <p:cNvSpPr txBox="1"/>
          <p:nvPr/>
        </p:nvSpPr>
        <p:spPr>
          <a:xfrm>
            <a:off x="3276925" y="4979880"/>
            <a:ext cx="15358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/>
              <a:t>反序列化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42753C1-59A4-1AB2-AB5C-FF9C0EC461A0}"/>
              </a:ext>
            </a:extLst>
          </p:cNvPr>
          <p:cNvSpPr txBox="1"/>
          <p:nvPr/>
        </p:nvSpPr>
        <p:spPr>
          <a:xfrm>
            <a:off x="-53043" y="4605307"/>
            <a:ext cx="1101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/>
              <a:t>数据对象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2255A06-6D7F-B2F6-4C9A-1ADCCA2B3856}"/>
              </a:ext>
            </a:extLst>
          </p:cNvPr>
          <p:cNvSpPr txBox="1"/>
          <p:nvPr/>
        </p:nvSpPr>
        <p:spPr>
          <a:xfrm>
            <a:off x="8292681" y="4560430"/>
            <a:ext cx="8640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/>
              <a:t>字节串</a:t>
            </a:r>
          </a:p>
        </p:txBody>
      </p:sp>
    </p:spTree>
    <p:extLst>
      <p:ext uri="{BB962C8B-B14F-4D97-AF65-F5344CB8AC3E}">
        <p14:creationId xmlns:p14="http://schemas.microsoft.com/office/powerpoint/2010/main" val="1533002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 animBg="1"/>
      <p:bldP spid="16" grpId="0" animBg="1"/>
      <p:bldP spid="17" grpId="0"/>
      <p:bldP spid="18" grpId="0"/>
      <p:bldP spid="19" grpId="0"/>
      <p:bldP spid="20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2E98A-5AE8-F869-FB04-97B4E60A0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5BE702-1CD4-E6FB-0319-91D1F940E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Binder</a:t>
            </a:r>
            <a:r>
              <a:rPr kumimoji="1" lang="zh-CN" altLang="en-US" dirty="0"/>
              <a:t> </a:t>
            </a:r>
            <a:r>
              <a:rPr kumimoji="1" lang="en-US" altLang="zh-CN" dirty="0"/>
              <a:t>IPC</a:t>
            </a:r>
            <a:r>
              <a:rPr kumimoji="1" lang="zh-CN" altLang="en-US" dirty="0"/>
              <a:t>数据序列化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8E7801-D122-B9E0-C0B1-CED9B1263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216" y="1088264"/>
            <a:ext cx="8229600" cy="2057268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内核辅助完成特殊对象传输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文件描述符、句柄等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定位特殊对象位置 </a:t>
            </a:r>
            <a:r>
              <a:rPr kumimoji="1" lang="en-US" altLang="zh-CN" dirty="0"/>
              <a:t>+</a:t>
            </a:r>
            <a:r>
              <a:rPr kumimoji="1" lang="zh-CN" altLang="en-US" dirty="0"/>
              <a:t> 帮助接收端进程重构特殊对象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B43DCB-226E-D6BF-D5C9-1DABD441A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7E6A59-9BD4-4647-9314-8C4C75C43A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A00AB7E-10B1-D861-8FFE-94FAE95D6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518" y="3023056"/>
            <a:ext cx="6864972" cy="227390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63B6953-BCB4-B114-97A2-6CB8BE99B041}"/>
              </a:ext>
            </a:extLst>
          </p:cNvPr>
          <p:cNvSpPr txBox="1"/>
          <p:nvPr/>
        </p:nvSpPr>
        <p:spPr>
          <a:xfrm>
            <a:off x="86433" y="4954000"/>
            <a:ext cx="15358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accent1"/>
                </a:solidFill>
              </a:rPr>
              <a:t>1.</a:t>
            </a:r>
            <a:r>
              <a:rPr kumimoji="1" lang="zh-CN" altLang="en-US" dirty="0">
                <a:solidFill>
                  <a:schemeClr val="accent1"/>
                </a:solidFill>
              </a:rPr>
              <a:t> 定位序列化字节串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3A08BD-57A0-5340-0461-2733480A7CD2}"/>
              </a:ext>
            </a:extLst>
          </p:cNvPr>
          <p:cNvSpPr txBox="1"/>
          <p:nvPr/>
        </p:nvSpPr>
        <p:spPr>
          <a:xfrm>
            <a:off x="7095676" y="2822366"/>
            <a:ext cx="1907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accent1"/>
                </a:solidFill>
              </a:rPr>
              <a:t>2.</a:t>
            </a:r>
            <a:r>
              <a:rPr kumimoji="1" lang="zh-CN" altLang="en-US" dirty="0">
                <a:solidFill>
                  <a:schemeClr val="accent1"/>
                </a:solidFill>
              </a:rPr>
              <a:t> 找到字节串中的特殊对象位置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7BAA383-0098-E10C-F496-1067ADECD989}"/>
              </a:ext>
            </a:extLst>
          </p:cNvPr>
          <p:cNvSpPr txBox="1"/>
          <p:nvPr/>
        </p:nvSpPr>
        <p:spPr>
          <a:xfrm>
            <a:off x="251520" y="2660783"/>
            <a:ext cx="3141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solidFill>
                  <a:schemeClr val="accent1"/>
                </a:solidFill>
              </a:rPr>
              <a:t>3.</a:t>
            </a:r>
            <a:r>
              <a:rPr kumimoji="1" lang="zh-CN" altLang="en-US" dirty="0">
                <a:solidFill>
                  <a:schemeClr val="accent1"/>
                </a:solidFill>
              </a:rPr>
              <a:t> 特殊对象重构（如为接收端打开文件，获得对应</a:t>
            </a:r>
            <a:r>
              <a:rPr kumimoji="1" lang="en-US" altLang="zh-CN" dirty="0" err="1">
                <a:solidFill>
                  <a:schemeClr val="accent1"/>
                </a:solidFill>
              </a:rPr>
              <a:t>fd</a:t>
            </a:r>
            <a:r>
              <a:rPr kumimoji="1" lang="zh-CN" altLang="en-US" dirty="0">
                <a:solidFill>
                  <a:schemeClr val="accent1"/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920156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4160F-900D-FBC5-74A4-495096769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74691B-7D27-7D98-AE39-3D25CBF67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问题：服务端线程数量如何配置？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37C4B5-0573-5787-6ED8-C30988FFB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216" y="1088264"/>
            <a:ext cx="6240016" cy="3641444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IPC</a:t>
            </a:r>
            <a:r>
              <a:rPr kumimoji="1" lang="zh-CN" altLang="en-US" dirty="0"/>
              <a:t>请求需要服务端线程的处理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一个</a:t>
            </a:r>
            <a:r>
              <a:rPr kumimoji="1" lang="en-US" altLang="zh-CN" dirty="0"/>
              <a:t>IPC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Server</a:t>
            </a:r>
            <a:r>
              <a:rPr kumimoji="1" lang="zh-CN" altLang="en-US" dirty="0"/>
              <a:t>可能处理大量</a:t>
            </a:r>
            <a:r>
              <a:rPr kumimoji="1" lang="en-US" altLang="zh-CN" dirty="0"/>
              <a:t>Client</a:t>
            </a:r>
            <a:r>
              <a:rPr kumimoji="1" lang="zh-CN" altLang="en-US" dirty="0"/>
              <a:t>请求</a:t>
            </a:r>
            <a:endParaRPr kumimoji="1" lang="en-US" altLang="zh-CN" dirty="0"/>
          </a:p>
          <a:p>
            <a:r>
              <a:rPr kumimoji="1" lang="zh-CN" altLang="en-US" dirty="0"/>
              <a:t>服务端线程数的配置困境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少量服务线程 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无法应对高负载任务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大量服务线程 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 低负载时浪费资源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3874CF-A5C2-8D4D-3A77-426FFC94B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CD460C-8FC0-E106-8729-25A15A620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24169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AFDE8-87B6-B6C2-3CFB-F9B5E0738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C7789F47-B484-D3A0-482D-AC19DF438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2557408"/>
            <a:ext cx="7362192" cy="315642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05A2A1A-A4F9-8537-245F-0DFE8417B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Binder</a:t>
            </a:r>
            <a:r>
              <a:rPr kumimoji="1" lang="zh-CN" altLang="en-US" dirty="0"/>
              <a:t> </a:t>
            </a:r>
            <a:r>
              <a:rPr kumimoji="1" lang="en-US" altLang="zh-CN" dirty="0"/>
              <a:t>IPC</a:t>
            </a:r>
            <a:r>
              <a:rPr kumimoji="1" lang="zh-CN" altLang="en-US" dirty="0"/>
              <a:t>线程池模型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1752CB-E60C-B945-BDC0-04EF4CB6D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216" y="1088264"/>
            <a:ext cx="6240016" cy="1553212"/>
          </a:xfrm>
        </p:spPr>
        <p:txBody>
          <a:bodyPr>
            <a:normAutofit fontScale="85000" lnSpcReduction="20000"/>
          </a:bodyPr>
          <a:lstStyle/>
          <a:p>
            <a:r>
              <a:rPr kumimoji="1" lang="zh-CN" altLang="en-US" dirty="0"/>
              <a:t>服务端设置最大线程数量</a:t>
            </a:r>
            <a:endParaRPr kumimoji="1" lang="en-US" altLang="zh-CN" dirty="0"/>
          </a:p>
          <a:p>
            <a:r>
              <a:rPr kumimoji="1" lang="zh-CN" altLang="en-US" dirty="0"/>
              <a:t>内核动态创建服务线程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默认从服务线程池挑选处理线程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服务线程不足自动创建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455E0A-06F4-492B-FB22-9F3AD6BBD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1684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ChCORE</a:t>
            </a:r>
            <a:r>
              <a:rPr kumimoji="1" lang="zh-CN" altLang="en-US" dirty="0"/>
              <a:t>进程间通信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ChCore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IPC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6303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E08B11-41AD-C840-B4B8-1FF8AA54A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ChCore</a:t>
            </a:r>
            <a:r>
              <a:rPr kumimoji="1" lang="zh-CN" altLang="en-US" dirty="0"/>
              <a:t>进程间通信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D18309-230F-824F-A482-56F852D22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通信进程直接切换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启发自</a:t>
            </a:r>
            <a:r>
              <a:rPr kumimoji="1" lang="en-US" altLang="zh-CN" dirty="0"/>
              <a:t>LRPC</a:t>
            </a:r>
            <a:r>
              <a:rPr kumimoji="1" lang="zh-CN" altLang="en-US" dirty="0"/>
              <a:t>和</a:t>
            </a:r>
            <a:r>
              <a:rPr kumimoji="1" lang="en-US" altLang="zh-CN" dirty="0"/>
              <a:t>L4</a:t>
            </a:r>
            <a:r>
              <a:rPr kumimoji="1" lang="zh-CN" altLang="en-US" dirty="0"/>
              <a:t>直接切换技术</a:t>
            </a:r>
            <a:endParaRPr kumimoji="1" lang="en-US" altLang="zh-CN" dirty="0"/>
          </a:p>
          <a:p>
            <a:r>
              <a:rPr kumimoji="1" lang="zh-CN" altLang="en-US" dirty="0"/>
              <a:t>同步的通信</a:t>
            </a:r>
            <a:endParaRPr kumimoji="1" lang="en-US" altLang="zh-CN" dirty="0"/>
          </a:p>
          <a:p>
            <a:r>
              <a:rPr kumimoji="1" lang="zh-CN" altLang="en-US" dirty="0"/>
              <a:t>通过共享内存传输大数据</a:t>
            </a:r>
            <a:endParaRPr kumimoji="1" lang="en-US" altLang="zh-CN" dirty="0"/>
          </a:p>
          <a:p>
            <a:r>
              <a:rPr kumimoji="1" lang="zh-CN" altLang="en-US" dirty="0"/>
              <a:t>基于</a:t>
            </a:r>
            <a:r>
              <a:rPr kumimoji="1" lang="en" altLang="zh-CN" dirty="0"/>
              <a:t>Capability</a:t>
            </a:r>
            <a:r>
              <a:rPr kumimoji="1" lang="zh-CN" altLang="en-US" dirty="0"/>
              <a:t>的权限控制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类似</a:t>
            </a:r>
            <a:r>
              <a:rPr kumimoji="1" lang="en-US" altLang="zh-CN" dirty="0"/>
              <a:t>Unix</a:t>
            </a:r>
            <a:r>
              <a:rPr kumimoji="1" lang="zh-CN" altLang="en-US" dirty="0"/>
              <a:t>文件描述符的权限机制，</a:t>
            </a:r>
            <a:r>
              <a:rPr kumimoji="1" lang="en-US" altLang="zh-CN" dirty="0"/>
              <a:t>Capability</a:t>
            </a:r>
            <a:r>
              <a:rPr kumimoji="1" lang="zh-CN" altLang="en-US" dirty="0"/>
              <a:t>表示一个线程</a:t>
            </a:r>
            <a:r>
              <a:rPr kumimoji="1" lang="en-US" altLang="zh-CN" dirty="0"/>
              <a:t>/</a:t>
            </a:r>
            <a:r>
              <a:rPr kumimoji="1" lang="zh-CN" altLang="en-US" dirty="0"/>
              <a:t>进程对于系统资源的具体权限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3B40CB-91FD-1B4B-B7D2-16DD7B5A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5D9213-4162-D140-88F3-E45E574EC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86204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E08B11-41AD-C840-B4B8-1FF8AA54A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建立通信连接</a:t>
            </a:r>
            <a:endParaRPr kumimoji="1" lang="en-US" altLang="zh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D18309-230F-824F-A482-56F852D22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服务端进程在内核中注册服务</a:t>
            </a:r>
            <a:endParaRPr kumimoji="1" lang="en-US" altLang="zh-CN" dirty="0"/>
          </a:p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客户端进程向内核申请连接目标服务端进程的服务</a:t>
            </a:r>
            <a:endParaRPr kumimoji="1" lang="en-US" altLang="zh-CN" dirty="0"/>
          </a:p>
          <a:p>
            <a:pPr marL="914400" lvl="1" indent="-457200"/>
            <a:r>
              <a:rPr kumimoji="1" lang="zh-CN" altLang="en-US" dirty="0"/>
              <a:t>可选</a:t>
            </a:r>
            <a:r>
              <a:rPr kumimoji="1" lang="en-US" altLang="zh-CN" dirty="0"/>
              <a:t>:</a:t>
            </a:r>
            <a:r>
              <a:rPr kumimoji="1" lang="zh-CN" altLang="en-US" dirty="0"/>
              <a:t> 设置共享内存</a:t>
            </a:r>
            <a:endParaRPr kumimoji="1" lang="en-US" altLang="zh-CN" dirty="0"/>
          </a:p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内核将客户端请求转发给服务端</a:t>
            </a:r>
            <a:endParaRPr kumimoji="1" lang="en-US" altLang="zh-CN" dirty="0"/>
          </a:p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服务端告诉内核同意连接 </a:t>
            </a:r>
            <a:r>
              <a:rPr kumimoji="1" lang="en-US" altLang="zh-CN" dirty="0"/>
              <a:t>(</a:t>
            </a:r>
            <a:r>
              <a:rPr kumimoji="1" lang="zh-CN" altLang="en-US" dirty="0"/>
              <a:t>或拒绝</a:t>
            </a:r>
            <a:r>
              <a:rPr kumimoji="1" lang="en-US" altLang="zh-CN" dirty="0"/>
              <a:t>)</a:t>
            </a:r>
          </a:p>
          <a:p>
            <a:pPr marL="914400" lvl="1" indent="-457200"/>
            <a:r>
              <a:rPr kumimoji="1" lang="zh-CN" altLang="en-US" dirty="0"/>
              <a:t>可选</a:t>
            </a:r>
            <a:r>
              <a:rPr kumimoji="1" lang="en-US" altLang="zh-CN" dirty="0"/>
              <a:t>:</a:t>
            </a:r>
            <a:r>
              <a:rPr kumimoji="1" lang="zh-CN" altLang="en-US" dirty="0"/>
              <a:t> 设置共享内存</a:t>
            </a:r>
            <a:endParaRPr kumimoji="1" lang="en-US" altLang="zh-CN" dirty="0"/>
          </a:p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内核建立连接，并把连接的</a:t>
            </a:r>
            <a:r>
              <a:rPr kumimoji="1" lang="en-US" altLang="zh-CN" dirty="0"/>
              <a:t>Capability</a:t>
            </a:r>
            <a:r>
              <a:rPr kumimoji="1" lang="zh-CN" altLang="en-US" dirty="0"/>
              <a:t>返回给客户端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或返回拒绝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3B40CB-91FD-1B4B-B7D2-16DD7B5A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5D9213-4162-D140-88F3-E45E574EC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88812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E08B11-41AD-C840-B4B8-1FF8AA54A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通信过程 </a:t>
            </a:r>
            <a:r>
              <a:rPr kumimoji="1" lang="en-US" altLang="zh-CN" dirty="0"/>
              <a:t>(</a:t>
            </a:r>
            <a:r>
              <a:rPr kumimoji="1" lang="zh-CN" altLang="en-US" dirty="0"/>
              <a:t>发起通信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D18309-230F-824F-A482-56F852D22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客户端进程通过连接的</a:t>
            </a:r>
            <a:r>
              <a:rPr kumimoji="1" lang="en-US" altLang="zh-CN" dirty="0"/>
              <a:t>Capability</a:t>
            </a:r>
            <a:r>
              <a:rPr kumimoji="1" lang="zh-CN" altLang="en-US" dirty="0"/>
              <a:t>发起进程间通信请求</a:t>
            </a:r>
            <a:endParaRPr kumimoji="1" lang="en-US" altLang="zh-CN" dirty="0"/>
          </a:p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内核检查权限，若通过则继续步骤</a:t>
            </a:r>
            <a:r>
              <a:rPr kumimoji="1" lang="en-US" altLang="zh-CN" dirty="0"/>
              <a:t>3</a:t>
            </a:r>
            <a:r>
              <a:rPr kumimoji="1" lang="zh-CN" altLang="en-US" dirty="0"/>
              <a:t>，否则返回错误</a:t>
            </a:r>
            <a:endParaRPr kumimoji="1" lang="en-US" altLang="zh-CN" dirty="0"/>
          </a:p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内核直接切换到服务端进程执行 </a:t>
            </a:r>
            <a:r>
              <a:rPr kumimoji="1" lang="en-US" altLang="zh-CN" dirty="0"/>
              <a:t>(</a:t>
            </a:r>
            <a:r>
              <a:rPr kumimoji="1" lang="zh-CN" altLang="en-US" dirty="0"/>
              <a:t>不经过调度器</a:t>
            </a:r>
            <a:r>
              <a:rPr kumimoji="1" lang="en-US" altLang="zh-CN" dirty="0"/>
              <a:t>)</a:t>
            </a:r>
          </a:p>
          <a:p>
            <a:pPr marL="914400" lvl="1" indent="-457200"/>
            <a:r>
              <a:rPr kumimoji="1" lang="zh-CN" altLang="en-US" dirty="0"/>
              <a:t>将通信请求的参数设置给服务端进程的寄存器中</a:t>
            </a:r>
            <a:endParaRPr kumimoji="1" lang="en-US" altLang="zh-CN" dirty="0"/>
          </a:p>
          <a:p>
            <a:pPr marL="514350" indent="-457200">
              <a:buFont typeface="+mj-lt"/>
              <a:buAutoNum type="arabicPeriod"/>
            </a:pPr>
            <a:r>
              <a:rPr kumimoji="1" lang="zh-CN" altLang="en-US" dirty="0"/>
              <a:t>服务端处理完毕后，通过与步骤</a:t>
            </a:r>
            <a:r>
              <a:rPr kumimoji="1" lang="en-US" altLang="zh-CN" dirty="0"/>
              <a:t>3</a:t>
            </a:r>
            <a:r>
              <a:rPr kumimoji="1" lang="zh-CN" altLang="en-US" dirty="0"/>
              <a:t>相反的过程将返回值传回客户端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3B40CB-91FD-1B4B-B7D2-16DD7B5A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5D9213-4162-D140-88F3-E45E574EC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87794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实现</a:t>
            </a:r>
            <a:r>
              <a:rPr kumimoji="1" lang="en-US" altLang="zh-CN" dirty="0"/>
              <a:t>:</a:t>
            </a:r>
            <a:r>
              <a:rPr kumimoji="1" lang="zh-CN" altLang="en-US" dirty="0"/>
              <a:t> 用户态通信调用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F537623-9C52-114E-87C6-1371C8417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69" y="1582398"/>
            <a:ext cx="3621923" cy="32738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94DED60-715B-BD4B-B02D-7CDF08FFF1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646" y="2165101"/>
            <a:ext cx="4842383" cy="224611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3CE11971-6977-C645-93DC-AE86D5E41068}"/>
              </a:ext>
            </a:extLst>
          </p:cNvPr>
          <p:cNvCxnSpPr>
            <a:cxnSpLocks/>
          </p:cNvCxnSpPr>
          <p:nvPr/>
        </p:nvCxnSpPr>
        <p:spPr>
          <a:xfrm flipH="1" flipV="1">
            <a:off x="3563888" y="2281436"/>
            <a:ext cx="3816424" cy="1518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DD26973A-0786-F84C-900B-68F0478A0159}"/>
              </a:ext>
            </a:extLst>
          </p:cNvPr>
          <p:cNvCxnSpPr>
            <a:cxnSpLocks/>
          </p:cNvCxnSpPr>
          <p:nvPr/>
        </p:nvCxnSpPr>
        <p:spPr>
          <a:xfrm>
            <a:off x="1763688" y="3037520"/>
            <a:ext cx="2981740" cy="762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2167796D-C3AE-904E-8A3C-626081DB1D32}"/>
              </a:ext>
            </a:extLst>
          </p:cNvPr>
          <p:cNvSpPr txBox="1"/>
          <p:nvPr/>
        </p:nvSpPr>
        <p:spPr>
          <a:xfrm>
            <a:off x="6308467" y="304956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1"/>
                </a:solidFill>
              </a:rPr>
              <a:t>①</a:t>
            </a:r>
            <a:endParaRPr kumimoji="1" lang="zh-CN" altLang="en-US" dirty="0">
              <a:solidFill>
                <a:schemeClr val="accent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38F8E74-9708-2841-B87E-029D939F8DE7}"/>
              </a:ext>
            </a:extLst>
          </p:cNvPr>
          <p:cNvSpPr txBox="1"/>
          <p:nvPr/>
        </p:nvSpPr>
        <p:spPr>
          <a:xfrm>
            <a:off x="3046809" y="304956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chemeClr val="accent1"/>
                </a:solidFill>
              </a:rPr>
              <a:t>②</a:t>
            </a:r>
            <a:endParaRPr kumimoji="1"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34865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1B1EF17-7581-AD4C-9C05-B932B8E69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952078"/>
            <a:ext cx="5646937" cy="332119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实现</a:t>
            </a:r>
            <a:r>
              <a:rPr kumimoji="1" lang="en-US" altLang="zh-CN" dirty="0"/>
              <a:t>:</a:t>
            </a:r>
            <a:r>
              <a:rPr kumimoji="1" lang="zh-CN" altLang="en-US" dirty="0"/>
              <a:t> 通信系统调用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527B58-6C28-5D46-9AB7-20D91BDCFE94}"/>
              </a:ext>
            </a:extLst>
          </p:cNvPr>
          <p:cNvSpPr/>
          <p:nvPr/>
        </p:nvSpPr>
        <p:spPr>
          <a:xfrm>
            <a:off x="755575" y="3041895"/>
            <a:ext cx="5430913" cy="3042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61D76FA0-35C7-374B-B512-1653B6E3FB0A}"/>
              </a:ext>
            </a:extLst>
          </p:cNvPr>
          <p:cNvCxnSpPr>
            <a:cxnSpLocks/>
            <a:stCxn id="10" idx="1"/>
            <a:endCxn id="7" idx="0"/>
          </p:cNvCxnSpPr>
          <p:nvPr/>
        </p:nvCxnSpPr>
        <p:spPr>
          <a:xfrm flipH="1">
            <a:off x="3471032" y="1407467"/>
            <a:ext cx="1821048" cy="1634428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14152864-7DCC-2D4A-88B3-D6AB9CF3933B}"/>
              </a:ext>
            </a:extLst>
          </p:cNvPr>
          <p:cNvSpPr txBox="1"/>
          <p:nvPr/>
        </p:nvSpPr>
        <p:spPr>
          <a:xfrm>
            <a:off x="5292080" y="1222801"/>
            <a:ext cx="3851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获取内核的连接对象，检查</a:t>
            </a:r>
            <a:r>
              <a:rPr kumimoji="1" lang="en-US" altLang="zh-CN" dirty="0"/>
              <a:t>cap</a:t>
            </a:r>
            <a:r>
              <a:rPr kumimoji="1" lang="zh-CN" altLang="en-US" dirty="0"/>
              <a:t>权限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3D3A125-A940-8842-8146-EA181E57A522}"/>
              </a:ext>
            </a:extLst>
          </p:cNvPr>
          <p:cNvSpPr txBox="1"/>
          <p:nvPr/>
        </p:nvSpPr>
        <p:spPr>
          <a:xfrm>
            <a:off x="6268840" y="3463806"/>
            <a:ext cx="24179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在传递之前需要将</a:t>
            </a:r>
            <a:r>
              <a:rPr lang="en" altLang="zh-CN" dirty="0" err="1"/>
              <a:t>ipc_msg</a:t>
            </a:r>
            <a:r>
              <a:rPr lang="zh-CN" altLang="en-US" dirty="0"/>
              <a:t>在客户进程的虚拟地址转换到服务进程中的虚拟地址 </a:t>
            </a: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12AFC3ED-71CC-3148-ADE5-F9543F053993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3363020" y="4063971"/>
            <a:ext cx="2905820" cy="111208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5B4AC79E-09A5-5D4C-AA44-88F8B3546EF2}"/>
              </a:ext>
            </a:extLst>
          </p:cNvPr>
          <p:cNvSpPr/>
          <p:nvPr/>
        </p:nvSpPr>
        <p:spPr>
          <a:xfrm>
            <a:off x="755575" y="4066247"/>
            <a:ext cx="2592289" cy="2178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BEE7562-529F-0D49-A492-45C28F704B4D}"/>
              </a:ext>
            </a:extLst>
          </p:cNvPr>
          <p:cNvSpPr/>
          <p:nvPr/>
        </p:nvSpPr>
        <p:spPr>
          <a:xfrm>
            <a:off x="755574" y="4290825"/>
            <a:ext cx="3096347" cy="2178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C0361F4-DCD3-3042-B817-84390F0B2F85}"/>
              </a:ext>
            </a:extLst>
          </p:cNvPr>
          <p:cNvSpPr txBox="1"/>
          <p:nvPr/>
        </p:nvSpPr>
        <p:spPr>
          <a:xfrm>
            <a:off x="3553024" y="4895960"/>
            <a:ext cx="296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将控制流移交给服务进程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EEEB9CE9-CE48-D74D-B39E-0870A6553E96}"/>
              </a:ext>
            </a:extLst>
          </p:cNvPr>
          <p:cNvCxnSpPr>
            <a:cxnSpLocks/>
            <a:endCxn id="24" idx="3"/>
          </p:cNvCxnSpPr>
          <p:nvPr/>
        </p:nvCxnSpPr>
        <p:spPr>
          <a:xfrm flipH="1" flipV="1">
            <a:off x="3851921" y="4399758"/>
            <a:ext cx="1182700" cy="488222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内容占位符 30">
            <a:extLst>
              <a:ext uri="{FF2B5EF4-FFF2-40B4-BE49-F238E27FC236}">
                <a16:creationId xmlns:a16="http://schemas.microsoft.com/office/drawing/2014/main" id="{5F332FC4-2D26-2143-A30D-4F94C022B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IPC_call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70322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2D166-3921-FF47-A5F6-66AFDB6CC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实现</a:t>
            </a:r>
            <a:r>
              <a:rPr kumimoji="1" lang="en-US" altLang="zh-CN" dirty="0"/>
              <a:t>:</a:t>
            </a:r>
            <a:r>
              <a:rPr kumimoji="1" lang="zh-CN" altLang="en-US" dirty="0"/>
              <a:t> 通信系统调用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DC931-5026-434C-BF14-31E7B2F8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9EA992-5F29-A74B-B670-706F70D8D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9F124B9-2ADF-0F44-8698-FCAF3A7640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2036168"/>
            <a:ext cx="5587082" cy="16426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AE657DD-0282-BC4B-8433-2CFC8D5937C1}"/>
              </a:ext>
            </a:extLst>
          </p:cNvPr>
          <p:cNvSpPr txBox="1"/>
          <p:nvPr/>
        </p:nvSpPr>
        <p:spPr>
          <a:xfrm>
            <a:off x="4067944" y="3937000"/>
            <a:ext cx="2963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将控制流移交给客户进程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AEB2103D-6C46-864D-9F26-0B59E2C4422A}"/>
              </a:ext>
            </a:extLst>
          </p:cNvPr>
          <p:cNvCxnSpPr>
            <a:cxnSpLocks/>
          </p:cNvCxnSpPr>
          <p:nvPr/>
        </p:nvCxnSpPr>
        <p:spPr>
          <a:xfrm flipH="1" flipV="1">
            <a:off x="4139952" y="2857500"/>
            <a:ext cx="1409589" cy="1071520"/>
          </a:xfrm>
          <a:prstGeom prst="straightConnector1">
            <a:avLst/>
          </a:prstGeom>
          <a:ln w="19050">
            <a:solidFill>
              <a:schemeClr val="bg2">
                <a:lumMod val="75000"/>
              </a:schemeClr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B1A3C94F-5A6E-C04C-80C4-372ED76AB111}"/>
              </a:ext>
            </a:extLst>
          </p:cNvPr>
          <p:cNvSpPr/>
          <p:nvPr/>
        </p:nvSpPr>
        <p:spPr>
          <a:xfrm>
            <a:off x="899592" y="2713485"/>
            <a:ext cx="3240360" cy="2606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6E8874DC-E350-CB40-838C-3CD3A50AA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kumimoji="1" lang="en-US" altLang="zh-CN" dirty="0" err="1"/>
              <a:t>IPC_return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525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51954</TotalTime>
  <Words>4328</Words>
  <Application>Microsoft Macintosh PowerPoint</Application>
  <PresentationFormat>On-screen Show (16:10)</PresentationFormat>
  <Paragraphs>612</Paragraphs>
  <Slides>56</Slides>
  <Notes>38</Notes>
  <HiddenSlides>7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DengXian</vt:lpstr>
      <vt:lpstr>Microsoft YaHei</vt:lpstr>
      <vt:lpstr>Microsoft YaHei</vt:lpstr>
      <vt:lpstr>Microsoft YaHei UI</vt:lpstr>
      <vt:lpstr>Arial</vt:lpstr>
      <vt:lpstr>Calibri</vt:lpstr>
      <vt:lpstr>Consolas</vt:lpstr>
      <vt:lpstr>Office 主题​​</vt:lpstr>
      <vt:lpstr>PowerPoint Presentation</vt:lpstr>
      <vt:lpstr>版权声明</vt:lpstr>
      <vt:lpstr>回顾: 进程</vt:lpstr>
      <vt:lpstr>使用多个进程的应用</vt:lpstr>
      <vt:lpstr>常见IPC的类型</vt:lpstr>
      <vt:lpstr>简单IPC的消息接口</vt:lpstr>
      <vt:lpstr>简单IPC的设计与实现</vt:lpstr>
      <vt:lpstr>简单IPC：消息的发送</vt:lpstr>
      <vt:lpstr>简单IPC：消息的接收</vt:lpstr>
      <vt:lpstr>简单IPC：消息的远程方法调用（发送者）</vt:lpstr>
      <vt:lpstr>简单IPC：消息的远程方法调用（接收者）</vt:lpstr>
      <vt:lpstr>简单IPC的两个阶段</vt:lpstr>
      <vt:lpstr>简单IPC数据传递的两种方法</vt:lpstr>
      <vt:lpstr>简单IPC数据传递的两种方法</vt:lpstr>
      <vt:lpstr>简单IPC的通知机制</vt:lpstr>
      <vt:lpstr>IPC控制流：同步和异步</vt:lpstr>
      <vt:lpstr>IPC的超时机制</vt:lpstr>
      <vt:lpstr>IPC的权限检查</vt:lpstr>
      <vt:lpstr>IPC的小结</vt:lpstr>
      <vt:lpstr>共享内存（内存接口的IPC）</vt:lpstr>
      <vt:lpstr>共享内存</vt:lpstr>
      <vt:lpstr>基于共享内存的生产者消费者问题实现</vt:lpstr>
      <vt:lpstr>基于共享内存的生产者消费者问题实现</vt:lpstr>
      <vt:lpstr>共享内存的问题</vt:lpstr>
      <vt:lpstr>消息传递（Message Passing）</vt:lpstr>
      <vt:lpstr>消息队列</vt:lpstr>
      <vt:lpstr>消息队列: 带类型的消息传递</vt:lpstr>
      <vt:lpstr>消息队列的例子</vt:lpstr>
      <vt:lpstr>消息队列：带类型的消息传递</vt:lpstr>
      <vt:lpstr>轻量级远程方法调用 (LRPC)</vt:lpstr>
      <vt:lpstr>IPC通常会带来较大的性能损失</vt:lpstr>
      <vt:lpstr>轻量级远程调用 (LRPC)</vt:lpstr>
      <vt:lpstr>控制流转换: 调度导致不确定时延</vt:lpstr>
      <vt:lpstr>迁移线程: 将Client运行在Server的上下文</vt:lpstr>
      <vt:lpstr>数据传输: 数据拷贝的性能损失</vt:lpstr>
      <vt:lpstr>共享参数栈和寄存器</vt:lpstr>
      <vt:lpstr>轻量远程调用：通信连接建立</vt:lpstr>
      <vt:lpstr>轻量远程调用：基本用户接口</vt:lpstr>
      <vt:lpstr>轻量远程调用：一次调用过程</vt:lpstr>
      <vt:lpstr>轻量远程调用：通信调用实现</vt:lpstr>
      <vt:lpstr>轻量远程调用：讨论</vt:lpstr>
      <vt:lpstr>案例分析:Binder IPC</vt:lpstr>
      <vt:lpstr>问题：消息传递过程的内存拷贝</vt:lpstr>
      <vt:lpstr>安卓Binder IPC</vt:lpstr>
      <vt:lpstr>Binder IPC数据传输</vt:lpstr>
      <vt:lpstr>数据序列化</vt:lpstr>
      <vt:lpstr>Binder IPC数据序列化</vt:lpstr>
      <vt:lpstr>问题：服务端线程数量如何配置？</vt:lpstr>
      <vt:lpstr>Binder IPC线程池模型</vt:lpstr>
      <vt:lpstr>ChCORE进程间通信</vt:lpstr>
      <vt:lpstr>ChCore进程间通信</vt:lpstr>
      <vt:lpstr>建立通信连接</vt:lpstr>
      <vt:lpstr>通信过程 (发起通信)</vt:lpstr>
      <vt:lpstr>实现: 用户态通信调用</vt:lpstr>
      <vt:lpstr>实现: 通信系统调用</vt:lpstr>
      <vt:lpstr>实现: 通信系统调用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Mingkai Dong</cp:lastModifiedBy>
  <cp:revision>2932</cp:revision>
  <cp:lastPrinted>2020-04-06T15:15:51Z</cp:lastPrinted>
  <dcterms:created xsi:type="dcterms:W3CDTF">2017-11-24T09:35:45Z</dcterms:created>
  <dcterms:modified xsi:type="dcterms:W3CDTF">2025-11-07T07:03:49Z</dcterms:modified>
</cp:coreProperties>
</file>