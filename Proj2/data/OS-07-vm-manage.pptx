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769" r:id="rId2"/>
    <p:sldId id="2776" r:id="rId3"/>
    <p:sldId id="1488" r:id="rId4"/>
    <p:sldId id="2791" r:id="rId5"/>
    <p:sldId id="2793" r:id="rId6"/>
    <p:sldId id="2794" r:id="rId7"/>
    <p:sldId id="2795" r:id="rId8"/>
    <p:sldId id="2796" r:id="rId9"/>
    <p:sldId id="2797" r:id="rId10"/>
    <p:sldId id="2798" r:id="rId11"/>
    <p:sldId id="2300" r:id="rId12"/>
    <p:sldId id="2799" r:id="rId13"/>
    <p:sldId id="2800" r:id="rId14"/>
    <p:sldId id="2301" r:id="rId15"/>
    <p:sldId id="2272" r:id="rId16"/>
    <p:sldId id="2302" r:id="rId17"/>
    <p:sldId id="2803" r:id="rId18"/>
    <p:sldId id="2243" r:id="rId19"/>
    <p:sldId id="2306" r:id="rId20"/>
    <p:sldId id="2307" r:id="rId21"/>
    <p:sldId id="2308" r:id="rId22"/>
    <p:sldId id="2804" r:id="rId23"/>
    <p:sldId id="2304" r:id="rId24"/>
    <p:sldId id="1490" r:id="rId25"/>
    <p:sldId id="1426" r:id="rId26"/>
    <p:sldId id="1459" r:id="rId27"/>
    <p:sldId id="1447" r:id="rId28"/>
    <p:sldId id="1449" r:id="rId29"/>
    <p:sldId id="1448" r:id="rId30"/>
    <p:sldId id="1450" r:id="rId31"/>
    <p:sldId id="1451" r:id="rId32"/>
    <p:sldId id="1452" r:id="rId33"/>
    <p:sldId id="1457" r:id="rId34"/>
    <p:sldId id="1456" r:id="rId35"/>
    <p:sldId id="2802" r:id="rId3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941100"/>
    <a:srgbClr val="212121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99" autoAdjust="0"/>
    <p:restoredTop sz="85970" autoAdjust="0"/>
  </p:normalViewPr>
  <p:slideViewPr>
    <p:cSldViewPr>
      <p:cViewPr varScale="1">
        <p:scale>
          <a:sx n="113" d="100"/>
          <a:sy n="113" d="100"/>
        </p:scale>
        <p:origin x="288" y="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70" d="100"/>
        <a:sy n="17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3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物理地址与虚拟地址转化很方便（顶级页表页，需要其物理地址填入</a:t>
            </a:r>
            <a:r>
              <a:rPr kumimoji="1" lang="en-US" altLang="zh-CN" dirty="0"/>
              <a:t>TTBR</a:t>
            </a:r>
            <a:r>
              <a:rPr kumimoji="1" lang="zh-CN" altLang="en-US" dirty="0"/>
              <a:t>中；在填写页表项时，又需要使用其虚拟地址）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885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类似内核页表在启动时填写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16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52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但不分配相应的物理内存，当然也不会在页表中填写映 射；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457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>
            <a:extLst>
              <a:ext uri="{FF2B5EF4-FFF2-40B4-BE49-F238E27FC236}">
                <a16:creationId xmlns:a16="http://schemas.microsoft.com/office/drawing/2014/main" id="{7D14A6D0-1822-5543-AE15-6081FD783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928C03-E852-294D-AA82-B1D054E2F8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dirty="0"/>
              <a:t>思考：为什么要用段来管理？</a:t>
            </a:r>
            <a:endParaRPr lang="en-US" altLang="zh-CN" sz="1600" baseline="0" dirty="0"/>
          </a:p>
          <a:p>
            <a:r>
              <a:rPr lang="zh-CN" altLang="en-US" sz="1600" baseline="0" dirty="0"/>
              <a:t>因为段的数量比页要少很多，通常每一段都有相同的属性，比如只读、可执行等等，可简化管理</a:t>
            </a:r>
            <a:endParaRPr lang="en-US" altLang="zh-CN" sz="1600" baseline="0" dirty="0"/>
          </a:p>
        </p:txBody>
      </p:sp>
    </p:spTree>
    <p:extLst>
      <p:ext uri="{BB962C8B-B14F-4D97-AF65-F5344CB8AC3E}">
        <p14:creationId xmlns:p14="http://schemas.microsoft.com/office/powerpoint/2010/main" val="842802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546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进程创建时：操作系统将应用的二进制文件和动态代码库加载到物理内 存，并在应用进程的页表中添加虚拟地址到物理地址的映射（代码和数据），完成初始的的虚拟地址空间布局。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进程执行时：应用进程要求改变虚拟地址空间，又可以进一步分为三种常见的情况：进程的栈和堆的空间增加或减少；加载或卸载其他代码库；调用</a:t>
            </a:r>
            <a:r>
              <a:rPr kumimoji="1" lang="en-US" altLang="zh-CN" dirty="0" err="1"/>
              <a:t>mmap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munmap</a:t>
            </a:r>
            <a:r>
              <a:rPr kumimoji="1" lang="zh-CN" altLang="en-US" dirty="0"/>
              <a:t>接口增加、删除虚拟内存区域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946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多，则用查找树，查询快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86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5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16K/8</a:t>
            </a:r>
            <a:r>
              <a:rPr kumimoji="1" lang="zh-CN" altLang="en-US" dirty="0"/>
              <a:t> * </a:t>
            </a:r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4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/>
              <a:t>操作系统管理页表映射</a:t>
            </a:r>
            <a:endParaRPr kumimoji="1" lang="zh-CN" altLang="en-US" sz="4800" dirty="0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14B8BABA-8FC7-CEA1-85FE-99E59E4FE2CD}"/>
              </a:ext>
            </a:extLst>
          </p:cNvPr>
          <p:cNvSpPr txBox="1"/>
          <p:nvPr/>
        </p:nvSpPr>
        <p:spPr>
          <a:xfrm>
            <a:off x="1475656" y="15363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虚拟内存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0F8097B-CFDD-6AC1-5FF4-FDD0044C2F4E}"/>
              </a:ext>
            </a:extLst>
          </p:cNvPr>
          <p:cNvSpPr/>
          <p:nvPr/>
        </p:nvSpPr>
        <p:spPr>
          <a:xfrm>
            <a:off x="539552" y="2631820"/>
            <a:ext cx="8496944" cy="1017768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424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设置页表映射是操作系统的职责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分别指向内核和应用页表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D98C0-D069-90FD-403C-9067311E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何时设置页表映射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1182A-7A7C-6163-8F6F-1AC39955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操作系统自己使用的页表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在启动时填写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映射全部物理内存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虚拟地址 </a:t>
            </a:r>
            <a:r>
              <a:rPr kumimoji="1" lang="en-US" altLang="zh-CN" dirty="0"/>
              <a:t>=</a:t>
            </a:r>
            <a:r>
              <a:rPr kumimoji="1" lang="zh-CN" altLang="en-US" dirty="0"/>
              <a:t> 物理地址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固定偏移（</a:t>
            </a:r>
            <a:r>
              <a:rPr kumimoji="1" lang="zh-CN" altLang="en-US" b="1" dirty="0">
                <a:solidFill>
                  <a:srgbClr val="C00000"/>
                </a:solidFill>
              </a:rPr>
              <a:t>直接映射，</a:t>
            </a:r>
            <a:r>
              <a:rPr kumimoji="1" lang="en-US" altLang="zh-CN" b="1" dirty="0">
                <a:solidFill>
                  <a:srgbClr val="C00000"/>
                </a:solidFill>
              </a:rPr>
              <a:t>Direct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思考：为什么需要直接映射？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应用进程的页表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何时设置？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334B9-BD3D-7E55-8A5A-A1FE8BE1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82AACF-6090-C240-EED2-6CE5C750D841}"/>
              </a:ext>
            </a:extLst>
          </p:cNvPr>
          <p:cNvSpPr txBox="1"/>
          <p:nvPr/>
        </p:nvSpPr>
        <p:spPr>
          <a:xfrm>
            <a:off x="1187624" y="3433564"/>
            <a:ext cx="7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物理地址与虚拟地址转化很方便（顶级页表页，需要其物理地址填入</a:t>
            </a:r>
            <a:r>
              <a:rPr kumimoji="1" lang="en-US" altLang="zh-CN" dirty="0"/>
              <a:t>TTBR</a:t>
            </a:r>
            <a:r>
              <a:rPr kumimoji="1" lang="zh-CN" altLang="en-US" dirty="0"/>
              <a:t>中；在填写页表项时，又需要使用其虚拟地址）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976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382248B-9DF2-3AFD-DDFC-77343F6E5DBF}"/>
              </a:ext>
            </a:extLst>
          </p:cNvPr>
          <p:cNvGrpSpPr/>
          <p:nvPr/>
        </p:nvGrpSpPr>
        <p:grpSpPr>
          <a:xfrm>
            <a:off x="7020272" y="1921396"/>
            <a:ext cx="1854301" cy="2589662"/>
            <a:chOff x="1390486" y="1417340"/>
            <a:chExt cx="2605450" cy="3879622"/>
          </a:xfrm>
        </p:grpSpPr>
        <p:pic>
          <p:nvPicPr>
            <p:cNvPr id="5" name="内容占位符 5">
              <a:extLst>
                <a:ext uri="{FF2B5EF4-FFF2-40B4-BE49-F238E27FC236}">
                  <a16:creationId xmlns:a16="http://schemas.microsoft.com/office/drawing/2014/main" id="{AA5159CE-600D-34D4-C16D-276A94CD70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16" r="59053"/>
            <a:stretch/>
          </p:blipFill>
          <p:spPr>
            <a:xfrm>
              <a:off x="1390486" y="1417340"/>
              <a:ext cx="2605450" cy="3879622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717E055-18EC-8E02-9737-C0C26A999AB6}"/>
                </a:ext>
              </a:extLst>
            </p:cNvPr>
            <p:cNvSpPr/>
            <p:nvPr/>
          </p:nvSpPr>
          <p:spPr>
            <a:xfrm>
              <a:off x="1547664" y="2641476"/>
              <a:ext cx="1080120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69DF544-BDE2-E0A7-000F-978AA347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何时填写进程页表：立即映射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10D95-A6C5-5CC2-4549-F34978D1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创建进程时，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按照虚拟内存区域填写进程页表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例如，代码段和数据段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具体步骤：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-1:</a:t>
            </a:r>
            <a:r>
              <a:rPr kumimoji="1" lang="zh-CN" altLang="en-US" dirty="0"/>
              <a:t> 分配物理页（</a:t>
            </a:r>
            <a:r>
              <a:rPr kumimoji="1" lang="en-US" altLang="zh-CN" dirty="0" err="1"/>
              <a:t>alloc_page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-2:</a:t>
            </a:r>
            <a:r>
              <a:rPr kumimoji="1" lang="zh-CN" altLang="en-US" dirty="0"/>
              <a:t> 把应用代码</a:t>
            </a:r>
            <a:r>
              <a:rPr kumimoji="1" lang="en-US" altLang="zh-CN" dirty="0"/>
              <a:t>/</a:t>
            </a:r>
            <a:r>
              <a:rPr kumimoji="1" lang="zh-CN" altLang="en-US" dirty="0"/>
              <a:t>数据从磁盘加载到物理页中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-3:</a:t>
            </a:r>
            <a:r>
              <a:rPr kumimoji="1" lang="zh-CN" altLang="en-US" dirty="0"/>
              <a:t> 添加虚拟页到物理页的映射（</a:t>
            </a:r>
            <a:r>
              <a:rPr kumimoji="1" lang="en-US" altLang="zh-CN" dirty="0" err="1"/>
              <a:t>add_mapping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-4:</a:t>
            </a:r>
            <a:r>
              <a:rPr kumimoji="1" lang="zh-CN" altLang="en-US" dirty="0"/>
              <a:t> 未加载完毕，回到步骤</a:t>
            </a:r>
            <a:r>
              <a:rPr kumimoji="1" lang="en-US" altLang="zh-CN" dirty="0"/>
              <a:t>-1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60C0B-063F-A285-B49D-CFDA6DED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878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6E313-89F4-82DC-B9C2-D82B145D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分配物理页的简单实现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751-3EF4-FAB6-1772-51046796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操作系统用位图记录物理页是否空闲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0</a:t>
            </a:r>
            <a:r>
              <a:rPr kumimoji="1" lang="zh-CN" altLang="en-US" dirty="0"/>
              <a:t>：空闲；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：已分配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535F-1FBF-A1B6-C3B6-270EA995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D973A5-E830-C308-37F4-6B171AEEC207}"/>
              </a:ext>
            </a:extLst>
          </p:cNvPr>
          <p:cNvSpPr/>
          <p:nvPr/>
        </p:nvSpPr>
        <p:spPr>
          <a:xfrm>
            <a:off x="1907704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4F4014-C54C-4DF5-FBC3-1AC6236F64DE}"/>
              </a:ext>
            </a:extLst>
          </p:cNvPr>
          <p:cNvSpPr/>
          <p:nvPr/>
        </p:nvSpPr>
        <p:spPr>
          <a:xfrm>
            <a:off x="2699792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5125E-6C4A-F09C-ABA5-915A3FC14486}"/>
              </a:ext>
            </a:extLst>
          </p:cNvPr>
          <p:cNvSpPr/>
          <p:nvPr/>
        </p:nvSpPr>
        <p:spPr>
          <a:xfrm>
            <a:off x="3491880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EB80BE-CD9E-18F5-7A62-EEE4CC98B457}"/>
              </a:ext>
            </a:extLst>
          </p:cNvPr>
          <p:cNvSpPr/>
          <p:nvPr/>
        </p:nvSpPr>
        <p:spPr>
          <a:xfrm>
            <a:off x="4280749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7697D2-672B-47E0-84AE-51A8DA984E41}"/>
              </a:ext>
            </a:extLst>
          </p:cNvPr>
          <p:cNvSpPr/>
          <p:nvPr/>
        </p:nvSpPr>
        <p:spPr>
          <a:xfrm>
            <a:off x="506961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A3602-5D09-B47C-230E-13379CFBE38B}"/>
              </a:ext>
            </a:extLst>
          </p:cNvPr>
          <p:cNvSpPr/>
          <p:nvPr/>
        </p:nvSpPr>
        <p:spPr>
          <a:xfrm>
            <a:off x="585526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013A9-351C-CA66-E657-603685A34233}"/>
              </a:ext>
            </a:extLst>
          </p:cNvPr>
          <p:cNvSpPr/>
          <p:nvPr/>
        </p:nvSpPr>
        <p:spPr>
          <a:xfrm>
            <a:off x="6644137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464D7-264E-3751-E6A6-96088DEBFAA9}"/>
              </a:ext>
            </a:extLst>
          </p:cNvPr>
          <p:cNvSpPr txBox="1"/>
          <p:nvPr/>
        </p:nvSpPr>
        <p:spPr>
          <a:xfrm>
            <a:off x="988004" y="4040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物理页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E4594F-E79B-1B8E-42C4-1FD4CC88EA64}"/>
              </a:ext>
            </a:extLst>
          </p:cNvPr>
          <p:cNvSpPr txBox="1"/>
          <p:nvPr/>
        </p:nvSpPr>
        <p:spPr>
          <a:xfrm>
            <a:off x="969472" y="317079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Bitmap: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A4CF0F-C404-15D5-A76D-F6971193A34C}"/>
              </a:ext>
            </a:extLst>
          </p:cNvPr>
          <p:cNvSpPr txBox="1"/>
          <p:nvPr/>
        </p:nvSpPr>
        <p:spPr>
          <a:xfrm>
            <a:off x="214729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64D36A-130F-8FEB-1E9B-8E835B4285E0}"/>
              </a:ext>
            </a:extLst>
          </p:cNvPr>
          <p:cNvSpPr txBox="1"/>
          <p:nvPr/>
        </p:nvSpPr>
        <p:spPr>
          <a:xfrm>
            <a:off x="2939383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F6F880-3440-8372-7B70-D0880BAFB969}"/>
              </a:ext>
            </a:extLst>
          </p:cNvPr>
          <p:cNvSpPr txBox="1"/>
          <p:nvPr/>
        </p:nvSpPr>
        <p:spPr>
          <a:xfrm>
            <a:off x="3751519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29CB3D-5C41-B139-1AB8-C29DFEFD9D26}"/>
              </a:ext>
            </a:extLst>
          </p:cNvPr>
          <p:cNvSpPr txBox="1"/>
          <p:nvPr/>
        </p:nvSpPr>
        <p:spPr>
          <a:xfrm>
            <a:off x="454360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C2909D-8128-4DB8-EC3D-BD33B65C8F25}"/>
              </a:ext>
            </a:extLst>
          </p:cNvPr>
          <p:cNvSpPr txBox="1"/>
          <p:nvPr/>
        </p:nvSpPr>
        <p:spPr>
          <a:xfrm>
            <a:off x="532686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366E2-089F-98DD-C67C-FBB15F2A9DA7}"/>
              </a:ext>
            </a:extLst>
          </p:cNvPr>
          <p:cNvSpPr txBox="1"/>
          <p:nvPr/>
        </p:nvSpPr>
        <p:spPr>
          <a:xfrm>
            <a:off x="611895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E6862B-1024-B79A-F179-5DDE9CFE88CA}"/>
              </a:ext>
            </a:extLst>
          </p:cNvPr>
          <p:cNvSpPr txBox="1"/>
          <p:nvPr/>
        </p:nvSpPr>
        <p:spPr>
          <a:xfrm>
            <a:off x="6883728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BFA95F-F8D5-A18D-7080-966F24C8BBD1}"/>
              </a:ext>
            </a:extLst>
          </p:cNvPr>
          <p:cNvSpPr txBox="1"/>
          <p:nvPr/>
        </p:nvSpPr>
        <p:spPr>
          <a:xfrm>
            <a:off x="2147295" y="3167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8C9B0-7A81-79B4-6484-0F2CEDBF427B}"/>
              </a:ext>
            </a:extLst>
          </p:cNvPr>
          <p:cNvSpPr/>
          <p:nvPr/>
        </p:nvSpPr>
        <p:spPr>
          <a:xfrm>
            <a:off x="1907704" y="3869183"/>
            <a:ext cx="792088" cy="720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87CF83-AD8D-1D31-1B28-20305A0BA1E2}"/>
              </a:ext>
            </a:extLst>
          </p:cNvPr>
          <p:cNvSpPr txBox="1"/>
          <p:nvPr/>
        </p:nvSpPr>
        <p:spPr>
          <a:xfrm>
            <a:off x="6779308" y="1937471"/>
            <a:ext cx="16813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alloc_page</a:t>
            </a:r>
            <a:r>
              <a:rPr kumimoji="1" lang="en-US" altLang="zh-CN" b="1" dirty="0">
                <a:solidFill>
                  <a:srgbClr val="C00000"/>
                </a:solidFill>
              </a:rPr>
              <a:t>()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接口的实现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6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22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DDB95-BC47-3A15-C064-C78520CD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操作系统如何填写进程页表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90A7F-90FD-B3D9-E9B3-A421C2F1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操作系统在进程结构体中保存页表基地址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4E1AAF-FCA0-6BD5-8BFD-C8F1B776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A28FE2-25A4-EFEC-B1C1-25C5BEA914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065412"/>
            <a:ext cx="7772400" cy="2508166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981B656-7CC7-3A6B-FB9F-F126332259FC}"/>
              </a:ext>
            </a:extLst>
          </p:cNvPr>
          <p:cNvCxnSpPr/>
          <p:nvPr/>
        </p:nvCxnSpPr>
        <p:spPr>
          <a:xfrm>
            <a:off x="1331640" y="3361556"/>
            <a:ext cx="15841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8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F6AD0E-7CAF-5561-0178-F30F0FAB15C6}"/>
              </a:ext>
            </a:extLst>
          </p:cNvPr>
          <p:cNvGrpSpPr/>
          <p:nvPr/>
        </p:nvGrpSpPr>
        <p:grpSpPr>
          <a:xfrm>
            <a:off x="5796136" y="2770007"/>
            <a:ext cx="3418610" cy="1328621"/>
            <a:chOff x="721342" y="1921396"/>
            <a:chExt cx="6697750" cy="2603037"/>
          </a:xfrm>
        </p:grpSpPr>
        <p:pic>
          <p:nvPicPr>
            <p:cNvPr id="8" name="内容占位符 5">
              <a:extLst>
                <a:ext uri="{FF2B5EF4-FFF2-40B4-BE49-F238E27FC236}">
                  <a16:creationId xmlns:a16="http://schemas.microsoft.com/office/drawing/2014/main" id="{153E07FD-9658-DABA-2AA8-A971E32FE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342" y="1921396"/>
              <a:ext cx="6697750" cy="2603037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86939AC-0796-9FF8-3DEF-58AD7E47ED23}"/>
                </a:ext>
              </a:extLst>
            </p:cNvPr>
            <p:cNvSpPr/>
            <p:nvPr/>
          </p:nvSpPr>
          <p:spPr>
            <a:xfrm>
              <a:off x="2699792" y="3865899"/>
              <a:ext cx="1152128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82B77F-7798-0B52-CFF3-FC63CA85C37F}"/>
                </a:ext>
              </a:extLst>
            </p:cNvPr>
            <p:cNvSpPr/>
            <p:nvPr/>
          </p:nvSpPr>
          <p:spPr>
            <a:xfrm>
              <a:off x="3923928" y="3865898"/>
              <a:ext cx="1152128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A0D2A33-D8A2-D2A3-C5B9-32DF1BDFBD89}"/>
                </a:ext>
              </a:extLst>
            </p:cNvPr>
            <p:cNvSpPr/>
            <p:nvPr/>
          </p:nvSpPr>
          <p:spPr>
            <a:xfrm>
              <a:off x="5140844" y="3848828"/>
              <a:ext cx="2278247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AC0BABE-3F51-09BC-B714-6537B6433DFC}"/>
                </a:ext>
              </a:extLst>
            </p:cNvPr>
            <p:cNvSpPr/>
            <p:nvPr/>
          </p:nvSpPr>
          <p:spPr>
            <a:xfrm>
              <a:off x="3908661" y="3495251"/>
              <a:ext cx="278282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2EFB04-DA57-D513-ADE2-ABFEC9CDAC84}"/>
                </a:ext>
              </a:extLst>
            </p:cNvPr>
            <p:cNvSpPr/>
            <p:nvPr/>
          </p:nvSpPr>
          <p:spPr>
            <a:xfrm>
              <a:off x="5140844" y="3187634"/>
              <a:ext cx="377191" cy="74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8A8A8FC-9DAE-B0A2-A261-43265BF594E5}"/>
                </a:ext>
              </a:extLst>
            </p:cNvPr>
            <p:cNvSpPr/>
            <p:nvPr/>
          </p:nvSpPr>
          <p:spPr>
            <a:xfrm>
              <a:off x="6351503" y="2482506"/>
              <a:ext cx="377191" cy="13833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3ED4486-1D7E-A5C6-3085-3ACAE60F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填写进程页表的代码实现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FE38B36-2C5D-4428-15A2-839C891C3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83" y="1272857"/>
            <a:ext cx="4882934" cy="44419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0ABF0-D158-4049-B075-7E77B1F1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0C0E4E-1BFC-7469-3D51-D2CF3C3AEBF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04" b="33968"/>
          <a:stretch/>
        </p:blipFill>
        <p:spPr>
          <a:xfrm>
            <a:off x="6243028" y="1272857"/>
            <a:ext cx="2147108" cy="100782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BAA5377-D90D-354F-5260-838107DA7B34}"/>
              </a:ext>
            </a:extLst>
          </p:cNvPr>
          <p:cNvSpPr txBox="1"/>
          <p:nvPr/>
        </p:nvSpPr>
        <p:spPr>
          <a:xfrm>
            <a:off x="2699792" y="1921396"/>
            <a:ext cx="2406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问：</a:t>
            </a:r>
            <a:r>
              <a:rPr kumimoji="1" lang="en-US" altLang="zh-CN" sz="1200" dirty="0" err="1">
                <a:solidFill>
                  <a:srgbClr val="C00000"/>
                </a:solidFill>
                <a:latin typeface="+mn-ea"/>
              </a:rPr>
              <a:t>paddr_to_vaddr</a:t>
            </a:r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11963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E8F1C-EAA8-D090-4F24-DDD33135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填写进程页表的代码实现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550E2F6-26AA-A43C-AD28-8E6C7410E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"/>
          <a:stretch/>
        </p:blipFill>
        <p:spPr>
          <a:xfrm>
            <a:off x="457200" y="1849388"/>
            <a:ext cx="5235209" cy="230425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3E7EC-0493-3FB3-782D-5532669C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923AE2-C97E-409F-C73A-923E959E31B1}"/>
              </a:ext>
            </a:extLst>
          </p:cNvPr>
          <p:cNvSpPr txBox="1"/>
          <p:nvPr/>
        </p:nvSpPr>
        <p:spPr>
          <a:xfrm>
            <a:off x="2987824" y="2065412"/>
            <a:ext cx="3039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问：参数</a:t>
            </a:r>
            <a:r>
              <a:rPr kumimoji="1" lang="en-US" altLang="zh-CN" sz="1200" dirty="0" err="1">
                <a:solidFill>
                  <a:srgbClr val="C00000"/>
                </a:solidFill>
                <a:latin typeface="+mn-ea"/>
              </a:rPr>
              <a:t>pgtbl</a:t>
            </a:r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是虚拟地址还是物理地址？</a:t>
            </a:r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41D0B7B9-38BA-72F9-1E09-72FB8E3FEE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4355976" y="4987970"/>
            <a:ext cx="3864016" cy="617984"/>
          </a:xfrm>
          <a:prstGeom prst="rect">
            <a:avLst/>
          </a:prstGeom>
        </p:spPr>
      </p:pic>
      <p:pic>
        <p:nvPicPr>
          <p:cNvPr id="9" name="内容占位符 5">
            <a:extLst>
              <a:ext uri="{FF2B5EF4-FFF2-40B4-BE49-F238E27FC236}">
                <a16:creationId xmlns:a16="http://schemas.microsoft.com/office/drawing/2014/main" id="{7EA4F66A-40C6-7DB5-93A7-9DC5CEE39D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22"/>
          <a:stretch/>
        </p:blipFill>
        <p:spPr>
          <a:xfrm>
            <a:off x="4355976" y="4268481"/>
            <a:ext cx="3864016" cy="65589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6B3E865-EDF5-33D3-A9EA-8B5D5FE72B72}"/>
              </a:ext>
            </a:extLst>
          </p:cNvPr>
          <p:cNvSpPr/>
          <p:nvPr/>
        </p:nvSpPr>
        <p:spPr>
          <a:xfrm>
            <a:off x="7236296" y="2249256"/>
            <a:ext cx="1080120" cy="1385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42C340-5520-1FC2-A6ED-8F693781DAED}"/>
              </a:ext>
            </a:extLst>
          </p:cNvPr>
          <p:cNvSpPr/>
          <p:nvPr/>
        </p:nvSpPr>
        <p:spPr>
          <a:xfrm>
            <a:off x="7236296" y="2244535"/>
            <a:ext cx="1080120" cy="197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0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ED0788-11B9-47C8-1C41-30A901EF862C}"/>
              </a:ext>
            </a:extLst>
          </p:cNvPr>
          <p:cNvSpPr/>
          <p:nvPr/>
        </p:nvSpPr>
        <p:spPr>
          <a:xfrm>
            <a:off x="7237145" y="2434194"/>
            <a:ext cx="1079271" cy="197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40F518-2A1C-7C97-BD28-B51E441E0457}"/>
              </a:ext>
            </a:extLst>
          </p:cNvPr>
          <p:cNvSpPr/>
          <p:nvPr/>
        </p:nvSpPr>
        <p:spPr>
          <a:xfrm>
            <a:off x="7236296" y="3437033"/>
            <a:ext cx="1079271" cy="197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511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415B2D-A3D7-98FE-57AA-742C52AD1B1E}"/>
              </a:ext>
            </a:extLst>
          </p:cNvPr>
          <p:cNvSpPr txBox="1"/>
          <p:nvPr/>
        </p:nvSpPr>
        <p:spPr>
          <a:xfrm>
            <a:off x="6553200" y="1914838"/>
            <a:ext cx="2454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+mn-ea"/>
              </a:rPr>
              <a:t>页表页：</a:t>
            </a:r>
            <a:r>
              <a:rPr kumimoji="1" lang="en-US" altLang="zh-CN" sz="1200" dirty="0">
                <a:latin typeface="+mn-ea"/>
              </a:rPr>
              <a:t>512</a:t>
            </a:r>
            <a:r>
              <a:rPr kumimoji="1" lang="zh-CN" altLang="en-US" sz="1200" dirty="0">
                <a:latin typeface="+mn-ea"/>
              </a:rPr>
              <a:t>个页表项组成的数组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208843-DFB9-6309-6F0F-015D697AA946}"/>
              </a:ext>
            </a:extLst>
          </p:cNvPr>
          <p:cNvSpPr txBox="1"/>
          <p:nvPr/>
        </p:nvSpPr>
        <p:spPr>
          <a:xfrm>
            <a:off x="2987823" y="2621074"/>
            <a:ext cx="2500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问：</a:t>
            </a:r>
            <a:r>
              <a:rPr kumimoji="1" lang="en-US" altLang="zh-CN" sz="1200" dirty="0" err="1">
                <a:solidFill>
                  <a:srgbClr val="C00000"/>
                </a:solidFill>
                <a:latin typeface="+mn-ea"/>
              </a:rPr>
              <a:t>alloc_pgtbl_page</a:t>
            </a:r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173437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A6D3A-3A7A-F182-38F4-CDF35F3F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立即映射的弊端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BB9B7-F3AA-973E-A972-0CABD317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立即映射是一种操作系统可以选择的页表填写策略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在初始化进程虚拟地址空间时，直接在进程页表中添加各虚拟内存区域的映射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潜在弊端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以关卡</a:t>
            </a:r>
            <a:r>
              <a:rPr kumimoji="1" lang="en-US" altLang="zh-CN" dirty="0"/>
              <a:t>/</a:t>
            </a:r>
            <a:r>
              <a:rPr kumimoji="1" lang="zh-CN" altLang="en-US" dirty="0"/>
              <a:t>副本类型游戏加载为例：只玩</a:t>
            </a:r>
            <a:r>
              <a:rPr kumimoji="1" lang="en-US" altLang="zh-CN" dirty="0"/>
              <a:t>1</a:t>
            </a:r>
            <a:r>
              <a:rPr kumimoji="1" lang="zh-CN" altLang="en-US" dirty="0"/>
              <a:t>关，加载</a:t>
            </a:r>
            <a:r>
              <a:rPr kumimoji="1" lang="en-US" altLang="zh-CN" dirty="0"/>
              <a:t>1000</a:t>
            </a:r>
            <a:r>
              <a:rPr kumimoji="1" lang="zh-CN" altLang="en-US" dirty="0"/>
              <a:t>关</a:t>
            </a:r>
            <a:endParaRPr kumimoji="1" lang="en-US" altLang="zh-CN" dirty="0"/>
          </a:p>
          <a:p>
            <a:pPr lvl="2"/>
            <a:r>
              <a:rPr kumimoji="1" lang="zh-CN" altLang="en-US" b="1" dirty="0">
                <a:latin typeface="+mn-ea"/>
                <a:ea typeface="+mn-ea"/>
              </a:rPr>
              <a:t>物理内存资源浪费</a:t>
            </a:r>
            <a:endParaRPr kumimoji="1" lang="en-US" altLang="zh-CN" b="1" dirty="0">
              <a:latin typeface="+mn-ea"/>
              <a:ea typeface="+mn-ea"/>
            </a:endParaRPr>
          </a:p>
          <a:p>
            <a:pPr lvl="2"/>
            <a:r>
              <a:rPr kumimoji="1" lang="zh-CN" altLang="en-US" b="1" dirty="0">
                <a:latin typeface="+mn-ea"/>
                <a:ea typeface="+mn-ea"/>
              </a:rPr>
              <a:t>非必要时延</a:t>
            </a:r>
            <a:endParaRPr kumimoji="1" lang="en-US" altLang="zh-CN" b="1" dirty="0">
              <a:latin typeface="+mn-ea"/>
              <a:ea typeface="+mn-ea"/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C3B5A-C2CE-30F1-D4F3-A96368DF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57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延迟映射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操作系统填写进程页表的另一种策略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4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FABF5ED3-AA51-8BB4-F8C0-665A1468D7F6}"/>
              </a:ext>
            </a:extLst>
          </p:cNvPr>
          <p:cNvGrpSpPr/>
          <p:nvPr/>
        </p:nvGrpSpPr>
        <p:grpSpPr>
          <a:xfrm>
            <a:off x="6812982" y="2719668"/>
            <a:ext cx="2133600" cy="2589662"/>
            <a:chOff x="6812982" y="2719668"/>
            <a:chExt cx="2133600" cy="25896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9CB160F-C868-8D24-F7CD-A738A3250EE2}"/>
                </a:ext>
              </a:extLst>
            </p:cNvPr>
            <p:cNvGrpSpPr/>
            <p:nvPr/>
          </p:nvGrpSpPr>
          <p:grpSpPr>
            <a:xfrm>
              <a:off x="6812982" y="2719668"/>
              <a:ext cx="2133600" cy="2589662"/>
              <a:chOff x="1390486" y="1417340"/>
              <a:chExt cx="2605450" cy="3573717"/>
            </a:xfrm>
          </p:grpSpPr>
          <p:pic>
            <p:nvPicPr>
              <p:cNvPr id="6" name="内容占位符 5">
                <a:extLst>
                  <a:ext uri="{FF2B5EF4-FFF2-40B4-BE49-F238E27FC236}">
                    <a16:creationId xmlns:a16="http://schemas.microsoft.com/office/drawing/2014/main" id="{2B4476B8-6DBD-F91A-1C8A-22A174196A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17" r="59053" b="7718"/>
              <a:stretch/>
            </p:blipFill>
            <p:spPr>
              <a:xfrm>
                <a:off x="1390486" y="1417340"/>
                <a:ext cx="2605450" cy="3573717"/>
              </a:xfrm>
              <a:prstGeom prst="rect">
                <a:avLst/>
              </a:prstGeom>
            </p:spPr>
          </p:pic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2FD5A52-8A08-CECB-9F90-8DB7FCF405C6}"/>
                  </a:ext>
                </a:extLst>
              </p:cNvPr>
              <p:cNvSpPr/>
              <p:nvPr/>
            </p:nvSpPr>
            <p:spPr>
              <a:xfrm>
                <a:off x="1547664" y="2641476"/>
                <a:ext cx="1080120" cy="5040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00CC1B1-B4D0-B057-EA56-DA0E45A44212}"/>
                </a:ext>
              </a:extLst>
            </p:cNvPr>
            <p:cNvSpPr/>
            <p:nvPr/>
          </p:nvSpPr>
          <p:spPr>
            <a:xfrm>
              <a:off x="6883531" y="4297660"/>
              <a:ext cx="942673" cy="999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31A82F2-3FC4-A9D8-C33B-45CBE1120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延迟映射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0AEF9A-1F2B-6A90-CD08-25F00FAAA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latin typeface="+mn-ea"/>
                <a:ea typeface="+mn-ea"/>
              </a:rPr>
              <a:t>解决立即映射弊端的直观想法</a:t>
            </a:r>
            <a:endParaRPr kumimoji="1" lang="en-US" altLang="zh-CN" sz="24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操作系统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按进程实际需要分配</a:t>
            </a:r>
            <a:r>
              <a:rPr kumimoji="1" lang="zh-CN" altLang="en-US" sz="2000" dirty="0">
                <a:latin typeface="+mn-ea"/>
                <a:ea typeface="+mn-ea"/>
              </a:rPr>
              <a:t>物理页和填写页表，避免分配的物理页实际不被用到的情况</a:t>
            </a:r>
            <a:endParaRPr kumimoji="1" lang="en-US" altLang="zh-CN" sz="2000" dirty="0">
              <a:latin typeface="+mn-ea"/>
              <a:ea typeface="+mn-ea"/>
            </a:endParaRPr>
          </a:p>
          <a:p>
            <a:endParaRPr kumimoji="1" lang="en-US" altLang="zh-CN" sz="2400" dirty="0">
              <a:latin typeface="+mn-ea"/>
              <a:ea typeface="+mn-ea"/>
            </a:endParaRPr>
          </a:p>
          <a:p>
            <a:r>
              <a:rPr kumimoji="1" lang="zh-CN" altLang="en-US" sz="2400" dirty="0">
                <a:latin typeface="+mn-ea"/>
                <a:ea typeface="+mn-ea"/>
              </a:rPr>
              <a:t>主要思路：解耦虚拟内存分配与物理内存分配</a:t>
            </a:r>
            <a:endParaRPr kumimoji="1" lang="en-US" altLang="zh-CN" sz="24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先记录下为进程分配的虚拟内存区域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当进程实际访问某个虚拟页时，</a:t>
            </a:r>
            <a:r>
              <a:rPr kumimoji="1" lang="en-US" altLang="zh-CN" sz="2000" dirty="0">
                <a:latin typeface="+mn-ea"/>
                <a:ea typeface="+mn-ea"/>
              </a:rPr>
              <a:t>CPU </a:t>
            </a:r>
            <a:r>
              <a:rPr kumimoji="1" lang="zh-CN" altLang="en-US" sz="2000" dirty="0">
                <a:latin typeface="+mn-ea"/>
                <a:ea typeface="+mn-ea"/>
              </a:rPr>
              <a:t>会触发缺页异常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操作系统在缺页异常处理函数中添加映射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ED7575-3A3B-4237-3946-72B26533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77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322D4-C31E-1A8E-FE00-00B5C3AB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回顾：缺页异常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BADF33-CDAE-8BF0-443C-9F7A8918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C3E84C54-ECF1-D16F-95F6-DBA9FDB2BA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707984" y="1561356"/>
            <a:ext cx="7728031" cy="1235968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D02E4FF-3430-C433-2A20-6EB3B62DD5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22"/>
          <a:stretch/>
        </p:blipFill>
        <p:spPr>
          <a:xfrm>
            <a:off x="707984" y="2955709"/>
            <a:ext cx="7728031" cy="13117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CFD7FF-7CAB-7D83-F8B9-D71F46BE8C38}"/>
              </a:ext>
            </a:extLst>
          </p:cNvPr>
          <p:cNvSpPr txBox="1"/>
          <p:nvPr/>
        </p:nvSpPr>
        <p:spPr>
          <a:xfrm>
            <a:off x="707984" y="4513361"/>
            <a:ext cx="7104376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V</a:t>
            </a:r>
            <a:r>
              <a:rPr lang="zh-CN" altLang="en-US" dirty="0"/>
              <a:t>（</a:t>
            </a:r>
            <a:r>
              <a:rPr lang="en-US" altLang="zh-CN" dirty="0"/>
              <a:t>Valid</a:t>
            </a:r>
            <a:r>
              <a:rPr lang="zh-CN" altLang="en-US" dirty="0"/>
              <a:t>）：</a:t>
            </a:r>
            <a:r>
              <a:rPr kumimoji="1" lang="zh-CN" altLang="en-US" dirty="0"/>
              <a:t>当</a:t>
            </a:r>
            <a:r>
              <a:rPr kumimoji="1" lang="en-US" altLang="zh-CN" dirty="0"/>
              <a:t>MMU</a:t>
            </a:r>
            <a:r>
              <a:rPr kumimoji="1" lang="zh-CN" altLang="en-US" dirty="0"/>
              <a:t>查询页表项时，若</a:t>
            </a:r>
            <a:r>
              <a:rPr kumimoji="1" lang="en-US" altLang="zh-CN" dirty="0"/>
              <a:t>V=0</a:t>
            </a:r>
            <a:r>
              <a:rPr kumimoji="1" lang="zh-CN" altLang="en-US" dirty="0"/>
              <a:t>，则触发缺页异常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2877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B9B65-BEC1-B248-B559-FE620B63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操作系统需要区分合法</a:t>
            </a:r>
            <a:r>
              <a:rPr kumimoji="1" lang="en-US" altLang="zh-CN" dirty="0"/>
              <a:t>/</a:t>
            </a:r>
            <a:r>
              <a:rPr kumimoji="1" lang="zh-CN" altLang="en-US" dirty="0"/>
              <a:t>非法缺页异常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FC007FC-40EF-3949-99EE-F1729B714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7" y="1595592"/>
            <a:ext cx="5303899" cy="243555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C22D8-411E-4B46-B91A-67CA05FD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F9A9B-8F69-A842-B023-F34FEEA45F1C}"/>
              </a:ext>
            </a:extLst>
          </p:cNvPr>
          <p:cNvSpPr txBox="1"/>
          <p:nvPr/>
        </p:nvSpPr>
        <p:spPr>
          <a:xfrm>
            <a:off x="5436096" y="1927635"/>
            <a:ext cx="3550972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如果改变第</a:t>
            </a: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5</a:t>
            </a: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行会怎么样？比如：</a:t>
            </a:r>
            <a:endParaRPr kumimoji="1"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char</a:t>
            </a: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 *</a:t>
            </a: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p = 0x40000;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char *p = 0x400000000;</a:t>
            </a: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2894D3F-7927-AF41-BD05-AC1717D56CB5}"/>
              </a:ext>
            </a:extLst>
          </p:cNvPr>
          <p:cNvGrpSpPr/>
          <p:nvPr/>
        </p:nvGrpSpPr>
        <p:grpSpPr>
          <a:xfrm>
            <a:off x="7020272" y="985292"/>
            <a:ext cx="2664296" cy="4472257"/>
            <a:chOff x="5868144" y="761507"/>
            <a:chExt cx="2664296" cy="4472257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2425AF4-B068-7D41-AF38-C0EB2272FF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42"/>
            <a:stretch/>
          </p:blipFill>
          <p:spPr>
            <a:xfrm>
              <a:off x="5868144" y="761507"/>
              <a:ext cx="1800199" cy="438494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7CE6C41-04CB-5045-8361-9CF0C386476E}"/>
                </a:ext>
              </a:extLst>
            </p:cNvPr>
            <p:cNvSpPr/>
            <p:nvPr/>
          </p:nvSpPr>
          <p:spPr>
            <a:xfrm>
              <a:off x="7596336" y="1057300"/>
              <a:ext cx="936104" cy="4176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E46A672E-952B-9D42-AB75-5301D095A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137" y="352064"/>
            <a:ext cx="7769644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kumimoji="1" lang="zh-CN" altLang="en-US" sz="3600" dirty="0">
                <a:latin typeface="+mn-ea"/>
                <a:ea typeface="+mn-ea"/>
              </a:rPr>
              <a:t>操作系统记录为进程分配的虚拟内存区域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C7767A7-FB0D-0043-BC61-FCF8D3B4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26" y="1417495"/>
            <a:ext cx="8229600" cy="41764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虚拟地址空间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若干非连续的</a:t>
            </a:r>
            <a:r>
              <a:rPr kumimoji="1" lang="zh-CN" altLang="en-US" b="1" dirty="0">
                <a:solidFill>
                  <a:srgbClr val="C00000"/>
                </a:solidFill>
              </a:rPr>
              <a:t>虚拟内存区域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每个虚拟内存域中的虚拟地址都是进程可用的</a:t>
            </a:r>
            <a:endParaRPr kumimoji="1" lang="en-US" altLang="zh-CN" dirty="0"/>
          </a:p>
          <a:p>
            <a:pPr lvl="3">
              <a:lnSpc>
                <a:spcPct val="150000"/>
              </a:lnSpc>
            </a:pPr>
            <a:r>
              <a:rPr lang="zh-CN" altLang="en-US" baseline="0" dirty="0"/>
              <a:t>具有相同的访问权限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例如：代码、数据、堆、栈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访问非法虚拟地址，会触发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异常</a:t>
            </a:r>
            <a:endParaRPr kumimoji="1" lang="en-US" altLang="zh-CN" dirty="0"/>
          </a:p>
          <a:p>
            <a:pPr lvl="3">
              <a:lnSpc>
                <a:spcPct val="150000"/>
              </a:lnSpc>
            </a:pPr>
            <a:r>
              <a:rPr kumimoji="1" lang="zh-CN" altLang="en-US" dirty="0"/>
              <a:t>操作系统处理该异常时，选择报错：</a:t>
            </a:r>
            <a:r>
              <a:rPr kumimoji="1" lang="en-US" altLang="zh-CN" dirty="0" err="1"/>
              <a:t>segfault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2B0B4D-A16C-A60E-3901-044BE2E7A376}"/>
              </a:ext>
            </a:extLst>
          </p:cNvPr>
          <p:cNvSpPr txBox="1"/>
          <p:nvPr/>
        </p:nvSpPr>
        <p:spPr>
          <a:xfrm>
            <a:off x="2627783" y="911056"/>
            <a:ext cx="5256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zh-CN" altLang="en-US" sz="1400" dirty="0"/>
              <a:t>思考：为什么要用段来管理？</a:t>
            </a:r>
            <a:endParaRPr lang="en-US" altLang="zh-CN" sz="1400" dirty="0"/>
          </a:p>
          <a:p>
            <a:r>
              <a:rPr lang="zh-CN" altLang="en-US" sz="1400" dirty="0"/>
              <a:t>因为段的数量比页要少很多，通常每一段都有相同的属性，比如只读、可执行等等，可简化管理</a:t>
            </a:r>
            <a:endParaRPr lang="en-US" altLang="zh-CN" sz="1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761138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合法虚拟地址信息的记录方式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记录进程已分配的虚拟内存区域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中对应 </a:t>
            </a:r>
            <a:r>
              <a:rPr kumimoji="1" lang="en-US" altLang="zh-CN" sz="1800" dirty="0" err="1"/>
              <a:t>vm_area_struct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VMA</a:t>
            </a:r>
            <a:r>
              <a:rPr kumimoji="1" lang="zh-CN" altLang="en-US" sz="1800" dirty="0"/>
              <a:t>）结构体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 err="1"/>
              <a:t>ChCore</a:t>
            </a:r>
            <a:r>
              <a:rPr kumimoji="1" lang="en-US" altLang="zh-CN" sz="1800" dirty="0"/>
              <a:t>-Lab</a:t>
            </a:r>
            <a:r>
              <a:rPr kumimoji="1" lang="zh-CN" altLang="en-US" sz="1800" dirty="0"/>
              <a:t>中对应</a:t>
            </a:r>
            <a:r>
              <a:rPr kumimoji="1" lang="en-US" altLang="zh-CN" sz="1800" dirty="0" err="1"/>
              <a:t>vmregion</a:t>
            </a:r>
            <a:r>
              <a:rPr kumimoji="1" lang="zh-CN" altLang="en-US" sz="1800" dirty="0"/>
              <a:t>（</a:t>
            </a:r>
            <a:r>
              <a:rPr kumimoji="1" lang="en-US" altLang="zh-CN" sz="1800" dirty="0" err="1"/>
              <a:t>vmr</a:t>
            </a:r>
            <a:r>
              <a:rPr kumimoji="1" lang="zh-CN" altLang="en-US" sz="1800" dirty="0"/>
              <a:t>）结构体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787670"/>
            <a:ext cx="4392488" cy="25369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2E9669-26E7-3036-1102-0D76C95855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082" y="1089255"/>
            <a:ext cx="2834311" cy="42077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DE5FC3-B132-B823-96F3-F493C5EF8969}"/>
              </a:ext>
            </a:extLst>
          </p:cNvPr>
          <p:cNvSpPr txBox="1"/>
          <p:nvPr/>
        </p:nvSpPr>
        <p:spPr>
          <a:xfrm>
            <a:off x="6860659" y="85995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BD374B"/>
                </a:solidFill>
              </a:rPr>
              <a:t>进程结构体的变化</a:t>
            </a:r>
          </a:p>
        </p:txBody>
      </p:sp>
    </p:spTree>
    <p:extLst>
      <p:ext uri="{BB962C8B-B14F-4D97-AF65-F5344CB8AC3E}">
        <p14:creationId xmlns:p14="http://schemas.microsoft.com/office/powerpoint/2010/main" val="37030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3836581-41A7-0B66-252D-3E72B9550F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2241670"/>
            <a:ext cx="4924888" cy="30676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-1: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在创建进程时分配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数据（对应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文件的数据段）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代码（对应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文件的代码段）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栈（初始无内容）</a:t>
            </a:r>
            <a:endParaRPr kumimoji="1" lang="en-US" altLang="zh-CN" sz="2000" dirty="0"/>
          </a:p>
          <a:p>
            <a:endParaRPr kumimoji="1" lang="en-US" altLang="zh-CN" sz="2200" dirty="0"/>
          </a:p>
          <a:p>
            <a:r>
              <a:rPr kumimoji="1" lang="zh-CN" altLang="en-US" sz="2200" dirty="0"/>
              <a:t>途径</a:t>
            </a:r>
            <a:r>
              <a:rPr kumimoji="1" lang="en-US" altLang="zh-CN" sz="2200" dirty="0"/>
              <a:t>-2</a:t>
            </a:r>
            <a:r>
              <a:rPr kumimoji="1" lang="zh-CN" altLang="en-US" sz="2200" dirty="0"/>
              <a:t>：进程运行时添加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堆、栈</a:t>
            </a:r>
            <a:endParaRPr kumimoji="1" lang="en-US" altLang="zh-CN" sz="2000" dirty="0"/>
          </a:p>
          <a:p>
            <a:pPr lvl="1"/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munmap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分配内存</a:t>
            </a:r>
            <a:r>
              <a:rPr kumimoji="1" lang="en-US" altLang="zh-CN" sz="1600" dirty="0"/>
              <a:t>buffer</a:t>
            </a:r>
          </a:p>
          <a:p>
            <a:pPr lvl="2"/>
            <a:r>
              <a:rPr kumimoji="1" lang="zh-CN" altLang="en-US" sz="1600" dirty="0"/>
              <a:t>加载新的代码库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54F3F9-A312-F07F-7031-6DDAD5484474}"/>
              </a:ext>
            </a:extLst>
          </p:cNvPr>
          <p:cNvSpPr txBox="1"/>
          <p:nvPr/>
        </p:nvSpPr>
        <p:spPr>
          <a:xfrm>
            <a:off x="4808024" y="192689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1.</a:t>
            </a:r>
            <a:r>
              <a:rPr kumimoji="1" lang="zh-CN" altLang="en-US" sz="1400" dirty="0">
                <a:solidFill>
                  <a:srgbClr val="C00000"/>
                </a:solidFill>
              </a:rPr>
              <a:t> 进程创建时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CD31E5-1A61-509D-ADB6-39C2D66C4167}"/>
              </a:ext>
            </a:extLst>
          </p:cNvPr>
          <p:cNvSpPr txBox="1"/>
          <p:nvPr/>
        </p:nvSpPr>
        <p:spPr>
          <a:xfrm>
            <a:off x="6903102" y="192689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2.</a:t>
            </a:r>
            <a:r>
              <a:rPr kumimoji="1" lang="zh-CN" altLang="en-US" sz="1400" dirty="0">
                <a:solidFill>
                  <a:srgbClr val="C00000"/>
                </a:solidFill>
              </a:rPr>
              <a:t> 进程运行时</a:t>
            </a:r>
          </a:p>
        </p:txBody>
      </p:sp>
    </p:spTree>
    <p:extLst>
      <p:ext uri="{BB962C8B-B14F-4D97-AF65-F5344CB8AC3E}">
        <p14:creationId xmlns:p14="http://schemas.microsoft.com/office/powerpoint/2010/main" val="3989024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：分配一段虚拟内存区域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7852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200" dirty="0"/>
              <a:t>通常用于把一个文件（或一部分）映射到内存</a:t>
            </a:r>
            <a:endParaRPr kumimoji="1" lang="en-US" altLang="zh-CN" sz="2200" dirty="0"/>
          </a:p>
          <a:p>
            <a:pPr lvl="1"/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addr</a:t>
            </a:r>
            <a:r>
              <a:rPr kumimoji="1" lang="en-US" altLang="zh-CN" sz="2000" dirty="0"/>
              <a:t>,</a:t>
            </a:r>
            <a:br>
              <a:rPr kumimoji="1" lang="en-US" altLang="zh-CN" sz="2000" dirty="0"/>
            </a:br>
            <a:r>
              <a:rPr kumimoji="1" lang="en-US" altLang="zh-CN" sz="2000" dirty="0"/>
              <a:t>		</a:t>
            </a:r>
            <a:r>
              <a:rPr kumimoji="1" lang="zh-CN" altLang="en-US" sz="2000" dirty="0"/>
              <a:t>    </a:t>
            </a:r>
            <a:r>
              <a:rPr kumimoji="1" lang="zh-CN" altLang="en-US" sz="2000" dirty="0">
                <a:solidFill>
                  <a:srgbClr val="0070C0"/>
                </a:solidFill>
              </a:rPr>
              <a:t>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size_t</a:t>
            </a:r>
            <a:r>
              <a:rPr kumimoji="1" lang="en-US" altLang="zh-CN" sz="2000" dirty="0"/>
              <a:t> length,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prot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flags,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fd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off_t</a:t>
            </a:r>
            <a:r>
              <a:rPr kumimoji="1" lang="en-US" altLang="zh-CN" sz="2000" dirty="0"/>
              <a:t> offset)</a:t>
            </a:r>
          </a:p>
          <a:p>
            <a:pPr lvl="2"/>
            <a:r>
              <a:rPr kumimoji="1" lang="en-US" altLang="zh-CN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中还会包含文件映射等信息</a:t>
            </a:r>
            <a:endParaRPr kumimoji="1" lang="en-US" altLang="zh-CN" sz="16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kumimoji="1" lang="zh-CN" altLang="en-US" sz="2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也可以不映射任何文件，仅仅新建虚拟内存区域（匿名映射）</a:t>
            </a:r>
            <a:endParaRPr kumimoji="1" lang="en-US" altLang="zh-CN" sz="22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083C28-66DA-9E42-AEF9-E976259DBCD6}"/>
              </a:ext>
            </a:extLst>
          </p:cNvPr>
          <p:cNvSpPr txBox="1"/>
          <p:nvPr/>
        </p:nvSpPr>
        <p:spPr>
          <a:xfrm>
            <a:off x="5004048" y="184938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起始地址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ECD3EA-C067-6C4F-B0E2-AAA88F4A2667}"/>
              </a:ext>
            </a:extLst>
          </p:cNvPr>
          <p:cNvSpPr txBox="1"/>
          <p:nvPr/>
        </p:nvSpPr>
        <p:spPr>
          <a:xfrm>
            <a:off x="5004048" y="221157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长度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7C367-9DFA-AC4C-ABA2-E00B4C13D49C}"/>
              </a:ext>
            </a:extLst>
          </p:cNvPr>
          <p:cNvSpPr txBox="1"/>
          <p:nvPr/>
        </p:nvSpPr>
        <p:spPr>
          <a:xfrm>
            <a:off x="5004048" y="259605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权限，例如</a:t>
            </a:r>
            <a:r>
              <a:rPr kumimoji="1" lang="en-US" altLang="zh-CN" dirty="0">
                <a:solidFill>
                  <a:srgbClr val="0070C0"/>
                </a:solidFill>
              </a:rPr>
              <a:t>PROT_READ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7E4414-7CBE-4549-9765-421E0E24DB6D}"/>
              </a:ext>
            </a:extLst>
          </p:cNvPr>
          <p:cNvSpPr txBox="1"/>
          <p:nvPr/>
        </p:nvSpPr>
        <p:spPr>
          <a:xfrm>
            <a:off x="5004047" y="2992224"/>
            <a:ext cx="380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映射的标志，例如</a:t>
            </a:r>
            <a:r>
              <a:rPr kumimoji="1" lang="en-US" altLang="zh-CN" dirty="0">
                <a:solidFill>
                  <a:srgbClr val="0070C0"/>
                </a:solidFill>
              </a:rPr>
              <a:t>MAP_PRIVATE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48EF7E-F22E-E545-BD07-E3173D368293}"/>
              </a:ext>
            </a:extLst>
          </p:cNvPr>
          <p:cNvSpPr txBox="1"/>
          <p:nvPr/>
        </p:nvSpPr>
        <p:spPr>
          <a:xfrm>
            <a:off x="5004047" y="3352264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-1 </a:t>
            </a:r>
            <a:r>
              <a:rPr kumimoji="1" lang="zh-CN" altLang="en-US" dirty="0">
                <a:solidFill>
                  <a:srgbClr val="0070C0"/>
                </a:solidFill>
              </a:rPr>
              <a:t>或者是有效</a:t>
            </a:r>
            <a:r>
              <a:rPr kumimoji="1" lang="en-US" altLang="zh-CN" dirty="0" err="1">
                <a:solidFill>
                  <a:srgbClr val="0070C0"/>
                </a:solidFill>
              </a:rPr>
              <a:t>fd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531C1-7E9A-984B-BD9A-E91EA20BD2B7}"/>
              </a:ext>
            </a:extLst>
          </p:cNvPr>
          <p:cNvSpPr txBox="1"/>
          <p:nvPr/>
        </p:nvSpPr>
        <p:spPr>
          <a:xfrm>
            <a:off x="5004046" y="3686487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偏移，例如从文件的哪里开始映射</a:t>
            </a:r>
          </a:p>
        </p:txBody>
      </p:sp>
    </p:spTree>
    <p:extLst>
      <p:ext uri="{BB962C8B-B14F-4D97-AF65-F5344CB8AC3E}">
        <p14:creationId xmlns:p14="http://schemas.microsoft.com/office/powerpoint/2010/main" val="2155002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38A6C-AA2E-3C4C-80E1-70023901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匿名映射示例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D441F-7390-D849-B4CE-662E499D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62C814-496B-1D49-A19D-AD04D36A02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96" y="1097487"/>
            <a:ext cx="6423207" cy="4617513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9DDC8BBF-B5AE-4442-A7B8-F151B94385A8}"/>
              </a:ext>
            </a:extLst>
          </p:cNvPr>
          <p:cNvSpPr/>
          <p:nvPr/>
        </p:nvSpPr>
        <p:spPr>
          <a:xfrm>
            <a:off x="6804248" y="3361556"/>
            <a:ext cx="979355" cy="30427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6177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EDF7A42-8C39-0540-B3AB-FBB510713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47" y="1334183"/>
            <a:ext cx="5809705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42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5EAB4-DC15-5A40-B8B7-6D7D40B38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" y="1161458"/>
            <a:ext cx="7316936" cy="45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43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F986E-B661-8718-F9AD-2A4A5607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mmap</a:t>
            </a:r>
            <a:r>
              <a:rPr kumimoji="1" lang="zh-CN" altLang="en-US" dirty="0"/>
              <a:t>映射文件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AA2A19A-E6AA-0EDD-BE7A-4B20F1FFA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02" y="1336763"/>
            <a:ext cx="5167595" cy="410163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D57178-5954-6DC3-2D7C-463D9635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824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40296"/>
            <a:ext cx="8300291" cy="438150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2:</a:t>
            </a:r>
            <a:r>
              <a:rPr kumimoji="1" lang="zh-CN" altLang="en-US" sz="2400" dirty="0"/>
              <a:t> 进程运行时添加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应用程序主动向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发起系统调用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()</a:t>
            </a:r>
          </a:p>
          <a:p>
            <a:pPr lvl="2"/>
            <a:r>
              <a:rPr kumimoji="1" lang="zh-CN" altLang="en-US" sz="1800" dirty="0"/>
              <a:t>申请空的虚拟内存区域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申请映射文件数据的虚拟内存区域</a:t>
            </a:r>
            <a:endParaRPr kumimoji="1" lang="en-US" altLang="zh-CN" sz="2000" dirty="0"/>
          </a:p>
          <a:p>
            <a:pPr lvl="1"/>
            <a:r>
              <a:rPr kumimoji="1" lang="en-US" altLang="zh-CN" sz="2000" dirty="0" err="1"/>
              <a:t>brk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：扩大、缩小堆区域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栈</a:t>
            </a:r>
            <a:r>
              <a:rPr kumimoji="1" lang="en-US" altLang="zh-CN" sz="1800" dirty="0"/>
              <a:t>VMA</a:t>
            </a:r>
            <a:r>
              <a:rPr kumimoji="1" lang="zh-CN" altLang="en-US" sz="1800" dirty="0"/>
              <a:t>的可选策略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OS</a:t>
            </a:r>
            <a:r>
              <a:rPr kumimoji="1" lang="zh-CN" altLang="en-US" sz="1800" dirty="0"/>
              <a:t>为进程初始分配固定大小的栈</a:t>
            </a:r>
            <a:r>
              <a:rPr kumimoji="1" lang="en-US" altLang="zh-CN" sz="1800" dirty="0"/>
              <a:t>VMA</a:t>
            </a:r>
            <a:r>
              <a:rPr kumimoji="1" lang="zh-CN" altLang="en-US" sz="1800" dirty="0"/>
              <a:t>，</a:t>
            </a:r>
            <a:br>
              <a:rPr kumimoji="1" lang="en-US" altLang="zh-CN" sz="1800" dirty="0"/>
            </a:br>
            <a:r>
              <a:rPr kumimoji="1" lang="zh-CN" altLang="en-US" sz="1800" dirty="0"/>
              <a:t>在发现</a:t>
            </a:r>
            <a:r>
              <a:rPr kumimoji="1" lang="en-US" altLang="zh-CN" sz="1800" dirty="0" err="1"/>
              <a:t>stackoverflow</a:t>
            </a:r>
            <a:r>
              <a:rPr kumimoji="1" lang="zh-CN" altLang="en-US" sz="1800" dirty="0"/>
              <a:t>之后自动扩大栈</a:t>
            </a:r>
            <a:r>
              <a:rPr kumimoji="1" lang="en-US" altLang="zh-CN" sz="1800" dirty="0"/>
              <a:t>VMA</a:t>
            </a:r>
          </a:p>
          <a:p>
            <a:pPr lvl="1"/>
            <a:r>
              <a:rPr kumimoji="1" lang="zh-CN" altLang="en-US" sz="1800" dirty="0"/>
              <a:t>用户态的</a:t>
            </a:r>
            <a:r>
              <a:rPr kumimoji="1" lang="en-US" altLang="zh-CN" sz="1800" dirty="0"/>
              <a:t>malloc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API</a:t>
            </a:r>
            <a:r>
              <a:rPr kumimoji="1" lang="zh-CN" altLang="en-US" sz="1800" dirty="0"/>
              <a:t>）也可能改变</a:t>
            </a:r>
            <a:r>
              <a:rPr kumimoji="1" lang="en-US" altLang="zh-CN" sz="1800" dirty="0"/>
              <a:t>VMA</a:t>
            </a:r>
          </a:p>
          <a:p>
            <a:pPr lvl="2"/>
            <a:r>
              <a:rPr kumimoji="1" lang="zh-CN" altLang="en-US" sz="1600" dirty="0"/>
              <a:t>调用</a:t>
            </a:r>
            <a:r>
              <a:rPr kumimoji="1" lang="en-US" altLang="zh-CN" sz="1600" dirty="0" err="1"/>
              <a:t>brk</a:t>
            </a:r>
            <a:r>
              <a:rPr kumimoji="1" lang="zh-CN" altLang="en-US" sz="1600" dirty="0"/>
              <a:t>，在堆中分配新的内存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调用</a:t>
            </a:r>
            <a:r>
              <a:rPr kumimoji="1" lang="en-US" altLang="zh-CN" sz="1600" dirty="0" err="1"/>
              <a:t>mmap</a:t>
            </a:r>
            <a:r>
              <a:rPr kumimoji="1" lang="zh-CN" altLang="en-US" sz="1600" dirty="0"/>
              <a:t>分配较大区域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A9047C-B896-66DB-91CC-F4D8A8C8171D}"/>
              </a:ext>
            </a:extLst>
          </p:cNvPr>
          <p:cNvSpPr txBox="1"/>
          <p:nvPr/>
        </p:nvSpPr>
        <p:spPr>
          <a:xfrm>
            <a:off x="6482509" y="472343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小知识：</a:t>
            </a:r>
            <a:r>
              <a:rPr kumimoji="1" lang="en-US" altLang="zh-CN" dirty="0">
                <a:latin typeface="+mn-ea"/>
              </a:rPr>
              <a:t>API</a:t>
            </a:r>
            <a:r>
              <a:rPr kumimoji="1" lang="zh-CN" altLang="en-US" dirty="0">
                <a:latin typeface="+mn-ea"/>
              </a:rPr>
              <a:t> </a:t>
            </a:r>
            <a:r>
              <a:rPr kumimoji="1" lang="en-US" altLang="zh-CN" dirty="0">
                <a:latin typeface="+mn-ea"/>
              </a:rPr>
              <a:t>vs.</a:t>
            </a:r>
            <a:r>
              <a:rPr kumimoji="1" lang="zh-CN" altLang="en-US" dirty="0">
                <a:latin typeface="+mn-ea"/>
              </a:rPr>
              <a:t> </a:t>
            </a:r>
            <a:r>
              <a:rPr kumimoji="1" lang="en-US" altLang="zh-CN" dirty="0">
                <a:latin typeface="+mn-ea"/>
              </a:rPr>
              <a:t>ABI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0CC458-C7AB-10AC-AFD6-C8AD640B1C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82"/>
          <a:stretch/>
        </p:blipFill>
        <p:spPr>
          <a:xfrm>
            <a:off x="5940152" y="1805827"/>
            <a:ext cx="3106688" cy="338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2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根据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判断缺页异常的合法性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AARCH64</a:t>
            </a:r>
            <a:r>
              <a:rPr kumimoji="1" lang="zh-CN" altLang="en-US" dirty="0"/>
              <a:t>：触发（通用的）同步异常（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信息判断是否为缺页异常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访问的虚拟地址存放在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操作系统的缺页处理函数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FAR_EL1</a:t>
            </a:r>
            <a:r>
              <a:rPr kumimoji="1" lang="zh-CN" altLang="en-US" dirty="0"/>
              <a:t>中的值不落在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区域内，则为非法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反之，则分配物理页，并在页表中添加映射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94" y="2406974"/>
            <a:ext cx="2813012" cy="16246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F759A37-16C8-8456-906C-24F17BE8822D}"/>
              </a:ext>
            </a:extLst>
          </p:cNvPr>
          <p:cNvSpPr txBox="1"/>
          <p:nvPr/>
        </p:nvSpPr>
        <p:spPr>
          <a:xfrm>
            <a:off x="5685255" y="4971148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问：用什么数据结构组织</a:t>
            </a:r>
            <a:r>
              <a:rPr kumimoji="1" lang="en-US" altLang="zh-CN" dirty="0">
                <a:solidFill>
                  <a:srgbClr val="BD374B"/>
                </a:solidFill>
              </a:rPr>
              <a:t>VMA</a:t>
            </a:r>
            <a:r>
              <a:rPr kumimoji="1" lang="zh-CN" altLang="en-US" dirty="0">
                <a:solidFill>
                  <a:srgbClr val="BD374B"/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88057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延迟映射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立即映射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在缺页异常处理函数中采用</a:t>
            </a:r>
            <a:r>
              <a:rPr kumimoji="1" lang="zh-CN" altLang="en-US" sz="2000" dirty="0">
                <a:solidFill>
                  <a:srgbClr val="C00000"/>
                </a:solidFill>
              </a:rPr>
              <a:t>预先映射</a:t>
            </a:r>
            <a:r>
              <a:rPr kumimoji="1" lang="zh-CN" altLang="en-US" sz="2000" dirty="0"/>
              <a:t>的策略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6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9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虚拟内存的扩展功能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23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4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8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21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9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87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好处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减少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缓存项的使用，提高 </a:t>
            </a:r>
            <a:r>
              <a:rPr kumimoji="1" lang="en-US" altLang="zh-CN" sz="2000" dirty="0"/>
              <a:t>TLB </a:t>
            </a:r>
            <a:r>
              <a:rPr kumimoji="1" lang="zh-CN" altLang="en-US" sz="2000" dirty="0"/>
              <a:t>命中率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减少页表的级数，提升遍历页表的效率</a:t>
            </a:r>
            <a:endParaRPr kumimoji="1" lang="en-US" altLang="zh-CN" sz="2000" dirty="0"/>
          </a:p>
          <a:p>
            <a:r>
              <a:rPr kumimoji="1" lang="zh-CN" altLang="en-US" sz="2400" dirty="0"/>
              <a:t>案例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提供</a:t>
            </a:r>
            <a:r>
              <a:rPr kumimoji="1" lang="en-US" altLang="zh-CN" sz="2000" dirty="0"/>
              <a:t>API</a:t>
            </a:r>
            <a:r>
              <a:rPr kumimoji="1" lang="zh-CN" altLang="en-US" sz="2000" dirty="0"/>
              <a:t>允许应用程序进行显示的大页分配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透明大页（</a:t>
            </a:r>
            <a:r>
              <a:rPr kumimoji="1" lang="en-US" altLang="zh-CN" sz="2000" dirty="0"/>
              <a:t>Transparent Huge Pages) 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r>
              <a:rPr kumimoji="1" lang="zh-CN" altLang="en-US" sz="2400" dirty="0"/>
              <a:t>弊端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未使用整个大页而造成物理内存资源浪费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D32B268E-8ECD-906E-8C42-2FBAC09B94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269" y="241959"/>
            <a:ext cx="3765437" cy="146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26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/>
              <a:t>TCR_EL1</a:t>
            </a:r>
            <a:r>
              <a:rPr kumimoji="1" lang="zh-CN" altLang="en-US" sz="2400" dirty="0"/>
              <a:t>可以选择不同的最小页面大小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3</a:t>
            </a:r>
            <a:r>
              <a:rPr kumimoji="1" lang="zh-CN" altLang="en-US" sz="2000" dirty="0"/>
              <a:t>种配置：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问：为什么是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51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7B5DF-870E-5720-0E68-614F9B99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B90BF-8DB0-DFD9-5D59-A65B76BDD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4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填写页表的策略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立即映射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延迟映射</a:t>
            </a:r>
            <a:endParaRPr kumimoji="1" lang="en-US" altLang="zh-CN" sz="2000" dirty="0"/>
          </a:p>
          <a:p>
            <a:r>
              <a:rPr kumimoji="1" lang="zh-CN" altLang="en-US" sz="2400" dirty="0"/>
              <a:t>延迟映射实现原理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硬件基础：缺页异常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软件设计：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数据结构</a:t>
            </a:r>
            <a:endParaRPr kumimoji="1" lang="en-US" altLang="zh-CN" sz="2000" dirty="0"/>
          </a:p>
          <a:p>
            <a:r>
              <a:rPr kumimoji="1" lang="zh-CN" altLang="en-US" sz="2400" dirty="0"/>
              <a:t>虚拟内存的扩展功能</a:t>
            </a:r>
            <a:endParaRPr kumimoji="1" lang="en-US" altLang="zh-CN" sz="2400" dirty="0"/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D43F5-AC35-065D-807D-FEDDD5D3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88E792-79AE-6B2E-D0EB-89F8641F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417340"/>
            <a:ext cx="4367014" cy="1740954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65F0599D-7D4A-643C-5B6E-4EDCA137ECF3}"/>
              </a:ext>
            </a:extLst>
          </p:cNvPr>
          <p:cNvSpPr/>
          <p:nvPr/>
        </p:nvSpPr>
        <p:spPr>
          <a:xfrm>
            <a:off x="4211960" y="1792139"/>
            <a:ext cx="4680520" cy="792088"/>
          </a:xfrm>
          <a:prstGeom prst="roundRect">
            <a:avLst/>
          </a:prstGeom>
          <a:solidFill>
            <a:schemeClr val="accent1">
              <a:alpha val="29265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0510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47593</TotalTime>
  <Words>1862</Words>
  <Application>Microsoft Office PowerPoint</Application>
  <PresentationFormat>全屏显示(16:10)</PresentationFormat>
  <Paragraphs>275</Paragraphs>
  <Slides>35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1" baseType="lpstr">
      <vt:lpstr>DengXian</vt:lpstr>
      <vt:lpstr>Microsoft YaHei</vt:lpstr>
      <vt:lpstr>Arial</vt:lpstr>
      <vt:lpstr>Calibri</vt:lpstr>
      <vt:lpstr>Comic Sans MS</vt:lpstr>
      <vt:lpstr>Office 主题​​</vt:lpstr>
      <vt:lpstr>PowerPoint 演示文稿</vt:lpstr>
      <vt:lpstr>内容提纲</vt:lpstr>
      <vt:lpstr>设置页表映射是操作系统的职责</vt:lpstr>
      <vt:lpstr>何时设置页表映射</vt:lpstr>
      <vt:lpstr>何时填写进程页表：立即映射</vt:lpstr>
      <vt:lpstr>分配物理页的简单实现</vt:lpstr>
      <vt:lpstr>操作系统如何填写进程页表</vt:lpstr>
      <vt:lpstr>填写进程页表的代码实现</vt:lpstr>
      <vt:lpstr>填写进程页表的代码实现</vt:lpstr>
      <vt:lpstr>立即映射的弊端</vt:lpstr>
      <vt:lpstr>延迟映射</vt:lpstr>
      <vt:lpstr>延迟映射</vt:lpstr>
      <vt:lpstr>回顾：缺页异常</vt:lpstr>
      <vt:lpstr>操作系统需要区分合法/非法缺页异常</vt:lpstr>
      <vt:lpstr>操作系统记录为进程分配的虚拟内存区域</vt:lpstr>
      <vt:lpstr>合法虚拟地址信息的记录方式</vt:lpstr>
      <vt:lpstr>VMA是如何添加的</vt:lpstr>
      <vt:lpstr>mmap：分配一段虚拟内存区域</vt:lpstr>
      <vt:lpstr>mmap匿名映射示例</vt:lpstr>
      <vt:lpstr>示例：执行mmap后，VMA的变化</vt:lpstr>
      <vt:lpstr>示例：执行mmap后，VMA的变化</vt:lpstr>
      <vt:lpstr>mmap映射文件</vt:lpstr>
      <vt:lpstr>VMA是如何添加的</vt:lpstr>
      <vt:lpstr>根据VMA判断缺页异常的合法性</vt:lpstr>
      <vt:lpstr>延迟映射 vs. 立即映射</vt:lpstr>
      <vt:lpstr>OS可向应用提供灵活的内存管理系统调用</vt:lpstr>
      <vt:lpstr>虚拟内存的扩展功能</vt:lpstr>
      <vt:lpstr>共享内存</vt:lpstr>
      <vt:lpstr>写时拷贝（copy-on-write）</vt:lpstr>
      <vt:lpstr>内存去重</vt:lpstr>
      <vt:lpstr>内存压缩</vt:lpstr>
      <vt:lpstr>内存压缩案例</vt:lpstr>
      <vt:lpstr>大页的利弊</vt:lpstr>
      <vt:lpstr>AARCH64支持多种最小页面大小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1746</cp:revision>
  <cp:lastPrinted>2016-06-13T07:55:34Z</cp:lastPrinted>
  <dcterms:created xsi:type="dcterms:W3CDTF">2017-11-24T09:35:45Z</dcterms:created>
  <dcterms:modified xsi:type="dcterms:W3CDTF">2025-11-17T09:16:22Z</dcterms:modified>
</cp:coreProperties>
</file>