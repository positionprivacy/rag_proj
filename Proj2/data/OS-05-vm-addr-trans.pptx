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59"/>
  </p:notesMasterIdLst>
  <p:handoutMasterIdLst>
    <p:handoutMasterId r:id="rId60"/>
  </p:handoutMasterIdLst>
  <p:sldIdLst>
    <p:sldId id="2769" r:id="rId3"/>
    <p:sldId id="2773" r:id="rId4"/>
    <p:sldId id="2299" r:id="rId5"/>
    <p:sldId id="1363" r:id="rId6"/>
    <p:sldId id="1364" r:id="rId7"/>
    <p:sldId id="1103" r:id="rId8"/>
    <p:sldId id="2300" r:id="rId9"/>
    <p:sldId id="1367" r:id="rId10"/>
    <p:sldId id="1369" r:id="rId11"/>
    <p:sldId id="1372" r:id="rId12"/>
    <p:sldId id="1374" r:id="rId13"/>
    <p:sldId id="1375" r:id="rId14"/>
    <p:sldId id="2280" r:id="rId15"/>
    <p:sldId id="2775" r:id="rId16"/>
    <p:sldId id="2283" r:id="rId17"/>
    <p:sldId id="2284" r:id="rId18"/>
    <p:sldId id="2292" r:id="rId19"/>
    <p:sldId id="2293" r:id="rId20"/>
    <p:sldId id="2243" r:id="rId21"/>
    <p:sldId id="1376" r:id="rId22"/>
    <p:sldId id="1377" r:id="rId23"/>
    <p:sldId id="1378" r:id="rId24"/>
    <p:sldId id="1379" r:id="rId25"/>
    <p:sldId id="2792" r:id="rId26"/>
    <p:sldId id="2782" r:id="rId27"/>
    <p:sldId id="2791" r:id="rId28"/>
    <p:sldId id="2781" r:id="rId29"/>
    <p:sldId id="1387" r:id="rId30"/>
    <p:sldId id="1386" r:id="rId31"/>
    <p:sldId id="1488" r:id="rId32"/>
    <p:sldId id="2780" r:id="rId33"/>
    <p:sldId id="1388" r:id="rId34"/>
    <p:sldId id="2785" r:id="rId35"/>
    <p:sldId id="2786" r:id="rId36"/>
    <p:sldId id="2783" r:id="rId37"/>
    <p:sldId id="2784" r:id="rId38"/>
    <p:sldId id="1494" r:id="rId39"/>
    <p:sldId id="1381" r:id="rId40"/>
    <p:sldId id="1382" r:id="rId41"/>
    <p:sldId id="1391" r:id="rId42"/>
    <p:sldId id="2251" r:id="rId43"/>
    <p:sldId id="2252" r:id="rId44"/>
    <p:sldId id="2254" r:id="rId45"/>
    <p:sldId id="2255" r:id="rId46"/>
    <p:sldId id="1218" r:id="rId47"/>
    <p:sldId id="2787" r:id="rId48"/>
    <p:sldId id="1401" r:id="rId49"/>
    <p:sldId id="1422" r:id="rId50"/>
    <p:sldId id="1423" r:id="rId51"/>
    <p:sldId id="2304" r:id="rId52"/>
    <p:sldId id="2306" r:id="rId53"/>
    <p:sldId id="2311" r:id="rId54"/>
    <p:sldId id="2308" r:id="rId55"/>
    <p:sldId id="2309" r:id="rId56"/>
    <p:sldId id="2310" r:id="rId57"/>
    <p:sldId id="2313" r:id="rId58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1"/>
    <a:srgbClr val="F2F9FF"/>
    <a:srgbClr val="0432FF"/>
    <a:srgbClr val="BE374B"/>
    <a:srgbClr val="941100"/>
    <a:srgbClr val="BF374B"/>
    <a:srgbClr val="BE384B"/>
    <a:srgbClr val="73FEFF"/>
    <a:srgbClr val="212121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650" autoAdjust="0"/>
  </p:normalViewPr>
  <p:slideViewPr>
    <p:cSldViewPr>
      <p:cViewPr varScale="1">
        <p:scale>
          <a:sx n="114" d="100"/>
          <a:sy n="114" d="100"/>
        </p:scale>
        <p:origin x="248" y="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452E984E-8907-4E68-896A-78F2F808D3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9DAD166-671E-43C4-B039-C1A779CA4C4A}" type="slidenum">
              <a:rPr lang="zh-CN" altLang="en-US" sz="1200" b="0" smtClean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FB62B7C3-99C7-4887-824E-BEA497D71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3E71C77-BACA-4465-8F9A-C33EA3DDD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98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5885F95E-DC11-E540-961C-25D6F83BCA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B18C1B-A29A-AC48-BEB2-3E2F3C77BD9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2202404B-35F1-CC4A-BF30-5574CEB5E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EF8F700D-F55D-AA40-887D-A8870DC9C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14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40085AF6-DA09-2146-ABAF-43FB98CDB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19FBDE-3EE8-B245-8A41-A6F2C3910A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0E3C6F49-27C4-8C42-A3E3-EFD086130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9E49A69-5FEE-ED46-B18C-B4961AA14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500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>
            <a:extLst>
              <a:ext uri="{FF2B5EF4-FFF2-40B4-BE49-F238E27FC236}">
                <a16:creationId xmlns:a16="http://schemas.microsoft.com/office/drawing/2014/main" id="{A63134D0-C81A-4045-A26D-7ECF95624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6000C2-BF82-5343-8EF6-7BAD646956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653D5F2A-D1BB-0642-B6CE-476881B81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A4BECFF-B1BC-C347-9521-688F8750E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110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C90D9FB9-7C87-684E-9210-EC8ED6AF9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AA3290-3452-8A4C-9AF2-BC6F88BD2B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763D9157-3077-9A45-94C6-A964FBEF1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566EBB6-7D87-6E4F-849B-83A4DF053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2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id="{E52A7E5F-59D6-9A40-9EC9-DAAD65CB5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0FB8B8-FADF-9542-9F61-9D948B3ACF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17A3245A-A629-B142-B26C-557E7D7B6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4297ED5A-7D49-E84A-8F2F-9299D01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657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2M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91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63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虚拟地址对应的 </a:t>
            </a:r>
            <a:r>
              <a:rPr kumimoji="1" lang="en-US" altLang="zh-CN" dirty="0"/>
              <a:t>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级页表项索引分别是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</a:t>
            </a:r>
            <a:r>
              <a:rPr kumimoji="1" lang="zh-CN" altLang="en-US" dirty="0"/>
              <a:t>、 </a:t>
            </a:r>
            <a:r>
              <a:rPr kumimoji="1" lang="en-US" altLang="zh-CN" dirty="0"/>
              <a:t>4</a:t>
            </a:r>
            <a:r>
              <a:rPr kumimoji="1" lang="zh-CN" altLang="en-US" dirty="0"/>
              <a:t>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44KB</a:t>
            </a:r>
            <a:r>
              <a:rPr kumimoji="1" lang="zh-CN" altLang="en-US" dirty="0"/>
              <a:t>。因为需要 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级页表页，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级页表页，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级页表，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级页表页，合计 </a:t>
            </a:r>
            <a:r>
              <a:rPr kumimoji="1" lang="en-US" altLang="zh-CN" dirty="0"/>
              <a:t>11 </a:t>
            </a:r>
            <a:r>
              <a:rPr kumimoji="1" lang="zh-CN" altLang="en-US" dirty="0"/>
              <a:t>个页表页。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63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操作系统也需要为自己配置页表，从而使</a:t>
            </a:r>
            <a:r>
              <a:rPr kumimoji="1" lang="en-US" altLang="zh-CN" dirty="0"/>
              <a:t>MMU</a:t>
            </a:r>
            <a:r>
              <a:rPr kumimoji="1" lang="zh-CN" altLang="en-US" dirty="0"/>
              <a:t>能够把虚拟地址翻译成正确的物理地址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操作系统和应用程序的页表具体怎么配置下节课的内容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3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每个页表项占用 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个字节（</a:t>
            </a:r>
            <a:r>
              <a:rPr kumimoji="1" lang="en-US" altLang="zh-CN" dirty="0"/>
              <a:t>64 </a:t>
            </a:r>
            <a:r>
              <a:rPr kumimoji="1" lang="zh-CN" altLang="en-US" dirty="0"/>
              <a:t>位），其中既包括物理页号（</a:t>
            </a:r>
            <a:r>
              <a:rPr kumimoji="1" lang="en-US" altLang="zh-CN" dirty="0"/>
              <a:t>PFN</a:t>
            </a:r>
            <a:r>
              <a:rPr kumimoji="1" lang="zh-CN" altLang="en-US" dirty="0"/>
              <a:t>），也包括描述页面属性的位。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级页表项（最后一级页表项）中的 </a:t>
            </a:r>
            <a:r>
              <a:rPr kumimoji="1" lang="en-US" altLang="zh-CN" dirty="0"/>
              <a:t>PFN </a:t>
            </a:r>
            <a:r>
              <a:rPr kumimoji="1" lang="zh-CN" altLang="en-US" dirty="0"/>
              <a:t>即表示指 向的 </a:t>
            </a:r>
            <a:r>
              <a:rPr kumimoji="1" lang="en-US" altLang="zh-CN" dirty="0"/>
              <a:t>4KB </a:t>
            </a:r>
            <a:r>
              <a:rPr kumimoji="1" lang="zh-CN" altLang="en-US" dirty="0"/>
              <a:t>物理页，这样的页表项称为页描述符（</a:t>
            </a:r>
            <a:r>
              <a:rPr kumimoji="1" lang="en-US" altLang="zh-CN" dirty="0"/>
              <a:t>Page Descriptor</a:t>
            </a:r>
            <a:r>
              <a:rPr kumimoji="1" lang="zh-CN" altLang="en-US" dirty="0"/>
              <a:t>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DBM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854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 </a:t>
            </a:r>
            <a:r>
              <a:rPr kumimoji="1" lang="zh-CN" altLang="en-US" dirty="0"/>
              <a:t>级、</a:t>
            </a:r>
            <a:r>
              <a:rPr kumimoji="1" lang="en-US" altLang="zh-CN" dirty="0"/>
              <a:t>1 </a:t>
            </a:r>
            <a:r>
              <a:rPr kumimoji="1" lang="zh-CN" altLang="en-US" dirty="0"/>
              <a:t>级、</a:t>
            </a:r>
            <a:r>
              <a:rPr kumimoji="1" lang="en-US" altLang="zh-CN" dirty="0"/>
              <a:t>2 </a:t>
            </a:r>
            <a:r>
              <a:rPr kumimoji="1" lang="zh-CN" altLang="en-US" dirty="0"/>
              <a:t>级页表项中的 </a:t>
            </a:r>
            <a:r>
              <a:rPr kumimoji="1" lang="en-US" altLang="zh-CN" dirty="0"/>
              <a:t>PFN </a:t>
            </a:r>
            <a:r>
              <a:rPr kumimoji="1" lang="zh-CN" altLang="en-US" dirty="0"/>
              <a:t>通常指向下一级页表页，这样的页表项称为表描述 符（</a:t>
            </a:r>
            <a:r>
              <a:rPr kumimoji="1" lang="en-US" altLang="zh-CN" dirty="0"/>
              <a:t>Table Descriptor</a:t>
            </a:r>
            <a:r>
              <a:rPr kumimoji="1" lang="zh-CN" altLang="en-US" dirty="0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58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多级页表中并非只有最后一级的页表项能够指 向物理页，中间级的页表项也能够直接指向物理页，而不是只能指向下一级页 表页。当中间级的页表项直接指向物理页时，其指向的会是大页，顾名思义， 会比下一级页表项指向的物理页大小更大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106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699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972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168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7873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7">
            <a:extLst>
              <a:ext uri="{FF2B5EF4-FFF2-40B4-BE49-F238E27FC236}">
                <a16:creationId xmlns:a16="http://schemas.microsoft.com/office/drawing/2014/main" id="{BAB45AD3-325F-6742-BC07-F68A7E41F5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0A54ED3-F8C9-F745-8611-202C0145DAB8}" type="slidenum">
              <a:rPr lang="zh-CN" altLang="en-US" sz="1200" b="0" smtClean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AFB665A7-4D93-E04C-B8EC-45F90AFCF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134C126C-4B11-0E46-907F-300447854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52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689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>
            <a:extLst>
              <a:ext uri="{FF2B5EF4-FFF2-40B4-BE49-F238E27FC236}">
                <a16:creationId xmlns:a16="http://schemas.microsoft.com/office/drawing/2014/main" id="{49C365E9-3B51-904C-BE3C-23DA35BE1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B0668A5-3725-1547-9264-0C2DC19A3DD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679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8789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2780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>
            <a:extLst>
              <a:ext uri="{FF2B5EF4-FFF2-40B4-BE49-F238E27FC236}">
                <a16:creationId xmlns:a16="http://schemas.microsoft.com/office/drawing/2014/main" id="{D8567DDF-2247-5445-8C82-3BA267D2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73589B-CF5D-2D4B-B3EF-47BC4DBEFA3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0520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>
            <a:extLst>
              <a:ext uri="{FF2B5EF4-FFF2-40B4-BE49-F238E27FC236}">
                <a16:creationId xmlns:a16="http://schemas.microsoft.com/office/drawing/2014/main" id="{356C17B0-D258-2843-AA37-786700CF0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02054A0-35B5-0A4A-886F-94332FC4D2C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dirty="0"/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21602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内存地址翻译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00837-91E0-F74F-FCF4-42E8C212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61163-8078-2D64-2B05-4154B7EB1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B1DBB-257B-1CC4-0165-CFEE6649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2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0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C2129-3DB6-BE4B-9BC0-108D7F99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A36AA-DE88-D543-9CAE-2DA8328A6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常说的“内存条”就是指物理内存</a:t>
            </a:r>
            <a:endParaRPr kumimoji="1" lang="en-US" altLang="zh-CN" dirty="0"/>
          </a:p>
          <a:p>
            <a:r>
              <a:rPr kumimoji="1" lang="zh-CN" altLang="en-US" dirty="0"/>
              <a:t>数据从磁盘中加载到物理内存后，才能被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应用程序的代码和数据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3B915-E96F-DC4F-8909-1EFB35D3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599D90-5051-784D-9B84-0B760029DD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>
            <a:off x="1331640" y="4257852"/>
            <a:ext cx="2820938" cy="62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EB1D28-D19C-BB45-BE47-A60708BF35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929508"/>
            <a:ext cx="2333691" cy="199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7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83E26-CD4F-F542-885E-997E14C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多重编程时代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EA34-6A12-A94F-B407-BC4AE0BF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99510"/>
            <a:ext cx="8229600" cy="4286624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多用户多程序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“发生在共享单车前的共享计算机”</a:t>
            </a:r>
            <a:endParaRPr kumimoji="1" lang="en-US" altLang="zh-CN" dirty="0"/>
          </a:p>
          <a:p>
            <a:r>
              <a:rPr kumimoji="1" lang="zh-CN" altLang="en-US" dirty="0"/>
              <a:t>分时复用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保存恢复寄存器速度很快</a:t>
            </a:r>
            <a:endParaRPr kumimoji="1" lang="en-US" altLang="zh-CN" dirty="0"/>
          </a:p>
          <a:p>
            <a:r>
              <a:rPr kumimoji="1" lang="zh-CN" altLang="en-US" dirty="0"/>
              <a:t>如何共享物理内存资源？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分时复用物理内存资源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将全部内存写入磁盘</a:t>
            </a:r>
            <a:r>
              <a:rPr kumimoji="1" lang="zh-CN" altLang="en-US" dirty="0">
                <a:solidFill>
                  <a:srgbClr val="941100"/>
                </a:solidFill>
              </a:rPr>
              <a:t>开销太高</a:t>
            </a:r>
            <a:endParaRPr kumimoji="1" lang="en-US" altLang="zh-CN" dirty="0">
              <a:solidFill>
                <a:srgbClr val="9411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同时使用、各占一部分物理内存</a:t>
            </a:r>
            <a:endParaRPr kumimoji="1" lang="en-US" altLang="zh-CN" dirty="0"/>
          </a:p>
          <a:p>
            <a:pPr lvl="2"/>
            <a:r>
              <a:rPr kumimoji="1" lang="zh-CN" altLang="en-US" dirty="0">
                <a:solidFill>
                  <a:srgbClr val="941100"/>
                </a:solidFill>
              </a:rPr>
              <a:t>缺乏安全性</a:t>
            </a:r>
            <a:r>
              <a:rPr kumimoji="1" lang="en-US" altLang="zh-CN" dirty="0">
                <a:solidFill>
                  <a:srgbClr val="941100"/>
                </a:solidFill>
              </a:rPr>
              <a:t>/</a:t>
            </a:r>
            <a:r>
              <a:rPr kumimoji="1" lang="zh-CN" altLang="en-US" dirty="0">
                <a:solidFill>
                  <a:srgbClr val="941100"/>
                </a:solidFill>
              </a:rPr>
              <a:t>隔离性</a:t>
            </a:r>
            <a:endParaRPr kumimoji="1" lang="en-US" altLang="zh-CN" dirty="0">
              <a:solidFill>
                <a:srgbClr val="941100"/>
              </a:solidFill>
            </a:endParaRPr>
          </a:p>
          <a:p>
            <a:pPr lvl="1"/>
            <a:r>
              <a:rPr kumimoji="1" lang="zh-CN" altLang="en-US" dirty="0"/>
              <a:t>如何不被物理内存</a:t>
            </a:r>
            <a:r>
              <a:rPr kumimoji="1" lang="zh-CN" altLang="en-US" sz="2100" dirty="0">
                <a:solidFill>
                  <a:srgbClr val="941100"/>
                </a:solidFill>
              </a:rPr>
              <a:t>容量限制</a:t>
            </a:r>
            <a:endParaRPr kumimoji="1" lang="en-US" altLang="zh-CN" sz="2100" dirty="0">
              <a:solidFill>
                <a:srgbClr val="941100"/>
              </a:solidFill>
            </a:endParaRPr>
          </a:p>
          <a:p>
            <a:pPr marL="914400" lvl="2" indent="0">
              <a:buNone/>
            </a:pPr>
            <a:endParaRPr kumimoji="1" lang="en-US" altLang="zh-CN" dirty="0">
              <a:solidFill>
                <a:srgbClr val="941100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A6F00-94CE-F547-BB20-AFD3C6A9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EAA3A8-08F7-A34D-BB83-29D69A0308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922603" y="2696330"/>
            <a:ext cx="3528392" cy="7779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54796B6-E90A-154B-95C5-5E0BD1F73463}"/>
              </a:ext>
            </a:extLst>
          </p:cNvPr>
          <p:cNvSpPr/>
          <p:nvPr/>
        </p:nvSpPr>
        <p:spPr>
          <a:xfrm>
            <a:off x="6749533" y="1321133"/>
            <a:ext cx="1368152" cy="3528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7801C3-43F3-DD48-B989-486B4E7F89BA}"/>
              </a:ext>
            </a:extLst>
          </p:cNvPr>
          <p:cNvSpPr/>
          <p:nvPr/>
        </p:nvSpPr>
        <p:spPr>
          <a:xfrm>
            <a:off x="6749533" y="1321134"/>
            <a:ext cx="1368152" cy="6722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F3CF8-D6DF-324E-886F-07CEE33EC665}"/>
              </a:ext>
            </a:extLst>
          </p:cNvPr>
          <p:cNvSpPr txBox="1"/>
          <p:nvPr/>
        </p:nvSpPr>
        <p:spPr>
          <a:xfrm>
            <a:off x="6879611" y="14726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操作系统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9F71DE-845B-D849-9B21-A97829E543B6}"/>
              </a:ext>
            </a:extLst>
          </p:cNvPr>
          <p:cNvSpPr/>
          <p:nvPr/>
        </p:nvSpPr>
        <p:spPr>
          <a:xfrm>
            <a:off x="6749533" y="1969206"/>
            <a:ext cx="1368152" cy="31187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E29510-E8E5-F243-A69D-6B88654CBDA4}"/>
              </a:ext>
            </a:extLst>
          </p:cNvPr>
          <p:cNvSpPr/>
          <p:nvPr/>
        </p:nvSpPr>
        <p:spPr>
          <a:xfrm>
            <a:off x="6749315" y="2794074"/>
            <a:ext cx="1368152" cy="464797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D7962C-33F2-5B43-8691-F78EB192FEF8}"/>
              </a:ext>
            </a:extLst>
          </p:cNvPr>
          <p:cNvSpPr/>
          <p:nvPr/>
        </p:nvSpPr>
        <p:spPr>
          <a:xfrm>
            <a:off x="6749533" y="2281436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A820D9-BE71-164A-83A8-AECF84D53833}"/>
              </a:ext>
            </a:extLst>
          </p:cNvPr>
          <p:cNvSpPr/>
          <p:nvPr/>
        </p:nvSpPr>
        <p:spPr>
          <a:xfrm>
            <a:off x="6749315" y="3258873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A64798-1E1D-DA41-9241-CE8E0257F4D9}"/>
              </a:ext>
            </a:extLst>
          </p:cNvPr>
          <p:cNvSpPr/>
          <p:nvPr/>
        </p:nvSpPr>
        <p:spPr>
          <a:xfrm>
            <a:off x="6749315" y="4345470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2AB22E-8440-4A4F-B423-A98E6F5ACFBD}"/>
              </a:ext>
            </a:extLst>
          </p:cNvPr>
          <p:cNvSpPr/>
          <p:nvPr/>
        </p:nvSpPr>
        <p:spPr>
          <a:xfrm>
            <a:off x="6749315" y="3763283"/>
            <a:ext cx="1368152" cy="58218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45E8F6-A4B9-3648-ADC0-C9A25473693C}"/>
              </a:ext>
            </a:extLst>
          </p:cNvPr>
          <p:cNvSpPr txBox="1"/>
          <p:nvPr/>
        </p:nvSpPr>
        <p:spPr>
          <a:xfrm>
            <a:off x="6802448" y="2348798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A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841DF-C806-E846-BF8A-878CDA91DCBD}"/>
              </a:ext>
            </a:extLst>
          </p:cNvPr>
          <p:cNvSpPr txBox="1"/>
          <p:nvPr/>
        </p:nvSpPr>
        <p:spPr>
          <a:xfrm>
            <a:off x="6802447" y="3323006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348B8C-5703-514A-A8AB-F8A380AD36A3}"/>
              </a:ext>
            </a:extLst>
          </p:cNvPr>
          <p:cNvSpPr txBox="1"/>
          <p:nvPr/>
        </p:nvSpPr>
        <p:spPr>
          <a:xfrm>
            <a:off x="6796034" y="4412832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6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12965E-02DC-4835-9143-1BAF864D4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13102"/>
            <a:ext cx="3043264" cy="4153644"/>
          </a:xfrm>
          <a:prstGeom prst="rect">
            <a:avLst/>
          </a:prstGeom>
        </p:spPr>
      </p:pic>
      <p:sp>
        <p:nvSpPr>
          <p:cNvPr id="76802" name="Rectangle 2">
            <a:extLst>
              <a:ext uri="{FF2B5EF4-FFF2-40B4-BE49-F238E27FC236}">
                <a16:creationId xmlns:a16="http://schemas.microsoft.com/office/drawing/2014/main" id="{7605D6CE-1BB4-4AAF-B566-1EC290D11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回顾：可执行程序中的内存地址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12" name="Rectangle 1">
            <a:extLst>
              <a:ext uri="{FF2B5EF4-FFF2-40B4-BE49-F238E27FC236}">
                <a16:creationId xmlns:a16="http://schemas.microsoft.com/office/drawing/2014/main" id="{BE694E99-B21B-4E35-B1A8-93C1BEF4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11" y="3184779"/>
            <a:ext cx="4293303" cy="1938992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000000000040046c 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40046c:  a9be7bfd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x29, x30,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#-32]!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400470:  910003fd   mov  x29,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400474:  f9000bf3   str  x19,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#16]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400478:  aa0203f3   mov  x19, x2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40047c:  94000012   bl   7ec &lt;mult2&gt;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400480:  f9000260   str  x0, [x19]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400484:  f9400bf3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x19,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#16]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400488:  a8c27bfd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ldp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x29, x30,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#32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40048c:  d65f03c0   ret</a:t>
            </a:r>
          </a:p>
        </p:txBody>
      </p:sp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0C8989F7-0B92-4D40-AB04-2305695B3A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748631"/>
              </p:ext>
            </p:extLst>
          </p:nvPr>
        </p:nvGraphicFramePr>
        <p:xfrm>
          <a:off x="457200" y="1333499"/>
          <a:ext cx="4293303" cy="1656059"/>
        </p:xfrm>
        <a:graphic>
          <a:graphicData uri="http://schemas.openxmlformats.org/drawingml/2006/table">
            <a:tbl>
              <a:tblPr/>
              <a:tblGrid>
                <a:gridCol w="429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60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中的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C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代码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+mj-ea"/>
                        <a:ea typeface="+mj-ea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(long, long, long*);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int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main() 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long d;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(2, 3, &amp;d);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“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2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*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3 --&gt; %d\n”, d);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return 0;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D22982E-5151-5E45-A046-1BDC26BE680B}"/>
              </a:ext>
            </a:extLst>
          </p:cNvPr>
          <p:cNvSpPr/>
          <p:nvPr/>
        </p:nvSpPr>
        <p:spPr>
          <a:xfrm>
            <a:off x="323528" y="3073524"/>
            <a:ext cx="1008112" cy="2160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44CB9C-4AE8-BA41-A775-3015F3D462C5}"/>
              </a:ext>
            </a:extLst>
          </p:cNvPr>
          <p:cNvSpPr txBox="1"/>
          <p:nvPr/>
        </p:nvSpPr>
        <p:spPr>
          <a:xfrm>
            <a:off x="440688" y="5256306"/>
            <a:ext cx="3915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这些地址，在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代码中并没有，是从哪里来的？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9FB42F-4E43-4F42-881B-7A1F77AF513E}"/>
              </a:ext>
            </a:extLst>
          </p:cNvPr>
          <p:cNvSpPr txBox="1"/>
          <p:nvPr/>
        </p:nvSpPr>
        <p:spPr>
          <a:xfrm>
            <a:off x="4283968" y="5250174"/>
            <a:ext cx="1152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编译器生成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64CC0-476A-8A46-B16D-028F521A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虚拟地址空间易于程序开发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1AF4F-FD9E-974D-93A3-58FC1C18A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2000" dirty="0"/>
              <a:t>编译器面临的问题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如果某个地址的物理内存被别人占用了怎么办？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例如：</a:t>
            </a:r>
            <a:r>
              <a:rPr kumimoji="1" lang="en-US" altLang="zh-CN" sz="1800" dirty="0"/>
              <a:t>0x400000</a:t>
            </a:r>
          </a:p>
          <a:p>
            <a:pPr lvl="1"/>
            <a:r>
              <a:rPr kumimoji="1" lang="zh-CN" altLang="en-US" sz="2000" dirty="0"/>
              <a:t>如果物理内存大小不够怎么办？</a:t>
            </a:r>
            <a:endParaRPr kumimoji="1" lang="en-US" altLang="zh-CN" sz="2000" dirty="0"/>
          </a:p>
          <a:p>
            <a:r>
              <a:rPr kumimoji="1" lang="zh-CN" altLang="en-US" sz="2000" dirty="0"/>
              <a:t>解决：编译器</a:t>
            </a:r>
            <a:r>
              <a:rPr kumimoji="1" lang="zh-CN" altLang="en-US" sz="2000" dirty="0">
                <a:highlight>
                  <a:srgbClr val="FFFF00"/>
                </a:highlight>
              </a:rPr>
              <a:t>假设应用运行时，会独占所有内存，且内存足够大</a:t>
            </a:r>
            <a:endParaRPr kumimoji="1" lang="en-US" altLang="zh-CN" sz="2000" dirty="0">
              <a:highlight>
                <a:srgbClr val="FFFF00"/>
              </a:highlight>
            </a:endParaRPr>
          </a:p>
          <a:p>
            <a:pPr lvl="1"/>
            <a:r>
              <a:rPr kumimoji="1" lang="zh-CN" altLang="en-US" sz="1800" dirty="0"/>
              <a:t>内存大小：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32</a:t>
            </a:r>
            <a:r>
              <a:rPr kumimoji="1" lang="zh-CN" altLang="en-US" sz="1800" baseline="30000" dirty="0"/>
              <a:t> </a:t>
            </a:r>
            <a:r>
              <a:rPr kumimoji="1" lang="en-US" altLang="zh-CN" sz="1800" dirty="0"/>
              <a:t>Byte</a:t>
            </a:r>
            <a:r>
              <a:rPr kumimoji="1" lang="zh-CN" altLang="en-US" sz="1800" dirty="0"/>
              <a:t>，或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64</a:t>
            </a:r>
            <a:r>
              <a:rPr kumimoji="1" lang="zh-CN" altLang="en-US" sz="1800" baseline="30000" dirty="0"/>
              <a:t> </a:t>
            </a:r>
            <a:r>
              <a:rPr kumimoji="1" lang="en-US" altLang="zh-CN" sz="1800" dirty="0"/>
              <a:t>Byte</a:t>
            </a:r>
            <a:r>
              <a:rPr kumimoji="1" lang="zh-CN" altLang="en-US" sz="1800" dirty="0"/>
              <a:t>，称为“虚拟内存空间”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编译器基于该假设进行内存布局，并生成指令</a:t>
            </a:r>
            <a:endParaRPr kumimoji="1" lang="en-US" altLang="zh-CN" sz="1800" dirty="0"/>
          </a:p>
          <a:p>
            <a:r>
              <a:rPr kumimoji="1" lang="zh-CN" altLang="en-US" sz="2000" dirty="0"/>
              <a:t>谁来实现这个假设？</a:t>
            </a:r>
            <a:r>
              <a:rPr kumimoji="1" lang="en-US" altLang="zh-CN" sz="2000" dirty="0"/>
              <a:t>CPU+</a:t>
            </a:r>
            <a:r>
              <a:rPr kumimoji="1" lang="zh-CN" altLang="en-US" sz="2000" dirty="0"/>
              <a:t>操作系统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思路：地址映射（虚拟地址翻译到物理地址）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由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将虚拟地址翻译到物理地址，由操作系统来配置如何翻译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B4676-169B-F74F-A553-F5DED86A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8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41">
            <a:extLst>
              <a:ext uri="{FF2B5EF4-FFF2-40B4-BE49-F238E27FC236}">
                <a16:creationId xmlns:a16="http://schemas.microsoft.com/office/drawing/2014/main" id="{11EB6C26-DAE2-3342-A2DE-7CC4B1AF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2550966"/>
            <a:ext cx="1003961" cy="33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Calibri" panose="020F0502020204030204" pitchFamily="34" charset="0"/>
              </a:rPr>
              <a:t>CPU Chip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F8ABE7-2316-7343-93A0-2A399033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物理地址（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pa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4438F-CD94-6447-940E-7DFA6489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17" y="1336742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物理内存可以看成由连续字节组成的数组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每个字节都有唯一的物理地址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41FD64-56B2-8440-BDAB-47B32C86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093B962-CD5C-0744-B28F-A447D42A4332}"/>
              </a:ext>
            </a:extLst>
          </p:cNvPr>
          <p:cNvGrpSpPr/>
          <p:nvPr/>
        </p:nvGrpSpPr>
        <p:grpSpPr>
          <a:xfrm>
            <a:off x="2481693" y="2363338"/>
            <a:ext cx="4343400" cy="3396039"/>
            <a:chOff x="1600200" y="1676400"/>
            <a:chExt cx="4724400" cy="3847578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B3699BD-28CE-4641-9E35-C92F73A3F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538663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0B0FEEAC-0708-F24E-9DED-B8BCF0743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19700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0: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C0B3E6EF-164D-F646-81BC-8108AF30B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1986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1: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8754BD09-5B62-F548-BB99-6B4E17FF3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688" y="4491038"/>
              <a:ext cx="5842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M-1: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2418011A-CC26-7643-B5B0-4337E26D6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346" y="1676400"/>
              <a:ext cx="1642208" cy="34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zh-CN" altLang="en-GB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物理</a:t>
              </a:r>
              <a:r>
                <a:rPr lang="zh-CN" altLang="en-US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内存</a:t>
              </a:r>
              <a:r>
                <a:rPr lang="en-US" altLang="zh-CN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/</a:t>
              </a:r>
              <a:r>
                <a:rPr lang="zh-CN" altLang="en-US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主存</a:t>
              </a:r>
              <a:endParaRPr lang="en-GB" altLang="zh-CN" sz="1600" dirty="0">
                <a:solidFill>
                  <a:srgbClr val="00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0C9D46D-AC09-BA4D-A743-537AA33C4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2771775"/>
              <a:ext cx="1066800" cy="533400"/>
            </a:xfrm>
            <a:prstGeom prst="rect">
              <a:avLst/>
            </a:prstGeom>
            <a:solidFill>
              <a:srgbClr val="F1C7C7"/>
            </a:solidFill>
            <a:ln w="126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600" dirty="0">
                  <a:latin typeface="Calibri" panose="020F0502020204030204" pitchFamily="34" charset="0"/>
                </a:rPr>
                <a:t>CPU</a:t>
              </a:r>
              <a:r>
                <a:rPr lang="zh-CN" altLang="en-GB" sz="1600" dirty="0">
                  <a:latin typeface="Calibri" panose="020F0502020204030204" pitchFamily="34" charset="0"/>
                </a:rPr>
                <a:t>核心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64DB0685-04D4-664D-A08B-98FE866D0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4272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2: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8333DA25-9CBA-B542-8531-F7665B817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6558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3:</a:t>
              </a: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3951BDD0-083C-B340-BCE0-6C83DEEE6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19748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AF01ADC9-BCE0-DF45-88CC-F0008157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2034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1FD97063-2EB4-6344-AE80-D442C2983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4320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45E296C7-4D11-9D4C-B38E-80848C86E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6606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CF5CDA0B-9F16-0A40-ABC4-52655C256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8892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8D5CC2A4-527C-9F48-AA0C-D2A031934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1178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EC737A3E-C76F-234E-91FA-6309E5C5E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8844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4: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A9AEDC95-2E8C-B44B-9511-A56848A8B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1130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5:</a:t>
              </a:r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883F3197-0A6B-294D-9722-604918A96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3464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AB1D9913-9143-CD45-82B0-ECB44418E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5750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114AC22D-18BE-BC40-9D61-2DF024E25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3416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6: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F8304488-5DE7-8C41-8E52-293418A9C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702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7:</a:t>
              </a:r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76E1EFAD-5BC5-784C-AB98-196580522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314825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0BC5EDD7-7799-F24C-8E91-C5107AD76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224" y="2537101"/>
              <a:ext cx="1203769" cy="38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600" dirty="0">
                  <a:latin typeface="Calibri" panose="020F0502020204030204" pitchFamily="34" charset="0"/>
                </a:rPr>
                <a:t>物理</a:t>
              </a:r>
              <a:r>
                <a:rPr lang="zh-CN" altLang="en-US" sz="1600" dirty="0">
                  <a:latin typeface="Calibri" panose="020F0502020204030204" pitchFamily="34" charset="0"/>
                </a:rPr>
                <a:t>地址</a:t>
              </a:r>
              <a:r>
                <a:rPr lang="en-US" altLang="zh-CN" sz="1600" dirty="0">
                  <a:latin typeface="Calibri" panose="020F0502020204030204" pitchFamily="34" charset="0"/>
                </a:rPr>
                <a:t>4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27" name="AutoShape 31">
              <a:extLst>
                <a:ext uri="{FF2B5EF4-FFF2-40B4-BE49-F238E27FC236}">
                  <a16:creationId xmlns:a16="http://schemas.microsoft.com/office/drawing/2014/main" id="{BEA440D8-C84E-7C4E-88F1-EB6A9E67A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2889250"/>
              <a:ext cx="76200" cy="914400"/>
            </a:xfrm>
            <a:prstGeom prst="rightBrace">
              <a:avLst>
                <a:gd name="adj1" fmla="val 10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F02BF77E-F98E-7946-A15D-86A785249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565" y="5143531"/>
              <a:ext cx="644068" cy="38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600" dirty="0">
                  <a:latin typeface="Calibri" panose="020F0502020204030204" pitchFamily="34" charset="0"/>
                </a:rPr>
                <a:t>数据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20C57F51-B5A7-8648-B6D6-35C09C3F6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8036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AE22CCDF-F76B-924D-B8D3-89CDA5610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80523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8:</a:t>
              </a:r>
            </a:p>
          </p:txBody>
        </p:sp>
        <p:sp>
          <p:nvSpPr>
            <p:cNvPr id="31" name="Rectangle 35">
              <a:extLst>
                <a:ext uri="{FF2B5EF4-FFF2-40B4-BE49-F238E27FC236}">
                  <a16:creationId xmlns:a16="http://schemas.microsoft.com/office/drawing/2014/main" id="{02FB3DD1-38DA-BE4C-B3F5-9F81BFFB5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038600"/>
              <a:ext cx="9144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lIns="90360" tIns="44280" rIns="90360" bIns="44280" anchor="ctr"/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rtl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latin typeface="Calibri" panose="020F0502020204030204" pitchFamily="34" charset="0"/>
                </a:rPr>
                <a:t>...</a:t>
              </a:r>
            </a:p>
          </p:txBody>
        </p:sp>
        <p:cxnSp>
          <p:nvCxnSpPr>
            <p:cNvPr id="32" name="Straight Arrow Connector 33">
              <a:extLst>
                <a:ext uri="{FF2B5EF4-FFF2-40B4-BE49-F238E27FC236}">
                  <a16:creationId xmlns:a16="http://schemas.microsoft.com/office/drawing/2014/main" id="{EB38F6CF-FCCF-2147-A7EC-37653EFD3085}"/>
                </a:ext>
              </a:extLst>
            </p:cNvPr>
            <p:cNvCxnSpPr>
              <a:cxnSpLocks noChangeShapeType="1"/>
              <a:stCxn id="10" idx="3"/>
              <a:endCxn id="19" idx="1"/>
            </p:cNvCxnSpPr>
            <p:nvPr/>
          </p:nvCxnSpPr>
          <p:spPr bwMode="auto">
            <a:xfrm flipV="1">
              <a:off x="2667000" y="3036888"/>
              <a:ext cx="1674813" cy="1587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Connector 34">
              <a:extLst>
                <a:ext uri="{FF2B5EF4-FFF2-40B4-BE49-F238E27FC236}">
                  <a16:creationId xmlns:a16="http://schemas.microsoft.com/office/drawing/2014/main" id="{00322A25-FE54-ED4D-AC28-167C2D7B4B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5791200" y="3346450"/>
              <a:ext cx="533400" cy="1588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AAD65F5C-7A7C-5849-9D29-50626244E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403850" y="4262438"/>
              <a:ext cx="1839913" cy="1587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Shape 60">
              <a:extLst>
                <a:ext uri="{FF2B5EF4-FFF2-40B4-BE49-F238E27FC236}">
                  <a16:creationId xmlns:a16="http://schemas.microsoft.com/office/drawing/2014/main" id="{71D1C89E-409C-274B-88D5-870E7665E5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133600" y="3305175"/>
              <a:ext cx="4189413" cy="1878013"/>
            </a:xfrm>
            <a:prstGeom prst="bentConnector3">
              <a:avLst>
                <a:gd name="adj1" fmla="val 99991"/>
              </a:avLst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85B5A66F-C319-E047-A34D-0587DF4093A7}"/>
              </a:ext>
            </a:extLst>
          </p:cNvPr>
          <p:cNvSpPr/>
          <p:nvPr/>
        </p:nvSpPr>
        <p:spPr>
          <a:xfrm>
            <a:off x="2053854" y="2857859"/>
            <a:ext cx="1612683" cy="9852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783FA4C-BE27-2CEE-853B-41C76CCFCC42}"/>
              </a:ext>
            </a:extLst>
          </p:cNvPr>
          <p:cNvSpPr txBox="1"/>
          <p:nvPr/>
        </p:nvSpPr>
        <p:spPr>
          <a:xfrm>
            <a:off x="6454324" y="2573760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+mn-ea"/>
              </a:rPr>
              <a:t>Q:</a:t>
            </a:r>
            <a:r>
              <a:rPr kumimoji="1" lang="zh-CN" altLang="en-US" sz="1200" b="1" dirty="0">
                <a:latin typeface="+mn-ea"/>
              </a:rPr>
              <a:t> 这里的方框代表多大内存</a:t>
            </a:r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877FF89C-A2F5-E761-85C7-5E1EA6BFE6AC}"/>
              </a:ext>
            </a:extLst>
          </p:cNvPr>
          <p:cNvCxnSpPr>
            <a:stCxn id="13" idx="3"/>
            <a:endCxn id="36" idx="1"/>
          </p:cNvCxnSpPr>
          <p:nvPr/>
        </p:nvCxnSpPr>
        <p:spPr>
          <a:xfrm flipV="1">
            <a:off x="6124545" y="2712260"/>
            <a:ext cx="329779" cy="15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A7F4D7A7-BB7E-C6A2-1FC3-F335DA6C6C9A}"/>
              </a:ext>
            </a:extLst>
          </p:cNvPr>
          <p:cNvCxnSpPr>
            <a:stCxn id="14" idx="3"/>
            <a:endCxn id="36" idx="1"/>
          </p:cNvCxnSpPr>
          <p:nvPr/>
        </p:nvCxnSpPr>
        <p:spPr>
          <a:xfrm flipV="1">
            <a:off x="6124545" y="2712260"/>
            <a:ext cx="329779" cy="217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9A1F7F61-EE1B-21F9-160A-00A003076B04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6124545" y="2712260"/>
            <a:ext cx="329779" cy="445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82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虚拟地址（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MMU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规则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2956" y="2541839"/>
                <a:ext cx="1045484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4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7400" y="2541839"/>
                <a:ext cx="1045484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1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194833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1600" b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826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主流翻译规则：分页机制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分页机制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虚拟地址空间划分成连续的、等长的虚拟页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物理内存也被划分成连续的、等长的物理页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虚拟页和物理页的页长相等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虚拟地址分为：虚拟页号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页内偏移</a:t>
            </a:r>
            <a:endParaRPr kumimoji="1" lang="en-US" altLang="zh-CN" sz="2000" dirty="0"/>
          </a:p>
          <a:p>
            <a:r>
              <a:rPr kumimoji="1" lang="zh-CN" altLang="en-US" sz="2400" dirty="0"/>
              <a:t>使用</a:t>
            </a:r>
            <a:r>
              <a:rPr kumimoji="1" lang="zh-CN" altLang="en-US" sz="2400" dirty="0">
                <a:solidFill>
                  <a:srgbClr val="C00000"/>
                </a:solidFill>
              </a:rPr>
              <a:t>页表</a:t>
            </a:r>
            <a:r>
              <a:rPr kumimoji="1" lang="zh-CN" altLang="en-US" sz="2400" dirty="0"/>
              <a:t>记录虚拟页号到物理页号的映射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页表：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Table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75" b="19446"/>
          <a:stretch/>
        </p:blipFill>
        <p:spPr>
          <a:xfrm>
            <a:off x="6948264" y="1338348"/>
            <a:ext cx="1547664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2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页表：分页机制的核心数据结构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页表包含多个页表项，存储物理页的页号（虚拟页号为索引）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/>
          <a:stretch/>
        </p:blipFill>
        <p:spPr>
          <a:xfrm>
            <a:off x="1331640" y="2116128"/>
            <a:ext cx="6138428" cy="34851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144F96-22B7-C549-A5CA-C5692CF983ED}"/>
              </a:ext>
            </a:extLst>
          </p:cNvPr>
          <p:cNvSpPr/>
          <p:nvPr/>
        </p:nvSpPr>
        <p:spPr>
          <a:xfrm>
            <a:off x="1297008" y="2566040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B20E3-2DA0-4349-8A82-1755DF5D166A}"/>
              </a:ext>
            </a:extLst>
          </p:cNvPr>
          <p:cNvSpPr/>
          <p:nvPr/>
        </p:nvSpPr>
        <p:spPr>
          <a:xfrm>
            <a:off x="6795708" y="2569468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3059F5-F432-EB45-9E8E-BC0A49F1EC13}"/>
              </a:ext>
            </a:extLst>
          </p:cNvPr>
          <p:cNvSpPr txBox="1"/>
          <p:nvPr/>
        </p:nvSpPr>
        <p:spPr>
          <a:xfrm>
            <a:off x="921019" y="299466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1CCB6E-48B4-3349-A196-BA56DC036F5E}"/>
              </a:ext>
            </a:extLst>
          </p:cNvPr>
          <p:cNvSpPr txBox="1"/>
          <p:nvPr/>
        </p:nvSpPr>
        <p:spPr>
          <a:xfrm>
            <a:off x="921019" y="332649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695C4-EF8D-2D49-B493-840394EBD8CE}"/>
              </a:ext>
            </a:extLst>
          </p:cNvPr>
          <p:cNvSpPr txBox="1"/>
          <p:nvPr/>
        </p:nvSpPr>
        <p:spPr>
          <a:xfrm>
            <a:off x="921019" y="365833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C5CA5-91D1-6D4F-B8A8-4BD8BF96D219}"/>
              </a:ext>
            </a:extLst>
          </p:cNvPr>
          <p:cNvSpPr txBox="1"/>
          <p:nvPr/>
        </p:nvSpPr>
        <p:spPr>
          <a:xfrm>
            <a:off x="6551637" y="301872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3D1B31-6DF1-FC46-8CD5-D18FA78B2537}"/>
              </a:ext>
            </a:extLst>
          </p:cNvPr>
          <p:cNvSpPr txBox="1"/>
          <p:nvPr/>
        </p:nvSpPr>
        <p:spPr>
          <a:xfrm>
            <a:off x="6551637" y="3350555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104D27-06DA-A740-B13E-77E97198A958}"/>
              </a:ext>
            </a:extLst>
          </p:cNvPr>
          <p:cNvSpPr txBox="1"/>
          <p:nvPr/>
        </p:nvSpPr>
        <p:spPr>
          <a:xfrm>
            <a:off x="6551637" y="368239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252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74D8D-2372-8149-BF48-A8F2E698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分页机制的特点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808D7-6548-FC46-B721-3706E0A4C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物理内存离散分配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任意虚拟页可以映射到任意物理页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大大降低对物理内存连续性的要求</a:t>
            </a:r>
            <a:endParaRPr kumimoji="1" lang="en-US" altLang="zh-CN" sz="2000" dirty="0"/>
          </a:p>
          <a:p>
            <a:r>
              <a:rPr kumimoji="1" lang="zh-CN" altLang="en-US" sz="2400" dirty="0"/>
              <a:t>主存资源易于管理，利用率更高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按照固定页大小分配物理内存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能大大降低外部碎片和内部碎片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被现代处理器和操作系统广泛采用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F93DE-F219-444A-A9A3-13805F22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76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>
            <a:extLst>
              <a:ext uri="{FF2B5EF4-FFF2-40B4-BE49-F238E27FC236}">
                <a16:creationId xmlns:a16="http://schemas.microsoft.com/office/drawing/2014/main" id="{28F86B71-4AB0-9645-AA16-536B9F93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19A8D950-8E8A-3942-A47E-31CB14E3E939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13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6" name="Rectangle 5">
            <a:extLst>
              <a:ext uri="{FF2B5EF4-FFF2-40B4-BE49-F238E27FC236}">
                <a16:creationId xmlns:a16="http://schemas.microsoft.com/office/drawing/2014/main" id="{A54235AA-1254-1E44-A14B-81E0E03AB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793" y="1793623"/>
            <a:ext cx="2656417" cy="351944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virtual page number</a:t>
            </a:r>
          </a:p>
        </p:txBody>
      </p:sp>
      <p:sp>
        <p:nvSpPr>
          <p:cNvPr id="95237" name="Rectangle 6">
            <a:extLst>
              <a:ext uri="{FF2B5EF4-FFF2-40B4-BE49-F238E27FC236}">
                <a16:creationId xmlns:a16="http://schemas.microsoft.com/office/drawing/2014/main" id="{CEE30B4F-FE00-1B4F-97DA-D75569AB5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793" y="1793623"/>
            <a:ext cx="1830917" cy="351944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page offset</a:t>
            </a:r>
          </a:p>
        </p:txBody>
      </p:sp>
      <p:sp>
        <p:nvSpPr>
          <p:cNvPr id="95238" name="Rectangle 7">
            <a:extLst>
              <a:ext uri="{FF2B5EF4-FFF2-40B4-BE49-F238E27FC236}">
                <a16:creationId xmlns:a16="http://schemas.microsoft.com/office/drawing/2014/main" id="{966D9C67-2147-1B46-867C-D7743DEEA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522" y="1793623"/>
            <a:ext cx="1615699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虚拟地址 </a:t>
            </a:r>
            <a:r>
              <a:rPr lang="en-US" altLang="zh-CN" sz="2000" b="1" dirty="0">
                <a:latin typeface="+mn-ea"/>
              </a:rPr>
              <a:t>VA</a:t>
            </a:r>
          </a:p>
        </p:txBody>
      </p:sp>
      <p:sp>
        <p:nvSpPr>
          <p:cNvPr id="95239" name="Rectangle 8">
            <a:extLst>
              <a:ext uri="{FF2B5EF4-FFF2-40B4-BE49-F238E27FC236}">
                <a16:creationId xmlns:a16="http://schemas.microsoft.com/office/drawing/2014/main" id="{70FA47CF-4AB8-D246-ACB9-8482C2E5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793" y="3905286"/>
            <a:ext cx="2402417" cy="351944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physical page number</a:t>
            </a:r>
          </a:p>
        </p:txBody>
      </p:sp>
      <p:sp>
        <p:nvSpPr>
          <p:cNvPr id="95240" name="Rectangle 9">
            <a:extLst>
              <a:ext uri="{FF2B5EF4-FFF2-40B4-BE49-F238E27FC236}">
                <a16:creationId xmlns:a16="http://schemas.microsoft.com/office/drawing/2014/main" id="{FF3F9565-BFEF-2941-BBCC-450C607F3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793" y="3905286"/>
            <a:ext cx="1830917" cy="351944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page offset</a:t>
            </a:r>
          </a:p>
        </p:txBody>
      </p:sp>
      <p:sp>
        <p:nvSpPr>
          <p:cNvPr id="95241" name="Rectangle 10">
            <a:extLst>
              <a:ext uri="{FF2B5EF4-FFF2-40B4-BE49-F238E27FC236}">
                <a16:creationId xmlns:a16="http://schemas.microsoft.com/office/drawing/2014/main" id="{3E1A68B3-7741-474A-9A3F-4A2B1146D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261" y="3877980"/>
            <a:ext cx="1598899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物理地址 </a:t>
            </a:r>
            <a:r>
              <a:rPr lang="en-US" altLang="zh-CN" sz="2000" b="1" dirty="0">
                <a:latin typeface="+mn-ea"/>
              </a:rPr>
              <a:t>PA</a:t>
            </a:r>
          </a:p>
        </p:txBody>
      </p:sp>
      <p:sp>
        <p:nvSpPr>
          <p:cNvPr id="95242" name="Line 11">
            <a:extLst>
              <a:ext uri="{FF2B5EF4-FFF2-40B4-BE49-F238E27FC236}">
                <a16:creationId xmlns:a16="http://schemas.microsoft.com/office/drawing/2014/main" id="{D785B7E8-AB68-0A46-B03C-70CFA25B1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1" y="2157703"/>
            <a:ext cx="0" cy="15898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43" name="Rectangle 12">
            <a:extLst>
              <a:ext uri="{FF2B5EF4-FFF2-40B4-BE49-F238E27FC236}">
                <a16:creationId xmlns:a16="http://schemas.microsoft.com/office/drawing/2014/main" id="{4416B64F-0A4E-694F-A3C0-3F10EE2C2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095" y="3586716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244" name="Rectangle 13">
            <a:extLst>
              <a:ext uri="{FF2B5EF4-FFF2-40B4-BE49-F238E27FC236}">
                <a16:creationId xmlns:a16="http://schemas.microsoft.com/office/drawing/2014/main" id="{7A670A50-8157-E04F-B000-FAD9CC61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5" y="3586716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5" name="Oval 14">
            <a:extLst>
              <a:ext uri="{FF2B5EF4-FFF2-40B4-BE49-F238E27FC236}">
                <a16:creationId xmlns:a16="http://schemas.microsoft.com/office/drawing/2014/main" id="{B27ABAF4-F4E1-0740-8CB8-BF85D5FB9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93" y="2813046"/>
            <a:ext cx="2021417" cy="424760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246" name="Rectangle 15">
            <a:extLst>
              <a:ext uri="{FF2B5EF4-FFF2-40B4-BE49-F238E27FC236}">
                <a16:creationId xmlns:a16="http://schemas.microsoft.com/office/drawing/2014/main" id="{622D0431-5A0F-DB43-99A7-F45BCC76F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595" y="3586716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5247" name="Rectangle 16">
            <a:extLst>
              <a:ext uri="{FF2B5EF4-FFF2-40B4-BE49-F238E27FC236}">
                <a16:creationId xmlns:a16="http://schemas.microsoft.com/office/drawing/2014/main" id="{3A8DFE68-151D-0E45-83FC-0EB42BC43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595" y="3586716"/>
            <a:ext cx="527844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9900CC"/>
                </a:solidFill>
                <a:latin typeface="Helvetica" pitchFamily="2" charset="0"/>
                <a:ea typeface="宋体" panose="02010600030101010101" pitchFamily="2" charset="-122"/>
              </a:rPr>
              <a:t>m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8" name="Rectangle 17">
            <a:extLst>
              <a:ext uri="{FF2B5EF4-FFF2-40B4-BE49-F238E27FC236}">
                <a16:creationId xmlns:a16="http://schemas.microsoft.com/office/drawing/2014/main" id="{E7DB06FB-CAB0-DB42-BB51-1CE07EB4D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595" y="1475053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n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9" name="Rectangle 18">
            <a:extLst>
              <a:ext uri="{FF2B5EF4-FFF2-40B4-BE49-F238E27FC236}">
                <a16:creationId xmlns:a16="http://schemas.microsoft.com/office/drawing/2014/main" id="{5ACD1F59-C208-9747-8DA2-3E1C7AC14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032" y="1475053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250" name="Rectangle 19">
            <a:extLst>
              <a:ext uri="{FF2B5EF4-FFF2-40B4-BE49-F238E27FC236}">
                <a16:creationId xmlns:a16="http://schemas.microsoft.com/office/drawing/2014/main" id="{75065B3E-6867-EC4C-A5B1-1966B9130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032" y="1475053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51" name="Rectangle 20">
            <a:extLst>
              <a:ext uri="{FF2B5EF4-FFF2-40B4-BE49-F238E27FC236}">
                <a16:creationId xmlns:a16="http://schemas.microsoft.com/office/drawing/2014/main" id="{2901CFAB-98DA-D54E-9336-0FAC4EDEA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095" y="1475053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5252" name="Line 21">
            <a:extLst>
              <a:ext uri="{FF2B5EF4-FFF2-40B4-BE49-F238E27FC236}">
                <a16:creationId xmlns:a16="http://schemas.microsoft.com/office/drawing/2014/main" id="{C3BE8357-5FB5-9647-8F8A-101733A5E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1" y="2157703"/>
            <a:ext cx="0" cy="6432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53" name="Line 22">
            <a:extLst>
              <a:ext uri="{FF2B5EF4-FFF2-40B4-BE49-F238E27FC236}">
                <a16:creationId xmlns:a16="http://schemas.microsoft.com/office/drawing/2014/main" id="{1C94829E-FB0E-1C42-8E7A-6EE477F54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1" y="3237806"/>
            <a:ext cx="0" cy="6432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54" name="Rectangle 23">
            <a:extLst>
              <a:ext uri="{FF2B5EF4-FFF2-40B4-BE49-F238E27FC236}">
                <a16:creationId xmlns:a16="http://schemas.microsoft.com/office/drawing/2014/main" id="{4FA9FE5F-1120-544C-B410-88A15442E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05" y="4675696"/>
            <a:ext cx="8193433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请注意，页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内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偏移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page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offset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）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不会因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翻译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而改变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，由页面大小决定</a:t>
            </a:r>
            <a:endParaRPr lang="en-US" altLang="zh-CN" sz="1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01BEA2F8-0072-E742-9234-8888ECF14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4922" y="325227"/>
            <a:ext cx="8077200" cy="762000"/>
          </a:xfrm>
        </p:spPr>
        <p:txBody>
          <a:bodyPr/>
          <a:lstStyle/>
          <a:p>
            <a:r>
              <a:rPr kumimoji="1" lang="zh-CN" altLang="en-US" b="1" dirty="0"/>
              <a:t>基于分页的地址翻译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651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思考：</a:t>
            </a:r>
            <a:r>
              <a:rPr kumimoji="1" lang="en-US" altLang="zh-CN" sz="3600" b="1" dirty="0">
                <a:solidFill>
                  <a:srgbClr val="C00000"/>
                </a:solidFill>
              </a:rPr>
              <a:t>MMU</a:t>
            </a:r>
            <a:r>
              <a:rPr kumimoji="1" lang="zh-CN" altLang="en-US" sz="3600" b="1" dirty="0">
                <a:solidFill>
                  <a:srgbClr val="C00000"/>
                </a:solidFill>
              </a:rPr>
              <a:t>怎么知道页表位置？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分页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460" y="2541839"/>
                <a:ext cx="97447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584" y="2541839"/>
                <a:ext cx="949115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194833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1600" b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28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>
            <a:extLst>
              <a:ext uri="{FF2B5EF4-FFF2-40B4-BE49-F238E27FC236}">
                <a16:creationId xmlns:a16="http://schemas.microsoft.com/office/drawing/2014/main" id="{8240A97A-D51C-FC4D-B591-7F757482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25F23258-BD48-3540-8273-75CD61438224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15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9331" name="Group 66">
            <a:extLst>
              <a:ext uri="{FF2B5EF4-FFF2-40B4-BE49-F238E27FC236}">
                <a16:creationId xmlns:a16="http://schemas.microsoft.com/office/drawing/2014/main" id="{949DDE95-8549-A240-AC62-426272F179F2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438759"/>
            <a:ext cx="7041886" cy="3858151"/>
            <a:chOff x="144" y="812"/>
            <a:chExt cx="5323" cy="3315"/>
          </a:xfrm>
        </p:grpSpPr>
        <p:sp>
          <p:nvSpPr>
            <p:cNvPr id="99334" name="Rectangle 23">
              <a:extLst>
                <a:ext uri="{FF2B5EF4-FFF2-40B4-BE49-F238E27FC236}">
                  <a16:creationId xmlns:a16="http://schemas.microsoft.com/office/drawing/2014/main" id="{0F1C4585-9F04-DB4D-8AA6-1E14F4B1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1252"/>
              <a:ext cx="2008" cy="23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(VPN)</a:t>
              </a:r>
            </a:p>
          </p:txBody>
        </p:sp>
        <p:sp>
          <p:nvSpPr>
            <p:cNvPr id="99335" name="Rectangle 24">
              <a:extLst>
                <a:ext uri="{FF2B5EF4-FFF2-40B4-BE49-F238E27FC236}">
                  <a16:creationId xmlns:a16="http://schemas.microsoft.com/office/drawing/2014/main" id="{090C4B38-AB78-994D-A512-1B7D9ACFF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1252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虚拟页内偏移 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VPO</a:t>
              </a:r>
            </a:p>
          </p:txBody>
        </p:sp>
        <p:sp>
          <p:nvSpPr>
            <p:cNvPr id="99336" name="Rectangle 25">
              <a:extLst>
                <a:ext uri="{FF2B5EF4-FFF2-40B4-BE49-F238E27FC236}">
                  <a16:creationId xmlns:a16="http://schemas.microsoft.com/office/drawing/2014/main" id="{4216D701-0C3F-0E46-9A45-C4489ECCA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812"/>
              <a:ext cx="69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b="1" dirty="0">
                  <a:solidFill>
                    <a:srgbClr val="000000"/>
                  </a:solidFill>
                  <a:latin typeface="+mn-ea"/>
                </a:rPr>
                <a:t>虚拟地址</a:t>
              </a:r>
              <a:endParaRPr lang="en-US" altLang="zh-CN" sz="1500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37" name="Rectangle 26">
              <a:extLst>
                <a:ext uri="{FF2B5EF4-FFF2-40B4-BE49-F238E27FC236}">
                  <a16:creationId xmlns:a16="http://schemas.microsoft.com/office/drawing/2014/main" id="{16CD42C4-8318-0045-A03B-5FDD9A696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3460"/>
              <a:ext cx="1960" cy="2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(PPN)</a:t>
              </a:r>
            </a:p>
          </p:txBody>
        </p:sp>
        <p:sp>
          <p:nvSpPr>
            <p:cNvPr id="99338" name="Rectangle 27">
              <a:extLst>
                <a:ext uri="{FF2B5EF4-FFF2-40B4-BE49-F238E27FC236}">
                  <a16:creationId xmlns:a16="http://schemas.microsoft.com/office/drawing/2014/main" id="{9516CBB2-5018-5443-903E-DDCD2AD25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3460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物理页内偏移 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PPO</a:t>
              </a:r>
            </a:p>
          </p:txBody>
        </p:sp>
        <p:sp>
          <p:nvSpPr>
            <p:cNvPr id="99339" name="Rectangle 28">
              <a:extLst>
                <a:ext uri="{FF2B5EF4-FFF2-40B4-BE49-F238E27FC236}">
                  <a16:creationId xmlns:a16="http://schemas.microsoft.com/office/drawing/2014/main" id="{AE3131A0-11A3-C143-BBEA-0C57F43EA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3864"/>
              <a:ext cx="69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b="1" dirty="0">
                  <a:solidFill>
                    <a:srgbClr val="000000"/>
                  </a:solidFill>
                  <a:latin typeface="+mn-ea"/>
                </a:rPr>
                <a:t>物理地址</a:t>
              </a:r>
              <a:endParaRPr lang="en-US" altLang="zh-CN" sz="1500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40" name="Line 29">
              <a:extLst>
                <a:ext uri="{FF2B5EF4-FFF2-40B4-BE49-F238E27FC236}">
                  <a16:creationId xmlns:a16="http://schemas.microsoft.com/office/drawing/2014/main" id="{AEFB9240-14D3-4E47-B7C3-8BE949D57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492"/>
              <a:ext cx="0" cy="1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41" name="Rectangle 30">
              <a:extLst>
                <a:ext uri="{FF2B5EF4-FFF2-40B4-BE49-F238E27FC236}">
                  <a16:creationId xmlns:a16="http://schemas.microsoft.com/office/drawing/2014/main" id="{8A8DA95A-747F-404C-BFE2-56409D66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1" y="3251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9342" name="Rectangle 31">
              <a:extLst>
                <a:ext uri="{FF2B5EF4-FFF2-40B4-BE49-F238E27FC236}">
                  <a16:creationId xmlns:a16="http://schemas.microsoft.com/office/drawing/2014/main" id="{6910EF58-8887-2544-930D-C64D8D628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3251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p–1</a:t>
              </a:r>
            </a:p>
          </p:txBody>
        </p:sp>
        <p:sp>
          <p:nvSpPr>
            <p:cNvPr id="99343" name="Rectangle 32">
              <a:extLst>
                <a:ext uri="{FF2B5EF4-FFF2-40B4-BE49-F238E27FC236}">
                  <a16:creationId xmlns:a16="http://schemas.microsoft.com/office/drawing/2014/main" id="{5051EDD5-E81B-C841-9BFF-186BFD571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3251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9344" name="Rectangle 33">
              <a:extLst>
                <a:ext uri="{FF2B5EF4-FFF2-40B4-BE49-F238E27FC236}">
                  <a16:creationId xmlns:a16="http://schemas.microsoft.com/office/drawing/2014/main" id="{DF8B1836-BA21-DA4E-8C51-E0C057843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3251"/>
              <a:ext cx="39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m–1</a:t>
              </a:r>
            </a:p>
          </p:txBody>
        </p:sp>
        <p:sp>
          <p:nvSpPr>
            <p:cNvPr id="99345" name="Rectangle 34">
              <a:extLst>
                <a:ext uri="{FF2B5EF4-FFF2-40B4-BE49-F238E27FC236}">
                  <a16:creationId xmlns:a16="http://schemas.microsoft.com/office/drawing/2014/main" id="{10062F63-F064-8447-BB83-D9B9CAACE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" y="1042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n–1</a:t>
              </a:r>
            </a:p>
          </p:txBody>
        </p:sp>
        <p:sp>
          <p:nvSpPr>
            <p:cNvPr id="99346" name="Rectangle 35">
              <a:extLst>
                <a:ext uri="{FF2B5EF4-FFF2-40B4-BE49-F238E27FC236}">
                  <a16:creationId xmlns:a16="http://schemas.microsoft.com/office/drawing/2014/main" id="{9FA92C1E-110A-1441-ABF9-FB90942FB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" y="1042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9347" name="Rectangle 36">
              <a:extLst>
                <a:ext uri="{FF2B5EF4-FFF2-40B4-BE49-F238E27FC236}">
                  <a16:creationId xmlns:a16="http://schemas.microsoft.com/office/drawing/2014/main" id="{A658A3D2-9C58-EA4E-BF93-19C6E92F7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042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p–1</a:t>
              </a:r>
            </a:p>
          </p:txBody>
        </p:sp>
        <p:sp>
          <p:nvSpPr>
            <p:cNvPr id="99348" name="Rectangle 37">
              <a:extLst>
                <a:ext uri="{FF2B5EF4-FFF2-40B4-BE49-F238E27FC236}">
                  <a16:creationId xmlns:a16="http://schemas.microsoft.com/office/drawing/2014/main" id="{55B425AB-6948-4840-852A-6FAFA9D01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042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236" name="Rectangle 38">
              <a:extLst>
                <a:ext uri="{FF2B5EF4-FFF2-40B4-BE49-F238E27FC236}">
                  <a16:creationId xmlns:a16="http://schemas.microsoft.com/office/drawing/2014/main" id="{9F835E30-B707-3F4B-9337-EFD60044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840"/>
              <a:ext cx="1666" cy="26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5406" tIns="37042" rIns="75406" bIns="37042" anchor="ctr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页表基址寄存器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50" name="Rectangle 39">
              <a:extLst>
                <a:ext uri="{FF2B5EF4-FFF2-40B4-BE49-F238E27FC236}">
                  <a16:creationId xmlns:a16="http://schemas.microsoft.com/office/drawing/2014/main" id="{7A38F069-529F-2B46-A328-697215E48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924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1" name="Rectangle 40">
              <a:extLst>
                <a:ext uri="{FF2B5EF4-FFF2-40B4-BE49-F238E27FC236}">
                  <a16:creationId xmlns:a16="http://schemas.microsoft.com/office/drawing/2014/main" id="{01610D88-BC08-3B48-A736-8587A50F4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068"/>
              <a:ext cx="1768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2" name="Rectangle 41">
              <a:extLst>
                <a:ext uri="{FF2B5EF4-FFF2-40B4-BE49-F238E27FC236}">
                  <a16:creationId xmlns:a16="http://schemas.microsoft.com/office/drawing/2014/main" id="{235B8491-C207-294D-ACBB-C091CAEF4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212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3" name="Rectangle 42">
              <a:extLst>
                <a:ext uri="{FF2B5EF4-FFF2-40B4-BE49-F238E27FC236}">
                  <a16:creationId xmlns:a16="http://schemas.microsoft.com/office/drawing/2014/main" id="{E319E6DA-95C6-1F48-908E-605A4F9E3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356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4" name="Oval 43">
              <a:extLst>
                <a:ext uri="{FF2B5EF4-FFF2-40B4-BE49-F238E27FC236}">
                  <a16:creationId xmlns:a16="http://schemas.microsoft.com/office/drawing/2014/main" id="{9397BCAB-5808-FF4D-8C74-7DDB2D809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5" name="Line 44">
              <a:extLst>
                <a:ext uri="{FF2B5EF4-FFF2-40B4-BE49-F238E27FC236}">
                  <a16:creationId xmlns:a16="http://schemas.microsoft.com/office/drawing/2014/main" id="{5F7C38D0-851E-9A46-8683-D9136681A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2156"/>
              <a:ext cx="0" cy="1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56" name="Line 45">
              <a:extLst>
                <a:ext uri="{FF2B5EF4-FFF2-40B4-BE49-F238E27FC236}">
                  <a16:creationId xmlns:a16="http://schemas.microsoft.com/office/drawing/2014/main" id="{06089830-E649-A944-A59F-7E402CC62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07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44" name="Rectangle 46">
              <a:extLst>
                <a:ext uri="{FF2B5EF4-FFF2-40B4-BE49-F238E27FC236}">
                  <a16:creationId xmlns:a16="http://schemas.microsoft.com/office/drawing/2014/main" id="{9CED7E9D-0EF8-C148-810D-7DAAE7F4B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80"/>
              <a:ext cx="1010" cy="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如果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valid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=0</a:t>
              </a: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 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表示该页不在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物理内存中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245" name="Rectangle 47">
              <a:extLst>
                <a:ext uri="{FF2B5EF4-FFF2-40B4-BE49-F238E27FC236}">
                  <a16:creationId xmlns:a16="http://schemas.microsoft.com/office/drawing/2014/main" id="{C55CEA98-9684-8D41-B430-B96548B37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" y="1693"/>
              <a:ext cx="416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valid</a:t>
              </a:r>
            </a:p>
          </p:txBody>
        </p:sp>
        <p:sp>
          <p:nvSpPr>
            <p:cNvPr id="99359" name="Rectangle 48">
              <a:extLst>
                <a:ext uri="{FF2B5EF4-FFF2-40B4-BE49-F238E27FC236}">
                  <a16:creationId xmlns:a16="http://schemas.microsoft.com/office/drawing/2014/main" id="{7DC5F622-45FF-EE49-8CFD-F4705418E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680"/>
              <a:ext cx="139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       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</a:t>
              </a:r>
              <a:r>
                <a:rPr lang="en-US" altLang="zh-CN" sz="1500" dirty="0">
                  <a:solidFill>
                    <a:srgbClr val="7030A0"/>
                  </a:solidFill>
                  <a:latin typeface="+mn-ea"/>
                </a:rPr>
                <a:t>PPN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)</a:t>
              </a:r>
            </a:p>
          </p:txBody>
        </p:sp>
        <p:sp>
          <p:nvSpPr>
            <p:cNvPr id="99360" name="Line 49">
              <a:extLst>
                <a:ext uri="{FF2B5EF4-FFF2-40B4-BE49-F238E27FC236}">
                  <a16:creationId xmlns:a16="http://schemas.microsoft.com/office/drawing/2014/main" id="{B6678190-C7FA-6D43-87F9-097F55FFE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104"/>
              <a:ext cx="0" cy="8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61" name="Line 50">
              <a:extLst>
                <a:ext uri="{FF2B5EF4-FFF2-40B4-BE49-F238E27FC236}">
                  <a16:creationId xmlns:a16="http://schemas.microsoft.com/office/drawing/2014/main" id="{A9B02E76-6CC9-FA47-ACC2-09FDA5F38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50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62" name="Rectangle 51">
              <a:extLst>
                <a:ext uri="{FF2B5EF4-FFF2-40B4-BE49-F238E27FC236}">
                  <a16:creationId xmlns:a16="http://schemas.microsoft.com/office/drawing/2014/main" id="{90DD8F3F-54C5-AA40-90CF-218B7DFF7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3" name="Rectangle 52">
              <a:extLst>
                <a:ext uri="{FF2B5EF4-FFF2-40B4-BE49-F238E27FC236}">
                  <a16:creationId xmlns:a16="http://schemas.microsoft.com/office/drawing/2014/main" id="{2BFB3BE8-9248-234E-8BE9-D47203AB0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4" name="Rectangle 53">
              <a:extLst>
                <a:ext uri="{FF2B5EF4-FFF2-40B4-BE49-F238E27FC236}">
                  <a16:creationId xmlns:a16="http://schemas.microsoft.com/office/drawing/2014/main" id="{1FBBAB7F-EF8F-5E42-894C-F71E1CFCE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5" name="Rectangle 54">
              <a:extLst>
                <a:ext uri="{FF2B5EF4-FFF2-40B4-BE49-F238E27FC236}">
                  <a16:creationId xmlns:a16="http://schemas.microsoft.com/office/drawing/2014/main" id="{543D8093-F1D8-9946-A61B-D9664FA06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6" name="Rectangle 55">
              <a:extLst>
                <a:ext uri="{FF2B5EF4-FFF2-40B4-BE49-F238E27FC236}">
                  <a16:creationId xmlns:a16="http://schemas.microsoft.com/office/drawing/2014/main" id="{C6E33493-291C-9F49-8765-7FDF1805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7" name="Rectangle 56">
              <a:extLst>
                <a:ext uri="{FF2B5EF4-FFF2-40B4-BE49-F238E27FC236}">
                  <a16:creationId xmlns:a16="http://schemas.microsoft.com/office/drawing/2014/main" id="{41ACC86D-705A-C447-BF90-8806A02F1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8" name="Rectangle 57">
              <a:extLst>
                <a:ext uri="{FF2B5EF4-FFF2-40B4-BE49-F238E27FC236}">
                  <a16:creationId xmlns:a16="http://schemas.microsoft.com/office/drawing/2014/main" id="{AF6E1313-4476-5446-92E9-76F7937E0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9" name="Rectangle 58">
              <a:extLst>
                <a:ext uri="{FF2B5EF4-FFF2-40B4-BE49-F238E27FC236}">
                  <a16:creationId xmlns:a16="http://schemas.microsoft.com/office/drawing/2014/main" id="{8B7D7288-1604-B24E-BA4A-54BC04EF6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70" name="Line 59">
              <a:extLst>
                <a:ext uri="{FF2B5EF4-FFF2-40B4-BE49-F238E27FC236}">
                  <a16:creationId xmlns:a16="http://schemas.microsoft.com/office/drawing/2014/main" id="{5E1263B2-6EBD-944F-8602-5D7B23C1A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74"/>
              <a:ext cx="0" cy="8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1" name="Oval 60">
              <a:extLst>
                <a:ext uri="{FF2B5EF4-FFF2-40B4-BE49-F238E27FC236}">
                  <a16:creationId xmlns:a16="http://schemas.microsoft.com/office/drawing/2014/main" id="{86963752-1B32-C345-8C34-AA40BFFF8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59" name="Rectangle 61">
              <a:extLst>
                <a:ext uri="{FF2B5EF4-FFF2-40B4-BE49-F238E27FC236}">
                  <a16:creationId xmlns:a16="http://schemas.microsoft.com/office/drawing/2014/main" id="{B9FEEB41-01BC-E842-91A9-8D58C9D9C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82"/>
              <a:ext cx="568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access</a:t>
              </a:r>
            </a:p>
          </p:txBody>
        </p:sp>
        <p:sp>
          <p:nvSpPr>
            <p:cNvPr id="99373" name="Text Box 62">
              <a:extLst>
                <a:ext uri="{FF2B5EF4-FFF2-40B4-BE49-F238E27FC236}">
                  <a16:creationId xmlns:a16="http://schemas.microsoft.com/office/drawing/2014/main" id="{8A806EAD-8916-024C-B4CC-A88A5969D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248"/>
              <a:ext cx="9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FF0000"/>
                  </a:solidFill>
                  <a:latin typeface="+mn-ea"/>
                </a:rPr>
                <a:t>VPN</a:t>
              </a:r>
              <a:r>
                <a:rPr lang="zh-CN" altLang="en-US" sz="1500" dirty="0">
                  <a:latin typeface="+mn-ea"/>
                </a:rPr>
                <a:t>作为页表中的索引</a:t>
              </a:r>
              <a:endParaRPr lang="en-US" altLang="zh-CN" sz="1500" dirty="0">
                <a:latin typeface="+mn-ea"/>
              </a:endParaRPr>
            </a:p>
          </p:txBody>
        </p:sp>
        <p:sp>
          <p:nvSpPr>
            <p:cNvPr id="99374" name="Line 63">
              <a:extLst>
                <a:ext uri="{FF2B5EF4-FFF2-40B4-BE49-F238E27FC236}">
                  <a16:creationId xmlns:a16="http://schemas.microsoft.com/office/drawing/2014/main" id="{C5781743-0F95-794E-95E6-C765EE135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5" y="1488"/>
              <a:ext cx="101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5" name="Line 64">
              <a:extLst>
                <a:ext uri="{FF2B5EF4-FFF2-40B4-BE49-F238E27FC236}">
                  <a16:creationId xmlns:a16="http://schemas.microsoft.com/office/drawing/2014/main" id="{35518E4A-0A69-0649-98E6-0FAA905E6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1911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6" name="Line 65">
              <a:extLst>
                <a:ext uri="{FF2B5EF4-FFF2-40B4-BE49-F238E27FC236}">
                  <a16:creationId xmlns:a16="http://schemas.microsoft.com/office/drawing/2014/main" id="{849D4BA0-A0B7-8944-9F56-A04CA556E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5" y="2174"/>
              <a:ext cx="5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B8062C1-DA6E-904F-B23F-1B1C6388D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209" y="118294"/>
            <a:ext cx="249142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2794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页表：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marL="285750" indent="-285750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存储在物理内存中，由 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OS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 负责维护；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marL="285750" indent="-285750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其起始地址存放在页表基地址寄存器中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8DACC3B-F6C5-3A4E-AE4B-8DCBF4F9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2288646"/>
            <a:ext cx="4826000" cy="1449917"/>
          </a:xfrm>
          <a:prstGeom prst="ellips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9B498B-80FB-604B-8E16-CC5D139D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通过页表进行地址翻译</a:t>
            </a:r>
          </a:p>
        </p:txBody>
      </p:sp>
    </p:spTree>
    <p:extLst>
      <p:ext uri="{BB962C8B-B14F-4D97-AF65-F5344CB8AC3E}">
        <p14:creationId xmlns:p14="http://schemas.microsoft.com/office/powerpoint/2010/main" val="59522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>
            <a:extLst>
              <a:ext uri="{FF2B5EF4-FFF2-40B4-BE49-F238E27FC236}">
                <a16:creationId xmlns:a16="http://schemas.microsoft.com/office/drawing/2014/main" id="{B18DF666-6869-204E-BE3A-FD23CB6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A3D6A063-C62B-1547-B65A-BA6883C6426B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16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51B1CEEE-E174-1F48-A069-3F3B5DDA6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9704C6E-1C52-B04F-8DDF-CF814E8AE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66748"/>
            <a:ext cx="6921500" cy="15875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假定一种地址格式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位虚拟地址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12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位物理地址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页大小 </a:t>
            </a:r>
            <a:r>
              <a:rPr lang="en-US" altLang="zh-CN" dirty="0">
                <a:ea typeface="宋体" panose="02010600030101010101" pitchFamily="2" charset="-122"/>
              </a:rPr>
              <a:t>= 64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(6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3D43009-B81E-794E-81EE-1669D45BEF44}"/>
              </a:ext>
            </a:extLst>
          </p:cNvPr>
          <p:cNvGrpSpPr>
            <a:grpSpLocks/>
          </p:cNvGrpSpPr>
          <p:nvPr/>
        </p:nvGrpSpPr>
        <p:grpSpPr bwMode="auto">
          <a:xfrm>
            <a:off x="1562365" y="3085042"/>
            <a:ext cx="5700448" cy="2124033"/>
            <a:chOff x="605" y="1776"/>
            <a:chExt cx="4309" cy="2048"/>
          </a:xfrm>
        </p:grpSpPr>
        <p:grpSp>
          <p:nvGrpSpPr>
            <p:cNvPr id="101381" name="Group 5">
              <a:extLst>
                <a:ext uri="{FF2B5EF4-FFF2-40B4-BE49-F238E27FC236}">
                  <a16:creationId xmlns:a16="http://schemas.microsoft.com/office/drawing/2014/main" id="{D773EB7E-BD77-4442-802D-05AC46FC1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101435" name="Group 6">
                <a:extLst>
                  <a:ext uri="{FF2B5EF4-FFF2-40B4-BE49-F238E27FC236}">
                    <a16:creationId xmlns:a16="http://schemas.microsoft.com/office/drawing/2014/main" id="{A497712B-F608-D740-B7AA-8FBF3B8275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101475" name="Rectangle 7">
                  <a:extLst>
                    <a:ext uri="{FF2B5EF4-FFF2-40B4-BE49-F238E27FC236}">
                      <a16:creationId xmlns:a16="http://schemas.microsoft.com/office/drawing/2014/main" id="{8CA1DA74-D9DD-5348-AAE7-69E8EB59D9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6" name="Rectangle 8">
                  <a:extLst>
                    <a:ext uri="{FF2B5EF4-FFF2-40B4-BE49-F238E27FC236}">
                      <a16:creationId xmlns:a16="http://schemas.microsoft.com/office/drawing/2014/main" id="{23432B15-7887-874F-8515-DC72EBB75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13</a:t>
                  </a:r>
                </a:p>
              </p:txBody>
            </p:sp>
          </p:grpSp>
          <p:grpSp>
            <p:nvGrpSpPr>
              <p:cNvPr id="101436" name="Group 9">
                <a:extLst>
                  <a:ext uri="{FF2B5EF4-FFF2-40B4-BE49-F238E27FC236}">
                    <a16:creationId xmlns:a16="http://schemas.microsoft.com/office/drawing/2014/main" id="{847E5B09-C395-6C43-8A68-FA12514C6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101473" name="Rectangle 10">
                  <a:extLst>
                    <a:ext uri="{FF2B5EF4-FFF2-40B4-BE49-F238E27FC236}">
                      <a16:creationId xmlns:a16="http://schemas.microsoft.com/office/drawing/2014/main" id="{2D7BCD0D-6A0A-9044-B2A7-5E5E7C3BE1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4" name="Rectangle 11">
                  <a:extLst>
                    <a:ext uri="{FF2B5EF4-FFF2-40B4-BE49-F238E27FC236}">
                      <a16:creationId xmlns:a16="http://schemas.microsoft.com/office/drawing/2014/main" id="{32397518-950B-324A-A843-ACE1432BE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12</a:t>
                  </a:r>
                </a:p>
              </p:txBody>
            </p:sp>
          </p:grpSp>
          <p:grpSp>
            <p:nvGrpSpPr>
              <p:cNvPr id="101437" name="Group 12">
                <a:extLst>
                  <a:ext uri="{FF2B5EF4-FFF2-40B4-BE49-F238E27FC236}">
                    <a16:creationId xmlns:a16="http://schemas.microsoft.com/office/drawing/2014/main" id="{95279240-EEC7-5D4C-8871-13E96B0CF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101471" name="Rectangle 13">
                  <a:extLst>
                    <a:ext uri="{FF2B5EF4-FFF2-40B4-BE49-F238E27FC236}">
                      <a16:creationId xmlns:a16="http://schemas.microsoft.com/office/drawing/2014/main" id="{BA939F8F-CC5E-3A46-919F-682ED5FBEF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2" name="Rectangle 14">
                  <a:extLst>
                    <a:ext uri="{FF2B5EF4-FFF2-40B4-BE49-F238E27FC236}">
                      <a16:creationId xmlns:a16="http://schemas.microsoft.com/office/drawing/2014/main" id="{E086CA66-3225-1C4A-93F8-F2FAD9240E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38" name="Group 15">
                <a:extLst>
                  <a:ext uri="{FF2B5EF4-FFF2-40B4-BE49-F238E27FC236}">
                    <a16:creationId xmlns:a16="http://schemas.microsoft.com/office/drawing/2014/main" id="{97180941-8002-0444-9170-F6E098792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101469" name="Rectangle 16">
                  <a:extLst>
                    <a:ext uri="{FF2B5EF4-FFF2-40B4-BE49-F238E27FC236}">
                      <a16:creationId xmlns:a16="http://schemas.microsoft.com/office/drawing/2014/main" id="{3A16F068-BB36-464E-AAB9-A5274D5D1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0" name="Rectangle 17">
                  <a:extLst>
                    <a:ext uri="{FF2B5EF4-FFF2-40B4-BE49-F238E27FC236}">
                      <a16:creationId xmlns:a16="http://schemas.microsoft.com/office/drawing/2014/main" id="{763AEFFA-1B1B-834F-82DE-D399DBF02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39" name="Group 18">
                <a:extLst>
                  <a:ext uri="{FF2B5EF4-FFF2-40B4-BE49-F238E27FC236}">
                    <a16:creationId xmlns:a16="http://schemas.microsoft.com/office/drawing/2014/main" id="{9DD58F1F-08F0-EB4E-8089-9E384AC4D4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101467" name="Rectangle 19">
                  <a:extLst>
                    <a:ext uri="{FF2B5EF4-FFF2-40B4-BE49-F238E27FC236}">
                      <a16:creationId xmlns:a16="http://schemas.microsoft.com/office/drawing/2014/main" id="{F4B5E25E-86EC-BF42-8978-18AC0CD2A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8" name="Rectangle 20">
                  <a:extLst>
                    <a:ext uri="{FF2B5EF4-FFF2-40B4-BE49-F238E27FC236}">
                      <a16:creationId xmlns:a16="http://schemas.microsoft.com/office/drawing/2014/main" id="{7A048514-8709-CE49-A623-198A8B31D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40" name="Group 21">
                <a:extLst>
                  <a:ext uri="{FF2B5EF4-FFF2-40B4-BE49-F238E27FC236}">
                    <a16:creationId xmlns:a16="http://schemas.microsoft.com/office/drawing/2014/main" id="{96D697FE-109C-6B4E-A446-717119174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101465" name="Rectangle 22">
                  <a:extLst>
                    <a:ext uri="{FF2B5EF4-FFF2-40B4-BE49-F238E27FC236}">
                      <a16:creationId xmlns:a16="http://schemas.microsoft.com/office/drawing/2014/main" id="{18C581E6-8030-DE49-8A4E-D7D4481FA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6" name="Rectangle 23">
                  <a:extLst>
                    <a:ext uri="{FF2B5EF4-FFF2-40B4-BE49-F238E27FC236}">
                      <a16:creationId xmlns:a16="http://schemas.microsoft.com/office/drawing/2014/main" id="{7536D81C-23C5-C44D-9491-813CF5F3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41" name="Group 24">
                <a:extLst>
                  <a:ext uri="{FF2B5EF4-FFF2-40B4-BE49-F238E27FC236}">
                    <a16:creationId xmlns:a16="http://schemas.microsoft.com/office/drawing/2014/main" id="{1F761FF6-830F-2147-952C-7F2A8C965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101463" name="Rectangle 25">
                  <a:extLst>
                    <a:ext uri="{FF2B5EF4-FFF2-40B4-BE49-F238E27FC236}">
                      <a16:creationId xmlns:a16="http://schemas.microsoft.com/office/drawing/2014/main" id="{98C45394-AF97-C14E-8AD7-1C48D35665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4" name="Rectangle 26">
                  <a:extLst>
                    <a:ext uri="{FF2B5EF4-FFF2-40B4-BE49-F238E27FC236}">
                      <a16:creationId xmlns:a16="http://schemas.microsoft.com/office/drawing/2014/main" id="{63E174F6-5BAD-9F45-BA12-EE2D549DF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42" name="Group 27">
                <a:extLst>
                  <a:ext uri="{FF2B5EF4-FFF2-40B4-BE49-F238E27FC236}">
                    <a16:creationId xmlns:a16="http://schemas.microsoft.com/office/drawing/2014/main" id="{A836EE63-C634-D544-8778-8717CEA59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101461" name="Rectangle 28">
                  <a:extLst>
                    <a:ext uri="{FF2B5EF4-FFF2-40B4-BE49-F238E27FC236}">
                      <a16:creationId xmlns:a16="http://schemas.microsoft.com/office/drawing/2014/main" id="{6523D2FF-132B-834D-B81D-F19F9E39E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2" name="Rectangle 29">
                  <a:extLst>
                    <a:ext uri="{FF2B5EF4-FFF2-40B4-BE49-F238E27FC236}">
                      <a16:creationId xmlns:a16="http://schemas.microsoft.com/office/drawing/2014/main" id="{34050A9A-7621-404F-B8DF-B87082770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43" name="Group 30">
                <a:extLst>
                  <a:ext uri="{FF2B5EF4-FFF2-40B4-BE49-F238E27FC236}">
                    <a16:creationId xmlns:a16="http://schemas.microsoft.com/office/drawing/2014/main" id="{CF7C85B1-941F-0C49-A20A-8CDF10E54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101459" name="Rectangle 31">
                  <a:extLst>
                    <a:ext uri="{FF2B5EF4-FFF2-40B4-BE49-F238E27FC236}">
                      <a16:creationId xmlns:a16="http://schemas.microsoft.com/office/drawing/2014/main" id="{43C1290A-0C2A-C64F-BD20-C82805F4CC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0" name="Rectangle 32">
                  <a:extLst>
                    <a:ext uri="{FF2B5EF4-FFF2-40B4-BE49-F238E27FC236}">
                      <a16:creationId xmlns:a16="http://schemas.microsoft.com/office/drawing/2014/main" id="{8E209DDC-2EDA-304B-8A99-7DDB99455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44" name="Group 33">
                <a:extLst>
                  <a:ext uri="{FF2B5EF4-FFF2-40B4-BE49-F238E27FC236}">
                    <a16:creationId xmlns:a16="http://schemas.microsoft.com/office/drawing/2014/main" id="{6FF97425-1D4D-574E-8EAE-738C6E750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101457" name="Rectangle 34">
                  <a:extLst>
                    <a:ext uri="{FF2B5EF4-FFF2-40B4-BE49-F238E27FC236}">
                      <a16:creationId xmlns:a16="http://schemas.microsoft.com/office/drawing/2014/main" id="{23915993-990E-B840-BE05-646399D7A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8" name="Rectangle 35">
                  <a:extLst>
                    <a:ext uri="{FF2B5EF4-FFF2-40B4-BE49-F238E27FC236}">
                      <a16:creationId xmlns:a16="http://schemas.microsoft.com/office/drawing/2014/main" id="{4FAC8531-515C-F942-9391-BEB989B6D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45" name="Group 36">
                <a:extLst>
                  <a:ext uri="{FF2B5EF4-FFF2-40B4-BE49-F238E27FC236}">
                    <a16:creationId xmlns:a16="http://schemas.microsoft.com/office/drawing/2014/main" id="{C3DEA54A-2716-FF46-B318-ED36E1D7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101455" name="Rectangle 37">
                  <a:extLst>
                    <a:ext uri="{FF2B5EF4-FFF2-40B4-BE49-F238E27FC236}">
                      <a16:creationId xmlns:a16="http://schemas.microsoft.com/office/drawing/2014/main" id="{91798848-EFBA-194F-870A-94589627F9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6" name="Rectangle 38">
                  <a:extLst>
                    <a:ext uri="{FF2B5EF4-FFF2-40B4-BE49-F238E27FC236}">
                      <a16:creationId xmlns:a16="http://schemas.microsoft.com/office/drawing/2014/main" id="{4B971889-9992-134F-960D-C2E43B56F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46" name="Group 39">
                <a:extLst>
                  <a:ext uri="{FF2B5EF4-FFF2-40B4-BE49-F238E27FC236}">
                    <a16:creationId xmlns:a16="http://schemas.microsoft.com/office/drawing/2014/main" id="{B4274312-345D-4342-9BE0-CD0304A7E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101453" name="Rectangle 40">
                  <a:extLst>
                    <a:ext uri="{FF2B5EF4-FFF2-40B4-BE49-F238E27FC236}">
                      <a16:creationId xmlns:a16="http://schemas.microsoft.com/office/drawing/2014/main" id="{0E84C569-8551-6A4C-A94F-6230F0855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4" name="Rectangle 41">
                  <a:extLst>
                    <a:ext uri="{FF2B5EF4-FFF2-40B4-BE49-F238E27FC236}">
                      <a16:creationId xmlns:a16="http://schemas.microsoft.com/office/drawing/2014/main" id="{E37860FC-C389-7F45-B96A-DAC09F060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47" name="Group 42">
                <a:extLst>
                  <a:ext uri="{FF2B5EF4-FFF2-40B4-BE49-F238E27FC236}">
                    <a16:creationId xmlns:a16="http://schemas.microsoft.com/office/drawing/2014/main" id="{03F4B6A8-A2C6-F745-B908-A9A18A15B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101451" name="Rectangle 43">
                  <a:extLst>
                    <a:ext uri="{FF2B5EF4-FFF2-40B4-BE49-F238E27FC236}">
                      <a16:creationId xmlns:a16="http://schemas.microsoft.com/office/drawing/2014/main" id="{E9C46B4F-8998-6847-81EE-6DC9F41899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2" name="Rectangle 44">
                  <a:extLst>
                    <a:ext uri="{FF2B5EF4-FFF2-40B4-BE49-F238E27FC236}">
                      <a16:creationId xmlns:a16="http://schemas.microsoft.com/office/drawing/2014/main" id="{6C98012A-6A82-A949-979D-919170847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48" name="Group 45">
                <a:extLst>
                  <a:ext uri="{FF2B5EF4-FFF2-40B4-BE49-F238E27FC236}">
                    <a16:creationId xmlns:a16="http://schemas.microsoft.com/office/drawing/2014/main" id="{F92E4488-2244-F649-AD18-13365CAB28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101449" name="Rectangle 46">
                  <a:extLst>
                    <a:ext uri="{FF2B5EF4-FFF2-40B4-BE49-F238E27FC236}">
                      <a16:creationId xmlns:a16="http://schemas.microsoft.com/office/drawing/2014/main" id="{BB087E68-F820-D14C-A8F8-675B3A806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0" name="Rectangle 47">
                  <a:extLst>
                    <a:ext uri="{FF2B5EF4-FFF2-40B4-BE49-F238E27FC236}">
                      <a16:creationId xmlns:a16="http://schemas.microsoft.com/office/drawing/2014/main" id="{96397831-0152-424C-999D-779C34D50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2" name="Group 48">
              <a:extLst>
                <a:ext uri="{FF2B5EF4-FFF2-40B4-BE49-F238E27FC236}">
                  <a16:creationId xmlns:a16="http://schemas.microsoft.com/office/drawing/2014/main" id="{03780A8E-8D6A-4843-8F38-59EAAE3A7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101399" name="Group 49">
                <a:extLst>
                  <a:ext uri="{FF2B5EF4-FFF2-40B4-BE49-F238E27FC236}">
                    <a16:creationId xmlns:a16="http://schemas.microsoft.com/office/drawing/2014/main" id="{E55345DD-5A38-E74E-BAA8-299F80B32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01433" name="Rectangle 50">
                  <a:extLst>
                    <a:ext uri="{FF2B5EF4-FFF2-40B4-BE49-F238E27FC236}">
                      <a16:creationId xmlns:a16="http://schemas.microsoft.com/office/drawing/2014/main" id="{E2665666-5191-F844-BDCB-359D88D3A2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4" name="Rectangle 51">
                  <a:extLst>
                    <a:ext uri="{FF2B5EF4-FFF2-40B4-BE49-F238E27FC236}">
                      <a16:creationId xmlns:a16="http://schemas.microsoft.com/office/drawing/2014/main" id="{86FA49A3-4BB4-6A47-9960-D4EE03DF34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00" name="Group 52">
                <a:extLst>
                  <a:ext uri="{FF2B5EF4-FFF2-40B4-BE49-F238E27FC236}">
                    <a16:creationId xmlns:a16="http://schemas.microsoft.com/office/drawing/2014/main" id="{11F85825-A411-994C-9491-C72D261035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01431" name="Rectangle 53">
                  <a:extLst>
                    <a:ext uri="{FF2B5EF4-FFF2-40B4-BE49-F238E27FC236}">
                      <a16:creationId xmlns:a16="http://schemas.microsoft.com/office/drawing/2014/main" id="{4D93A47D-15A3-EA4C-B795-E2A68D3EC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2" name="Rectangle 54">
                  <a:extLst>
                    <a:ext uri="{FF2B5EF4-FFF2-40B4-BE49-F238E27FC236}">
                      <a16:creationId xmlns:a16="http://schemas.microsoft.com/office/drawing/2014/main" id="{691D5448-B36E-AA42-A0DD-E3C6ADB3FC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01" name="Group 55">
                <a:extLst>
                  <a:ext uri="{FF2B5EF4-FFF2-40B4-BE49-F238E27FC236}">
                    <a16:creationId xmlns:a16="http://schemas.microsoft.com/office/drawing/2014/main" id="{BD6BA89D-1965-BD48-9D65-C0E592956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01429" name="Rectangle 56">
                  <a:extLst>
                    <a:ext uri="{FF2B5EF4-FFF2-40B4-BE49-F238E27FC236}">
                      <a16:creationId xmlns:a16="http://schemas.microsoft.com/office/drawing/2014/main" id="{B7A5CDF0-4FCB-C44A-94A6-220DCFDF2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0" name="Rectangle 57">
                  <a:extLst>
                    <a:ext uri="{FF2B5EF4-FFF2-40B4-BE49-F238E27FC236}">
                      <a16:creationId xmlns:a16="http://schemas.microsoft.com/office/drawing/2014/main" id="{2FD423CA-59B7-A84D-88EC-07DAD5C84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02" name="Group 58">
                <a:extLst>
                  <a:ext uri="{FF2B5EF4-FFF2-40B4-BE49-F238E27FC236}">
                    <a16:creationId xmlns:a16="http://schemas.microsoft.com/office/drawing/2014/main" id="{E98F049D-3B7F-2D4C-9B64-5BF76D52C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01427" name="Rectangle 59">
                  <a:extLst>
                    <a:ext uri="{FF2B5EF4-FFF2-40B4-BE49-F238E27FC236}">
                      <a16:creationId xmlns:a16="http://schemas.microsoft.com/office/drawing/2014/main" id="{D32B507F-7648-9E4E-9A17-F58E2ADAA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8" name="Rectangle 60">
                  <a:extLst>
                    <a:ext uri="{FF2B5EF4-FFF2-40B4-BE49-F238E27FC236}">
                      <a16:creationId xmlns:a16="http://schemas.microsoft.com/office/drawing/2014/main" id="{67891EB4-EB75-F546-9E27-37A40DA44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03" name="Group 61">
                <a:extLst>
                  <a:ext uri="{FF2B5EF4-FFF2-40B4-BE49-F238E27FC236}">
                    <a16:creationId xmlns:a16="http://schemas.microsoft.com/office/drawing/2014/main" id="{66A90B52-25DB-5C4D-86F8-686CE2497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01425" name="Rectangle 62">
                  <a:extLst>
                    <a:ext uri="{FF2B5EF4-FFF2-40B4-BE49-F238E27FC236}">
                      <a16:creationId xmlns:a16="http://schemas.microsoft.com/office/drawing/2014/main" id="{B301AB17-7F21-4742-8D4C-AF71CF359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6" name="Rectangle 63">
                  <a:extLst>
                    <a:ext uri="{FF2B5EF4-FFF2-40B4-BE49-F238E27FC236}">
                      <a16:creationId xmlns:a16="http://schemas.microsoft.com/office/drawing/2014/main" id="{5FDC1E25-6227-B243-B6D8-102B9F526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04" name="Group 64">
                <a:extLst>
                  <a:ext uri="{FF2B5EF4-FFF2-40B4-BE49-F238E27FC236}">
                    <a16:creationId xmlns:a16="http://schemas.microsoft.com/office/drawing/2014/main" id="{93EDF22C-426E-2343-B3CA-D578419684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01423" name="Rectangle 65">
                  <a:extLst>
                    <a:ext uri="{FF2B5EF4-FFF2-40B4-BE49-F238E27FC236}">
                      <a16:creationId xmlns:a16="http://schemas.microsoft.com/office/drawing/2014/main" id="{9E18424F-4707-6944-AD92-238232105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4" name="Rectangle 66">
                  <a:extLst>
                    <a:ext uri="{FF2B5EF4-FFF2-40B4-BE49-F238E27FC236}">
                      <a16:creationId xmlns:a16="http://schemas.microsoft.com/office/drawing/2014/main" id="{A4481ED7-5519-E840-AE83-CAA7E33A06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05" name="Group 67">
                <a:extLst>
                  <a:ext uri="{FF2B5EF4-FFF2-40B4-BE49-F238E27FC236}">
                    <a16:creationId xmlns:a16="http://schemas.microsoft.com/office/drawing/2014/main" id="{CBD0DCD5-4A24-9F49-AD1F-856B78C76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01421" name="Rectangle 68">
                  <a:extLst>
                    <a:ext uri="{FF2B5EF4-FFF2-40B4-BE49-F238E27FC236}">
                      <a16:creationId xmlns:a16="http://schemas.microsoft.com/office/drawing/2014/main" id="{4E1304A0-70CE-A644-9640-D06C9D1904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2" name="Rectangle 69">
                  <a:extLst>
                    <a:ext uri="{FF2B5EF4-FFF2-40B4-BE49-F238E27FC236}">
                      <a16:creationId xmlns:a16="http://schemas.microsoft.com/office/drawing/2014/main" id="{17C9D0EB-F9EC-E741-9BFD-F60BA5446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06" name="Group 70">
                <a:extLst>
                  <a:ext uri="{FF2B5EF4-FFF2-40B4-BE49-F238E27FC236}">
                    <a16:creationId xmlns:a16="http://schemas.microsoft.com/office/drawing/2014/main" id="{92D95B27-A81E-CF44-9EAE-9DEE485A34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01419" name="Rectangle 71">
                  <a:extLst>
                    <a:ext uri="{FF2B5EF4-FFF2-40B4-BE49-F238E27FC236}">
                      <a16:creationId xmlns:a16="http://schemas.microsoft.com/office/drawing/2014/main" id="{95F4FA39-B8F8-D94C-BD61-E211D0D94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0" name="Rectangle 72">
                  <a:extLst>
                    <a:ext uri="{FF2B5EF4-FFF2-40B4-BE49-F238E27FC236}">
                      <a16:creationId xmlns:a16="http://schemas.microsoft.com/office/drawing/2014/main" id="{484BFA95-34C0-294A-9E2B-D415AFA55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07" name="Group 73">
                <a:extLst>
                  <a:ext uri="{FF2B5EF4-FFF2-40B4-BE49-F238E27FC236}">
                    <a16:creationId xmlns:a16="http://schemas.microsoft.com/office/drawing/2014/main" id="{045CC20D-0EAE-B142-B881-48B0E09AF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01417" name="Rectangle 74">
                  <a:extLst>
                    <a:ext uri="{FF2B5EF4-FFF2-40B4-BE49-F238E27FC236}">
                      <a16:creationId xmlns:a16="http://schemas.microsoft.com/office/drawing/2014/main" id="{D221C7B1-9A03-D747-8311-549652BE1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8" name="Rectangle 75">
                  <a:extLst>
                    <a:ext uri="{FF2B5EF4-FFF2-40B4-BE49-F238E27FC236}">
                      <a16:creationId xmlns:a16="http://schemas.microsoft.com/office/drawing/2014/main" id="{9370BF56-E0AA-B34D-9DA3-C3E02FBB6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08" name="Group 76">
                <a:extLst>
                  <a:ext uri="{FF2B5EF4-FFF2-40B4-BE49-F238E27FC236}">
                    <a16:creationId xmlns:a16="http://schemas.microsoft.com/office/drawing/2014/main" id="{1E100DE2-BB64-BE4E-B1E5-8DC488F48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01415" name="Rectangle 77">
                  <a:extLst>
                    <a:ext uri="{FF2B5EF4-FFF2-40B4-BE49-F238E27FC236}">
                      <a16:creationId xmlns:a16="http://schemas.microsoft.com/office/drawing/2014/main" id="{18994E95-5002-9446-A180-39542BB3C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6" name="Rectangle 78">
                  <a:extLst>
                    <a:ext uri="{FF2B5EF4-FFF2-40B4-BE49-F238E27FC236}">
                      <a16:creationId xmlns:a16="http://schemas.microsoft.com/office/drawing/2014/main" id="{E9B89D1C-BD28-7647-AA41-A6EC79C6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09" name="Group 79">
                <a:extLst>
                  <a:ext uri="{FF2B5EF4-FFF2-40B4-BE49-F238E27FC236}">
                    <a16:creationId xmlns:a16="http://schemas.microsoft.com/office/drawing/2014/main" id="{BF6BF21B-4949-1247-ADCD-AF510E4B0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01413" name="Rectangle 80">
                  <a:extLst>
                    <a:ext uri="{FF2B5EF4-FFF2-40B4-BE49-F238E27FC236}">
                      <a16:creationId xmlns:a16="http://schemas.microsoft.com/office/drawing/2014/main" id="{62EC1CB5-99A5-3844-911F-70E6550D7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4" name="Rectangle 81">
                  <a:extLst>
                    <a:ext uri="{FF2B5EF4-FFF2-40B4-BE49-F238E27FC236}">
                      <a16:creationId xmlns:a16="http://schemas.microsoft.com/office/drawing/2014/main" id="{96870E1D-8F9B-7448-B7D4-5FA914BD3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10" name="Group 82">
                <a:extLst>
                  <a:ext uri="{FF2B5EF4-FFF2-40B4-BE49-F238E27FC236}">
                    <a16:creationId xmlns:a16="http://schemas.microsoft.com/office/drawing/2014/main" id="{DC364048-8C84-1447-8A1D-D6BB6C909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01411" name="Rectangle 83">
                  <a:extLst>
                    <a:ext uri="{FF2B5EF4-FFF2-40B4-BE49-F238E27FC236}">
                      <a16:creationId xmlns:a16="http://schemas.microsoft.com/office/drawing/2014/main" id="{81D21C38-FA17-DD4D-BB6D-B0ECD3447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2" name="Rectangle 84">
                  <a:extLst>
                    <a:ext uri="{FF2B5EF4-FFF2-40B4-BE49-F238E27FC236}">
                      <a16:creationId xmlns:a16="http://schemas.microsoft.com/office/drawing/2014/main" id="{49061438-D946-B44F-9415-25DA48B30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3" name="Group 85">
              <a:extLst>
                <a:ext uri="{FF2B5EF4-FFF2-40B4-BE49-F238E27FC236}">
                  <a16:creationId xmlns:a16="http://schemas.microsoft.com/office/drawing/2014/main" id="{0476E274-7264-8243-B9C3-841F9B848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261"/>
              <a:ext cx="1842" cy="274"/>
              <a:chOff x="3061" y="2261"/>
              <a:chExt cx="1842" cy="274"/>
            </a:xfrm>
          </p:grpSpPr>
          <p:sp>
            <p:nvSpPr>
              <p:cNvPr id="101397" name="Line 86">
                <a:extLst>
                  <a:ext uri="{FF2B5EF4-FFF2-40B4-BE49-F238E27FC236}">
                    <a16:creationId xmlns:a16="http://schemas.microsoft.com/office/drawing/2014/main" id="{21039919-F73F-8948-8168-113E3748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8" name="Text Box 87">
                <a:extLst>
                  <a:ext uri="{FF2B5EF4-FFF2-40B4-BE49-F238E27FC236}">
                    <a16:creationId xmlns:a16="http://schemas.microsoft.com/office/drawing/2014/main" id="{50F1CFBC-F73C-0B4E-B86B-EA6707C11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VPO</a:t>
                </a:r>
              </a:p>
            </p:txBody>
          </p:sp>
        </p:grpSp>
        <p:grpSp>
          <p:nvGrpSpPr>
            <p:cNvPr id="101384" name="Group 88">
              <a:extLst>
                <a:ext uri="{FF2B5EF4-FFF2-40B4-BE49-F238E27FC236}">
                  <a16:creationId xmlns:a16="http://schemas.microsoft.com/office/drawing/2014/main" id="{4F762279-8802-624D-94DF-4BE1EA823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312"/>
              <a:ext cx="1842" cy="274"/>
              <a:chOff x="3061" y="2261"/>
              <a:chExt cx="1842" cy="274"/>
            </a:xfrm>
          </p:grpSpPr>
          <p:sp>
            <p:nvSpPr>
              <p:cNvPr id="101395" name="Line 89">
                <a:extLst>
                  <a:ext uri="{FF2B5EF4-FFF2-40B4-BE49-F238E27FC236}">
                    <a16:creationId xmlns:a16="http://schemas.microsoft.com/office/drawing/2014/main" id="{11D6EF5C-C096-9742-8FD9-928645D43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6" name="Text Box 90">
                <a:extLst>
                  <a:ext uri="{FF2B5EF4-FFF2-40B4-BE49-F238E27FC236}">
                    <a16:creationId xmlns:a16="http://schemas.microsoft.com/office/drawing/2014/main" id="{3220D560-B1E0-6840-9672-97CF607F0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PPO</a:t>
                </a:r>
              </a:p>
            </p:txBody>
          </p:sp>
        </p:grpSp>
        <p:grpSp>
          <p:nvGrpSpPr>
            <p:cNvPr id="101385" name="Group 91">
              <a:extLst>
                <a:ext uri="{FF2B5EF4-FFF2-40B4-BE49-F238E27FC236}">
                  <a16:creationId xmlns:a16="http://schemas.microsoft.com/office/drawing/2014/main" id="{B481AF6C-E19B-A24F-8427-0EF0A46F9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312"/>
              <a:ext cx="1842" cy="274"/>
              <a:chOff x="3061" y="2261"/>
              <a:chExt cx="1842" cy="274"/>
            </a:xfrm>
          </p:grpSpPr>
          <p:sp>
            <p:nvSpPr>
              <p:cNvPr id="101393" name="Line 92">
                <a:extLst>
                  <a:ext uri="{FF2B5EF4-FFF2-40B4-BE49-F238E27FC236}">
                    <a16:creationId xmlns:a16="http://schemas.microsoft.com/office/drawing/2014/main" id="{479183EC-6055-A44C-96C8-D0480AAAC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4" name="Text Box 93">
                <a:extLst>
                  <a:ext uri="{FF2B5EF4-FFF2-40B4-BE49-F238E27FC236}">
                    <a16:creationId xmlns:a16="http://schemas.microsoft.com/office/drawing/2014/main" id="{08ADD799-AC99-7A43-AEDF-62EDFB86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4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PPN</a:t>
                </a:r>
              </a:p>
            </p:txBody>
          </p:sp>
        </p:grpSp>
        <p:grpSp>
          <p:nvGrpSpPr>
            <p:cNvPr id="101386" name="Group 94">
              <a:extLst>
                <a:ext uri="{FF2B5EF4-FFF2-40B4-BE49-F238E27FC236}">
                  <a16:creationId xmlns:a16="http://schemas.microsoft.com/office/drawing/2014/main" id="{19BD64AB-C83B-124D-948A-9A33B36CE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2256"/>
              <a:ext cx="2467" cy="274"/>
              <a:chOff x="3061" y="2261"/>
              <a:chExt cx="1842" cy="274"/>
            </a:xfrm>
          </p:grpSpPr>
          <p:sp>
            <p:nvSpPr>
              <p:cNvPr id="101391" name="Line 95">
                <a:extLst>
                  <a:ext uri="{FF2B5EF4-FFF2-40B4-BE49-F238E27FC236}">
                    <a16:creationId xmlns:a16="http://schemas.microsoft.com/office/drawing/2014/main" id="{6BD04FB6-4A97-354D-AB95-8C9D5A62E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2" name="Text Box 96">
                <a:extLst>
                  <a:ext uri="{FF2B5EF4-FFF2-40B4-BE49-F238E27FC236}">
                    <a16:creationId xmlns:a16="http://schemas.microsoft.com/office/drawing/2014/main" id="{41826F70-6224-C44A-B556-5087F7100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309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VPN</a:t>
                </a:r>
              </a:p>
            </p:txBody>
          </p:sp>
        </p:grpSp>
        <p:sp>
          <p:nvSpPr>
            <p:cNvPr id="101387" name="Text Box 97">
              <a:extLst>
                <a:ext uri="{FF2B5EF4-FFF2-40B4-BE49-F238E27FC236}">
                  <a16:creationId xmlns:a16="http://schemas.microsoft.com/office/drawing/2014/main" id="{ACD3A796-602A-A147-8A3E-5D98FC7C9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530"/>
              <a:ext cx="119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8" name="Text Box 98">
              <a:extLst>
                <a:ext uri="{FF2B5EF4-FFF2-40B4-BE49-F238E27FC236}">
                  <a16:creationId xmlns:a16="http://schemas.microsoft.com/office/drawing/2014/main" id="{98765B7D-4AB9-7746-9CB6-A25DE2CA4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523"/>
              <a:ext cx="136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9" name="Text Box 99">
              <a:extLst>
                <a:ext uri="{FF2B5EF4-FFF2-40B4-BE49-F238E27FC236}">
                  <a16:creationId xmlns:a16="http://schemas.microsoft.com/office/drawing/2014/main" id="{56EAE3FB-631C-D84A-9401-5EE4B23C4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31"/>
              <a:ext cx="123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90" name="Text Box 100">
              <a:extLst>
                <a:ext uri="{FF2B5EF4-FFF2-40B4-BE49-F238E27FC236}">
                  <a16:creationId xmlns:a16="http://schemas.microsoft.com/office/drawing/2014/main" id="{ACEC2875-9C33-964A-B8D9-CAB84B5FA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552"/>
              <a:ext cx="10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3" name="Group 177">
            <a:extLst>
              <a:ext uri="{FF2B5EF4-FFF2-40B4-BE49-F238E27FC236}">
                <a16:creationId xmlns:a16="http://schemas.microsoft.com/office/drawing/2014/main" id="{5C5A3514-0357-E17B-478C-B4150B2BB0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1271396"/>
              </p:ext>
            </p:extLst>
          </p:nvPr>
        </p:nvGraphicFramePr>
        <p:xfrm>
          <a:off x="5623719" y="115343"/>
          <a:ext cx="3163095" cy="2815168"/>
        </p:xfrm>
        <a:graphic>
          <a:graphicData uri="http://schemas.openxmlformats.org/drawingml/2006/table">
            <a:tbl>
              <a:tblPr/>
              <a:tblGrid>
                <a:gridCol w="96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28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06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07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49570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>
            <a:extLst>
              <a:ext uri="{FF2B5EF4-FFF2-40B4-BE49-F238E27FC236}">
                <a16:creationId xmlns:a16="http://schemas.microsoft.com/office/drawing/2014/main" id="{6D13F716-3991-A94D-9B02-8D22CD62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22332F41-1C13-1244-9729-43EA930B8906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17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0770F3F0-1BD2-5A4C-9FF4-AD4483AE5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1619" name="Rectangle 102">
            <a:extLst>
              <a:ext uri="{FF2B5EF4-FFF2-40B4-BE49-F238E27FC236}">
                <a16:creationId xmlns:a16="http://schemas.microsoft.com/office/drawing/2014/main" id="{D426DB58-953E-3F41-8804-E7BE8762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7BD8D957-173A-0E45-9457-07794C85E04C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A0486EBC-817E-AF48-AB53-DAAC16FEC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D72D5FD8-CD52-8C4E-BD2B-E90C56A78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CDD4529E-F267-4E40-9AFD-01A354A033EB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F3293008-6957-FF4A-AA22-3014CA284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96A437EF-5E54-5949-BCCC-DA0FCF25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D2D4B0B7-491C-384B-BAE7-4CAE53F3DFA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DDAD5FCB-2D0D-674C-8F01-6B9D75CC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59675986-CAC2-C344-AEAE-3A114A41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58E19E7E-3F9D-B343-850A-576873B08482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38C0E500-E9CB-CB47-B8BB-1EEEF1CF8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D8686CA9-844A-2146-9F50-CBC1C3C09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1D2FD678-000E-DE47-8FBA-6DEDDF82A6C5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C3EFE40B-6EBE-7545-898B-71E04E3DB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9DAD400-8AB6-C54E-806A-430BC4E8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563AA0BD-CFBC-2048-A6D3-5E8568550327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91CD3863-86E3-2643-93D2-73936FC9B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A3DE5C9D-012C-BD45-A687-53F3A47AD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F0AF89B3-B537-BA4D-8771-9036EED589F2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A9F6CDC9-1961-4B4D-AABD-A54254C56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848E9F91-07A2-5A45-84DE-04907D36A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86A876BD-815C-CC47-9D29-0E7960427727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FFB33A80-8A1E-644F-95F2-6B68D6E14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9EE0CF86-439A-8F4A-BD41-6D28F9C5A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881AD057-2C1F-234A-ACD6-DFAA9925494B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D1B290A4-C86A-8344-84D9-BF484AE84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CA32F9D3-07C2-6C43-854A-AE36B50C1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C9F0D912-7F53-4548-AEF0-8BF1D315C36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4A43DC37-251F-024C-9CFF-802642BAC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457F308C-8221-2E49-B40B-80F4A2D7A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29B8DAFA-ECB6-6542-9E61-2EC02917C4E7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93BBB277-7C60-964C-A018-3BC5D851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23D41DD3-B69B-0640-984B-28F56FCCC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CCAAEAF5-1861-B649-9322-3B67B733DA2B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9CB9AAA7-C8D2-734D-AC83-5B611EA9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F4FC017B-7D73-3C4D-831A-B3607A214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87E73981-DD34-7B48-868D-8EC0FEB62017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6DD215BD-21E5-6A47-B6B0-BD8F57802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1A726ADC-1933-5E47-B661-791BB3C99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35A0DF7F-0EE3-3140-8168-5D2F178E6437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0F4AA8C9-D655-504B-9AF1-A13A45003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D83AE3F3-5FA1-6A41-99E7-BEC3BA8EC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2AB6F957-4939-394F-A8D5-7267CD6C9950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A24B6615-B572-314D-9D00-7D3F8AC11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35BC61F1-74C5-D248-927B-7706F471E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CDA5C7FA-B33C-DD40-B460-1D9324EEB1BF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DA884496-A5FD-5D46-9D88-7B0AFFE7D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A60ECDF-1BCD-EF43-8F78-CAF2FBCE7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1636" name="Text Box 160">
            <a:extLst>
              <a:ext uri="{FF2B5EF4-FFF2-40B4-BE49-F238E27FC236}">
                <a16:creationId xmlns:a16="http://schemas.microsoft.com/office/drawing/2014/main" id="{4E11C692-DA87-B943-B639-FE7A24555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37" name="Text Box 161">
            <a:extLst>
              <a:ext uri="{FF2B5EF4-FFF2-40B4-BE49-F238E27FC236}">
                <a16:creationId xmlns:a16="http://schemas.microsoft.com/office/drawing/2014/main" id="{EA418550-B9F4-5041-8991-06481DE7C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38" name="Text Box 162">
            <a:extLst>
              <a:ext uri="{FF2B5EF4-FFF2-40B4-BE49-F238E27FC236}">
                <a16:creationId xmlns:a16="http://schemas.microsoft.com/office/drawing/2014/main" id="{B12067C5-4FAD-0B4B-8360-8236F9713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39" name="Text Box 163">
            <a:extLst>
              <a:ext uri="{FF2B5EF4-FFF2-40B4-BE49-F238E27FC236}">
                <a16:creationId xmlns:a16="http://schemas.microsoft.com/office/drawing/2014/main" id="{F52CCAC5-4C2C-C044-A13C-5B4855BBE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0" name="Text Box 164">
            <a:extLst>
              <a:ext uri="{FF2B5EF4-FFF2-40B4-BE49-F238E27FC236}">
                <a16:creationId xmlns:a16="http://schemas.microsoft.com/office/drawing/2014/main" id="{E9583622-0472-E843-8F40-A50A2420C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1" name="Text Box 165">
            <a:extLst>
              <a:ext uri="{FF2B5EF4-FFF2-40B4-BE49-F238E27FC236}">
                <a16:creationId xmlns:a16="http://schemas.microsoft.com/office/drawing/2014/main" id="{336B3DD1-E59B-6C44-8CAB-6F3FB1B06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2" name="Text Box 166">
            <a:extLst>
              <a:ext uri="{FF2B5EF4-FFF2-40B4-BE49-F238E27FC236}">
                <a16:creationId xmlns:a16="http://schemas.microsoft.com/office/drawing/2014/main" id="{D32C6DE2-6FE3-1241-9A9D-C89701CE8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3" name="Text Box 167">
            <a:extLst>
              <a:ext uri="{FF2B5EF4-FFF2-40B4-BE49-F238E27FC236}">
                <a16:creationId xmlns:a16="http://schemas.microsoft.com/office/drawing/2014/main" id="{AD418279-2D0A-E24B-ABFE-D1706E152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4" name="Text Box 168">
            <a:extLst>
              <a:ext uri="{FF2B5EF4-FFF2-40B4-BE49-F238E27FC236}">
                <a16:creationId xmlns:a16="http://schemas.microsoft.com/office/drawing/2014/main" id="{78B164C4-B96F-A041-B732-82C02C6B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5" name="Text Box 169">
            <a:extLst>
              <a:ext uri="{FF2B5EF4-FFF2-40B4-BE49-F238E27FC236}">
                <a16:creationId xmlns:a16="http://schemas.microsoft.com/office/drawing/2014/main" id="{68D53475-F9CE-8442-BD68-C403981C8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6" name="Text Box 170">
            <a:extLst>
              <a:ext uri="{FF2B5EF4-FFF2-40B4-BE49-F238E27FC236}">
                <a16:creationId xmlns:a16="http://schemas.microsoft.com/office/drawing/2014/main" id="{E5A34DC1-A5C0-9442-8110-4B3A993C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7" name="Text Box 171">
            <a:extLst>
              <a:ext uri="{FF2B5EF4-FFF2-40B4-BE49-F238E27FC236}">
                <a16:creationId xmlns:a16="http://schemas.microsoft.com/office/drawing/2014/main" id="{4F437276-B773-9146-92B3-43D3D061C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8" name="Text Box 172">
            <a:extLst>
              <a:ext uri="{FF2B5EF4-FFF2-40B4-BE49-F238E27FC236}">
                <a16:creationId xmlns:a16="http://schemas.microsoft.com/office/drawing/2014/main" id="{B19EFF2F-19D2-7343-8F0A-CD59120EA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9" name="Text Box 173">
            <a:extLst>
              <a:ext uri="{FF2B5EF4-FFF2-40B4-BE49-F238E27FC236}">
                <a16:creationId xmlns:a16="http://schemas.microsoft.com/office/drawing/2014/main" id="{5CC2CB51-2153-FE46-A8C1-196E61C88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0" name="Rectangle 176">
            <a:extLst>
              <a:ext uri="{FF2B5EF4-FFF2-40B4-BE49-F238E27FC236}">
                <a16:creationId xmlns:a16="http://schemas.microsoft.com/office/drawing/2014/main" id="{81CD0AFF-AD7D-154D-A2D7-F73DE7A89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7665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9900CC"/>
                </a:solidFill>
                <a:ea typeface="宋体" panose="02010600030101010101" pitchFamily="2" charset="-122"/>
              </a:rPr>
              <a:t>0x0D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		PA: </a:t>
            </a:r>
            <a:r>
              <a:rPr lang="en-US" altLang="zh-CN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zh-CN" altLang="en-US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en-US" altLang="zh-CN" sz="1667" u="sng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11651" name="Group 179">
            <a:extLst>
              <a:ext uri="{FF2B5EF4-FFF2-40B4-BE49-F238E27FC236}">
                <a16:creationId xmlns:a16="http://schemas.microsoft.com/office/drawing/2014/main" id="{EB4D13BA-DEF6-524D-860B-E454AD289B80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11672" name="Group 180">
              <a:extLst>
                <a:ext uri="{FF2B5EF4-FFF2-40B4-BE49-F238E27FC236}">
                  <a16:creationId xmlns:a16="http://schemas.microsoft.com/office/drawing/2014/main" id="{47CBA750-3747-8949-9D02-D225BAE1E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1706" name="Rectangle 181">
                <a:extLst>
                  <a:ext uri="{FF2B5EF4-FFF2-40B4-BE49-F238E27FC236}">
                    <a16:creationId xmlns:a16="http://schemas.microsoft.com/office/drawing/2014/main" id="{9EF63B05-F17E-164F-B207-1C3D5025B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7" name="Rectangle 182">
                <a:extLst>
                  <a:ext uri="{FF2B5EF4-FFF2-40B4-BE49-F238E27FC236}">
                    <a16:creationId xmlns:a16="http://schemas.microsoft.com/office/drawing/2014/main" id="{3A3B64EC-65AA-014B-8C2F-0F7E45B05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11673" name="Group 183">
              <a:extLst>
                <a:ext uri="{FF2B5EF4-FFF2-40B4-BE49-F238E27FC236}">
                  <a16:creationId xmlns:a16="http://schemas.microsoft.com/office/drawing/2014/main" id="{5CA53594-0056-854E-A2C7-6020C6D96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1704" name="Rectangle 184">
                <a:extLst>
                  <a:ext uri="{FF2B5EF4-FFF2-40B4-BE49-F238E27FC236}">
                    <a16:creationId xmlns:a16="http://schemas.microsoft.com/office/drawing/2014/main" id="{46B2246A-59E3-A445-8203-7A938345D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5" name="Rectangle 185">
                <a:extLst>
                  <a:ext uri="{FF2B5EF4-FFF2-40B4-BE49-F238E27FC236}">
                    <a16:creationId xmlns:a16="http://schemas.microsoft.com/office/drawing/2014/main" id="{E5059775-6A99-5D4A-A5D0-E6F7D908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11674" name="Group 186">
              <a:extLst>
                <a:ext uri="{FF2B5EF4-FFF2-40B4-BE49-F238E27FC236}">
                  <a16:creationId xmlns:a16="http://schemas.microsoft.com/office/drawing/2014/main" id="{B000F769-8FC5-A54E-8C5F-9285B2F810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1702" name="Rectangle 187">
                <a:extLst>
                  <a:ext uri="{FF2B5EF4-FFF2-40B4-BE49-F238E27FC236}">
                    <a16:creationId xmlns:a16="http://schemas.microsoft.com/office/drawing/2014/main" id="{4AAEADF4-04FF-0043-8370-DD87E51D1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3" name="Rectangle 188">
                <a:extLst>
                  <a:ext uri="{FF2B5EF4-FFF2-40B4-BE49-F238E27FC236}">
                    <a16:creationId xmlns:a16="http://schemas.microsoft.com/office/drawing/2014/main" id="{E46BB704-0933-D64B-82BD-84761EF2A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11675" name="Group 189">
              <a:extLst>
                <a:ext uri="{FF2B5EF4-FFF2-40B4-BE49-F238E27FC236}">
                  <a16:creationId xmlns:a16="http://schemas.microsoft.com/office/drawing/2014/main" id="{EA45B877-EAC1-5744-B00B-3DAE81C655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1700" name="Rectangle 190">
                <a:extLst>
                  <a:ext uri="{FF2B5EF4-FFF2-40B4-BE49-F238E27FC236}">
                    <a16:creationId xmlns:a16="http://schemas.microsoft.com/office/drawing/2014/main" id="{758E4C2F-C90C-1C42-9150-C68DBA22B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1" name="Rectangle 191">
                <a:extLst>
                  <a:ext uri="{FF2B5EF4-FFF2-40B4-BE49-F238E27FC236}">
                    <a16:creationId xmlns:a16="http://schemas.microsoft.com/office/drawing/2014/main" id="{FE34A481-8E32-1E4B-85FD-A913746D0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11676" name="Group 192">
              <a:extLst>
                <a:ext uri="{FF2B5EF4-FFF2-40B4-BE49-F238E27FC236}">
                  <a16:creationId xmlns:a16="http://schemas.microsoft.com/office/drawing/2014/main" id="{19EC4E65-B04A-6047-A84C-C5A9200D4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1698" name="Rectangle 193">
                <a:extLst>
                  <a:ext uri="{FF2B5EF4-FFF2-40B4-BE49-F238E27FC236}">
                    <a16:creationId xmlns:a16="http://schemas.microsoft.com/office/drawing/2014/main" id="{FB3B6A5A-0564-A04C-8223-D5942B3D3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9" name="Rectangle 194">
                <a:extLst>
                  <a:ext uri="{FF2B5EF4-FFF2-40B4-BE49-F238E27FC236}">
                    <a16:creationId xmlns:a16="http://schemas.microsoft.com/office/drawing/2014/main" id="{1FCC9EAE-DE85-CF48-8BFB-2CBBA7A39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11677" name="Group 195">
              <a:extLst>
                <a:ext uri="{FF2B5EF4-FFF2-40B4-BE49-F238E27FC236}">
                  <a16:creationId xmlns:a16="http://schemas.microsoft.com/office/drawing/2014/main" id="{81D83EA1-661E-FD47-9937-540C91289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1696" name="Rectangle 196">
                <a:extLst>
                  <a:ext uri="{FF2B5EF4-FFF2-40B4-BE49-F238E27FC236}">
                    <a16:creationId xmlns:a16="http://schemas.microsoft.com/office/drawing/2014/main" id="{F30EC319-7840-D04B-8D80-F021B2ACC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7" name="Rectangle 197">
                <a:extLst>
                  <a:ext uri="{FF2B5EF4-FFF2-40B4-BE49-F238E27FC236}">
                    <a16:creationId xmlns:a16="http://schemas.microsoft.com/office/drawing/2014/main" id="{734A9925-0BFA-104A-8B0D-376D73BCD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11678" name="Group 198">
              <a:extLst>
                <a:ext uri="{FF2B5EF4-FFF2-40B4-BE49-F238E27FC236}">
                  <a16:creationId xmlns:a16="http://schemas.microsoft.com/office/drawing/2014/main" id="{969427D9-159A-AD4A-82B4-5BF14A452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1694" name="Rectangle 199">
                <a:extLst>
                  <a:ext uri="{FF2B5EF4-FFF2-40B4-BE49-F238E27FC236}">
                    <a16:creationId xmlns:a16="http://schemas.microsoft.com/office/drawing/2014/main" id="{9242093A-1A23-5147-9C29-61AD2ED22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5" name="Rectangle 200">
                <a:extLst>
                  <a:ext uri="{FF2B5EF4-FFF2-40B4-BE49-F238E27FC236}">
                    <a16:creationId xmlns:a16="http://schemas.microsoft.com/office/drawing/2014/main" id="{CADF74D9-9B44-4443-91C3-EB2B7D8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11679" name="Group 201">
              <a:extLst>
                <a:ext uri="{FF2B5EF4-FFF2-40B4-BE49-F238E27FC236}">
                  <a16:creationId xmlns:a16="http://schemas.microsoft.com/office/drawing/2014/main" id="{70413C04-BEAA-1E4C-BC7B-D1CF27C72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1692" name="Rectangle 202">
                <a:extLst>
                  <a:ext uri="{FF2B5EF4-FFF2-40B4-BE49-F238E27FC236}">
                    <a16:creationId xmlns:a16="http://schemas.microsoft.com/office/drawing/2014/main" id="{CD8379AD-B208-A64E-ACCA-16906F322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3" name="Rectangle 203">
                <a:extLst>
                  <a:ext uri="{FF2B5EF4-FFF2-40B4-BE49-F238E27FC236}">
                    <a16:creationId xmlns:a16="http://schemas.microsoft.com/office/drawing/2014/main" id="{76A8C466-03E9-C842-A40C-E31C3DDAE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11680" name="Group 204">
              <a:extLst>
                <a:ext uri="{FF2B5EF4-FFF2-40B4-BE49-F238E27FC236}">
                  <a16:creationId xmlns:a16="http://schemas.microsoft.com/office/drawing/2014/main" id="{AD22021E-29AE-9D45-85EB-EB507E788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1690" name="Rectangle 205">
                <a:extLst>
                  <a:ext uri="{FF2B5EF4-FFF2-40B4-BE49-F238E27FC236}">
                    <a16:creationId xmlns:a16="http://schemas.microsoft.com/office/drawing/2014/main" id="{AA622DFE-FDEC-DD49-939A-08035B36C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1" name="Rectangle 206">
                <a:extLst>
                  <a:ext uri="{FF2B5EF4-FFF2-40B4-BE49-F238E27FC236}">
                    <a16:creationId xmlns:a16="http://schemas.microsoft.com/office/drawing/2014/main" id="{1822464F-8677-C641-8DAD-75FAF9235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11681" name="Group 207">
              <a:extLst>
                <a:ext uri="{FF2B5EF4-FFF2-40B4-BE49-F238E27FC236}">
                  <a16:creationId xmlns:a16="http://schemas.microsoft.com/office/drawing/2014/main" id="{E1C4873C-69FE-6E47-932A-FEAF614C5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1688" name="Rectangle 208">
                <a:extLst>
                  <a:ext uri="{FF2B5EF4-FFF2-40B4-BE49-F238E27FC236}">
                    <a16:creationId xmlns:a16="http://schemas.microsoft.com/office/drawing/2014/main" id="{B025B288-F92B-244D-931A-B17CC6BB4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9" name="Rectangle 209">
                <a:extLst>
                  <a:ext uri="{FF2B5EF4-FFF2-40B4-BE49-F238E27FC236}">
                    <a16:creationId xmlns:a16="http://schemas.microsoft.com/office/drawing/2014/main" id="{FB471B7B-F32B-1544-B600-04258EF5B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11682" name="Group 210">
              <a:extLst>
                <a:ext uri="{FF2B5EF4-FFF2-40B4-BE49-F238E27FC236}">
                  <a16:creationId xmlns:a16="http://schemas.microsoft.com/office/drawing/2014/main" id="{8D3F7131-BB29-564B-8223-314348BC9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1686" name="Rectangle 211">
                <a:extLst>
                  <a:ext uri="{FF2B5EF4-FFF2-40B4-BE49-F238E27FC236}">
                    <a16:creationId xmlns:a16="http://schemas.microsoft.com/office/drawing/2014/main" id="{CECD7664-569A-9B4F-9439-E060F05DD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7" name="Rectangle 212">
                <a:extLst>
                  <a:ext uri="{FF2B5EF4-FFF2-40B4-BE49-F238E27FC236}">
                    <a16:creationId xmlns:a16="http://schemas.microsoft.com/office/drawing/2014/main" id="{F1A077F6-C52B-9943-B4CD-A6D865CA3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1683" name="Group 213">
              <a:extLst>
                <a:ext uri="{FF2B5EF4-FFF2-40B4-BE49-F238E27FC236}">
                  <a16:creationId xmlns:a16="http://schemas.microsoft.com/office/drawing/2014/main" id="{E3948DBC-0D24-9E4C-9B3E-FF57FAC59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1684" name="Rectangle 214">
                <a:extLst>
                  <a:ext uri="{FF2B5EF4-FFF2-40B4-BE49-F238E27FC236}">
                    <a16:creationId xmlns:a16="http://schemas.microsoft.com/office/drawing/2014/main" id="{286AE7FD-3FFA-1441-8286-91454F0E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5" name="Rectangle 215">
                <a:extLst>
                  <a:ext uri="{FF2B5EF4-FFF2-40B4-BE49-F238E27FC236}">
                    <a16:creationId xmlns:a16="http://schemas.microsoft.com/office/drawing/2014/main" id="{BE6C82B3-7B56-3B4F-ABE4-C91D19F3A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11652" name="Group 216">
            <a:extLst>
              <a:ext uri="{FF2B5EF4-FFF2-40B4-BE49-F238E27FC236}">
                <a16:creationId xmlns:a16="http://schemas.microsoft.com/office/drawing/2014/main" id="{3D6A3D57-D578-C645-98D1-8536B754A8D9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11670" name="Line 217">
              <a:extLst>
                <a:ext uri="{FF2B5EF4-FFF2-40B4-BE49-F238E27FC236}">
                  <a16:creationId xmlns:a16="http://schemas.microsoft.com/office/drawing/2014/main" id="{AE787EB3-CD31-0D43-A493-DCE866F1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1671" name="Text Box 218">
              <a:extLst>
                <a:ext uri="{FF2B5EF4-FFF2-40B4-BE49-F238E27FC236}">
                  <a16:creationId xmlns:a16="http://schemas.microsoft.com/office/drawing/2014/main" id="{7B936F78-511D-8D46-B778-41A017D83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11653" name="Group 219">
            <a:extLst>
              <a:ext uri="{FF2B5EF4-FFF2-40B4-BE49-F238E27FC236}">
                <a16:creationId xmlns:a16="http://schemas.microsoft.com/office/drawing/2014/main" id="{A407A42F-CAF5-4C46-9E6E-44B8B57E3BFB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8448" cy="283104"/>
            <a:chOff x="3061" y="2261"/>
            <a:chExt cx="1842" cy="214"/>
          </a:xfrm>
        </p:grpSpPr>
        <p:sp>
          <p:nvSpPr>
            <p:cNvPr id="111668" name="Line 220">
              <a:extLst>
                <a:ext uri="{FF2B5EF4-FFF2-40B4-BE49-F238E27FC236}">
                  <a16:creationId xmlns:a16="http://schemas.microsoft.com/office/drawing/2014/main" id="{0DF312F1-6E58-C145-8A45-4A322716F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1669" name="Text Box 221">
              <a:extLst>
                <a:ext uri="{FF2B5EF4-FFF2-40B4-BE49-F238E27FC236}">
                  <a16:creationId xmlns:a16="http://schemas.microsoft.com/office/drawing/2014/main" id="{042AC242-5944-F84C-8BEE-67E380CE8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sp>
        <p:nvSpPr>
          <p:cNvPr id="111654" name="Text Box 231">
            <a:extLst>
              <a:ext uri="{FF2B5EF4-FFF2-40B4-BE49-F238E27FC236}">
                <a16:creationId xmlns:a16="http://schemas.microsoft.com/office/drawing/2014/main" id="{0B67029B-0F08-EA4C-8ADA-5C3B7842B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5" name="Text Box 232">
            <a:extLst>
              <a:ext uri="{FF2B5EF4-FFF2-40B4-BE49-F238E27FC236}">
                <a16:creationId xmlns:a16="http://schemas.microsoft.com/office/drawing/2014/main" id="{55CB0E9B-283B-A348-BED6-0CA4E3089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6" name="Text Box 233">
            <a:extLst>
              <a:ext uri="{FF2B5EF4-FFF2-40B4-BE49-F238E27FC236}">
                <a16:creationId xmlns:a16="http://schemas.microsoft.com/office/drawing/2014/main" id="{71964B9F-3C97-CB47-AE90-9861E59CE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57" name="Text Box 234">
            <a:extLst>
              <a:ext uri="{FF2B5EF4-FFF2-40B4-BE49-F238E27FC236}">
                <a16:creationId xmlns:a16="http://schemas.microsoft.com/office/drawing/2014/main" id="{F7275EC9-4E65-FD49-AF37-CD036F7D9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8" name="Text Box 235">
            <a:extLst>
              <a:ext uri="{FF2B5EF4-FFF2-40B4-BE49-F238E27FC236}">
                <a16:creationId xmlns:a16="http://schemas.microsoft.com/office/drawing/2014/main" id="{9BC26E0D-C48E-1B4C-9D8A-54024C5B2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59" name="Text Box 236">
            <a:extLst>
              <a:ext uri="{FF2B5EF4-FFF2-40B4-BE49-F238E27FC236}">
                <a16:creationId xmlns:a16="http://schemas.microsoft.com/office/drawing/2014/main" id="{09E79B8D-1FC6-8441-9DE1-4760DCF96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0" name="Text Box 237">
            <a:extLst>
              <a:ext uri="{FF2B5EF4-FFF2-40B4-BE49-F238E27FC236}">
                <a16:creationId xmlns:a16="http://schemas.microsoft.com/office/drawing/2014/main" id="{257DF271-7116-C842-A431-D56FF9C6E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1" name="Text Box 238">
            <a:extLst>
              <a:ext uri="{FF2B5EF4-FFF2-40B4-BE49-F238E27FC236}">
                <a16:creationId xmlns:a16="http://schemas.microsoft.com/office/drawing/2014/main" id="{9BD9BBD0-7652-764A-B95E-070C72D9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2" name="Text Box 239">
            <a:extLst>
              <a:ext uri="{FF2B5EF4-FFF2-40B4-BE49-F238E27FC236}">
                <a16:creationId xmlns:a16="http://schemas.microsoft.com/office/drawing/2014/main" id="{333E9931-843A-2342-B500-638B7BEBF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3" name="Text Box 240">
            <a:extLst>
              <a:ext uri="{FF2B5EF4-FFF2-40B4-BE49-F238E27FC236}">
                <a16:creationId xmlns:a16="http://schemas.microsoft.com/office/drawing/2014/main" id="{670E2576-E0C7-634A-98A5-FD89D871B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4" name="Text Box 241">
            <a:extLst>
              <a:ext uri="{FF2B5EF4-FFF2-40B4-BE49-F238E27FC236}">
                <a16:creationId xmlns:a16="http://schemas.microsoft.com/office/drawing/2014/main" id="{15F180A7-2AE9-5D48-BC0A-01086749F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5" name="Text Box 242">
            <a:extLst>
              <a:ext uri="{FF2B5EF4-FFF2-40B4-BE49-F238E27FC236}">
                <a16:creationId xmlns:a16="http://schemas.microsoft.com/office/drawing/2014/main" id="{F1B07AE5-FCC5-A748-9040-C41F78D58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111666" name="Straight Connector 2">
            <a:extLst>
              <a:ext uri="{FF2B5EF4-FFF2-40B4-BE49-F238E27FC236}">
                <a16:creationId xmlns:a16="http://schemas.microsoft.com/office/drawing/2014/main" id="{4382C5E0-DDF7-7C49-A6D3-BEB9B0A98D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667" name="Rectangle 175">
            <a:extLst>
              <a:ext uri="{FF2B5EF4-FFF2-40B4-BE49-F238E27FC236}">
                <a16:creationId xmlns:a16="http://schemas.microsoft.com/office/drawing/2014/main" id="{F6B7F5F4-DC4D-F847-BB8D-8B90E102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  	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No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13D3827-F7F2-B83F-2B74-899C8F19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845081"/>
              </p:ext>
            </p:extLst>
          </p:nvPr>
        </p:nvGraphicFramePr>
        <p:xfrm>
          <a:off x="7181254" y="120392"/>
          <a:ext cx="1847837" cy="1751536"/>
        </p:xfrm>
        <a:graphic>
          <a:graphicData uri="http://schemas.openxmlformats.org/drawingml/2006/table">
            <a:tbl>
              <a:tblPr/>
              <a:tblGrid>
                <a:gridCol w="50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08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46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0A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0B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0C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0E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0F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336541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>
            <a:extLst>
              <a:ext uri="{FF2B5EF4-FFF2-40B4-BE49-F238E27FC236}">
                <a16:creationId xmlns:a16="http://schemas.microsoft.com/office/drawing/2014/main" id="{4613049A-1D29-FC49-9E7E-BA36AED2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7BC30B59-FE4A-9C4D-B291-0CD83C3BBBB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18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B23F68C9-4DC9-8D43-9D7D-9FAE0C300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3667" name="Rectangle 102">
            <a:extLst>
              <a:ext uri="{FF2B5EF4-FFF2-40B4-BE49-F238E27FC236}">
                <a16:creationId xmlns:a16="http://schemas.microsoft.com/office/drawing/2014/main" id="{D6746052-FE86-FD40-A111-78E1A304A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1713C94D-08E9-984D-9A29-5DB2E42AAE0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5F3D8124-46F7-8D4A-A5E7-1F7DEBD3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058C8637-1A76-9145-AC64-3EB22B2A0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8F2656FE-F700-BD44-A09E-4AA7A34984DC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24FA5B39-FD0D-E043-AAAE-B809830F9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15A050FB-6C4B-A945-ACE3-87059B341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A166EBBF-4B76-3347-8E6E-F63A8AB8BCE6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9C8CA7F5-5BEB-5B4D-BE33-C30B00573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34A50C7F-8054-CF4D-AFDF-84009DDFB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705AAD0D-FC8B-D545-A124-ED8BA81C8337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4D6BD42C-7960-854C-8002-8BDA082B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F8DD255-F921-B24A-8F62-A2980394E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94889E3B-AC61-9340-A44E-794573A6472F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BD23B1AD-BAFF-7944-A7FE-453AEA15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48D59F1B-7F1A-4348-AF1C-2C656B096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66E8551C-8491-E74A-92A0-AB932CCD7EC9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7DBA4A73-B9D2-414E-BE92-C2F33B3A8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9ED10334-DEBE-D743-AB53-7C5544599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440E19DC-73D1-FB47-811E-2AA3C46BEDCD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56F08645-9FB7-E249-A624-C5AE4CA36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464D9969-2B22-D949-8AC6-42C2E4400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8C1F275-B16F-0F49-BBF1-E8B816A71CF6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6894ABC3-562F-5448-BD0B-2B2A16846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7DBF4188-F276-8047-9CC4-19E7E3EA4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86310639-56A8-274D-95CC-247CA9F5DA6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3220663-1B21-A949-AB54-440B92C24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CC26B8B6-D7DC-ED4E-A796-387DA7927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57E496FF-ABA6-C34A-B6BE-4704011E65B0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945C395A-FBAB-DA46-A686-4FCFD7B3F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B61B879E-6F9A-ED41-8C4E-97153F1EA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6DD5930C-7821-EC42-87CF-69E1CBDB389B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4BAEDF55-ACD9-7846-AEE3-6E10C934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EFA5A750-8111-1745-A614-E3FD9134A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EB2F30F-B417-CD49-B0FA-137946F67019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30D64318-7ADB-2C47-909D-EA5B2993F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112DCA54-4D27-4B46-A84C-4874ADBB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52A51E06-0696-5A47-AA24-DEAF40BF5FBE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4C18217A-C354-E341-98B6-35B33D77A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152D9383-61B1-6947-9887-9BE792677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4E4C44A0-F151-ED40-A8DA-D48CB830A7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D0808F13-0888-E348-B7B8-34326D8F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33DDFA55-C952-7448-9897-8A3463255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08B6114E-31F0-B44E-BEFF-C4087843056B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E4BF37A3-FECD-D344-8E0E-DDDEF1DD3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23343313-BE20-7240-8042-76F7951E3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3D5605C-1241-2148-9C2A-1434604F2AF1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2F45C543-4DEC-E24C-AE51-157859340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63869773-4B59-4B4F-AB91-79FF1C1A2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3684" name="Text Box 160">
            <a:extLst>
              <a:ext uri="{FF2B5EF4-FFF2-40B4-BE49-F238E27FC236}">
                <a16:creationId xmlns:a16="http://schemas.microsoft.com/office/drawing/2014/main" id="{F46F5BAD-9FF5-4F40-9FD5-8F547A0B4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5" name="Text Box 161">
            <a:extLst>
              <a:ext uri="{FF2B5EF4-FFF2-40B4-BE49-F238E27FC236}">
                <a16:creationId xmlns:a16="http://schemas.microsoft.com/office/drawing/2014/main" id="{E1294457-75DD-2246-82AC-0F27AFA78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6" name="Text Box 162">
            <a:extLst>
              <a:ext uri="{FF2B5EF4-FFF2-40B4-BE49-F238E27FC236}">
                <a16:creationId xmlns:a16="http://schemas.microsoft.com/office/drawing/2014/main" id="{5F51850D-7A23-FC4B-9314-884B1F108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87" name="Text Box 163">
            <a:extLst>
              <a:ext uri="{FF2B5EF4-FFF2-40B4-BE49-F238E27FC236}">
                <a16:creationId xmlns:a16="http://schemas.microsoft.com/office/drawing/2014/main" id="{D992C225-255E-7548-A498-32C2F11F6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8" name="Text Box 164">
            <a:extLst>
              <a:ext uri="{FF2B5EF4-FFF2-40B4-BE49-F238E27FC236}">
                <a16:creationId xmlns:a16="http://schemas.microsoft.com/office/drawing/2014/main" id="{7A5000AE-69E8-6842-AB6B-93DC902D8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89" name="Text Box 165">
            <a:extLst>
              <a:ext uri="{FF2B5EF4-FFF2-40B4-BE49-F238E27FC236}">
                <a16:creationId xmlns:a16="http://schemas.microsoft.com/office/drawing/2014/main" id="{68917616-D71B-C74A-B87F-376450545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0" name="Text Box 166">
            <a:extLst>
              <a:ext uri="{FF2B5EF4-FFF2-40B4-BE49-F238E27FC236}">
                <a16:creationId xmlns:a16="http://schemas.microsoft.com/office/drawing/2014/main" id="{1F9D9E90-A640-C84F-84D2-8C9D55DBC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1" name="Text Box 167">
            <a:extLst>
              <a:ext uri="{FF2B5EF4-FFF2-40B4-BE49-F238E27FC236}">
                <a16:creationId xmlns:a16="http://schemas.microsoft.com/office/drawing/2014/main" id="{3ED8C647-026B-E24F-B217-0AF17F0AC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2" name="Text Box 168">
            <a:extLst>
              <a:ext uri="{FF2B5EF4-FFF2-40B4-BE49-F238E27FC236}">
                <a16:creationId xmlns:a16="http://schemas.microsoft.com/office/drawing/2014/main" id="{0D4942A7-04DE-0B45-A997-1300DC527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3" name="Text Box 169">
            <a:extLst>
              <a:ext uri="{FF2B5EF4-FFF2-40B4-BE49-F238E27FC236}">
                <a16:creationId xmlns:a16="http://schemas.microsoft.com/office/drawing/2014/main" id="{19287E12-4182-F047-AFBB-8303A8637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4" name="Text Box 170">
            <a:extLst>
              <a:ext uri="{FF2B5EF4-FFF2-40B4-BE49-F238E27FC236}">
                <a16:creationId xmlns:a16="http://schemas.microsoft.com/office/drawing/2014/main" id="{79679DF8-D2C0-2149-8779-297573C63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5" name="Text Box 171">
            <a:extLst>
              <a:ext uri="{FF2B5EF4-FFF2-40B4-BE49-F238E27FC236}">
                <a16:creationId xmlns:a16="http://schemas.microsoft.com/office/drawing/2014/main" id="{1A3099A2-4886-A946-B26A-91FD81E68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6" name="Text Box 172">
            <a:extLst>
              <a:ext uri="{FF2B5EF4-FFF2-40B4-BE49-F238E27FC236}">
                <a16:creationId xmlns:a16="http://schemas.microsoft.com/office/drawing/2014/main" id="{FB4C9982-2250-F24A-B4E5-291581003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7" name="Text Box 173">
            <a:extLst>
              <a:ext uri="{FF2B5EF4-FFF2-40B4-BE49-F238E27FC236}">
                <a16:creationId xmlns:a16="http://schemas.microsoft.com/office/drawing/2014/main" id="{CF3EDCD1-B86B-AC43-BC6F-8BF82157D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8" name="Rectangle 176">
            <a:extLst>
              <a:ext uri="{FF2B5EF4-FFF2-40B4-BE49-F238E27FC236}">
                <a16:creationId xmlns:a16="http://schemas.microsoft.com/office/drawing/2014/main" id="{E0C991A7-3B97-9248-A871-A5BEB5400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5073825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>
                <a:solidFill>
                  <a:srgbClr val="9900CC"/>
                </a:solidFill>
                <a:ea typeface="宋体" panose="02010600030101010101" pitchFamily="2" charset="-122"/>
              </a:rPr>
              <a:t>0x0D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VPO: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      		PA: </a:t>
            </a:r>
            <a:r>
              <a:rPr lang="en-US" altLang="zh-CN" sz="1667" u="sng">
                <a:solidFill>
                  <a:srgbClr val="000000"/>
                </a:solidFill>
                <a:ea typeface="宋体" panose="02010600030101010101" pitchFamily="2" charset="-122"/>
              </a:rPr>
              <a:t>0x</a:t>
            </a:r>
            <a:r>
              <a:rPr lang="en-US" altLang="zh-CN" sz="1667" u="sng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 u="sng">
                <a:solidFill>
                  <a:srgbClr val="FFC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667" u="sng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113699" name="Group 179">
            <a:extLst>
              <a:ext uri="{FF2B5EF4-FFF2-40B4-BE49-F238E27FC236}">
                <a16:creationId xmlns:a16="http://schemas.microsoft.com/office/drawing/2014/main" id="{98E74AC9-7046-654C-95C0-BCA64AEE35A9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13720" name="Group 180">
              <a:extLst>
                <a:ext uri="{FF2B5EF4-FFF2-40B4-BE49-F238E27FC236}">
                  <a16:creationId xmlns:a16="http://schemas.microsoft.com/office/drawing/2014/main" id="{3AFCA918-427F-C249-A33A-91F7852D2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3754" name="Rectangle 181">
                <a:extLst>
                  <a:ext uri="{FF2B5EF4-FFF2-40B4-BE49-F238E27FC236}">
                    <a16:creationId xmlns:a16="http://schemas.microsoft.com/office/drawing/2014/main" id="{085F514D-72C1-0E42-8FC9-95853DAA1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5" name="Rectangle 182">
                <a:extLst>
                  <a:ext uri="{FF2B5EF4-FFF2-40B4-BE49-F238E27FC236}">
                    <a16:creationId xmlns:a16="http://schemas.microsoft.com/office/drawing/2014/main" id="{5637B1CC-B905-F142-850E-86782D1C8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13721" name="Group 183">
              <a:extLst>
                <a:ext uri="{FF2B5EF4-FFF2-40B4-BE49-F238E27FC236}">
                  <a16:creationId xmlns:a16="http://schemas.microsoft.com/office/drawing/2014/main" id="{1F2794C4-64BA-6547-A685-E434A1BEF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3752" name="Rectangle 184">
                <a:extLst>
                  <a:ext uri="{FF2B5EF4-FFF2-40B4-BE49-F238E27FC236}">
                    <a16:creationId xmlns:a16="http://schemas.microsoft.com/office/drawing/2014/main" id="{14CD3477-B06E-434D-818E-AF5D8FB0A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3" name="Rectangle 185">
                <a:extLst>
                  <a:ext uri="{FF2B5EF4-FFF2-40B4-BE49-F238E27FC236}">
                    <a16:creationId xmlns:a16="http://schemas.microsoft.com/office/drawing/2014/main" id="{E3F19971-2345-CD45-9F7B-B8BAB5247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13722" name="Group 186">
              <a:extLst>
                <a:ext uri="{FF2B5EF4-FFF2-40B4-BE49-F238E27FC236}">
                  <a16:creationId xmlns:a16="http://schemas.microsoft.com/office/drawing/2014/main" id="{FAC03D0A-7468-4D41-AA98-5E7B46DB79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3750" name="Rectangle 187">
                <a:extLst>
                  <a:ext uri="{FF2B5EF4-FFF2-40B4-BE49-F238E27FC236}">
                    <a16:creationId xmlns:a16="http://schemas.microsoft.com/office/drawing/2014/main" id="{9852EEFF-A3AD-1C40-8557-979A249FA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1" name="Rectangle 188">
                <a:extLst>
                  <a:ext uri="{FF2B5EF4-FFF2-40B4-BE49-F238E27FC236}">
                    <a16:creationId xmlns:a16="http://schemas.microsoft.com/office/drawing/2014/main" id="{9BE13AB8-27B8-8A43-B01F-E93A06EFE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13723" name="Group 189">
              <a:extLst>
                <a:ext uri="{FF2B5EF4-FFF2-40B4-BE49-F238E27FC236}">
                  <a16:creationId xmlns:a16="http://schemas.microsoft.com/office/drawing/2014/main" id="{EAA5B09E-1966-BE45-AF92-3FA025138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3748" name="Rectangle 190">
                <a:extLst>
                  <a:ext uri="{FF2B5EF4-FFF2-40B4-BE49-F238E27FC236}">
                    <a16:creationId xmlns:a16="http://schemas.microsoft.com/office/drawing/2014/main" id="{39A13826-EC55-F048-8111-8940366A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9" name="Rectangle 191">
                <a:extLst>
                  <a:ext uri="{FF2B5EF4-FFF2-40B4-BE49-F238E27FC236}">
                    <a16:creationId xmlns:a16="http://schemas.microsoft.com/office/drawing/2014/main" id="{9F403E4F-C911-0342-97C6-A64AAD4D6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13724" name="Group 192">
              <a:extLst>
                <a:ext uri="{FF2B5EF4-FFF2-40B4-BE49-F238E27FC236}">
                  <a16:creationId xmlns:a16="http://schemas.microsoft.com/office/drawing/2014/main" id="{CC6BAB63-74BE-CE4A-B971-D129441D4A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3746" name="Rectangle 193">
                <a:extLst>
                  <a:ext uri="{FF2B5EF4-FFF2-40B4-BE49-F238E27FC236}">
                    <a16:creationId xmlns:a16="http://schemas.microsoft.com/office/drawing/2014/main" id="{CAEBC6CC-C5F2-C84E-9780-06C3609C4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7" name="Rectangle 194">
                <a:extLst>
                  <a:ext uri="{FF2B5EF4-FFF2-40B4-BE49-F238E27FC236}">
                    <a16:creationId xmlns:a16="http://schemas.microsoft.com/office/drawing/2014/main" id="{F07D19DB-D8BA-C349-B724-205366B24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13725" name="Group 195">
              <a:extLst>
                <a:ext uri="{FF2B5EF4-FFF2-40B4-BE49-F238E27FC236}">
                  <a16:creationId xmlns:a16="http://schemas.microsoft.com/office/drawing/2014/main" id="{34247151-7C8C-E740-A8E2-A306F3D19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3744" name="Rectangle 196">
                <a:extLst>
                  <a:ext uri="{FF2B5EF4-FFF2-40B4-BE49-F238E27FC236}">
                    <a16:creationId xmlns:a16="http://schemas.microsoft.com/office/drawing/2014/main" id="{4B6A7A2E-E3F8-5045-8B74-64354866A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5" name="Rectangle 197">
                <a:extLst>
                  <a:ext uri="{FF2B5EF4-FFF2-40B4-BE49-F238E27FC236}">
                    <a16:creationId xmlns:a16="http://schemas.microsoft.com/office/drawing/2014/main" id="{FE1DDBEA-E150-F84E-B900-6683281CE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13726" name="Group 198">
              <a:extLst>
                <a:ext uri="{FF2B5EF4-FFF2-40B4-BE49-F238E27FC236}">
                  <a16:creationId xmlns:a16="http://schemas.microsoft.com/office/drawing/2014/main" id="{92F6FD17-01F0-BC47-B93D-CF708AA39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3742" name="Rectangle 199">
                <a:extLst>
                  <a:ext uri="{FF2B5EF4-FFF2-40B4-BE49-F238E27FC236}">
                    <a16:creationId xmlns:a16="http://schemas.microsoft.com/office/drawing/2014/main" id="{3AE6340D-CD6B-3E48-A9C7-56C3190F9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3" name="Rectangle 200">
                <a:extLst>
                  <a:ext uri="{FF2B5EF4-FFF2-40B4-BE49-F238E27FC236}">
                    <a16:creationId xmlns:a16="http://schemas.microsoft.com/office/drawing/2014/main" id="{1FD4BDA0-D29E-2B47-8CA1-B819F6446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13727" name="Group 201">
              <a:extLst>
                <a:ext uri="{FF2B5EF4-FFF2-40B4-BE49-F238E27FC236}">
                  <a16:creationId xmlns:a16="http://schemas.microsoft.com/office/drawing/2014/main" id="{0D38D26B-D312-1148-BBD9-312184A745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3740" name="Rectangle 202">
                <a:extLst>
                  <a:ext uri="{FF2B5EF4-FFF2-40B4-BE49-F238E27FC236}">
                    <a16:creationId xmlns:a16="http://schemas.microsoft.com/office/drawing/2014/main" id="{3AD979C9-36E0-1148-853B-E86BEF40B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1" name="Rectangle 203">
                <a:extLst>
                  <a:ext uri="{FF2B5EF4-FFF2-40B4-BE49-F238E27FC236}">
                    <a16:creationId xmlns:a16="http://schemas.microsoft.com/office/drawing/2014/main" id="{9D55AC1F-168E-004A-B256-B1B715574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13728" name="Group 204">
              <a:extLst>
                <a:ext uri="{FF2B5EF4-FFF2-40B4-BE49-F238E27FC236}">
                  <a16:creationId xmlns:a16="http://schemas.microsoft.com/office/drawing/2014/main" id="{673B496F-0E9F-BE41-9F80-18CCECF557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3738" name="Rectangle 205">
                <a:extLst>
                  <a:ext uri="{FF2B5EF4-FFF2-40B4-BE49-F238E27FC236}">
                    <a16:creationId xmlns:a16="http://schemas.microsoft.com/office/drawing/2014/main" id="{49CE970F-E978-A44B-851E-FFE501DC7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9" name="Rectangle 206">
                <a:extLst>
                  <a:ext uri="{FF2B5EF4-FFF2-40B4-BE49-F238E27FC236}">
                    <a16:creationId xmlns:a16="http://schemas.microsoft.com/office/drawing/2014/main" id="{08153BAA-D88E-3640-BF7D-5CDED7623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13729" name="Group 207">
              <a:extLst>
                <a:ext uri="{FF2B5EF4-FFF2-40B4-BE49-F238E27FC236}">
                  <a16:creationId xmlns:a16="http://schemas.microsoft.com/office/drawing/2014/main" id="{8F088144-94AF-9E4D-9F0F-2F701EC91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3736" name="Rectangle 208">
                <a:extLst>
                  <a:ext uri="{FF2B5EF4-FFF2-40B4-BE49-F238E27FC236}">
                    <a16:creationId xmlns:a16="http://schemas.microsoft.com/office/drawing/2014/main" id="{C952C21E-CED3-3746-A2FB-CCBC6F1BB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7" name="Rectangle 209">
                <a:extLst>
                  <a:ext uri="{FF2B5EF4-FFF2-40B4-BE49-F238E27FC236}">
                    <a16:creationId xmlns:a16="http://schemas.microsoft.com/office/drawing/2014/main" id="{42BFEFD2-81BF-604D-AAC5-6CAD10066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13730" name="Group 210">
              <a:extLst>
                <a:ext uri="{FF2B5EF4-FFF2-40B4-BE49-F238E27FC236}">
                  <a16:creationId xmlns:a16="http://schemas.microsoft.com/office/drawing/2014/main" id="{3186E2AE-616F-F04A-AC3A-006EB94A7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3734" name="Rectangle 211">
                <a:extLst>
                  <a:ext uri="{FF2B5EF4-FFF2-40B4-BE49-F238E27FC236}">
                    <a16:creationId xmlns:a16="http://schemas.microsoft.com/office/drawing/2014/main" id="{F3F53D9A-7378-8B43-8DC3-F17E976D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5" name="Rectangle 212">
                <a:extLst>
                  <a:ext uri="{FF2B5EF4-FFF2-40B4-BE49-F238E27FC236}">
                    <a16:creationId xmlns:a16="http://schemas.microsoft.com/office/drawing/2014/main" id="{9704182D-9458-9842-A32D-D7B2225B7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3731" name="Group 213">
              <a:extLst>
                <a:ext uri="{FF2B5EF4-FFF2-40B4-BE49-F238E27FC236}">
                  <a16:creationId xmlns:a16="http://schemas.microsoft.com/office/drawing/2014/main" id="{A9965828-263A-B44E-A7D3-A9FE0B187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3732" name="Rectangle 214">
                <a:extLst>
                  <a:ext uri="{FF2B5EF4-FFF2-40B4-BE49-F238E27FC236}">
                    <a16:creationId xmlns:a16="http://schemas.microsoft.com/office/drawing/2014/main" id="{D0C82C29-76A7-B646-BA45-90A5551B5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3" name="Rectangle 215">
                <a:extLst>
                  <a:ext uri="{FF2B5EF4-FFF2-40B4-BE49-F238E27FC236}">
                    <a16:creationId xmlns:a16="http://schemas.microsoft.com/office/drawing/2014/main" id="{E7AD114A-D586-C248-9A91-7A3A04684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13700" name="Group 216">
            <a:extLst>
              <a:ext uri="{FF2B5EF4-FFF2-40B4-BE49-F238E27FC236}">
                <a16:creationId xmlns:a16="http://schemas.microsoft.com/office/drawing/2014/main" id="{BB6B77EE-9951-2E47-966F-5822096E04D6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13718" name="Line 217">
              <a:extLst>
                <a:ext uri="{FF2B5EF4-FFF2-40B4-BE49-F238E27FC236}">
                  <a16:creationId xmlns:a16="http://schemas.microsoft.com/office/drawing/2014/main" id="{9C721F70-CEFF-C541-9EF3-BEC3CB2F3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3719" name="Text Box 218">
              <a:extLst>
                <a:ext uri="{FF2B5EF4-FFF2-40B4-BE49-F238E27FC236}">
                  <a16:creationId xmlns:a16="http://schemas.microsoft.com/office/drawing/2014/main" id="{835CB132-899C-0B4B-A923-EA976CB0F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13701" name="Group 219">
            <a:extLst>
              <a:ext uri="{FF2B5EF4-FFF2-40B4-BE49-F238E27FC236}">
                <a16:creationId xmlns:a16="http://schemas.microsoft.com/office/drawing/2014/main" id="{3B34C9BD-A927-4042-89BE-D12F85EE7DF7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13716" name="Line 220">
              <a:extLst>
                <a:ext uri="{FF2B5EF4-FFF2-40B4-BE49-F238E27FC236}">
                  <a16:creationId xmlns:a16="http://schemas.microsoft.com/office/drawing/2014/main" id="{C4383E03-2AE2-2F4B-8C70-53F19F4B4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3717" name="Text Box 221">
              <a:extLst>
                <a:ext uri="{FF2B5EF4-FFF2-40B4-BE49-F238E27FC236}">
                  <a16:creationId xmlns:a16="http://schemas.microsoft.com/office/drawing/2014/main" id="{DD821F85-7A96-9444-B6E6-831FD72C2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sp>
        <p:nvSpPr>
          <p:cNvPr id="113702" name="Text Box 231">
            <a:extLst>
              <a:ext uri="{FF2B5EF4-FFF2-40B4-BE49-F238E27FC236}">
                <a16:creationId xmlns:a16="http://schemas.microsoft.com/office/drawing/2014/main" id="{0B563686-0B2D-8940-9201-E5A70517E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3" name="Text Box 232">
            <a:extLst>
              <a:ext uri="{FF2B5EF4-FFF2-40B4-BE49-F238E27FC236}">
                <a16:creationId xmlns:a16="http://schemas.microsoft.com/office/drawing/2014/main" id="{ABC82C6B-F835-AB4E-9E23-ADA4EE41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4" name="Text Box 233">
            <a:extLst>
              <a:ext uri="{FF2B5EF4-FFF2-40B4-BE49-F238E27FC236}">
                <a16:creationId xmlns:a16="http://schemas.microsoft.com/office/drawing/2014/main" id="{013884EE-21F1-2F41-9707-068F937F7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5" name="Text Box 234">
            <a:extLst>
              <a:ext uri="{FF2B5EF4-FFF2-40B4-BE49-F238E27FC236}">
                <a16:creationId xmlns:a16="http://schemas.microsoft.com/office/drawing/2014/main" id="{B0DF6F88-5E8B-1B4C-9194-7FDA2F4DE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6" name="Text Box 235">
            <a:extLst>
              <a:ext uri="{FF2B5EF4-FFF2-40B4-BE49-F238E27FC236}">
                <a16:creationId xmlns:a16="http://schemas.microsoft.com/office/drawing/2014/main" id="{B3D46C03-2152-6344-A80F-75AA6AA6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7" name="Text Box 236">
            <a:extLst>
              <a:ext uri="{FF2B5EF4-FFF2-40B4-BE49-F238E27FC236}">
                <a16:creationId xmlns:a16="http://schemas.microsoft.com/office/drawing/2014/main" id="{9C0CB5F0-7B58-FD4E-B424-3F40EEE57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8" name="Text Box 237">
            <a:extLst>
              <a:ext uri="{FF2B5EF4-FFF2-40B4-BE49-F238E27FC236}">
                <a16:creationId xmlns:a16="http://schemas.microsoft.com/office/drawing/2014/main" id="{46025797-6CF4-C841-83CF-99C413B1F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9" name="Text Box 238">
            <a:extLst>
              <a:ext uri="{FF2B5EF4-FFF2-40B4-BE49-F238E27FC236}">
                <a16:creationId xmlns:a16="http://schemas.microsoft.com/office/drawing/2014/main" id="{D94EEFDA-21A7-784A-B695-D06D9DAE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10" name="Text Box 239">
            <a:extLst>
              <a:ext uri="{FF2B5EF4-FFF2-40B4-BE49-F238E27FC236}">
                <a16:creationId xmlns:a16="http://schemas.microsoft.com/office/drawing/2014/main" id="{51A3EB00-9516-F349-9DE5-1BB42482E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11" name="Text Box 240">
            <a:extLst>
              <a:ext uri="{FF2B5EF4-FFF2-40B4-BE49-F238E27FC236}">
                <a16:creationId xmlns:a16="http://schemas.microsoft.com/office/drawing/2014/main" id="{25EFC17C-E035-294C-BC8E-C3D9443B5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12" name="Text Box 241">
            <a:extLst>
              <a:ext uri="{FF2B5EF4-FFF2-40B4-BE49-F238E27FC236}">
                <a16:creationId xmlns:a16="http://schemas.microsoft.com/office/drawing/2014/main" id="{61F3FF4D-B89F-CF4B-B4D5-2E3116024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13" name="Text Box 242">
            <a:extLst>
              <a:ext uri="{FF2B5EF4-FFF2-40B4-BE49-F238E27FC236}">
                <a16:creationId xmlns:a16="http://schemas.microsoft.com/office/drawing/2014/main" id="{17D0CECD-2826-914A-A0F4-01B58911B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113714" name="Straight Connector 2">
            <a:extLst>
              <a:ext uri="{FF2B5EF4-FFF2-40B4-BE49-F238E27FC236}">
                <a16:creationId xmlns:a16="http://schemas.microsoft.com/office/drawing/2014/main" id="{3802DE4F-2B4A-E440-93E6-82C018A144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715" name="Rectangle 175">
            <a:extLst>
              <a:ext uri="{FF2B5EF4-FFF2-40B4-BE49-F238E27FC236}">
                <a16:creationId xmlns:a16="http://schemas.microsoft.com/office/drawing/2014/main" id="{396A42ED-16F0-C540-8C93-F7C163D4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  	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No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41159872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多级页表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3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E9AEE-E24C-1246-AFCD-CDEBAFE1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单级页表的问题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67A95-305E-CF42-B395-6143D7453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如果使用上述单级页表结构，那么页表本身有多大呢？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位的地址空间，页大小为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，页表项为</a:t>
            </a:r>
            <a:r>
              <a:rPr kumimoji="1" lang="en-US" altLang="zh-CN" dirty="0"/>
              <a:t>4</a:t>
            </a:r>
            <a:r>
              <a:rPr kumimoji="1" lang="zh-CN" altLang="en-US" dirty="0"/>
              <a:t>字节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位的地址空间，页大小为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，页表项为</a:t>
            </a:r>
            <a:r>
              <a:rPr kumimoji="1" lang="en-US" altLang="zh-CN" dirty="0"/>
              <a:t>8</a:t>
            </a:r>
            <a:r>
              <a:rPr kumimoji="1" lang="zh-CN" altLang="en-US" dirty="0"/>
              <a:t>字节</a:t>
            </a:r>
            <a:endParaRPr kumimoji="1" lang="en-US" altLang="zh-CN" dirty="0"/>
          </a:p>
          <a:p>
            <a:r>
              <a:rPr kumimoji="1" lang="zh-CN" altLang="en-US" dirty="0"/>
              <a:t>对于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2^32 / 4K * 4 = </a:t>
            </a:r>
            <a:r>
              <a:rPr kumimoji="1" lang="en-US" altLang="zh-CN" dirty="0">
                <a:solidFill>
                  <a:srgbClr val="C00000"/>
                </a:solidFill>
              </a:rPr>
              <a:t>4MB</a:t>
            </a:r>
          </a:p>
          <a:p>
            <a:r>
              <a:rPr kumimoji="1" lang="zh-CN" altLang="en-US" dirty="0"/>
              <a:t>对于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位地址空间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2^64 / 4K * 8 = </a:t>
            </a:r>
            <a:r>
              <a:rPr kumimoji="1" lang="en-US" altLang="zh-CN" dirty="0">
                <a:solidFill>
                  <a:srgbClr val="C00000"/>
                </a:solidFill>
              </a:rPr>
              <a:t>33,554,432 GB</a:t>
            </a:r>
            <a:r>
              <a:rPr kumimoji="1" lang="zh-CN" altLang="en-US" dirty="0">
                <a:solidFill>
                  <a:srgbClr val="C00000"/>
                </a:solidFill>
              </a:rPr>
              <a:t>（完全不现实！）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A79DE-9886-5A49-B972-0C5129BE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9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2C7DB-8B39-8B43-90FE-3B2C7A0D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FB3CB-10F6-1F46-9FB7-6CBF6F30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多级页表能有效压缩页表的大小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原因：允许页表中出现空洞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若某个页表页中的某个页表项为空，</a:t>
            </a:r>
            <a:br>
              <a:rPr kumimoji="1" lang="en-US" altLang="zh-CN" sz="2000" dirty="0"/>
            </a:br>
            <a:r>
              <a:rPr kumimoji="1" lang="zh-CN" altLang="en-US" sz="2000" dirty="0"/>
              <a:t>那么其对应的下一级页表页便无需存在</a:t>
            </a:r>
            <a:br>
              <a:rPr kumimoji="1" lang="en-US" altLang="zh-CN" sz="2000" dirty="0"/>
            </a:b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应用程序的虚拟地址空间大部分都未分配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3E5AE-8D1F-D747-BDCA-EB46EB3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0278E46-1482-5C4A-B71F-DA70B9BC4F4E}"/>
              </a:ext>
            </a:extLst>
          </p:cNvPr>
          <p:cNvGrpSpPr/>
          <p:nvPr/>
        </p:nvGrpSpPr>
        <p:grpSpPr>
          <a:xfrm>
            <a:off x="6164560" y="949855"/>
            <a:ext cx="2527300" cy="4155281"/>
            <a:chOff x="5486400" y="2093118"/>
            <a:chExt cx="2527300" cy="4155281"/>
          </a:xfrm>
        </p:grpSpPr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495405CC-8377-2A45-B83B-2767C6BC90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2093118"/>
              <a:ext cx="2527300" cy="4155281"/>
              <a:chOff x="3553" y="1192"/>
              <a:chExt cx="1592" cy="2792"/>
            </a:xfrm>
          </p:grpSpPr>
          <p:sp>
            <p:nvSpPr>
              <p:cNvPr id="34" name="Rectangle 5">
                <a:extLst>
                  <a:ext uri="{FF2B5EF4-FFF2-40B4-BE49-F238E27FC236}">
                    <a16:creationId xmlns:a16="http://schemas.microsoft.com/office/drawing/2014/main" id="{092EDA0D-AAC9-8B4F-9C6C-57863D5CB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2304"/>
                <a:ext cx="441" cy="72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80CBCD9E-0B6E-8F47-A012-8307D8A4B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440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Rectangle 7">
                <a:extLst>
                  <a:ext uri="{FF2B5EF4-FFF2-40B4-BE49-F238E27FC236}">
                    <a16:creationId xmlns:a16="http://schemas.microsoft.com/office/drawing/2014/main" id="{6489B3F7-EF16-B94D-90F9-3ED2CE4B0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30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22682949-FFFE-824F-BAFF-96E7B1AC1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" name="Text Box 9">
                <a:extLst>
                  <a:ext uri="{FF2B5EF4-FFF2-40B4-BE49-F238E27FC236}">
                    <a16:creationId xmlns:a16="http://schemas.microsoft.com/office/drawing/2014/main" id="{EA1FD792-3EBB-C64E-9507-220713457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3013"/>
                <a:ext cx="2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2" charset="0"/>
                  </a:rPr>
                  <a:t>...</a:t>
                </a:r>
              </a:p>
            </p:txBody>
          </p:sp>
          <p:sp>
            <p:nvSpPr>
              <p:cNvPr id="39" name="Text Box 10">
                <a:extLst>
                  <a:ext uri="{FF2B5EF4-FFF2-40B4-BE49-F238E27FC236}">
                    <a16:creationId xmlns:a16="http://schemas.microsoft.com/office/drawing/2014/main" id="{321556D8-FD51-0E47-B36F-CB7057079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1192"/>
                <a:ext cx="4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zh-CN" altLang="en-US" sz="1800" dirty="0">
                    <a:latin typeface="Helvetica" pitchFamily="2" charset="0"/>
                  </a:rPr>
                  <a:t>第</a:t>
                </a:r>
                <a:r>
                  <a:rPr lang="en-US" altLang="zh-CN" sz="1800" dirty="0">
                    <a:latin typeface="Helvetica" pitchFamily="2" charset="0"/>
                  </a:rPr>
                  <a:t>1</a:t>
                </a:r>
                <a:r>
                  <a:rPr lang="zh-CN" altLang="en-US" sz="1800" dirty="0">
                    <a:latin typeface="Helvetica" pitchFamily="2" charset="0"/>
                  </a:rPr>
                  <a:t>级</a:t>
                </a:r>
                <a:endParaRPr lang="en-US" altLang="zh-CN" sz="1800" dirty="0">
                  <a:latin typeface="Helvetica" pitchFamily="2" charset="0"/>
                </a:endParaRPr>
              </a:p>
            </p:txBody>
          </p:sp>
          <p:sp>
            <p:nvSpPr>
              <p:cNvPr id="40" name="Line 11">
                <a:extLst>
                  <a:ext uri="{FF2B5EF4-FFF2-40B4-BE49-F238E27FC236}">
                    <a16:creationId xmlns:a16="http://schemas.microsoft.com/office/drawing/2014/main" id="{96F9C81F-4F31-E849-ADE6-3A4A9A1BD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1440"/>
                <a:ext cx="710" cy="9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1" name="Line 12">
                <a:extLst>
                  <a:ext uri="{FF2B5EF4-FFF2-40B4-BE49-F238E27FC236}">
                    <a16:creationId xmlns:a16="http://schemas.microsoft.com/office/drawing/2014/main" id="{767E4583-DDBC-6B46-A952-871ABFE15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2304"/>
                <a:ext cx="71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D3FDE4E5-3AF5-1247-A966-45A210BFA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936"/>
                <a:ext cx="720" cy="3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555CA750-19FA-4249-A3F1-F17C63CB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100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89FFCF19-2BB6-9B40-A1BC-6358E1D6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1890CC74-5653-6D43-BAA8-1FBF26F0F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648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76C9C9F6-6656-8440-8ABB-F52262EEC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8280" y="2254714"/>
            <a:ext cx="772646" cy="33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800" dirty="0">
                <a:latin typeface="Helvetica" pitchFamily="2" charset="0"/>
              </a:rPr>
              <a:t>第</a:t>
            </a:r>
            <a:r>
              <a:rPr lang="en-US" altLang="zh-CN" sz="1800" dirty="0">
                <a:latin typeface="Helvetica" pitchFamily="2" charset="0"/>
              </a:rPr>
              <a:t>0</a:t>
            </a:r>
            <a:r>
              <a:rPr lang="zh-CN" altLang="en-US" sz="1800" dirty="0">
                <a:latin typeface="Helvetica" pitchFamily="2" charset="0"/>
              </a:rPr>
              <a:t>级</a:t>
            </a:r>
            <a:endParaRPr lang="en-US" altLang="zh-CN" sz="1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59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体系结构下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E7CB81-B07A-A32D-9679-2780C98E9B29}"/>
              </a:ext>
            </a:extLst>
          </p:cNvPr>
          <p:cNvGrpSpPr/>
          <p:nvPr/>
        </p:nvGrpSpPr>
        <p:grpSpPr>
          <a:xfrm>
            <a:off x="2195736" y="1297060"/>
            <a:ext cx="6817102" cy="4316537"/>
            <a:chOff x="1163449" y="1273324"/>
            <a:chExt cx="6817102" cy="431653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AD8AAFC-B247-704E-8974-4EB6B6AF4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49" y="1273324"/>
              <a:ext cx="6817102" cy="431653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2EC17D9-E8AA-6275-9F5C-99F3F1E3893E}"/>
                </a:ext>
              </a:extLst>
            </p:cNvPr>
            <p:cNvSpPr txBox="1"/>
            <p:nvPr/>
          </p:nvSpPr>
          <p:spPr>
            <a:xfrm>
              <a:off x="2627784" y="3431592"/>
              <a:ext cx="77296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0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A257E1B-F813-1FBA-97CA-7A65DCC0D433}"/>
                </a:ext>
              </a:extLst>
            </p:cNvPr>
            <p:cNvSpPr txBox="1"/>
            <p:nvPr/>
          </p:nvSpPr>
          <p:spPr>
            <a:xfrm>
              <a:off x="3775260" y="3437316"/>
              <a:ext cx="79674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1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A536F0C-B2C7-C549-1534-9BD3D117564D}"/>
                </a:ext>
              </a:extLst>
            </p:cNvPr>
            <p:cNvSpPr txBox="1"/>
            <p:nvPr/>
          </p:nvSpPr>
          <p:spPr>
            <a:xfrm>
              <a:off x="4869596" y="3431592"/>
              <a:ext cx="776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2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C1C968C-1066-A16E-EF73-F5C77AA9C6D2}"/>
                </a:ext>
              </a:extLst>
            </p:cNvPr>
            <p:cNvSpPr txBox="1"/>
            <p:nvPr/>
          </p:nvSpPr>
          <p:spPr>
            <a:xfrm>
              <a:off x="6020278" y="3431592"/>
              <a:ext cx="776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3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DBC7A93-D9F7-625A-B01C-7F5C173201BF}"/>
              </a:ext>
            </a:extLst>
          </p:cNvPr>
          <p:cNvSpPr txBox="1"/>
          <p:nvPr/>
        </p:nvSpPr>
        <p:spPr>
          <a:xfrm>
            <a:off x="323528" y="1285150"/>
            <a:ext cx="3047629" cy="1346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+mn-ea"/>
              </a:rPr>
              <a:t>硬件规定的页表格式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每个页表页占用一个</a:t>
            </a:r>
            <a:r>
              <a:rPr kumimoji="1" lang="en-US" altLang="zh-CN" sz="1400" dirty="0">
                <a:latin typeface="+mn-ea"/>
              </a:rPr>
              <a:t>4K</a:t>
            </a:r>
            <a:r>
              <a:rPr kumimoji="1" lang="zh-CN" altLang="en-US" sz="1400" dirty="0">
                <a:latin typeface="+mn-ea"/>
              </a:rPr>
              <a:t>物理页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每个页表项占用</a:t>
            </a:r>
            <a:r>
              <a:rPr kumimoji="1" lang="en-US" altLang="zh-CN" sz="1400" dirty="0">
                <a:latin typeface="+mn-ea"/>
              </a:rPr>
              <a:t>8</a:t>
            </a:r>
            <a:r>
              <a:rPr kumimoji="1" lang="zh-CN" altLang="en-US" sz="1400" dirty="0">
                <a:latin typeface="+mn-ea"/>
              </a:rPr>
              <a:t>个字节</a:t>
            </a:r>
            <a:endParaRPr kumimoji="1" lang="en-US" altLang="zh-CN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每个页表页有</a:t>
            </a:r>
            <a:r>
              <a:rPr kumimoji="1" lang="en-US" altLang="zh-CN" sz="1400" dirty="0">
                <a:latin typeface="+mn-ea"/>
              </a:rPr>
              <a:t>512</a:t>
            </a:r>
            <a:r>
              <a:rPr kumimoji="1" lang="zh-CN" altLang="en-US" sz="1400" dirty="0">
                <a:latin typeface="+mn-ea"/>
              </a:rPr>
              <a:t>个页表项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25910D-F4B0-F458-521D-F298D69A14D2}"/>
              </a:ext>
            </a:extLst>
          </p:cNvPr>
          <p:cNvSpPr txBox="1"/>
          <p:nvPr/>
        </p:nvSpPr>
        <p:spPr>
          <a:xfrm>
            <a:off x="683568" y="4009628"/>
            <a:ext cx="2066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Q</a:t>
            </a:r>
            <a:r>
              <a:rPr kumimoji="1" lang="zh-CN" altLang="en-US" sz="1200" b="1" dirty="0"/>
              <a:t>：物理地址 </a:t>
            </a:r>
            <a:r>
              <a:rPr kumimoji="1" lang="en-US" altLang="zh-CN" sz="1200" b="1" dirty="0"/>
              <a:t>or</a:t>
            </a:r>
            <a:r>
              <a:rPr kumimoji="1" lang="zh-CN" altLang="en-US" sz="1200" b="1" dirty="0"/>
              <a:t> 虚拟地址？</a:t>
            </a:r>
          </a:p>
        </p:txBody>
      </p:sp>
      <p:cxnSp>
        <p:nvCxnSpPr>
          <p:cNvPr id="13" name="曲线连接符 12">
            <a:extLst>
              <a:ext uri="{FF2B5EF4-FFF2-40B4-BE49-F238E27FC236}">
                <a16:creationId xmlns:a16="http://schemas.microsoft.com/office/drawing/2014/main" id="{CC6CE6F3-575F-C40F-D6B2-3F808D9E9413}"/>
              </a:ext>
            </a:extLst>
          </p:cNvPr>
          <p:cNvCxnSpPr>
            <a:cxnSpLocks/>
            <a:stCxn id="11" idx="0"/>
          </p:cNvCxnSpPr>
          <p:nvPr/>
        </p:nvCxnSpPr>
        <p:spPr>
          <a:xfrm rot="5400000" flipH="1" flipV="1">
            <a:off x="1776281" y="3590171"/>
            <a:ext cx="360040" cy="47887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>
            <a:extLst>
              <a:ext uri="{FF2B5EF4-FFF2-40B4-BE49-F238E27FC236}">
                <a16:creationId xmlns:a16="http://schemas.microsoft.com/office/drawing/2014/main" id="{941C3297-AE9C-5128-BB1B-D64DC933F75D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2670864" y="3332627"/>
            <a:ext cx="83040" cy="19910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70647CD-6DB1-81A9-4755-652555B81C25}"/>
              </a:ext>
            </a:extLst>
          </p:cNvPr>
          <p:cNvSpPr txBox="1"/>
          <p:nvPr/>
        </p:nvSpPr>
        <p:spPr>
          <a:xfrm>
            <a:off x="2310945" y="31748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832EC3-6B31-4548-FF66-2B000C0F602C}"/>
              </a:ext>
            </a:extLst>
          </p:cNvPr>
          <p:cNvSpPr txBox="1"/>
          <p:nvPr/>
        </p:nvSpPr>
        <p:spPr>
          <a:xfrm>
            <a:off x="3720497" y="442671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2E760F-36EE-0064-2B8F-0486BF2DA291}"/>
              </a:ext>
            </a:extLst>
          </p:cNvPr>
          <p:cNvSpPr txBox="1"/>
          <p:nvPr/>
        </p:nvSpPr>
        <p:spPr>
          <a:xfrm>
            <a:off x="4835058" y="404722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8BAFF2-E690-B4A5-1E67-700E3A7B47B0}"/>
              </a:ext>
            </a:extLst>
          </p:cNvPr>
          <p:cNvSpPr txBox="1"/>
          <p:nvPr/>
        </p:nvSpPr>
        <p:spPr>
          <a:xfrm>
            <a:off x="5958526" y="442671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699BC0-A20E-E880-1CB7-EF2F63813063}"/>
              </a:ext>
            </a:extLst>
          </p:cNvPr>
          <p:cNvSpPr txBox="1"/>
          <p:nvPr/>
        </p:nvSpPr>
        <p:spPr>
          <a:xfrm>
            <a:off x="7091838" y="427517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</p:spTree>
    <p:extLst>
      <p:ext uri="{BB962C8B-B14F-4D97-AF65-F5344CB8AC3E}">
        <p14:creationId xmlns:p14="http://schemas.microsoft.com/office/powerpoint/2010/main" val="42220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19" grpId="0"/>
      <p:bldP spid="20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64</a:t>
            </a:r>
            <a:r>
              <a:rPr kumimoji="1" lang="zh-CN" altLang="en-US" dirty="0"/>
              <a:t>位虚拟地址解析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4771"/>
            <a:ext cx="8651304" cy="4152633"/>
          </a:xfrm>
        </p:spPr>
        <p:txBody>
          <a:bodyPr>
            <a:normAutofit fontScale="92500"/>
          </a:bodyPr>
          <a:lstStyle/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63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48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16-bit</a:t>
            </a:r>
          </a:p>
          <a:p>
            <a:pPr lvl="1"/>
            <a:r>
              <a:rPr kumimoji="1" lang="zh-CN" altLang="en-US" sz="2000" dirty="0"/>
              <a:t>必须全是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或者全是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（软件用法：一般应用程序地址是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，内核地址是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也意味着虚拟地址空间大小最大是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48</a:t>
            </a:r>
            <a:r>
              <a:rPr kumimoji="1" lang="zh-CN" altLang="en-US" sz="2000" baseline="30000" dirty="0"/>
              <a:t> </a:t>
            </a:r>
            <a:r>
              <a:rPr kumimoji="1" lang="en-US" altLang="zh-CN" sz="2000" dirty="0"/>
              <a:t>Byte</a:t>
            </a:r>
            <a:r>
              <a:rPr kumimoji="1" lang="zh-CN" altLang="en-US" sz="2000" dirty="0"/>
              <a:t>，即</a:t>
            </a:r>
            <a:r>
              <a:rPr kumimoji="1" lang="en-US" altLang="zh-CN" sz="2000" dirty="0"/>
              <a:t>256TB</a:t>
            </a:r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47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39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0</a:t>
            </a:r>
            <a:r>
              <a:rPr kumimoji="1" lang="zh-CN" altLang="en-US" sz="2400" b="0" dirty="0"/>
              <a:t>级页表索引</a:t>
            </a:r>
            <a:endParaRPr kumimoji="1" lang="en-US" altLang="zh-CN" sz="2400" b="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38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1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29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21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2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20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12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3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11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12-bit</a:t>
            </a:r>
            <a:r>
              <a:rPr kumimoji="1" lang="zh-CN" altLang="en-US" sz="2400" dirty="0"/>
              <a:t>：</a:t>
            </a:r>
            <a:r>
              <a:rPr kumimoji="1" lang="zh-CN" altLang="en-US" sz="2400" b="0" dirty="0"/>
              <a:t>页内偏移</a:t>
            </a:r>
            <a:endParaRPr kumimoji="1" lang="en-US" altLang="zh-CN" b="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7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2D6655-C63B-489A-44A3-1274AC2CFC4B}"/>
              </a:ext>
            </a:extLst>
          </p:cNvPr>
          <p:cNvSpPr/>
          <p:nvPr/>
        </p:nvSpPr>
        <p:spPr>
          <a:xfrm>
            <a:off x="2755560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BDEEE80-B743-FDFB-4911-D8AE8EE7C2F4}"/>
              </a:ext>
            </a:extLst>
          </p:cNvPr>
          <p:cNvSpPr/>
          <p:nvPr/>
        </p:nvSpPr>
        <p:spPr>
          <a:xfrm>
            <a:off x="4035815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52D159-931D-6A34-3EAF-B9D14DD8A619}"/>
              </a:ext>
            </a:extLst>
          </p:cNvPr>
          <p:cNvSpPr txBox="1"/>
          <p:nvPr/>
        </p:nvSpPr>
        <p:spPr>
          <a:xfrm>
            <a:off x="1918659" y="48123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虚拟地址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180C519-EC10-B214-792D-66DB24F6BCC8}"/>
              </a:ext>
            </a:extLst>
          </p:cNvPr>
          <p:cNvSpPr/>
          <p:nvPr/>
        </p:nvSpPr>
        <p:spPr>
          <a:xfrm>
            <a:off x="214645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虚拟页号</a:t>
            </a:r>
            <a:r>
              <a:rPr lang="en-US" altLang="zh-CN" sz="1000" dirty="0"/>
              <a:t>0</a:t>
            </a:r>
          </a:p>
          <a:p>
            <a:pPr algn="ctr"/>
            <a:r>
              <a:rPr lang="en-US" altLang="zh-CN" sz="1000" b="1" dirty="0">
                <a:solidFill>
                  <a:srgbClr val="00B0F0"/>
                </a:solidFill>
              </a:rPr>
              <a:t>001000101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238EDE-F5CA-F686-1A98-329141668D8C}"/>
              </a:ext>
            </a:extLst>
          </p:cNvPr>
          <p:cNvSpPr/>
          <p:nvPr/>
        </p:nvSpPr>
        <p:spPr>
          <a:xfrm>
            <a:off x="3426713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C907BE-BCAC-6F7F-7EEA-44B72758FDA1}"/>
              </a:ext>
            </a:extLst>
          </p:cNvPr>
          <p:cNvSpPr/>
          <p:nvPr/>
        </p:nvSpPr>
        <p:spPr>
          <a:xfrm>
            <a:off x="470696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F0906F-84C7-9219-ABA0-ABAC0BB33064}"/>
              </a:ext>
            </a:extLst>
          </p:cNvPr>
          <p:cNvSpPr/>
          <p:nvPr/>
        </p:nvSpPr>
        <p:spPr>
          <a:xfrm>
            <a:off x="5987224" y="1762950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cxnSp>
        <p:nvCxnSpPr>
          <p:cNvPr id="56" name="直接箭头连接符 35">
            <a:extLst>
              <a:ext uri="{FF2B5EF4-FFF2-40B4-BE49-F238E27FC236}">
                <a16:creationId xmlns:a16="http://schemas.microsoft.com/office/drawing/2014/main" id="{F9B7373A-8FC2-C85B-180A-06C9119514DB}"/>
              </a:ext>
            </a:extLst>
          </p:cNvPr>
          <p:cNvCxnSpPr>
            <a:stCxn id="49" idx="2"/>
            <a:endCxn id="52" idx="0"/>
          </p:cNvCxnSpPr>
          <p:nvPr/>
        </p:nvCxnSpPr>
        <p:spPr>
          <a:xfrm rot="5400000">
            <a:off x="2600934" y="968199"/>
            <a:ext cx="980404" cy="60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35">
            <a:extLst>
              <a:ext uri="{FF2B5EF4-FFF2-40B4-BE49-F238E27FC236}">
                <a16:creationId xmlns:a16="http://schemas.microsoft.com/office/drawing/2014/main" id="{FF7D8E34-2764-C379-6848-0E8497C851CC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3241063" y="937172"/>
            <a:ext cx="980404" cy="671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35">
            <a:extLst>
              <a:ext uri="{FF2B5EF4-FFF2-40B4-BE49-F238E27FC236}">
                <a16:creationId xmlns:a16="http://schemas.microsoft.com/office/drawing/2014/main" id="{D7519620-D371-107B-EE02-C7B8A0B54C2E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 rot="16200000" flipH="1">
            <a:off x="3881191" y="297044"/>
            <a:ext cx="980404" cy="19514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35">
            <a:extLst>
              <a:ext uri="{FF2B5EF4-FFF2-40B4-BE49-F238E27FC236}">
                <a16:creationId xmlns:a16="http://schemas.microsoft.com/office/drawing/2014/main" id="{F26B2F45-F812-25E0-F4F6-B48F221E349E}"/>
              </a:ext>
            </a:extLst>
          </p:cNvPr>
          <p:cNvCxnSpPr>
            <a:cxnSpLocks/>
            <a:stCxn id="49" idx="2"/>
            <a:endCxn id="55" idx="0"/>
          </p:cNvCxnSpPr>
          <p:nvPr/>
        </p:nvCxnSpPr>
        <p:spPr>
          <a:xfrm rot="16200000" flipH="1">
            <a:off x="4521318" y="-343084"/>
            <a:ext cx="980403" cy="3231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36D33FCB-39F3-DB90-F639-471F699E138E}"/>
              </a:ext>
            </a:extLst>
          </p:cNvPr>
          <p:cNvSpPr/>
          <p:nvPr/>
        </p:nvSpPr>
        <p:spPr>
          <a:xfrm>
            <a:off x="2463482" y="2650907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08ACAC-3584-0121-C5A3-ACBB9DB8943F}"/>
              </a:ext>
            </a:extLst>
          </p:cNvPr>
          <p:cNvSpPr/>
          <p:nvPr/>
        </p:nvSpPr>
        <p:spPr>
          <a:xfrm>
            <a:off x="3731264" y="2650908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6160F37-D1C2-3ADA-761E-B705EE657708}"/>
              </a:ext>
            </a:extLst>
          </p:cNvPr>
          <p:cNvSpPr/>
          <p:nvPr/>
        </p:nvSpPr>
        <p:spPr>
          <a:xfrm>
            <a:off x="5104063" y="2660611"/>
            <a:ext cx="751170" cy="11650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9FAC0E-B396-643E-4C53-D75FC41967E5}"/>
              </a:ext>
            </a:extLst>
          </p:cNvPr>
          <p:cNvSpPr/>
          <p:nvPr/>
        </p:nvSpPr>
        <p:spPr>
          <a:xfrm>
            <a:off x="6437516" y="2675154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B2F76E-9C6E-9E9B-76C3-3EF8007BCD65}"/>
              </a:ext>
            </a:extLst>
          </p:cNvPr>
          <p:cNvSpPr txBox="1"/>
          <p:nvPr/>
        </p:nvSpPr>
        <p:spPr>
          <a:xfrm>
            <a:off x="2349579" y="3904281"/>
            <a:ext cx="1015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888776-0716-60CC-4EE5-3C9E2434E386}"/>
              </a:ext>
            </a:extLst>
          </p:cNvPr>
          <p:cNvSpPr txBox="1"/>
          <p:nvPr/>
        </p:nvSpPr>
        <p:spPr>
          <a:xfrm>
            <a:off x="3553960" y="2371530"/>
            <a:ext cx="11341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起始地址</a:t>
            </a:r>
            <a:r>
              <a:rPr lang="en-US" altLang="zh-CN" sz="1000" b="1" dirty="0"/>
              <a:t>0x1000</a:t>
            </a:r>
            <a:endParaRPr lang="zh-CN" altLang="en-US" sz="10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E923A9E-EBC5-1BAE-5E7E-CBBA65F1BFEC}"/>
              </a:ext>
            </a:extLst>
          </p:cNvPr>
          <p:cNvSpPr txBox="1"/>
          <p:nvPr/>
        </p:nvSpPr>
        <p:spPr>
          <a:xfrm>
            <a:off x="5102196" y="3904537"/>
            <a:ext cx="101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1B1F395-BC0B-A6EC-6219-88848DEA8B8B}"/>
              </a:ext>
            </a:extLst>
          </p:cNvPr>
          <p:cNvSpPr txBox="1"/>
          <p:nvPr/>
        </p:nvSpPr>
        <p:spPr>
          <a:xfrm>
            <a:off x="6434310" y="3904280"/>
            <a:ext cx="1122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D2D1842-2698-E529-14C7-746B0914F468}"/>
              </a:ext>
            </a:extLst>
          </p:cNvPr>
          <p:cNvSpPr/>
          <p:nvPr/>
        </p:nvSpPr>
        <p:spPr>
          <a:xfrm>
            <a:off x="3731264" y="2878226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0x5000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EF1A74-7E23-536F-4AC5-192473207775}"/>
              </a:ext>
            </a:extLst>
          </p:cNvPr>
          <p:cNvSpPr/>
          <p:nvPr/>
        </p:nvSpPr>
        <p:spPr>
          <a:xfrm>
            <a:off x="5104010" y="3238268"/>
            <a:ext cx="746419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0x3000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E831472-5CDB-8665-2363-9CC03351DE1B}"/>
              </a:ext>
            </a:extLst>
          </p:cNvPr>
          <p:cNvSpPr/>
          <p:nvPr/>
        </p:nvSpPr>
        <p:spPr>
          <a:xfrm>
            <a:off x="6437516" y="3044665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物理页号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9246CC9-E013-4FA4-CFB2-64DB897EC668}"/>
              </a:ext>
            </a:extLst>
          </p:cNvPr>
          <p:cNvSpPr/>
          <p:nvPr/>
        </p:nvSpPr>
        <p:spPr>
          <a:xfrm>
            <a:off x="288602" y="2114637"/>
            <a:ext cx="1141215" cy="80123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页表基地址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寄存器</a:t>
            </a:r>
            <a:r>
              <a:rPr lang="en-US" altLang="zh-CN" sz="1200" b="1" dirty="0">
                <a:solidFill>
                  <a:schemeClr val="tx1"/>
                </a:solidFill>
              </a:rPr>
              <a:t>TTBR0_EL1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0416D2B-4713-8331-6783-1BB763E774E9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429818" y="2515252"/>
            <a:ext cx="1022982" cy="17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0">
            <a:extLst>
              <a:ext uri="{FF2B5EF4-FFF2-40B4-BE49-F238E27FC236}">
                <a16:creationId xmlns:a16="http://schemas.microsoft.com/office/drawing/2014/main" id="{F65DE629-3554-436E-7361-E94CDD6385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62576" y="2537441"/>
            <a:ext cx="1174006" cy="227646"/>
          </a:xfrm>
          <a:prstGeom prst="bentConnector3">
            <a:avLst>
              <a:gd name="adj1" fmla="val 998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0">
            <a:extLst>
              <a:ext uri="{FF2B5EF4-FFF2-40B4-BE49-F238E27FC236}">
                <a16:creationId xmlns:a16="http://schemas.microsoft.com/office/drawing/2014/main" id="{DBEB9CDD-0BC5-4848-FB0B-B40850564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865" y="2355714"/>
            <a:ext cx="801230" cy="243795"/>
          </a:xfrm>
          <a:prstGeom prst="bentConnector3">
            <a:avLst>
              <a:gd name="adj1" fmla="val 995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0">
            <a:extLst>
              <a:ext uri="{FF2B5EF4-FFF2-40B4-BE49-F238E27FC236}">
                <a16:creationId xmlns:a16="http://schemas.microsoft.com/office/drawing/2014/main" id="{8055E7BB-D1FC-6F0C-39BF-5872FDF0DBC1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4349580" y="2488639"/>
            <a:ext cx="1178862" cy="330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0">
            <a:extLst>
              <a:ext uri="{FF2B5EF4-FFF2-40B4-BE49-F238E27FC236}">
                <a16:creationId xmlns:a16="http://schemas.microsoft.com/office/drawing/2014/main" id="{7E278BCC-276C-E0D6-A697-B93790C6E0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003" y="2386204"/>
            <a:ext cx="985259" cy="331662"/>
          </a:xfrm>
          <a:prstGeom prst="bentConnector3">
            <a:avLst>
              <a:gd name="adj1" fmla="val 991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92">
            <a:extLst>
              <a:ext uri="{FF2B5EF4-FFF2-40B4-BE49-F238E27FC236}">
                <a16:creationId xmlns:a16="http://schemas.microsoft.com/office/drawing/2014/main" id="{12DD967D-9E39-ECBD-717D-DEB46F339D8C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4482434" y="2660611"/>
            <a:ext cx="621576" cy="368272"/>
          </a:xfrm>
          <a:prstGeom prst="bentConnector3">
            <a:avLst>
              <a:gd name="adj1" fmla="val 655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388D454-A9DB-3FA7-CBCD-973CE55491A4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3214548" y="2650907"/>
            <a:ext cx="516716" cy="454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4E06F32-BEFB-A9B3-731A-776A302D93C0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5850430" y="2685381"/>
            <a:ext cx="587035" cy="70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E3FB07B5-9657-86C3-D63C-633B389959A5}"/>
              </a:ext>
            </a:extLst>
          </p:cNvPr>
          <p:cNvSpPr/>
          <p:nvPr/>
        </p:nvSpPr>
        <p:spPr>
          <a:xfrm>
            <a:off x="6043937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物理页号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620C261-8AD5-BD06-9A7E-4805694D9520}"/>
              </a:ext>
            </a:extLst>
          </p:cNvPr>
          <p:cNvSpPr/>
          <p:nvPr/>
        </p:nvSpPr>
        <p:spPr>
          <a:xfrm>
            <a:off x="7324193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D0ED8A-A797-9CE4-D9BD-978E8130CDEC}"/>
              </a:ext>
            </a:extLst>
          </p:cNvPr>
          <p:cNvSpPr txBox="1"/>
          <p:nvPr/>
        </p:nvSpPr>
        <p:spPr>
          <a:xfrm>
            <a:off x="5207037" y="453867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物理地址</a:t>
            </a:r>
          </a:p>
        </p:txBody>
      </p:sp>
      <p:cxnSp>
        <p:nvCxnSpPr>
          <p:cNvPr id="84" name="直接箭头连接符 131">
            <a:extLst>
              <a:ext uri="{FF2B5EF4-FFF2-40B4-BE49-F238E27FC236}">
                <a16:creationId xmlns:a16="http://schemas.microsoft.com/office/drawing/2014/main" id="{2FE7B561-EB43-CE6A-327A-6A9EC9BD0A80}"/>
              </a:ext>
            </a:extLst>
          </p:cNvPr>
          <p:cNvCxnSpPr>
            <a:stCxn id="50" idx="3"/>
            <a:endCxn id="82" idx="0"/>
          </p:cNvCxnSpPr>
          <p:nvPr/>
        </p:nvCxnSpPr>
        <p:spPr>
          <a:xfrm>
            <a:off x="5316070" y="631891"/>
            <a:ext cx="2648250" cy="3906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507A05CE-2567-86D3-4777-5A2FF216C2B5}"/>
              </a:ext>
            </a:extLst>
          </p:cNvPr>
          <p:cNvCxnSpPr>
            <a:stCxn id="71" idx="3"/>
            <a:endCxn id="81" idx="0"/>
          </p:cNvCxnSpPr>
          <p:nvPr/>
        </p:nvCxnSpPr>
        <p:spPr>
          <a:xfrm flipH="1">
            <a:off x="6684065" y="3195321"/>
            <a:ext cx="504621" cy="1343356"/>
          </a:xfrm>
          <a:prstGeom prst="bentConnector4">
            <a:avLst>
              <a:gd name="adj1" fmla="val -37215"/>
              <a:gd name="adj2" fmla="val 556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AD9814E-CAED-3FEE-671A-3580CA9B2201}"/>
              </a:ext>
            </a:extLst>
          </p:cNvPr>
          <p:cNvSpPr txBox="1"/>
          <p:nvPr/>
        </p:nvSpPr>
        <p:spPr>
          <a:xfrm>
            <a:off x="106034" y="3640877"/>
            <a:ext cx="2432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页表基地址寄存器存储</a:t>
            </a:r>
            <a:endParaRPr lang="en-US" altLang="zh-CN" sz="1600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级页表页起始地址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02EF775-2DC6-CEF5-841C-1DD5B9FB3462}"/>
              </a:ext>
            </a:extLst>
          </p:cNvPr>
          <p:cNvSpPr txBox="1"/>
          <p:nvPr/>
        </p:nvSpPr>
        <p:spPr>
          <a:xfrm>
            <a:off x="106034" y="4216941"/>
            <a:ext cx="4436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将虚拟地址的虚拟页号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0(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47 – 39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位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)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作为页表项索引，读取第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级页表页中的页表项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BF51571-B406-E16D-7D72-E2F9D01826F9}"/>
              </a:ext>
            </a:extLst>
          </p:cNvPr>
          <p:cNvSpPr txBox="1"/>
          <p:nvPr/>
        </p:nvSpPr>
        <p:spPr>
          <a:xfrm>
            <a:off x="106034" y="4751194"/>
            <a:ext cx="509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</a:rPr>
              <a:t>页表项中存储着下一级页表页的物理地址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6C1C9F1-5A70-7BF7-9D79-F772DDC923A2}"/>
              </a:ext>
            </a:extLst>
          </p:cNvPr>
          <p:cNvSpPr txBox="1"/>
          <p:nvPr/>
        </p:nvSpPr>
        <p:spPr>
          <a:xfrm>
            <a:off x="106034" y="5089748"/>
            <a:ext cx="5098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将虚拟地址的虚拟页号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1(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38 – 30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位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)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作为页表项索引，读取第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1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级页表页中的相应页表项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F3A11BC-143D-0E32-CBED-DBC1CD8DA067}"/>
              </a:ext>
            </a:extLst>
          </p:cNvPr>
          <p:cNvSpPr txBox="1"/>
          <p:nvPr/>
        </p:nvSpPr>
        <p:spPr>
          <a:xfrm>
            <a:off x="2020624" y="1495565"/>
            <a:ext cx="5503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47                        39 38                    30 29                     21 20                      12            </a:t>
            </a:r>
            <a:endParaRPr lang="zh-CN" altLang="en-US" sz="12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16478F3-4E42-78AD-9DA0-68F1B344BDAF}"/>
              </a:ext>
            </a:extLst>
          </p:cNvPr>
          <p:cNvSpPr txBox="1"/>
          <p:nvPr/>
        </p:nvSpPr>
        <p:spPr>
          <a:xfrm>
            <a:off x="2701696" y="234650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47                     12 11                       0</a:t>
            </a:r>
            <a:endParaRPr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EDE253-06BA-CD28-33D2-91FC286FB527}"/>
              </a:ext>
            </a:extLst>
          </p:cNvPr>
          <p:cNvSpPr txBox="1"/>
          <p:nvPr/>
        </p:nvSpPr>
        <p:spPr>
          <a:xfrm>
            <a:off x="3731264" y="3929933"/>
            <a:ext cx="1002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9B0CCE0-3727-9B8E-7832-3D9410190C7E}"/>
              </a:ext>
            </a:extLst>
          </p:cNvPr>
          <p:cNvSpPr txBox="1"/>
          <p:nvPr/>
        </p:nvSpPr>
        <p:spPr>
          <a:xfrm>
            <a:off x="4575376" y="2376601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0x5000</a:t>
            </a:r>
            <a:endParaRPr lang="zh-CN" altLang="en-US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7196FB4-0C5A-59D9-9C0E-B616E023AF7F}"/>
              </a:ext>
            </a:extLst>
          </p:cNvPr>
          <p:cNvSpPr txBox="1"/>
          <p:nvPr/>
        </p:nvSpPr>
        <p:spPr>
          <a:xfrm>
            <a:off x="5881060" y="2383569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0x3000</a:t>
            </a:r>
            <a:endParaRPr lang="zh-CN" altLang="en-US" sz="1000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AA245DC-BD41-832B-34FE-FB6B72358A3E}"/>
              </a:ext>
            </a:extLst>
          </p:cNvPr>
          <p:cNvSpPr txBox="1"/>
          <p:nvPr/>
        </p:nvSpPr>
        <p:spPr>
          <a:xfrm>
            <a:off x="2213597" y="2187457"/>
            <a:ext cx="714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/>
              <a:t>第</a:t>
            </a:r>
            <a:r>
              <a:rPr lang="en-US" altLang="zh-CN" sz="1100" b="1" dirty="0">
                <a:solidFill>
                  <a:srgbClr val="00B0F1"/>
                </a:solidFill>
              </a:rPr>
              <a:t>69</a:t>
            </a:r>
            <a:r>
              <a:rPr lang="zh-CN" altLang="en-US" sz="1100" b="1" dirty="0"/>
              <a:t>项</a:t>
            </a:r>
            <a:endParaRPr lang="zh-CN" altLang="en-US" sz="11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E0615EA-B6C9-9F63-E5FA-655A595D29F0}"/>
              </a:ext>
            </a:extLst>
          </p:cNvPr>
          <p:cNvSpPr/>
          <p:nvPr/>
        </p:nvSpPr>
        <p:spPr>
          <a:xfrm>
            <a:off x="2463378" y="2954440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0x1000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839C4-3E15-6082-1A40-35C41997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63581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/>
      <p:bldP spid="87" grpId="1"/>
      <p:bldP spid="88" grpId="0" build="allAtOnce"/>
      <p:bldP spid="89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2D6655-C63B-489A-44A3-1274AC2CFC4B}"/>
              </a:ext>
            </a:extLst>
          </p:cNvPr>
          <p:cNvSpPr/>
          <p:nvPr/>
        </p:nvSpPr>
        <p:spPr>
          <a:xfrm>
            <a:off x="2755560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BDEEE80-B743-FDFB-4911-D8AE8EE7C2F4}"/>
              </a:ext>
            </a:extLst>
          </p:cNvPr>
          <p:cNvSpPr/>
          <p:nvPr/>
        </p:nvSpPr>
        <p:spPr>
          <a:xfrm>
            <a:off x="4035815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52D159-931D-6A34-3EAF-B9D14DD8A619}"/>
              </a:ext>
            </a:extLst>
          </p:cNvPr>
          <p:cNvSpPr txBox="1"/>
          <p:nvPr/>
        </p:nvSpPr>
        <p:spPr>
          <a:xfrm>
            <a:off x="1918659" y="48123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虚拟地址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180C519-EC10-B214-792D-66DB24F6BCC8}"/>
              </a:ext>
            </a:extLst>
          </p:cNvPr>
          <p:cNvSpPr/>
          <p:nvPr/>
        </p:nvSpPr>
        <p:spPr>
          <a:xfrm>
            <a:off x="214645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虚拟页号</a:t>
            </a:r>
            <a:r>
              <a:rPr lang="en-US" altLang="zh-CN" sz="1000" dirty="0"/>
              <a:t>0</a:t>
            </a:r>
          </a:p>
          <a:p>
            <a:pPr algn="ctr"/>
            <a:r>
              <a:rPr lang="en-US" altLang="zh-CN" sz="1000" b="1" dirty="0">
                <a:solidFill>
                  <a:srgbClr val="00B0F0"/>
                </a:solidFill>
              </a:rPr>
              <a:t>001000101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238EDE-F5CA-F686-1A98-329141668D8C}"/>
              </a:ext>
            </a:extLst>
          </p:cNvPr>
          <p:cNvSpPr/>
          <p:nvPr/>
        </p:nvSpPr>
        <p:spPr>
          <a:xfrm>
            <a:off x="3426713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C907BE-BCAC-6F7F-7EEA-44B72758FDA1}"/>
              </a:ext>
            </a:extLst>
          </p:cNvPr>
          <p:cNvSpPr/>
          <p:nvPr/>
        </p:nvSpPr>
        <p:spPr>
          <a:xfrm>
            <a:off x="470696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F0906F-84C7-9219-ABA0-ABAC0BB33064}"/>
              </a:ext>
            </a:extLst>
          </p:cNvPr>
          <p:cNvSpPr/>
          <p:nvPr/>
        </p:nvSpPr>
        <p:spPr>
          <a:xfrm>
            <a:off x="5987224" y="1762950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cxnSp>
        <p:nvCxnSpPr>
          <p:cNvPr id="56" name="直接箭头连接符 35">
            <a:extLst>
              <a:ext uri="{FF2B5EF4-FFF2-40B4-BE49-F238E27FC236}">
                <a16:creationId xmlns:a16="http://schemas.microsoft.com/office/drawing/2014/main" id="{F9B7373A-8FC2-C85B-180A-06C9119514DB}"/>
              </a:ext>
            </a:extLst>
          </p:cNvPr>
          <p:cNvCxnSpPr>
            <a:stCxn id="49" idx="2"/>
            <a:endCxn id="52" idx="0"/>
          </p:cNvCxnSpPr>
          <p:nvPr/>
        </p:nvCxnSpPr>
        <p:spPr>
          <a:xfrm rot="5400000">
            <a:off x="2600934" y="968199"/>
            <a:ext cx="980404" cy="60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35">
            <a:extLst>
              <a:ext uri="{FF2B5EF4-FFF2-40B4-BE49-F238E27FC236}">
                <a16:creationId xmlns:a16="http://schemas.microsoft.com/office/drawing/2014/main" id="{FF7D8E34-2764-C379-6848-0E8497C851CC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3241063" y="937172"/>
            <a:ext cx="980404" cy="671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35">
            <a:extLst>
              <a:ext uri="{FF2B5EF4-FFF2-40B4-BE49-F238E27FC236}">
                <a16:creationId xmlns:a16="http://schemas.microsoft.com/office/drawing/2014/main" id="{D7519620-D371-107B-EE02-C7B8A0B54C2E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 rot="16200000" flipH="1">
            <a:off x="3881191" y="297044"/>
            <a:ext cx="980404" cy="19514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35">
            <a:extLst>
              <a:ext uri="{FF2B5EF4-FFF2-40B4-BE49-F238E27FC236}">
                <a16:creationId xmlns:a16="http://schemas.microsoft.com/office/drawing/2014/main" id="{F26B2F45-F812-25E0-F4F6-B48F221E349E}"/>
              </a:ext>
            </a:extLst>
          </p:cNvPr>
          <p:cNvCxnSpPr>
            <a:cxnSpLocks/>
            <a:stCxn id="49" idx="2"/>
            <a:endCxn id="55" idx="0"/>
          </p:cNvCxnSpPr>
          <p:nvPr/>
        </p:nvCxnSpPr>
        <p:spPr>
          <a:xfrm rot="16200000" flipH="1">
            <a:off x="4521318" y="-343084"/>
            <a:ext cx="980403" cy="3231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36D33FCB-39F3-DB90-F639-471F699E138E}"/>
              </a:ext>
            </a:extLst>
          </p:cNvPr>
          <p:cNvSpPr/>
          <p:nvPr/>
        </p:nvSpPr>
        <p:spPr>
          <a:xfrm>
            <a:off x="2463482" y="2650907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08ACAC-3584-0121-C5A3-ACBB9DB8943F}"/>
              </a:ext>
            </a:extLst>
          </p:cNvPr>
          <p:cNvSpPr/>
          <p:nvPr/>
        </p:nvSpPr>
        <p:spPr>
          <a:xfrm>
            <a:off x="3731264" y="2650908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6160F37-D1C2-3ADA-761E-B705EE657708}"/>
              </a:ext>
            </a:extLst>
          </p:cNvPr>
          <p:cNvSpPr/>
          <p:nvPr/>
        </p:nvSpPr>
        <p:spPr>
          <a:xfrm>
            <a:off x="5104063" y="2660611"/>
            <a:ext cx="751170" cy="11650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9FAC0E-B396-643E-4C53-D75FC41967E5}"/>
              </a:ext>
            </a:extLst>
          </p:cNvPr>
          <p:cNvSpPr/>
          <p:nvPr/>
        </p:nvSpPr>
        <p:spPr>
          <a:xfrm>
            <a:off x="6437516" y="2675154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B2F76E-9C6E-9E9B-76C3-3EF8007BCD65}"/>
              </a:ext>
            </a:extLst>
          </p:cNvPr>
          <p:cNvSpPr txBox="1"/>
          <p:nvPr/>
        </p:nvSpPr>
        <p:spPr>
          <a:xfrm>
            <a:off x="2349579" y="3904281"/>
            <a:ext cx="1015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888776-0716-60CC-4EE5-3C9E2434E386}"/>
              </a:ext>
            </a:extLst>
          </p:cNvPr>
          <p:cNvSpPr txBox="1"/>
          <p:nvPr/>
        </p:nvSpPr>
        <p:spPr>
          <a:xfrm>
            <a:off x="3553960" y="2371530"/>
            <a:ext cx="11341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起始地址</a:t>
            </a:r>
            <a:r>
              <a:rPr lang="en-US" altLang="zh-CN" sz="1000" b="1" dirty="0"/>
              <a:t>0x1000</a:t>
            </a:r>
            <a:endParaRPr lang="zh-CN" altLang="en-US" sz="10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E923A9E-EBC5-1BAE-5E7E-CBBA65F1BFEC}"/>
              </a:ext>
            </a:extLst>
          </p:cNvPr>
          <p:cNvSpPr txBox="1"/>
          <p:nvPr/>
        </p:nvSpPr>
        <p:spPr>
          <a:xfrm>
            <a:off x="5102196" y="3904537"/>
            <a:ext cx="101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1B1F395-BC0B-A6EC-6219-88848DEA8B8B}"/>
              </a:ext>
            </a:extLst>
          </p:cNvPr>
          <p:cNvSpPr txBox="1"/>
          <p:nvPr/>
        </p:nvSpPr>
        <p:spPr>
          <a:xfrm>
            <a:off x="6434310" y="3904280"/>
            <a:ext cx="1122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D2D1842-2698-E529-14C7-746B0914F468}"/>
              </a:ext>
            </a:extLst>
          </p:cNvPr>
          <p:cNvSpPr/>
          <p:nvPr/>
        </p:nvSpPr>
        <p:spPr>
          <a:xfrm>
            <a:off x="3731264" y="2878226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0x5000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EF1A74-7E23-536F-4AC5-192473207775}"/>
              </a:ext>
            </a:extLst>
          </p:cNvPr>
          <p:cNvSpPr/>
          <p:nvPr/>
        </p:nvSpPr>
        <p:spPr>
          <a:xfrm>
            <a:off x="5104010" y="3238268"/>
            <a:ext cx="746419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0x3000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E831472-5CDB-8665-2363-9CC03351DE1B}"/>
              </a:ext>
            </a:extLst>
          </p:cNvPr>
          <p:cNvSpPr/>
          <p:nvPr/>
        </p:nvSpPr>
        <p:spPr>
          <a:xfrm>
            <a:off x="6437516" y="3044665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物理页号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9246CC9-E013-4FA4-CFB2-64DB897EC668}"/>
              </a:ext>
            </a:extLst>
          </p:cNvPr>
          <p:cNvSpPr/>
          <p:nvPr/>
        </p:nvSpPr>
        <p:spPr>
          <a:xfrm>
            <a:off x="288602" y="2114637"/>
            <a:ext cx="1141215" cy="80123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页表基地址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寄存器</a:t>
            </a:r>
            <a:r>
              <a:rPr lang="en-US" altLang="zh-CN" sz="1200" b="1" dirty="0">
                <a:solidFill>
                  <a:schemeClr val="tx1"/>
                </a:solidFill>
              </a:rPr>
              <a:t>TTBR0_EL1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0416D2B-4713-8331-6783-1BB763E774E9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429818" y="2515252"/>
            <a:ext cx="1022982" cy="17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0">
            <a:extLst>
              <a:ext uri="{FF2B5EF4-FFF2-40B4-BE49-F238E27FC236}">
                <a16:creationId xmlns:a16="http://schemas.microsoft.com/office/drawing/2014/main" id="{F65DE629-3554-436E-7361-E94CDD6385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62576" y="2537441"/>
            <a:ext cx="1174006" cy="227646"/>
          </a:xfrm>
          <a:prstGeom prst="bentConnector3">
            <a:avLst>
              <a:gd name="adj1" fmla="val 998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0">
            <a:extLst>
              <a:ext uri="{FF2B5EF4-FFF2-40B4-BE49-F238E27FC236}">
                <a16:creationId xmlns:a16="http://schemas.microsoft.com/office/drawing/2014/main" id="{DBEB9CDD-0BC5-4848-FB0B-B40850564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865" y="2355714"/>
            <a:ext cx="801230" cy="243795"/>
          </a:xfrm>
          <a:prstGeom prst="bentConnector3">
            <a:avLst>
              <a:gd name="adj1" fmla="val 995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0">
            <a:extLst>
              <a:ext uri="{FF2B5EF4-FFF2-40B4-BE49-F238E27FC236}">
                <a16:creationId xmlns:a16="http://schemas.microsoft.com/office/drawing/2014/main" id="{8055E7BB-D1FC-6F0C-39BF-5872FDF0DBC1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4349580" y="2488639"/>
            <a:ext cx="1178862" cy="330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0">
            <a:extLst>
              <a:ext uri="{FF2B5EF4-FFF2-40B4-BE49-F238E27FC236}">
                <a16:creationId xmlns:a16="http://schemas.microsoft.com/office/drawing/2014/main" id="{7E278BCC-276C-E0D6-A697-B93790C6E0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003" y="2386204"/>
            <a:ext cx="985259" cy="331662"/>
          </a:xfrm>
          <a:prstGeom prst="bentConnector3">
            <a:avLst>
              <a:gd name="adj1" fmla="val 991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92">
            <a:extLst>
              <a:ext uri="{FF2B5EF4-FFF2-40B4-BE49-F238E27FC236}">
                <a16:creationId xmlns:a16="http://schemas.microsoft.com/office/drawing/2014/main" id="{12DD967D-9E39-ECBD-717D-DEB46F339D8C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4482434" y="2660611"/>
            <a:ext cx="621576" cy="368272"/>
          </a:xfrm>
          <a:prstGeom prst="bentConnector3">
            <a:avLst>
              <a:gd name="adj1" fmla="val 655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388D454-A9DB-3FA7-CBCD-973CE55491A4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3214572" y="2650907"/>
            <a:ext cx="516692" cy="729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4E06F32-BEFB-A9B3-731A-776A302D93C0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5850430" y="2685381"/>
            <a:ext cx="587035" cy="70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E3FB07B5-9657-86C3-D63C-633B389959A5}"/>
              </a:ext>
            </a:extLst>
          </p:cNvPr>
          <p:cNvSpPr/>
          <p:nvPr/>
        </p:nvSpPr>
        <p:spPr>
          <a:xfrm>
            <a:off x="6043937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物理页号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620C261-8AD5-BD06-9A7E-4805694D9520}"/>
              </a:ext>
            </a:extLst>
          </p:cNvPr>
          <p:cNvSpPr/>
          <p:nvPr/>
        </p:nvSpPr>
        <p:spPr>
          <a:xfrm>
            <a:off x="7324193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D0ED8A-A797-9CE4-D9BD-978E8130CDEC}"/>
              </a:ext>
            </a:extLst>
          </p:cNvPr>
          <p:cNvSpPr txBox="1"/>
          <p:nvPr/>
        </p:nvSpPr>
        <p:spPr>
          <a:xfrm>
            <a:off x="5207037" y="453867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物理地址</a:t>
            </a:r>
          </a:p>
        </p:txBody>
      </p:sp>
      <p:cxnSp>
        <p:nvCxnSpPr>
          <p:cNvPr id="84" name="直接箭头连接符 131">
            <a:extLst>
              <a:ext uri="{FF2B5EF4-FFF2-40B4-BE49-F238E27FC236}">
                <a16:creationId xmlns:a16="http://schemas.microsoft.com/office/drawing/2014/main" id="{2FE7B561-EB43-CE6A-327A-6A9EC9BD0A80}"/>
              </a:ext>
            </a:extLst>
          </p:cNvPr>
          <p:cNvCxnSpPr>
            <a:stCxn id="50" idx="3"/>
            <a:endCxn id="82" idx="0"/>
          </p:cNvCxnSpPr>
          <p:nvPr/>
        </p:nvCxnSpPr>
        <p:spPr>
          <a:xfrm>
            <a:off x="5316070" y="631891"/>
            <a:ext cx="2648250" cy="3906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507A05CE-2567-86D3-4777-5A2FF216C2B5}"/>
              </a:ext>
            </a:extLst>
          </p:cNvPr>
          <p:cNvCxnSpPr>
            <a:stCxn id="71" idx="3"/>
            <a:endCxn id="81" idx="0"/>
          </p:cNvCxnSpPr>
          <p:nvPr/>
        </p:nvCxnSpPr>
        <p:spPr>
          <a:xfrm flipH="1">
            <a:off x="6684065" y="3195321"/>
            <a:ext cx="504621" cy="1343356"/>
          </a:xfrm>
          <a:prstGeom prst="bentConnector4">
            <a:avLst>
              <a:gd name="adj1" fmla="val -37215"/>
              <a:gd name="adj2" fmla="val 556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AF3A11BC-143D-0E32-CBED-DBC1CD8DA067}"/>
              </a:ext>
            </a:extLst>
          </p:cNvPr>
          <p:cNvSpPr txBox="1"/>
          <p:nvPr/>
        </p:nvSpPr>
        <p:spPr>
          <a:xfrm>
            <a:off x="2020624" y="1495565"/>
            <a:ext cx="5503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47                        39 38                    30 29                     21 20                      12            </a:t>
            </a:r>
            <a:endParaRPr lang="zh-CN" altLang="en-US" sz="12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16478F3-4E42-78AD-9DA0-68F1B344BDAF}"/>
              </a:ext>
            </a:extLst>
          </p:cNvPr>
          <p:cNvSpPr txBox="1"/>
          <p:nvPr/>
        </p:nvSpPr>
        <p:spPr>
          <a:xfrm>
            <a:off x="2701696" y="234650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47                     12 11                       0</a:t>
            </a:r>
            <a:endParaRPr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EDE253-06BA-CD28-33D2-91FC286FB527}"/>
              </a:ext>
            </a:extLst>
          </p:cNvPr>
          <p:cNvSpPr txBox="1"/>
          <p:nvPr/>
        </p:nvSpPr>
        <p:spPr>
          <a:xfrm>
            <a:off x="3731264" y="3929933"/>
            <a:ext cx="1002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9B0CCE0-3727-9B8E-7832-3D9410190C7E}"/>
              </a:ext>
            </a:extLst>
          </p:cNvPr>
          <p:cNvSpPr txBox="1"/>
          <p:nvPr/>
        </p:nvSpPr>
        <p:spPr>
          <a:xfrm>
            <a:off x="4575376" y="2376601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0x5000</a:t>
            </a:r>
            <a:endParaRPr lang="zh-CN" altLang="en-US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7196FB4-0C5A-59D9-9C0E-B616E023AF7F}"/>
              </a:ext>
            </a:extLst>
          </p:cNvPr>
          <p:cNvSpPr txBox="1"/>
          <p:nvPr/>
        </p:nvSpPr>
        <p:spPr>
          <a:xfrm>
            <a:off x="5881060" y="2383569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0x3000</a:t>
            </a:r>
            <a:endParaRPr lang="zh-CN" altLang="en-US" sz="1000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AA245DC-BD41-832B-34FE-FB6B72358A3E}"/>
              </a:ext>
            </a:extLst>
          </p:cNvPr>
          <p:cNvSpPr txBox="1"/>
          <p:nvPr/>
        </p:nvSpPr>
        <p:spPr>
          <a:xfrm>
            <a:off x="2213597" y="2187457"/>
            <a:ext cx="714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/>
              <a:t>第</a:t>
            </a:r>
            <a:r>
              <a:rPr lang="en-US" altLang="zh-CN" sz="1100" b="1" dirty="0">
                <a:solidFill>
                  <a:srgbClr val="00B0F1"/>
                </a:solidFill>
              </a:rPr>
              <a:t>69</a:t>
            </a:r>
            <a:r>
              <a:rPr lang="zh-CN" altLang="en-US" sz="1100" b="1" dirty="0"/>
              <a:t>项</a:t>
            </a:r>
            <a:endParaRPr lang="zh-CN" altLang="en-US" sz="11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E0615EA-B6C9-9F63-E5FA-655A595D29F0}"/>
              </a:ext>
            </a:extLst>
          </p:cNvPr>
          <p:cNvSpPr/>
          <p:nvPr/>
        </p:nvSpPr>
        <p:spPr>
          <a:xfrm>
            <a:off x="2463402" y="3229527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0x1000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839C4-3E15-6082-1A40-35C41997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BCEB89-D57F-54C2-7618-6207A5928D9C}"/>
              </a:ext>
            </a:extLst>
          </p:cNvPr>
          <p:cNvSpPr txBox="1"/>
          <p:nvPr/>
        </p:nvSpPr>
        <p:spPr>
          <a:xfrm>
            <a:off x="284448" y="4582384"/>
            <a:ext cx="56733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翻译一个虚拟地址需要的页表大小</a:t>
            </a:r>
            <a:r>
              <a:rPr kumimoji="1" lang="en-US" altLang="zh-CN" dirty="0">
                <a:solidFill>
                  <a:srgbClr val="C00000"/>
                </a:solidFill>
              </a:rPr>
              <a:t>=16K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(4</a:t>
            </a:r>
            <a:r>
              <a:rPr kumimoji="1" lang="zh-CN" altLang="en-US" dirty="0">
                <a:solidFill>
                  <a:srgbClr val="C00000"/>
                </a:solidFill>
              </a:rPr>
              <a:t>*</a:t>
            </a:r>
            <a:r>
              <a:rPr kumimoji="1" lang="en-US" altLang="zh-CN" dirty="0">
                <a:solidFill>
                  <a:srgbClr val="C00000"/>
                </a:solidFill>
              </a:rPr>
              <a:t>4K)</a:t>
            </a:r>
          </a:p>
          <a:p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b="1" dirty="0"/>
              <a:t>问：若页表共占用</a:t>
            </a:r>
            <a:r>
              <a:rPr kumimoji="1" lang="en-US" altLang="zh-CN" b="1" dirty="0"/>
              <a:t>16K</a:t>
            </a:r>
            <a:r>
              <a:rPr kumimoji="1" lang="zh-CN" altLang="en-US" b="1" dirty="0"/>
              <a:t>，能够翻译的虚拟地址范围是？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4EF360-7BB4-8695-22E2-E3C650E6F1A3}"/>
              </a:ext>
            </a:extLst>
          </p:cNvPr>
          <p:cNvSpPr txBox="1"/>
          <p:nvPr/>
        </p:nvSpPr>
        <p:spPr>
          <a:xfrm>
            <a:off x="5833130" y="5130109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+mn-ea"/>
              </a:rPr>
              <a:t>4K·512=2M</a:t>
            </a:r>
            <a:endParaRPr kumimoji="1" lang="zh-CN" altLang="en-US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515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844C0-F704-8BB4-143B-285ACEC4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5698976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多级页表节省内存示例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D4D83B-4F1E-9991-64F1-6093B96C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67DD165-4D1F-6B1D-2519-A054A2276B4B}"/>
              </a:ext>
            </a:extLst>
          </p:cNvPr>
          <p:cNvSpPr txBox="1"/>
          <p:nvPr/>
        </p:nvSpPr>
        <p:spPr>
          <a:xfrm>
            <a:off x="317300" y="971407"/>
            <a:ext cx="7075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假设进程只用到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2^36 – 1</a:t>
            </a:r>
            <a:r>
              <a:rPr kumimoji="1" lang="zh-CN" altLang="en-US" dirty="0"/>
              <a:t>三个虚拟页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单级页表</a:t>
            </a:r>
            <a:r>
              <a:rPr kumimoji="1" lang="en-US" altLang="zh-CN" dirty="0"/>
              <a:t>, </a:t>
            </a:r>
            <a:r>
              <a:rPr kumimoji="1" lang="zh-CN" altLang="en-US" dirty="0"/>
              <a:t>共需</a:t>
            </a:r>
            <a:r>
              <a:rPr kumimoji="1" lang="en-US" altLang="zh-CN" dirty="0"/>
              <a:t>2^36 </a:t>
            </a:r>
            <a:r>
              <a:rPr kumimoji="1" lang="zh-CN" altLang="en-US" dirty="0"/>
              <a:t>个页表项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，共占用</a:t>
            </a:r>
            <a:r>
              <a:rPr kumimoji="1" lang="en-US" altLang="zh-CN" dirty="0"/>
              <a:t>2^39B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4</a:t>
            </a:r>
            <a:r>
              <a:rPr kumimoji="1" lang="zh-CN" altLang="en-US" dirty="0"/>
              <a:t>级页表，仅需要一个</a:t>
            </a:r>
            <a:r>
              <a:rPr kumimoji="1" lang="en-US" altLang="zh-CN" dirty="0"/>
              <a:t>0</a:t>
            </a:r>
            <a:r>
              <a:rPr kumimoji="1" lang="zh-CN" altLang="en-US" dirty="0"/>
              <a:t>级页表，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个一级页表，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个二级页表，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个三级页表，共七个页表，每个页表页占用</a:t>
            </a:r>
            <a:r>
              <a:rPr kumimoji="1" lang="en-US" altLang="zh-CN" dirty="0"/>
              <a:t> (4KB)</a:t>
            </a:r>
            <a:r>
              <a:rPr kumimoji="1" lang="zh-CN" altLang="en-US" dirty="0"/>
              <a:t>，共占用</a:t>
            </a:r>
            <a:r>
              <a:rPr kumimoji="1" lang="en-US" altLang="zh-CN" dirty="0"/>
              <a:t>28KB</a:t>
            </a:r>
            <a:endParaRPr lang="zh-CN" altLang="en-US" dirty="0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47387539-FC12-062C-ED70-F634C347BFC9}"/>
              </a:ext>
            </a:extLst>
          </p:cNvPr>
          <p:cNvGrpSpPr/>
          <p:nvPr/>
        </p:nvGrpSpPr>
        <p:grpSpPr>
          <a:xfrm>
            <a:off x="7392851" y="627512"/>
            <a:ext cx="1745713" cy="2846396"/>
            <a:chOff x="6588224" y="450890"/>
            <a:chExt cx="1745713" cy="284639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9FEEDDB-348E-3B3A-F3E3-A8E92517DC8F}"/>
                </a:ext>
              </a:extLst>
            </p:cNvPr>
            <p:cNvGrpSpPr/>
            <p:nvPr/>
          </p:nvGrpSpPr>
          <p:grpSpPr>
            <a:xfrm>
              <a:off x="7092280" y="913284"/>
              <a:ext cx="752019" cy="2384002"/>
              <a:chOff x="610711" y="2209428"/>
              <a:chExt cx="752019" cy="2384002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F6C38CA-A5FF-7DD2-701B-A4406369945C}"/>
                  </a:ext>
                </a:extLst>
              </p:cNvPr>
              <p:cNvSpPr/>
              <p:nvPr/>
            </p:nvSpPr>
            <p:spPr>
              <a:xfrm>
                <a:off x="611560" y="2209428"/>
                <a:ext cx="751170" cy="238400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0F825D2-8D7A-EC5F-190B-93FA6BEFF562}"/>
                  </a:ext>
                </a:extLst>
              </p:cNvPr>
              <p:cNvSpPr/>
              <p:nvPr/>
            </p:nvSpPr>
            <p:spPr>
              <a:xfrm>
                <a:off x="611560" y="2209428"/>
                <a:ext cx="751170" cy="3013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0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5B49464-D4B4-3257-91B3-9E6AD38A235D}"/>
                  </a:ext>
                </a:extLst>
              </p:cNvPr>
              <p:cNvSpPr/>
              <p:nvPr/>
            </p:nvSpPr>
            <p:spPr>
              <a:xfrm>
                <a:off x="611560" y="2812050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BF7EFAE-4E6E-D05D-D4C3-BD8D669F4853}"/>
                  </a:ext>
                </a:extLst>
              </p:cNvPr>
              <p:cNvSpPr/>
              <p:nvPr/>
            </p:nvSpPr>
            <p:spPr>
              <a:xfrm>
                <a:off x="611560" y="3082193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EAC4BD0-A024-4B1D-8D48-5D14FFBE3FCE}"/>
                  </a:ext>
                </a:extLst>
              </p:cNvPr>
              <p:cNvSpPr/>
              <p:nvPr/>
            </p:nvSpPr>
            <p:spPr>
              <a:xfrm>
                <a:off x="610711" y="3689497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F6D1083-0D35-C889-44C8-A7EFCAC282FB}"/>
                  </a:ext>
                </a:extLst>
              </p:cNvPr>
              <p:cNvSpPr/>
              <p:nvPr/>
            </p:nvSpPr>
            <p:spPr>
              <a:xfrm>
                <a:off x="610711" y="3990808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09507BD-3AE8-23F0-CFB0-844D1E56E506}"/>
                </a:ext>
              </a:extLst>
            </p:cNvPr>
            <p:cNvSpPr txBox="1"/>
            <p:nvPr/>
          </p:nvSpPr>
          <p:spPr>
            <a:xfrm>
              <a:off x="6588224" y="450890"/>
              <a:ext cx="17457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dirty="0"/>
                <a:t>进程</a:t>
              </a:r>
              <a:r>
                <a:rPr kumimoji="1" lang="en-US" altLang="zh-CN" dirty="0"/>
                <a:t>1</a:t>
              </a:r>
              <a:r>
                <a:rPr kumimoji="1" lang="zh-CN" altLang="en-US" dirty="0"/>
                <a:t>的页表</a:t>
              </a:r>
              <a:endParaRPr lang="zh-CN" altLang="en-US" dirty="0"/>
            </a:p>
          </p:txBody>
        </p: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17D8AEC5-EF4E-ADE0-AB7B-8D8CA4CFF503}"/>
              </a:ext>
            </a:extLst>
          </p:cNvPr>
          <p:cNvSpPr/>
          <p:nvPr/>
        </p:nvSpPr>
        <p:spPr>
          <a:xfrm>
            <a:off x="778000" y="3100195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ADD4EC4-FBC4-F91F-CA15-7C444A52600C}"/>
              </a:ext>
            </a:extLst>
          </p:cNvPr>
          <p:cNvSpPr/>
          <p:nvPr/>
        </p:nvSpPr>
        <p:spPr>
          <a:xfrm>
            <a:off x="1865437" y="2433093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B41A6F7-6797-6F24-23C0-788130F7EA3D}"/>
              </a:ext>
            </a:extLst>
          </p:cNvPr>
          <p:cNvSpPr/>
          <p:nvPr/>
        </p:nvSpPr>
        <p:spPr>
          <a:xfrm>
            <a:off x="3002170" y="2422011"/>
            <a:ext cx="622765" cy="1046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1857C3B-6D1A-3321-AF0E-F579DD524BF3}"/>
              </a:ext>
            </a:extLst>
          </p:cNvPr>
          <p:cNvSpPr/>
          <p:nvPr/>
        </p:nvSpPr>
        <p:spPr>
          <a:xfrm>
            <a:off x="4215822" y="2195475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F5DC378-0C5B-0799-92E0-34F1DFB2A414}"/>
              </a:ext>
            </a:extLst>
          </p:cNvPr>
          <p:cNvSpPr txBox="1"/>
          <p:nvPr/>
        </p:nvSpPr>
        <p:spPr>
          <a:xfrm>
            <a:off x="554117" y="4238414"/>
            <a:ext cx="1068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18A58B2-477B-CD46-F835-207150CE0018}"/>
              </a:ext>
            </a:extLst>
          </p:cNvPr>
          <p:cNvSpPr txBox="1"/>
          <p:nvPr/>
        </p:nvSpPr>
        <p:spPr>
          <a:xfrm>
            <a:off x="2807278" y="5138858"/>
            <a:ext cx="101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5CD7C9A-9955-08D5-5C17-3C48EFCB80B5}"/>
              </a:ext>
            </a:extLst>
          </p:cNvPr>
          <p:cNvSpPr txBox="1"/>
          <p:nvPr/>
        </p:nvSpPr>
        <p:spPr>
          <a:xfrm>
            <a:off x="4065727" y="5138858"/>
            <a:ext cx="1012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C03DF55-1AF2-C0D0-161E-00D1E4F0EAF0}"/>
              </a:ext>
            </a:extLst>
          </p:cNvPr>
          <p:cNvSpPr/>
          <p:nvPr/>
        </p:nvSpPr>
        <p:spPr>
          <a:xfrm>
            <a:off x="1865437" y="2428389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F9549ED-BA6C-D733-0239-3A2121DF44FA}"/>
              </a:ext>
            </a:extLst>
          </p:cNvPr>
          <p:cNvSpPr/>
          <p:nvPr/>
        </p:nvSpPr>
        <p:spPr>
          <a:xfrm>
            <a:off x="3000289" y="2428389"/>
            <a:ext cx="618826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D5BEFDF-33BF-CE28-D852-1BE144F1DB43}"/>
              </a:ext>
            </a:extLst>
          </p:cNvPr>
          <p:cNvSpPr/>
          <p:nvPr/>
        </p:nvSpPr>
        <p:spPr>
          <a:xfrm>
            <a:off x="4215822" y="2206655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0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92" name="直接箭头连接符 92">
            <a:extLst>
              <a:ext uri="{FF2B5EF4-FFF2-40B4-BE49-F238E27FC236}">
                <a16:creationId xmlns:a16="http://schemas.microsoft.com/office/drawing/2014/main" id="{C8D3565F-77FD-16F3-7D11-5B7BD531A216}"/>
              </a:ext>
            </a:extLst>
          </p:cNvPr>
          <p:cNvCxnSpPr>
            <a:cxnSpLocks/>
            <a:stCxn id="86" idx="3"/>
          </p:cNvCxnSpPr>
          <p:nvPr/>
        </p:nvCxnSpPr>
        <p:spPr>
          <a:xfrm flipV="1">
            <a:off x="2488202" y="2422011"/>
            <a:ext cx="506267" cy="141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CDBF609-989A-C7C2-365E-7F38C923E346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1400732" y="2428389"/>
            <a:ext cx="459186" cy="799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B7255C2-2F45-71C7-D5F0-4725EEF358CB}"/>
              </a:ext>
            </a:extLst>
          </p:cNvPr>
          <p:cNvCxnSpPr>
            <a:cxnSpLocks/>
            <a:stCxn id="87" idx="3"/>
          </p:cNvCxnSpPr>
          <p:nvPr/>
        </p:nvCxnSpPr>
        <p:spPr>
          <a:xfrm flipV="1">
            <a:off x="3619115" y="2195475"/>
            <a:ext cx="596707" cy="368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5347F7BD-A5DE-1436-F8E2-7F73FF1FDCA5}"/>
              </a:ext>
            </a:extLst>
          </p:cNvPr>
          <p:cNvSpPr txBox="1"/>
          <p:nvPr/>
        </p:nvSpPr>
        <p:spPr>
          <a:xfrm>
            <a:off x="1637158" y="5141320"/>
            <a:ext cx="101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EAAAFFB-3D3C-C50B-BC52-D2FFC651E000}"/>
              </a:ext>
            </a:extLst>
          </p:cNvPr>
          <p:cNvSpPr/>
          <p:nvPr/>
        </p:nvSpPr>
        <p:spPr>
          <a:xfrm>
            <a:off x="777967" y="3092662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5D2B801-1F44-200E-2D85-E4EDF7E3CDC0}"/>
              </a:ext>
            </a:extLst>
          </p:cNvPr>
          <p:cNvSpPr/>
          <p:nvPr/>
        </p:nvSpPr>
        <p:spPr>
          <a:xfrm>
            <a:off x="777967" y="3914751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511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FB2474D4-8F45-0B71-C826-E8F02A4EDCEA}"/>
              </a:ext>
            </a:extLst>
          </p:cNvPr>
          <p:cNvSpPr/>
          <p:nvPr/>
        </p:nvSpPr>
        <p:spPr>
          <a:xfrm>
            <a:off x="1859918" y="3987182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0208D5C-229E-C03B-38F6-C6BD5D83F344}"/>
              </a:ext>
            </a:extLst>
          </p:cNvPr>
          <p:cNvSpPr/>
          <p:nvPr/>
        </p:nvSpPr>
        <p:spPr>
          <a:xfrm>
            <a:off x="1859918" y="4787876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511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D659CEB-5F2C-1D77-BDD5-6A5239D9BFDD}"/>
              </a:ext>
            </a:extLst>
          </p:cNvPr>
          <p:cNvSpPr/>
          <p:nvPr/>
        </p:nvSpPr>
        <p:spPr>
          <a:xfrm>
            <a:off x="3002170" y="4002130"/>
            <a:ext cx="622765" cy="1046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0646704-55DA-4A31-B734-D21CA7D62DB3}"/>
              </a:ext>
            </a:extLst>
          </p:cNvPr>
          <p:cNvSpPr/>
          <p:nvPr/>
        </p:nvSpPr>
        <p:spPr>
          <a:xfrm>
            <a:off x="3000289" y="4772239"/>
            <a:ext cx="618826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511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4CFA6CD-ADBF-C1E9-866A-26DE7EEEBE1E}"/>
              </a:ext>
            </a:extLst>
          </p:cNvPr>
          <p:cNvSpPr/>
          <p:nvPr/>
        </p:nvSpPr>
        <p:spPr>
          <a:xfrm>
            <a:off x="4215822" y="4002130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C8F2D4F-1BA2-29C0-8E3D-E4C92396D509}"/>
              </a:ext>
            </a:extLst>
          </p:cNvPr>
          <p:cNvSpPr/>
          <p:nvPr/>
        </p:nvSpPr>
        <p:spPr>
          <a:xfrm>
            <a:off x="4215822" y="4800271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511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B1E95B3C-1318-76A7-0EAE-D6E5D7C7973C}"/>
              </a:ext>
            </a:extLst>
          </p:cNvPr>
          <p:cNvCxnSpPr>
            <a:cxnSpLocks/>
            <a:stCxn id="105" idx="3"/>
          </p:cNvCxnSpPr>
          <p:nvPr/>
        </p:nvCxnSpPr>
        <p:spPr>
          <a:xfrm flipV="1">
            <a:off x="1400732" y="3987182"/>
            <a:ext cx="459186" cy="6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EE187E7B-FBF4-D986-4294-748676E81B6E}"/>
              </a:ext>
            </a:extLst>
          </p:cNvPr>
          <p:cNvCxnSpPr>
            <a:cxnSpLocks/>
          </p:cNvCxnSpPr>
          <p:nvPr/>
        </p:nvCxnSpPr>
        <p:spPr>
          <a:xfrm flipV="1">
            <a:off x="2488202" y="4007225"/>
            <a:ext cx="506267" cy="1041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4977D155-1CDF-19DD-E985-6A44A4CFD5B9}"/>
              </a:ext>
            </a:extLst>
          </p:cNvPr>
          <p:cNvCxnSpPr>
            <a:cxnSpLocks/>
          </p:cNvCxnSpPr>
          <p:nvPr/>
        </p:nvCxnSpPr>
        <p:spPr>
          <a:xfrm flipV="1">
            <a:off x="3624935" y="3996458"/>
            <a:ext cx="590887" cy="1040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484BCDCB-2286-F191-6ECB-7E3FF63CB7F8}"/>
              </a:ext>
            </a:extLst>
          </p:cNvPr>
          <p:cNvSpPr/>
          <p:nvPr/>
        </p:nvSpPr>
        <p:spPr>
          <a:xfrm>
            <a:off x="7896058" y="2262396"/>
            <a:ext cx="751170" cy="3013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...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E9C7BFC-9F58-7799-8AA2-75D80690B597}"/>
              </a:ext>
            </a:extLst>
          </p:cNvPr>
          <p:cNvSpPr/>
          <p:nvPr/>
        </p:nvSpPr>
        <p:spPr>
          <a:xfrm>
            <a:off x="7896907" y="1388083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A2ED759B-6F70-BF95-3EA1-70219E7B9CC1}"/>
              </a:ext>
            </a:extLst>
          </p:cNvPr>
          <p:cNvSpPr/>
          <p:nvPr/>
        </p:nvSpPr>
        <p:spPr>
          <a:xfrm>
            <a:off x="7896058" y="3180769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2^36-1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092CD53-CABC-35B9-D42F-DCDAB61F5877}"/>
              </a:ext>
            </a:extLst>
          </p:cNvPr>
          <p:cNvSpPr/>
          <p:nvPr/>
        </p:nvSpPr>
        <p:spPr>
          <a:xfrm>
            <a:off x="4216671" y="2467532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35CE6B8-09A3-2297-2030-69242FFE5BE8}"/>
              </a:ext>
            </a:extLst>
          </p:cNvPr>
          <p:cNvSpPr txBox="1"/>
          <p:nvPr/>
        </p:nvSpPr>
        <p:spPr>
          <a:xfrm>
            <a:off x="4870947" y="2174321"/>
            <a:ext cx="603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chemeClr val="accent1"/>
                </a:solidFill>
              </a:rPr>
              <a:t>第</a:t>
            </a:r>
            <a:r>
              <a:rPr kumimoji="1" lang="en-US" altLang="zh-CN" sz="1100" dirty="0">
                <a:solidFill>
                  <a:schemeClr val="accent1"/>
                </a:solidFill>
              </a:rPr>
              <a:t>0</a:t>
            </a:r>
            <a:r>
              <a:rPr kumimoji="1" lang="zh-CN" altLang="en-US" sz="1100" dirty="0">
                <a:solidFill>
                  <a:schemeClr val="accent1"/>
                </a:solidFill>
              </a:rPr>
              <a:t>页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E448788-8FC3-C56B-8603-1B3B9F1FCF09}"/>
              </a:ext>
            </a:extLst>
          </p:cNvPr>
          <p:cNvSpPr txBox="1"/>
          <p:nvPr/>
        </p:nvSpPr>
        <p:spPr>
          <a:xfrm>
            <a:off x="4871436" y="2481549"/>
            <a:ext cx="603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chemeClr val="accent1"/>
                </a:solidFill>
              </a:rPr>
              <a:t>第</a:t>
            </a:r>
            <a:r>
              <a:rPr kumimoji="1" lang="en-US" altLang="zh-CN" sz="1100" dirty="0">
                <a:solidFill>
                  <a:schemeClr val="accent1"/>
                </a:solidFill>
              </a:rPr>
              <a:t>1</a:t>
            </a:r>
            <a:r>
              <a:rPr kumimoji="1" lang="zh-CN" altLang="en-US" sz="1100" dirty="0">
                <a:solidFill>
                  <a:schemeClr val="accent1"/>
                </a:solidFill>
              </a:rPr>
              <a:t>页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DA69A6C-6886-4F1D-1F6B-A567F8C41FF7}"/>
              </a:ext>
            </a:extLst>
          </p:cNvPr>
          <p:cNvSpPr txBox="1"/>
          <p:nvPr/>
        </p:nvSpPr>
        <p:spPr>
          <a:xfrm>
            <a:off x="4871435" y="4784983"/>
            <a:ext cx="9303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chemeClr val="accent1"/>
                </a:solidFill>
              </a:rPr>
              <a:t>第</a:t>
            </a:r>
            <a:r>
              <a:rPr kumimoji="1" lang="en-US" altLang="zh-CN" sz="1100" dirty="0">
                <a:solidFill>
                  <a:schemeClr val="accent1"/>
                </a:solidFill>
              </a:rPr>
              <a:t>2^36 -1</a:t>
            </a:r>
            <a:r>
              <a:rPr kumimoji="1" lang="zh-CN" altLang="en-US" sz="1100" dirty="0">
                <a:solidFill>
                  <a:schemeClr val="accent1"/>
                </a:solidFill>
              </a:rPr>
              <a:t>页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031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844C0-F704-8BB4-143B-285ACEC4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F104F-E108-213F-4F06-05775FA2F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5460"/>
            <a:ext cx="8229600" cy="377163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/>
              <a:t>多级页表是否一定比单级页表占用内存少？</a:t>
            </a:r>
            <a:endParaRPr kumimoji="1" lang="en-US" altLang="zh-C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/>
              <a:t>虚拟地址</a:t>
            </a:r>
            <a:r>
              <a:rPr kumimoji="1" lang="en-US" altLang="zh-CN" dirty="0"/>
              <a:t>0xFFF8080604FFF</a:t>
            </a:r>
            <a:r>
              <a:rPr kumimoji="1" lang="zh-CN" altLang="en-US" dirty="0"/>
              <a:t>对应的各级页表索引？</a:t>
            </a:r>
            <a:endParaRPr kumimoji="1" lang="en-US" altLang="zh-C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/>
              <a:t>若在页表中填写虚拟地址 </a:t>
            </a:r>
            <a:r>
              <a:rPr kumimoji="1" lang="en-US" altLang="zh-CN" dirty="0"/>
              <a:t>0-16M </a:t>
            </a:r>
            <a:r>
              <a:rPr kumimoji="1" lang="zh-CN" altLang="en-US" dirty="0"/>
              <a:t>的映射，则页表至少需要占用多少空间？</a:t>
            </a:r>
            <a:endParaRPr kumimoji="1" lang="en-US" altLang="zh-C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D4D83B-4F1E-9991-64F1-6093B96C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5E1151-9214-44EB-CCCF-2D5645D88174}"/>
              </a:ext>
            </a:extLst>
          </p:cNvPr>
          <p:cNvGrpSpPr/>
          <p:nvPr/>
        </p:nvGrpSpPr>
        <p:grpSpPr>
          <a:xfrm>
            <a:off x="4543731" y="3361556"/>
            <a:ext cx="3744416" cy="2281436"/>
            <a:chOff x="1547664" y="1489348"/>
            <a:chExt cx="3796160" cy="252616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2FA930B-68E0-E72D-FA52-64D72E9E20C2}"/>
                </a:ext>
              </a:extLst>
            </p:cNvPr>
            <p:cNvSpPr/>
            <p:nvPr/>
          </p:nvSpPr>
          <p:spPr>
            <a:xfrm>
              <a:off x="1547664" y="2425452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F802DA-7335-79DE-9A1A-AAE3349406C0}"/>
                </a:ext>
              </a:extLst>
            </p:cNvPr>
            <p:cNvSpPr/>
            <p:nvPr/>
          </p:nvSpPr>
          <p:spPr>
            <a:xfrm>
              <a:off x="2638128" y="2424915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AA49498-4F1E-835D-16C4-1D895F401F80}"/>
                </a:ext>
              </a:extLst>
            </p:cNvPr>
            <p:cNvSpPr/>
            <p:nvPr/>
          </p:nvSpPr>
          <p:spPr>
            <a:xfrm>
              <a:off x="3702944" y="2424915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2DACF34-846D-F307-EF29-F1FFF5E678E4}"/>
                </a:ext>
              </a:extLst>
            </p:cNvPr>
            <p:cNvSpPr/>
            <p:nvPr/>
          </p:nvSpPr>
          <p:spPr>
            <a:xfrm>
              <a:off x="4767760" y="1489348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40CB441-8168-CA95-9DD1-D1826A57CDB8}"/>
                </a:ext>
              </a:extLst>
            </p:cNvPr>
            <p:cNvSpPr/>
            <p:nvPr/>
          </p:nvSpPr>
          <p:spPr>
            <a:xfrm>
              <a:off x="4767760" y="2209965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98AC947-AE14-040F-E2D1-098BE5B3B477}"/>
                </a:ext>
              </a:extLst>
            </p:cNvPr>
            <p:cNvSpPr/>
            <p:nvPr/>
          </p:nvSpPr>
          <p:spPr>
            <a:xfrm>
              <a:off x="4767760" y="3439450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00EA745-CA2A-F0D1-24E4-7578BED9CC45}"/>
                </a:ext>
              </a:extLst>
            </p:cNvPr>
            <p:cNvSpPr txBox="1"/>
            <p:nvPr/>
          </p:nvSpPr>
          <p:spPr>
            <a:xfrm>
              <a:off x="4848043" y="28817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157F6E6E-236B-12C0-0BBE-39E55368C9BB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2123728" y="2712947"/>
              <a:ext cx="5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43BBC299-619B-59E7-C1C3-763C6959D687}"/>
                </a:ext>
              </a:extLst>
            </p:cNvPr>
            <p:cNvCxnSpPr>
              <a:cxnSpLocks/>
            </p:cNvCxnSpPr>
            <p:nvPr/>
          </p:nvCxnSpPr>
          <p:spPr>
            <a:xfrm>
              <a:off x="3188544" y="2712947"/>
              <a:ext cx="5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D047DA7F-A23B-BD53-7D9F-A6BEA49E6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9008" y="1506580"/>
              <a:ext cx="482631" cy="9946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ECEB15A1-53EB-8A82-1C27-126001BA2C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4026" y="2220329"/>
              <a:ext cx="477613" cy="3232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98BD7CE-4559-73DE-DA7B-A153FD6AC48A}"/>
                </a:ext>
              </a:extLst>
            </p:cNvPr>
            <p:cNvSpPr/>
            <p:nvPr/>
          </p:nvSpPr>
          <p:spPr>
            <a:xfrm>
              <a:off x="3714887" y="2433281"/>
              <a:ext cx="558000" cy="67969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636992D-ED9B-A403-26E8-28C45406D7E5}"/>
                </a:ext>
              </a:extLst>
            </p:cNvPr>
            <p:cNvSpPr/>
            <p:nvPr/>
          </p:nvSpPr>
          <p:spPr>
            <a:xfrm>
              <a:off x="3714887" y="2501348"/>
              <a:ext cx="558000" cy="67969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32DABCF-754D-20AA-04F7-8D01F2438E97}"/>
                </a:ext>
              </a:extLst>
            </p:cNvPr>
            <p:cNvSpPr/>
            <p:nvPr/>
          </p:nvSpPr>
          <p:spPr>
            <a:xfrm>
              <a:off x="3713082" y="2739525"/>
              <a:ext cx="558000" cy="67969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3B61A57-8CDD-05F7-1575-9F3807185D9B}"/>
                </a:ext>
              </a:extLst>
            </p:cNvPr>
            <p:cNvSpPr txBox="1"/>
            <p:nvPr/>
          </p:nvSpPr>
          <p:spPr>
            <a:xfrm>
              <a:off x="3783227" y="23990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A0A046B3-5B3F-226B-0327-74C17A4AB219}"/>
                </a:ext>
              </a:extLst>
            </p:cNvPr>
            <p:cNvCxnSpPr>
              <a:cxnSpLocks/>
            </p:cNvCxnSpPr>
            <p:nvPr/>
          </p:nvCxnSpPr>
          <p:spPr>
            <a:xfrm>
              <a:off x="4277905" y="2779485"/>
              <a:ext cx="488752" cy="6599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59C257D-F79F-77E0-1422-B98AD83D7727}"/>
              </a:ext>
            </a:extLst>
          </p:cNvPr>
          <p:cNvSpPr txBox="1"/>
          <p:nvPr/>
        </p:nvSpPr>
        <p:spPr>
          <a:xfrm>
            <a:off x="4137541" y="2531065"/>
            <a:ext cx="454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第三级索引：（</a:t>
            </a:r>
            <a:r>
              <a:rPr kumimoji="1" lang="en-US" altLang="zh-CN" dirty="0"/>
              <a:t>VA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(0x1ff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&lt;&lt;</a:t>
            </a:r>
            <a:r>
              <a:rPr kumimoji="1" lang="zh-CN" altLang="en-US" dirty="0"/>
              <a:t> </a:t>
            </a:r>
            <a:r>
              <a:rPr kumimoji="1" lang="en-US" altLang="zh-CN" dirty="0"/>
              <a:t>12</a:t>
            </a:r>
            <a:r>
              <a:rPr kumimoji="1" lang="zh-CN" altLang="en-US" dirty="0"/>
              <a:t>）</a:t>
            </a:r>
            <a:r>
              <a:rPr kumimoji="1" lang="en-US" altLang="zh-CN" dirty="0"/>
              <a:t>)</a:t>
            </a:r>
            <a:r>
              <a:rPr kumimoji="1" lang="zh-CN" altLang="en-US" dirty="0"/>
              <a:t> </a:t>
            </a:r>
            <a:r>
              <a:rPr kumimoji="1" lang="en-US" altLang="zh-CN" dirty="0"/>
              <a:t>&gt;&gt;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12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124E1D-2DF3-9C59-71D3-BCD6B5494D08}"/>
              </a:ext>
            </a:extLst>
          </p:cNvPr>
          <p:cNvSpPr txBox="1"/>
          <p:nvPr/>
        </p:nvSpPr>
        <p:spPr>
          <a:xfrm>
            <a:off x="229387" y="3874389"/>
            <a:ext cx="4104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虚拟地址对应的 </a:t>
            </a:r>
            <a:r>
              <a:rPr kumimoji="1" lang="en-US" altLang="zh-CN" dirty="0"/>
              <a:t>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级页表项索引分别是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</a:t>
            </a:r>
            <a:r>
              <a:rPr kumimoji="1" lang="zh-CN" altLang="en-US" dirty="0"/>
              <a:t>、 </a:t>
            </a:r>
            <a:r>
              <a:rPr kumimoji="1" lang="en-US" altLang="zh-CN" dirty="0"/>
              <a:t>4</a:t>
            </a:r>
            <a:r>
              <a:rPr kumimoji="1" lang="zh-CN" altLang="en-US" dirty="0"/>
              <a:t>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44KB</a:t>
            </a:r>
            <a:r>
              <a:rPr kumimoji="1" lang="zh-CN" altLang="en-US" dirty="0"/>
              <a:t>。因为需要 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级页表页，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级页表页，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级页表，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级页表页，合计 </a:t>
            </a:r>
            <a:r>
              <a:rPr kumimoji="1" lang="en-US" altLang="zh-CN" dirty="0"/>
              <a:t>11 </a:t>
            </a:r>
            <a:r>
              <a:rPr kumimoji="1" lang="zh-CN" altLang="en-US" dirty="0"/>
              <a:t>个页表页。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879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A9C99-BFB9-9942-A5F3-30A3BCC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79ABB-9BBB-C14C-8B72-5FC2F589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两个页表基地址寄存器：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TTBR1_EL1</a:t>
            </a:r>
          </a:p>
          <a:p>
            <a:pPr lvl="2"/>
            <a:r>
              <a:rPr kumimoji="1" lang="en-US" altLang="zh-CN" dirty="0"/>
              <a:t>MMU</a:t>
            </a:r>
            <a:r>
              <a:rPr kumimoji="1" lang="zh-CN" altLang="en-US" dirty="0"/>
              <a:t>根据虚拟地址第</a:t>
            </a:r>
            <a:r>
              <a:rPr kumimoji="1" lang="en-US" altLang="zh-CN" dirty="0"/>
              <a:t>63</a:t>
            </a:r>
            <a:r>
              <a:rPr kumimoji="1" lang="zh-CN" altLang="en-US" dirty="0"/>
              <a:t>位选择使用哪一个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为例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应用程序（地址首位为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TTBR0_EL1</a:t>
            </a:r>
          </a:p>
          <a:p>
            <a:pPr lvl="2"/>
            <a:r>
              <a:rPr kumimoji="1" lang="zh-CN" altLang="en-US" dirty="0"/>
              <a:t>操作系统（地址首位为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一个寄存器：</a:t>
            </a:r>
            <a:r>
              <a:rPr kumimoji="1" lang="en-US" altLang="zh-CN" dirty="0"/>
              <a:t>CR3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br>
              <a:rPr kumimoji="1" lang="en-US" altLang="zh-CN" dirty="0"/>
            </a:b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6554B-664C-7E40-B835-1D6B0855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89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页表使能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机器上电会先进入物理寻址模式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系统软件需配置控制寄存器使能页表从而进入虚拟寻址模式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lang="en-US" altLang="zh-CN" dirty="0"/>
              <a:t>SCTLR_EL1, System Control Register, EL1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M</a:t>
            </a:r>
            <a:r>
              <a:rPr kumimoji="1" lang="zh-CN" altLang="en-US" dirty="0"/>
              <a:t>位）置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，即在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EL1</a:t>
            </a:r>
            <a:r>
              <a:rPr kumimoji="1" lang="zh-CN" altLang="en-US" dirty="0"/>
              <a:t>权限级使能页表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lang="en-US" altLang="zh-CN" dirty="0"/>
              <a:t>CR4</a:t>
            </a:r>
            <a:r>
              <a:rPr lang="zh-CN" altLang="en-US" dirty="0"/>
              <a:t>，第</a:t>
            </a:r>
            <a:r>
              <a:rPr lang="en-US" altLang="zh-CN" dirty="0"/>
              <a:t>31</a:t>
            </a:r>
            <a:r>
              <a:rPr lang="zh-CN" altLang="en-US" dirty="0"/>
              <a:t>位（</a:t>
            </a:r>
            <a:r>
              <a:rPr lang="en-US" altLang="zh-CN" dirty="0"/>
              <a:t>PG</a:t>
            </a:r>
            <a:r>
              <a:rPr lang="zh-CN" altLang="en-US" dirty="0"/>
              <a:t>位）置</a:t>
            </a:r>
            <a:r>
              <a:rPr lang="en-US" altLang="zh-CN" dirty="0"/>
              <a:t>1</a:t>
            </a:r>
            <a:r>
              <a:rPr lang="zh-CN" altLang="en-US" dirty="0"/>
              <a:t>，即使能页表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E8C072-9783-6ACB-18E9-EB7C5A433DD9}"/>
              </a:ext>
            </a:extLst>
          </p:cNvPr>
          <p:cNvSpPr txBox="1"/>
          <p:nvPr/>
        </p:nvSpPr>
        <p:spPr>
          <a:xfrm>
            <a:off x="1594262" y="5127389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问：操作系统在运行过程中使用虚拟地址还是物理地址？</a:t>
            </a:r>
          </a:p>
        </p:txBody>
      </p:sp>
    </p:spTree>
    <p:extLst>
      <p:ext uri="{BB962C8B-B14F-4D97-AF65-F5344CB8AC3E}">
        <p14:creationId xmlns:p14="http://schemas.microsoft.com/office/powerpoint/2010/main" val="347681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中的两个页表基地址寄存器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分别翻译部分虚拟地址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42128C-E32A-9FD9-F6A5-DD04C3D503E7}"/>
              </a:ext>
            </a:extLst>
          </p:cNvPr>
          <p:cNvSpPr txBox="1"/>
          <p:nvPr/>
        </p:nvSpPr>
        <p:spPr>
          <a:xfrm>
            <a:off x="1940510" y="5112296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问：操作系统页表和应用进程页表的数量是多少？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304FD3-6D4A-651A-23D6-0F3DE1388CFA}"/>
              </a:ext>
            </a:extLst>
          </p:cNvPr>
          <p:cNvSpPr txBox="1"/>
          <p:nvPr/>
        </p:nvSpPr>
        <p:spPr>
          <a:xfrm>
            <a:off x="3154884" y="4229165"/>
            <a:ext cx="4248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操作系统也需要为自己配置页表，从而使</a:t>
            </a:r>
            <a:r>
              <a:rPr kumimoji="1" lang="en-US" altLang="zh-CN" dirty="0"/>
              <a:t>MMU</a:t>
            </a:r>
            <a:r>
              <a:rPr kumimoji="1" lang="zh-CN" altLang="en-US" dirty="0"/>
              <a:t>能够把虚拟地址翻译成正确的物理地址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A603D-35CD-8187-A688-86995AC9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E438F1-6520-00E6-8C73-59A062C8B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A3EEE9-006B-7557-E18F-8833BD12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632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F805A-156F-8A46-92DD-A2E8EACA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05004-7A3B-E242-B5F1-5ECDD967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每级页表有若干离散的页表页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每个页表页占用一个物理页</a:t>
            </a:r>
            <a:endParaRPr kumimoji="1" lang="en-US" altLang="zh-CN" dirty="0"/>
          </a:p>
          <a:p>
            <a:r>
              <a:rPr kumimoji="1" lang="zh-CN" altLang="en-US" dirty="0"/>
              <a:t>第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级（顶层）页表有且仅有一个页表页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页表基地址寄存器存储的就是该页的物理地址</a:t>
            </a:r>
            <a:endParaRPr kumimoji="1" lang="en-US" altLang="zh-CN" dirty="0"/>
          </a:p>
          <a:p>
            <a:r>
              <a:rPr kumimoji="1" lang="zh-CN" altLang="en-US" dirty="0"/>
              <a:t>每个页表页中有 </a:t>
            </a:r>
            <a:r>
              <a:rPr kumimoji="1" lang="en-US" altLang="zh-CN" dirty="0"/>
              <a:t>512 </a:t>
            </a:r>
            <a:r>
              <a:rPr kumimoji="1" lang="zh-CN" altLang="en-US" dirty="0"/>
              <a:t>个页表项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每项为 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个字节（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位），用于存储物理地址和权限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8271E-85A1-AA4F-A2F7-3848DD6C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275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EE97B-DB38-0810-BE59-C7D74BFA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页表项中的属性位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20F87A-2525-E51D-922D-B9BCB13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707984" y="1561356"/>
            <a:ext cx="7728031" cy="123596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2368E-16A4-C425-ECD2-475AABE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A949D-84B2-26C8-7B97-C5DC5347CCA9}"/>
              </a:ext>
            </a:extLst>
          </p:cNvPr>
          <p:cNvSpPr txBox="1"/>
          <p:nvPr/>
        </p:nvSpPr>
        <p:spPr>
          <a:xfrm>
            <a:off x="707984" y="2986816"/>
            <a:ext cx="8820472" cy="2533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V</a:t>
            </a:r>
            <a:r>
              <a:rPr lang="zh-CN" altLang="en-US" dirty="0"/>
              <a:t>（</a:t>
            </a:r>
            <a:r>
              <a:rPr lang="en-US" altLang="zh-CN" dirty="0"/>
              <a:t>Valid</a:t>
            </a:r>
            <a:r>
              <a:rPr lang="zh-CN" altLang="en-US" dirty="0"/>
              <a:t>）：</a:t>
            </a:r>
            <a:r>
              <a:rPr kumimoji="1" lang="zh-CN" altLang="en-US" dirty="0"/>
              <a:t>当访问时</a:t>
            </a:r>
            <a:r>
              <a:rPr kumimoji="1" lang="en-US" altLang="zh-CN" dirty="0"/>
              <a:t>V=0</a:t>
            </a:r>
            <a:r>
              <a:rPr kumimoji="1" lang="zh-CN" altLang="en-US" dirty="0"/>
              <a:t>，则触发缺页异常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UXN（Unprivileged eXecute Never）：用户态不可执行（例如栈）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PXN</a:t>
            </a:r>
            <a:r>
              <a:rPr lang="zh-CN" altLang="en-US" dirty="0"/>
              <a:t>（</a:t>
            </a:r>
            <a:r>
              <a:rPr lang="en-US" altLang="zh-CN" dirty="0"/>
              <a:t>Privileged </a:t>
            </a:r>
            <a:r>
              <a:rPr lang="en-US" altLang="zh-CN" dirty="0" err="1"/>
              <a:t>eXecute</a:t>
            </a:r>
            <a:r>
              <a:rPr lang="en-US" altLang="zh-CN" dirty="0"/>
              <a:t> Never</a:t>
            </a:r>
            <a:r>
              <a:rPr lang="zh-CN" altLang="en-US" dirty="0"/>
              <a:t>）：内核态不可执行（防止内核执行用户代码）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AF</a:t>
            </a:r>
            <a:r>
              <a:rPr lang="zh-CN" altLang="en-US" dirty="0"/>
              <a:t>（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Flag</a:t>
            </a:r>
            <a:r>
              <a:rPr lang="zh-CN" altLang="en-US" dirty="0"/>
              <a:t>）：当访问时，</a:t>
            </a:r>
            <a:r>
              <a:rPr lang="en-US" altLang="zh-CN" dirty="0"/>
              <a:t>MMU</a:t>
            </a:r>
            <a:r>
              <a:rPr lang="zh-CN" altLang="en-US" dirty="0"/>
              <a:t>标记该位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AP</a:t>
            </a:r>
            <a:r>
              <a:rPr lang="zh-CN" altLang="en-US" dirty="0"/>
              <a:t>（</a:t>
            </a:r>
            <a:r>
              <a:rPr lang="en-US" altLang="zh-CN" dirty="0"/>
              <a:t>Access Permissions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DBM</a:t>
            </a:r>
            <a:r>
              <a:rPr lang="zh-CN" altLang="en-US" dirty="0"/>
              <a:t> （</a:t>
            </a:r>
            <a:r>
              <a:rPr lang="en-US" altLang="zh-CN" dirty="0"/>
              <a:t>Dirty</a:t>
            </a:r>
            <a:r>
              <a:rPr lang="zh-CN" altLang="en-US" dirty="0"/>
              <a:t> </a:t>
            </a:r>
            <a:r>
              <a:rPr lang="en-US" altLang="zh-CN" dirty="0"/>
              <a:t>Bit</a:t>
            </a:r>
            <a:r>
              <a:rPr lang="zh-CN" altLang="en-US" dirty="0"/>
              <a:t>）：</a:t>
            </a:r>
            <a:r>
              <a:rPr lang="en-US" altLang="zh-CN" dirty="0"/>
              <a:t> 51</a:t>
            </a:r>
            <a:r>
              <a:rPr lang="zh-CN" altLang="en-US" dirty="0"/>
              <a:t>位，</a:t>
            </a:r>
            <a:r>
              <a:rPr lang="en-US" altLang="zh-CN" dirty="0"/>
              <a:t>ARMv8.1-TTHM</a:t>
            </a:r>
            <a:r>
              <a:rPr lang="zh-CN" altLang="en-US" dirty="0"/>
              <a:t>特性支持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97A187B-CE20-CCA4-B5A3-D29D43A3C0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334042"/>
            <a:ext cx="2246385" cy="12671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6075FCB-D9F7-646B-393C-4297DA401299}"/>
              </a:ext>
            </a:extLst>
          </p:cNvPr>
          <p:cNvSpPr txBox="1"/>
          <p:nvPr/>
        </p:nvSpPr>
        <p:spPr>
          <a:xfrm>
            <a:off x="5600990" y="1202385"/>
            <a:ext cx="3212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+mn-ea"/>
              </a:rPr>
              <a:t>有效的</a:t>
            </a:r>
            <a:r>
              <a:rPr kumimoji="1" lang="en-US" altLang="zh-CN" sz="1600" dirty="0">
                <a:latin typeface="+mn-ea"/>
              </a:rPr>
              <a:t>3</a:t>
            </a:r>
            <a:r>
              <a:rPr kumimoji="1" lang="zh-CN" altLang="en-US" sz="1600" dirty="0">
                <a:latin typeface="+mn-ea"/>
              </a:rPr>
              <a:t>级页表项：第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位必须是</a:t>
            </a:r>
            <a:r>
              <a:rPr kumimoji="1" lang="en-US" altLang="zh-CN" sz="1600" dirty="0">
                <a:latin typeface="+mn-e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834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EE97B-DB38-0810-BE59-C7D74BFA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页表项中的属性位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20F87A-2525-E51D-922D-B9BCB13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707984" y="1561356"/>
            <a:ext cx="7728031" cy="123596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2368E-16A4-C425-ECD2-475AABE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3" name="内容占位符 5">
            <a:extLst>
              <a:ext uri="{FF2B5EF4-FFF2-40B4-BE49-F238E27FC236}">
                <a16:creationId xmlns:a16="http://schemas.microsoft.com/office/drawing/2014/main" id="{63D4425A-4371-5448-9E53-985E702BFC8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22"/>
          <a:stretch/>
        </p:blipFill>
        <p:spPr>
          <a:xfrm>
            <a:off x="708149" y="3433564"/>
            <a:ext cx="7728031" cy="131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60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007E3-7540-7BFF-B936-32B05385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页表项与大页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7C97674-810A-23FA-F417-D4C61F16B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58310"/>
            <a:ext cx="8229600" cy="31983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0BB96-1742-F9E7-4CA1-92F9F8D5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20EA9E-6B32-2FE2-2556-8C8CAF1B3F9E}"/>
              </a:ext>
            </a:extLst>
          </p:cNvPr>
          <p:cNvSpPr txBox="1"/>
          <p:nvPr/>
        </p:nvSpPr>
        <p:spPr>
          <a:xfrm>
            <a:off x="457200" y="4446655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多级页表中并非只有最后一级的页表项能够指 向物理页，中间级的页表项也能够直接指向物理页，而不是只能指向下一级页 表页。当中间级的页表项直接指向物理页时，其指向的会是大页，顾名思义， 会比下一级页表项指向的物理页大小更大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6835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EE97B-DB38-0810-BE59-C7D74BFA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使用大页时的页表项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20F87A-2525-E51D-922D-B9BCB13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8"/>
          <a:stretch/>
        </p:blipFill>
        <p:spPr>
          <a:xfrm>
            <a:off x="827584" y="1605773"/>
            <a:ext cx="7728031" cy="253593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2368E-16A4-C425-ECD2-475AABE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C113A9-5319-9DE3-C990-31BAE4B4F0DA}"/>
              </a:ext>
            </a:extLst>
          </p:cNvPr>
          <p:cNvSpPr txBox="1"/>
          <p:nvPr/>
        </p:nvSpPr>
        <p:spPr>
          <a:xfrm>
            <a:off x="4572000" y="4441117"/>
            <a:ext cx="3576620" cy="1156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+mn-ea"/>
              </a:rPr>
              <a:t>有效的</a:t>
            </a:r>
            <a:r>
              <a:rPr kumimoji="1" lang="en-US" altLang="zh-CN" sz="1600" dirty="0">
                <a:latin typeface="+mn-ea"/>
              </a:rPr>
              <a:t>0-2</a:t>
            </a:r>
            <a:r>
              <a:rPr kumimoji="1" lang="zh-CN" altLang="en-US" sz="1600" dirty="0">
                <a:latin typeface="+mn-ea"/>
              </a:rPr>
              <a:t>级页表项</a:t>
            </a:r>
            <a:endParaRPr kumimoji="1"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+mn-ea"/>
              </a:rPr>
              <a:t>第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位为</a:t>
            </a:r>
            <a:r>
              <a:rPr kumimoji="1" lang="en-US" altLang="zh-CN" sz="1600" dirty="0">
                <a:latin typeface="+mn-ea"/>
              </a:rPr>
              <a:t>0</a:t>
            </a:r>
            <a:r>
              <a:rPr kumimoji="1" lang="zh-CN" altLang="en-US" sz="1600" dirty="0">
                <a:latin typeface="+mn-ea"/>
              </a:rPr>
              <a:t>表示</a:t>
            </a:r>
            <a:r>
              <a:rPr kumimoji="1" lang="en-US" altLang="zh-CN" sz="1600" dirty="0">
                <a:latin typeface="+mn-ea"/>
              </a:rPr>
              <a:t>PFN</a:t>
            </a:r>
            <a:r>
              <a:rPr kumimoji="1" lang="zh-CN" altLang="en-US" sz="1600" dirty="0">
                <a:latin typeface="+mn-ea"/>
              </a:rPr>
              <a:t>指向大页</a:t>
            </a:r>
            <a:endParaRPr kumimoji="1"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+mn-ea"/>
              </a:rPr>
              <a:t>第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位为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表示</a:t>
            </a:r>
            <a:r>
              <a:rPr kumimoji="1" lang="en-US" altLang="zh-CN" sz="1600" dirty="0">
                <a:latin typeface="+mn-ea"/>
              </a:rPr>
              <a:t>PFN</a:t>
            </a:r>
            <a:r>
              <a:rPr kumimoji="1" lang="zh-CN" altLang="en-US" sz="1600" dirty="0">
                <a:latin typeface="+mn-ea"/>
              </a:rPr>
              <a:t>指向下一级页表</a:t>
            </a:r>
            <a:endParaRPr kumimoji="1"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8771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F9EA5E-2555-6148-937A-50227AAF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</a:t>
            </a:r>
            <a:r>
              <a:rPr lang="zh-CN" altLang="en-US" dirty="0"/>
              <a:t>：缓存页表项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3D4730D-0E66-D340-B10A-E01CA062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加速地址翻译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ECF17-539C-8640-A5CF-6324F131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49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F350E-09C2-1644-BFCA-8FA2626E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多级页表不是完美的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09881-454C-6845-9772-DCCD61A3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Tradeoff</a:t>
            </a:r>
            <a:r>
              <a:rPr kumimoji="1" lang="zh-CN" altLang="en-US" dirty="0"/>
              <a:t>是计算机中经典而永恒的话题</a:t>
            </a:r>
            <a:endParaRPr kumimoji="1" lang="en-US" altLang="zh-CN" dirty="0"/>
          </a:p>
          <a:p>
            <a:r>
              <a:rPr kumimoji="1" lang="zh-CN" altLang="en-US" dirty="0"/>
              <a:t>多级页表的设计是典型的用时间换空间的设计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优点：压缩页表大小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缺点：增加了访存次数（逐级查询）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次内存访问，变成了</a:t>
            </a:r>
            <a:r>
              <a:rPr kumimoji="1" lang="en-US" altLang="zh-CN" dirty="0"/>
              <a:t>5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如何降低地址翻译的开销？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C6E97-C395-0D40-A11C-F8308953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EA6F-3107-734D-9121-F2218F5C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B4DF78-44B7-894A-9270-A261E58D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DC1132-5909-7C49-BED9-D8160928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58BFA15E-98F9-394E-AC47-08275E6DF1BA}"/>
              </a:ext>
            </a:extLst>
          </p:cNvPr>
          <p:cNvSpPr/>
          <p:nvPr/>
        </p:nvSpPr>
        <p:spPr>
          <a:xfrm>
            <a:off x="4283968" y="1417340"/>
            <a:ext cx="3024336" cy="936104"/>
          </a:xfrm>
          <a:prstGeom prst="roundRect">
            <a:avLst>
              <a:gd name="adj" fmla="val 43198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1823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49CE1-12FD-6A49-9430-67B3FEAD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26C6-1158-2648-831C-A53F6960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TLB </a:t>
            </a:r>
            <a:r>
              <a:rPr kumimoji="1" lang="zh-CN" altLang="en-US" sz="2400" dirty="0"/>
              <a:t>位于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内部，是页表的缓存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Translation Lookaside Buffer</a:t>
            </a:r>
          </a:p>
          <a:p>
            <a:pPr lvl="1"/>
            <a:r>
              <a:rPr kumimoji="1" lang="zh-CN" altLang="en-US" sz="2000" dirty="0"/>
              <a:t>缓存了虚拟页号到物理页号的映射关系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C00000"/>
                </a:solidFill>
              </a:rPr>
              <a:t>有限数目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</a:t>
            </a:r>
            <a:endParaRPr kumimoji="1" lang="en-US" altLang="zh-CN" sz="2000" dirty="0"/>
          </a:p>
          <a:p>
            <a:r>
              <a:rPr kumimoji="1" lang="zh-CN" altLang="en-US" sz="2400" dirty="0"/>
              <a:t>在地址翻译过程中，</a:t>
            </a:r>
            <a:r>
              <a:rPr kumimoji="1" lang="en-US" altLang="zh-CN" sz="2400" dirty="0"/>
              <a:t>MMU</a:t>
            </a:r>
            <a:r>
              <a:rPr kumimoji="1" lang="zh-CN" altLang="en-US" sz="2400" dirty="0"/>
              <a:t>首先查询</a:t>
            </a:r>
            <a:r>
              <a:rPr kumimoji="1" lang="en-US" altLang="zh-CN" sz="2400" dirty="0"/>
              <a:t>TLB</a:t>
            </a:r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命中，则不再查询页表 （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fast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path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未命中，再查询页表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E0C9C-72CA-7544-9618-9FFFD1E6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76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ED331-48CE-404E-BA23-E9FE12C8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命中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F4235FB6-1E24-4BA9-A2A5-55B6FBA29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命中可以减少查询页表带来的访存次数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BBA4E-3162-4275-8AE2-BC419BF4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A8CDC1-5EA7-46CD-AF92-0F3334C1B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065412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6F53329-1A14-429C-B92A-F0D1B06D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451" y="3110516"/>
            <a:ext cx="889000" cy="1031875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F1A9709B-D38E-43A5-B891-32112A49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128" y="2873714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67CE0A59-6C52-4D31-AEC0-692069E7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450" y="3386171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9" name="Text Box 32">
            <a:extLst>
              <a:ext uri="{FF2B5EF4-FFF2-40B4-BE49-F238E27FC236}">
                <a16:creationId xmlns:a16="http://schemas.microsoft.com/office/drawing/2014/main" id="{2A01A114-18DA-4251-8CF7-982F109C8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62" y="4573489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A8C32388-AAB9-438B-880E-0AE83E7E54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3609256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77521-0653-4B63-BF66-255540D6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451" y="3404204"/>
            <a:ext cx="889000" cy="4445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12" name="Straight Arrow Connector 10">
            <a:extLst>
              <a:ext uri="{FF2B5EF4-FFF2-40B4-BE49-F238E27FC236}">
                <a16:creationId xmlns:a16="http://schemas.microsoft.com/office/drawing/2014/main" id="{C238FE43-AD99-4108-8924-1737B94033B6}"/>
              </a:ext>
            </a:extLst>
          </p:cNvPr>
          <p:cNvCxnSpPr>
            <a:cxnSpLocks noChangeShapeType="1"/>
            <a:stCxn id="11" idx="3"/>
            <a:endCxn id="6" idx="1"/>
          </p:cNvCxnSpPr>
          <p:nvPr/>
        </p:nvCxnSpPr>
        <p:spPr bwMode="auto">
          <a:xfrm flipV="1">
            <a:off x="2986451" y="3626454"/>
            <a:ext cx="11430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9">
            <a:extLst>
              <a:ext uri="{FF2B5EF4-FFF2-40B4-BE49-F238E27FC236}">
                <a16:creationId xmlns:a16="http://schemas.microsoft.com/office/drawing/2014/main" id="{F64C6A54-0458-433D-9BF3-B873209D3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522" y="3387495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4BA105-38CB-404E-9BCD-D2F578870BA4}"/>
              </a:ext>
            </a:extLst>
          </p:cNvPr>
          <p:cNvSpPr txBox="1"/>
          <p:nvPr/>
        </p:nvSpPr>
        <p:spPr>
          <a:xfrm>
            <a:off x="1985003" y="2065412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66552BA7-E00B-4721-A1BD-FEAA43488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185" y="2518338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16" name="Shape 49">
            <a:extLst>
              <a:ext uri="{FF2B5EF4-FFF2-40B4-BE49-F238E27FC236}">
                <a16:creationId xmlns:a16="http://schemas.microsoft.com/office/drawing/2014/main" id="{BC671385-2E5B-4757-88DA-3617AECED4C2}"/>
              </a:ext>
            </a:extLst>
          </p:cNvPr>
          <p:cNvCxnSpPr>
            <a:cxnSpLocks noChangeShapeType="1"/>
            <a:endCxn id="11" idx="2"/>
          </p:cNvCxnSpPr>
          <p:nvPr/>
        </p:nvCxnSpPr>
        <p:spPr bwMode="auto">
          <a:xfrm rot="10800000">
            <a:off x="2541951" y="3848704"/>
            <a:ext cx="3745177" cy="738188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>
            <a:extLst>
              <a:ext uri="{FF2B5EF4-FFF2-40B4-BE49-F238E27FC236}">
                <a16:creationId xmlns:a16="http://schemas.microsoft.com/office/drawing/2014/main" id="{6E3420BA-30F8-4D93-B7D0-D9930A9B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77" y="320444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C6A3A226-611B-4D92-B5E2-818D92D1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628" y="2573412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F891EC5E-73E5-4587-B48E-ABA65B8DF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9681" y="366481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63F156D1-79D5-48AB-88D1-C6B03471A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77" y="482369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A9DC2CF-6C44-4178-BA25-E7ABB78A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128" y="2192412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2" name="Straight Arrow Connector 20">
            <a:extLst>
              <a:ext uri="{FF2B5EF4-FFF2-40B4-BE49-F238E27FC236}">
                <a16:creationId xmlns:a16="http://schemas.microsoft.com/office/drawing/2014/main" id="{F8A95B8B-81DB-49A8-AD5C-41D42B45754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208165" y="2809553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9A91575D-E481-45B6-847B-C4D9ED959A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8665" y="2809553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867B30BF-55BD-4BA5-827A-2B7E8F39E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48" y="2814010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658E3ED1-7502-4295-9826-5FDA918F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711" y="2799632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0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8" grpId="0" animBg="1"/>
      <p:bldP spid="19" grpId="0" animBg="1"/>
      <p:bldP spid="20" grpId="0" animBg="1"/>
      <p:bldP spid="24" grpId="0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BB3C4-1CD0-4F8E-813A-5216B8D9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不命中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E8727-C830-4A86-9CE7-3C17292AB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不命中会导致额外的访存（访问页表</a:t>
            </a:r>
            <a:r>
              <a:rPr lang="en-US" altLang="zh-CN" dirty="0"/>
              <a:t>+</a:t>
            </a:r>
            <a:r>
              <a:rPr lang="zh-CN" altLang="en-US" dirty="0"/>
              <a:t>访问数据）</a:t>
            </a:r>
            <a:endParaRPr lang="en-US" altLang="zh-CN" dirty="0"/>
          </a:p>
          <a:p>
            <a:pPr lvl="1"/>
            <a:r>
              <a:rPr lang="zh-CN" altLang="en-US" dirty="0"/>
              <a:t>幸运的是，</a:t>
            </a:r>
            <a:r>
              <a:rPr lang="en-US" altLang="zh-CN" dirty="0"/>
              <a:t>TLB </a:t>
            </a:r>
            <a:r>
              <a:rPr lang="zh-CN" altLang="en-US" dirty="0"/>
              <a:t>不命中的情况比较少。为什么？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124CD-8605-4A51-9821-1B530F9E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6FCDDE3F-0AF3-46BE-B471-0A947DFCF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570094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A838C11-6A04-413B-973A-5FFBED7FA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451" y="3639010"/>
            <a:ext cx="889000" cy="1031875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6BC0C46B-400E-4E54-843C-B8AF239C5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128" y="3402208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373C254-3221-493E-9EAA-A219E264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314" y="4295665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9" name="Text Box 32">
            <a:extLst>
              <a:ext uri="{FF2B5EF4-FFF2-40B4-BE49-F238E27FC236}">
                <a16:creationId xmlns:a16="http://schemas.microsoft.com/office/drawing/2014/main" id="{56D9D123-1D64-4839-8826-732990C7D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62" y="5101983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0" name="Straight Arrow Connector 32">
            <a:extLst>
              <a:ext uri="{FF2B5EF4-FFF2-40B4-BE49-F238E27FC236}">
                <a16:creationId xmlns:a16="http://schemas.microsoft.com/office/drawing/2014/main" id="{BF8C4A50-066B-4C59-AEE8-4F315094DEE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4518750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D705E-AFF1-4F8F-8D62-747927548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451" y="3932698"/>
            <a:ext cx="889000" cy="4445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12" name="Straight Arrow Connector 34">
            <a:extLst>
              <a:ext uri="{FF2B5EF4-FFF2-40B4-BE49-F238E27FC236}">
                <a16:creationId xmlns:a16="http://schemas.microsoft.com/office/drawing/2014/main" id="{3DABA825-2A41-478C-824E-8E2C266D8576}"/>
              </a:ext>
            </a:extLst>
          </p:cNvPr>
          <p:cNvCxnSpPr>
            <a:cxnSpLocks noChangeShapeType="1"/>
            <a:stCxn id="11" idx="3"/>
          </p:cNvCxnSpPr>
          <p:nvPr/>
        </p:nvCxnSpPr>
        <p:spPr bwMode="auto">
          <a:xfrm flipV="1">
            <a:off x="2986451" y="4150980"/>
            <a:ext cx="1141677" cy="396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9">
            <a:extLst>
              <a:ext uri="{FF2B5EF4-FFF2-40B4-BE49-F238E27FC236}">
                <a16:creationId xmlns:a16="http://schemas.microsoft.com/office/drawing/2014/main" id="{4E6B0C2B-F3E7-4AAB-A004-8474A02DB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522" y="3915989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BCC3DF92-C80A-413C-B6BA-0D4BB6A92293}"/>
              </a:ext>
            </a:extLst>
          </p:cNvPr>
          <p:cNvSpPr txBox="1"/>
          <p:nvPr/>
        </p:nvSpPr>
        <p:spPr>
          <a:xfrm>
            <a:off x="1985003" y="2593906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2B5310FD-28B3-4260-A8FE-F435D32FB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018" y="3087843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16" name="Shape 49">
            <a:extLst>
              <a:ext uri="{FF2B5EF4-FFF2-40B4-BE49-F238E27FC236}">
                <a16:creationId xmlns:a16="http://schemas.microsoft.com/office/drawing/2014/main" id="{DA0E9FBE-291C-40A6-A995-4CAEB168A8A3}"/>
              </a:ext>
            </a:extLst>
          </p:cNvPr>
          <p:cNvCxnSpPr>
            <a:cxnSpLocks noChangeShapeType="1"/>
            <a:endCxn id="11" idx="2"/>
          </p:cNvCxnSpPr>
          <p:nvPr/>
        </p:nvCxnSpPr>
        <p:spPr bwMode="auto">
          <a:xfrm rot="10800000">
            <a:off x="2541951" y="4377198"/>
            <a:ext cx="3745177" cy="738188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>
            <a:extLst>
              <a:ext uri="{FF2B5EF4-FFF2-40B4-BE49-F238E27FC236}">
                <a16:creationId xmlns:a16="http://schemas.microsoft.com/office/drawing/2014/main" id="{A4B686A3-B9F6-4CFE-AD01-5BDF0E233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77" y="3732938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5FC86D1B-1229-48E2-BBFD-79DFF6EE5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628" y="3101906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3F3E2656-071F-4F5C-AE1A-41E3BC52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4574313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65B1B900-C127-402A-A689-7AC3644D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77" y="5352188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F7B01FC-6EE8-4983-BB1E-0FCBF9B53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128" y="2720906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2" name="Straight Arrow Connector 44">
            <a:extLst>
              <a:ext uri="{FF2B5EF4-FFF2-40B4-BE49-F238E27FC236}">
                <a16:creationId xmlns:a16="http://schemas.microsoft.com/office/drawing/2014/main" id="{AC3BC5CA-CCBD-4DF3-9B32-8C68D979837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208165" y="3338047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45">
            <a:extLst>
              <a:ext uri="{FF2B5EF4-FFF2-40B4-BE49-F238E27FC236}">
                <a16:creationId xmlns:a16="http://schemas.microsoft.com/office/drawing/2014/main" id="{FE0C41C8-A405-406E-991A-B3C2D10B7B9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8665" y="3338047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72DB0EAB-5B54-422F-8681-74D60ECB3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48" y="3342504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335428C3-DBD5-41A9-8BE6-FB9F877EA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2900823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4B09AF79-46BA-48CA-831F-D9E038E57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197" y="3929879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PTEA</a:t>
            </a:r>
          </a:p>
        </p:txBody>
      </p:sp>
      <p:cxnSp>
        <p:nvCxnSpPr>
          <p:cNvPr id="27" name="Straight Arrow Connector 49">
            <a:extLst>
              <a:ext uri="{FF2B5EF4-FFF2-40B4-BE49-F238E27FC236}">
                <a16:creationId xmlns:a16="http://schemas.microsoft.com/office/drawing/2014/main" id="{8C53039C-F1B9-4D82-9FDF-E3141EDE4E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4153625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Oval 18">
            <a:extLst>
              <a:ext uri="{FF2B5EF4-FFF2-40B4-BE49-F238E27FC236}">
                <a16:creationId xmlns:a16="http://schemas.microsoft.com/office/drawing/2014/main" id="{CCC36052-FDCD-4548-93FA-1C532D973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3736906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29" name="Elbow Connector 51">
            <a:extLst>
              <a:ext uri="{FF2B5EF4-FFF2-40B4-BE49-F238E27FC236}">
                <a16:creationId xmlns:a16="http://schemas.microsoft.com/office/drawing/2014/main" id="{EF3B7FD3-C298-40A1-9A53-9EEE5398952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699628" y="3330771"/>
            <a:ext cx="1587500" cy="402167"/>
          </a:xfrm>
          <a:prstGeom prst="bentConnector3">
            <a:avLst>
              <a:gd name="adj1" fmla="val 21556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8927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9" grpId="0" animBg="1"/>
      <p:bldP spid="20" grpId="0" animBg="1"/>
      <p:bldP spid="25" grpId="0" animBg="1"/>
      <p:bldP spid="26" grpId="0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577D8-7595-4613-BE61-B65F572D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地址翻译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D9F54-054A-4E85-986E-B3C19F9A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4267732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虚拟地址（</a:t>
            </a:r>
            <a:r>
              <a:rPr lang="en-US" altLang="zh-CN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）构成</a:t>
            </a:r>
            <a:endParaRPr lang="en-US" altLang="zh-CN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VPO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page offset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），虚拟页偏移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VPN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page number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），虚拟页号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TLBI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 index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endParaRPr lang="en-US" altLang="zh-CN" sz="1800" dirty="0">
              <a:solidFill>
                <a:srgbClr val="C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TLBT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 tag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endParaRPr lang="en-US" altLang="zh-CN" sz="1800" dirty="0">
              <a:solidFill>
                <a:srgbClr val="C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物理地址（</a:t>
            </a:r>
            <a:r>
              <a:rPr lang="en-US" altLang="zh-CN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）构成</a:t>
            </a:r>
            <a:endParaRPr lang="en-US" altLang="zh-CN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PPO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Physical page offset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），物理页偏移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PPN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Physical page number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），物理页号</a:t>
            </a:r>
            <a:endParaRPr lang="en-US" altLang="zh-CN" sz="20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2DEFD-FC07-4CCA-B273-2443145F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3810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CE880-9449-4229-945E-6ABE25A2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 </a:t>
            </a:r>
            <a:r>
              <a:rPr lang="en-US" altLang="zh-CN" dirty="0"/>
              <a:t>TLB </a:t>
            </a:r>
            <a:r>
              <a:rPr lang="zh-CN" altLang="en-US" dirty="0"/>
              <a:t>加速地址翻译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DFF56-0906-4CAA-8B58-0CBC9B4C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Rectangle 102">
            <a:extLst>
              <a:ext uri="{FF2B5EF4-FFF2-40B4-BE49-F238E27FC236}">
                <a16:creationId xmlns:a16="http://schemas.microsoft.com/office/drawing/2014/main" id="{1684250C-1F96-4D47-9976-55149D8F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1762258"/>
            <a:ext cx="2116667" cy="324114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VPN</a:t>
            </a:r>
          </a:p>
        </p:txBody>
      </p:sp>
      <p:sp>
        <p:nvSpPr>
          <p:cNvPr id="7" name="Rectangle 103">
            <a:extLst>
              <a:ext uri="{FF2B5EF4-FFF2-40B4-BE49-F238E27FC236}">
                <a16:creationId xmlns:a16="http://schemas.microsoft.com/office/drawing/2014/main" id="{B506B055-46A3-41B6-9E7F-B17D262F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541" y="1764904"/>
            <a:ext cx="987509" cy="3175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VPO</a:t>
            </a:r>
          </a:p>
        </p:txBody>
      </p:sp>
      <p:sp>
        <p:nvSpPr>
          <p:cNvPr id="8" name="Line 105">
            <a:extLst>
              <a:ext uri="{FF2B5EF4-FFF2-40B4-BE49-F238E27FC236}">
                <a16:creationId xmlns:a16="http://schemas.microsoft.com/office/drawing/2014/main" id="{0FC32751-6201-4401-A3BD-2EA86A827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086372"/>
            <a:ext cx="0" cy="16352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Rectangle 110">
            <a:extLst>
              <a:ext uri="{FF2B5EF4-FFF2-40B4-BE49-F238E27FC236}">
                <a16:creationId xmlns:a16="http://schemas.microsoft.com/office/drawing/2014/main" id="{C66A8213-F694-43DE-90A0-DBEC486D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562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Line 111">
            <a:extLst>
              <a:ext uri="{FF2B5EF4-FFF2-40B4-BE49-F238E27FC236}">
                <a16:creationId xmlns:a16="http://schemas.microsoft.com/office/drawing/2014/main" id="{B6EC43E2-8E3A-45EB-A786-E8D9AF993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0" y="2082404"/>
            <a:ext cx="0" cy="257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" name="Rectangle 112">
            <a:extLst>
              <a:ext uri="{FF2B5EF4-FFF2-40B4-BE49-F238E27FC236}">
                <a16:creationId xmlns:a16="http://schemas.microsoft.com/office/drawing/2014/main" id="{7F14042B-F806-492A-A3AB-B20C57863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2313951"/>
            <a:ext cx="507339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valid</a:t>
            </a:r>
          </a:p>
        </p:txBody>
      </p:sp>
      <p:sp>
        <p:nvSpPr>
          <p:cNvPr id="16" name="Rectangle 113">
            <a:extLst>
              <a:ext uri="{FF2B5EF4-FFF2-40B4-BE49-F238E27FC236}">
                <a16:creationId xmlns:a16="http://schemas.microsoft.com/office/drawing/2014/main" id="{98927E89-CAD8-4AF7-AB21-76B89149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746" y="2313951"/>
            <a:ext cx="467008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PPN</a:t>
            </a:r>
          </a:p>
        </p:txBody>
      </p:sp>
      <p:sp>
        <p:nvSpPr>
          <p:cNvPr id="17" name="Rectangle 114">
            <a:extLst>
              <a:ext uri="{FF2B5EF4-FFF2-40B4-BE49-F238E27FC236}">
                <a16:creationId xmlns:a16="http://schemas.microsoft.com/office/drawing/2014/main" id="{B7F1A450-AAA3-449B-B057-44F5B2991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562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Rectangle 115">
            <a:extLst>
              <a:ext uri="{FF2B5EF4-FFF2-40B4-BE49-F238E27FC236}">
                <a16:creationId xmlns:a16="http://schemas.microsoft.com/office/drawing/2014/main" id="{5C05387D-D595-46DF-A6C5-B0ED3ADB0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562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16">
            <a:extLst>
              <a:ext uri="{FF2B5EF4-FFF2-40B4-BE49-F238E27FC236}">
                <a16:creationId xmlns:a16="http://schemas.microsoft.com/office/drawing/2014/main" id="{764766A2-CC16-4271-8F28-A478CBAA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6" y="2313951"/>
            <a:ext cx="374033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tag</a:t>
            </a:r>
          </a:p>
        </p:txBody>
      </p:sp>
      <p:sp>
        <p:nvSpPr>
          <p:cNvPr id="20" name="Rectangle 117">
            <a:extLst>
              <a:ext uri="{FF2B5EF4-FFF2-40B4-BE49-F238E27FC236}">
                <a16:creationId xmlns:a16="http://schemas.microsoft.com/office/drawing/2014/main" id="{CE0D9CAB-B1A7-4F6A-B4BE-FC1C6841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689622"/>
            <a:ext cx="14234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Rectangle 118">
            <a:extLst>
              <a:ext uri="{FF2B5EF4-FFF2-40B4-BE49-F238E27FC236}">
                <a16:creationId xmlns:a16="http://schemas.microsoft.com/office/drawing/2014/main" id="{35E5B28A-35F8-4E19-AFCE-C8FED227E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689622"/>
            <a:ext cx="4709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" name="Rectangle 119">
            <a:extLst>
              <a:ext uri="{FF2B5EF4-FFF2-40B4-BE49-F238E27FC236}">
                <a16:creationId xmlns:a16="http://schemas.microsoft.com/office/drawing/2014/main" id="{BB1A25F2-F162-46CA-A9E3-72778B8E6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689622"/>
            <a:ext cx="3439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Rectangle 120">
            <a:extLst>
              <a:ext uri="{FF2B5EF4-FFF2-40B4-BE49-F238E27FC236}">
                <a16:creationId xmlns:a16="http://schemas.microsoft.com/office/drawing/2014/main" id="{6C04A39D-BFA7-4A06-8F65-218D68C62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816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" name="Rectangle 121">
            <a:extLst>
              <a:ext uri="{FF2B5EF4-FFF2-40B4-BE49-F238E27FC236}">
                <a16:creationId xmlns:a16="http://schemas.microsoft.com/office/drawing/2014/main" id="{43139A3F-D686-4ECF-91E4-C4D75DA5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816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" name="Rectangle 122">
            <a:extLst>
              <a:ext uri="{FF2B5EF4-FFF2-40B4-BE49-F238E27FC236}">
                <a16:creationId xmlns:a16="http://schemas.microsoft.com/office/drawing/2014/main" id="{7DA63F72-B9B2-44C2-88B1-DD0F71913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816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23">
            <a:extLst>
              <a:ext uri="{FF2B5EF4-FFF2-40B4-BE49-F238E27FC236}">
                <a16:creationId xmlns:a16="http://schemas.microsoft.com/office/drawing/2014/main" id="{0C7C1266-C55E-4ED2-9C3A-92669FD6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943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Rectangle 124">
            <a:extLst>
              <a:ext uri="{FF2B5EF4-FFF2-40B4-BE49-F238E27FC236}">
                <a16:creationId xmlns:a16="http://schemas.microsoft.com/office/drawing/2014/main" id="{6920FE13-BDAE-480B-9258-752BD5E2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943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Rectangle 125">
            <a:extLst>
              <a:ext uri="{FF2B5EF4-FFF2-40B4-BE49-F238E27FC236}">
                <a16:creationId xmlns:a16="http://schemas.microsoft.com/office/drawing/2014/main" id="{EDBD4882-570E-4EC5-9CC2-100798A33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943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" name="Line 126">
            <a:extLst>
              <a:ext uri="{FF2B5EF4-FFF2-40B4-BE49-F238E27FC236}">
                <a16:creationId xmlns:a16="http://schemas.microsoft.com/office/drawing/2014/main" id="{44E2FFDC-A24F-4B16-BA73-BC7F9045EE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6792" y="2340372"/>
            <a:ext cx="177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" name="Line 127">
            <a:extLst>
              <a:ext uri="{FF2B5EF4-FFF2-40B4-BE49-F238E27FC236}">
                <a16:creationId xmlns:a16="http://schemas.microsoft.com/office/drawing/2014/main" id="{BBC4E144-C9F0-495E-84B9-2DBE175E45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1500" y="2340372"/>
            <a:ext cx="0" cy="9749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7" name="Oval 176">
            <a:extLst>
              <a:ext uri="{FF2B5EF4-FFF2-40B4-BE49-F238E27FC236}">
                <a16:creationId xmlns:a16="http://schemas.microsoft.com/office/drawing/2014/main" id="{F1A040F5-ABFE-45F9-8591-502994B41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261" y="3488664"/>
            <a:ext cx="232833" cy="16404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8" name="Rectangle 177">
            <a:extLst>
              <a:ext uri="{FF2B5EF4-FFF2-40B4-BE49-F238E27FC236}">
                <a16:creationId xmlns:a16="http://schemas.microsoft.com/office/drawing/2014/main" id="{A8A0A99E-DD81-492E-86A1-84CA8DC2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6" y="3483372"/>
            <a:ext cx="140229" cy="174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9" name="Line 178">
            <a:extLst>
              <a:ext uri="{FF2B5EF4-FFF2-40B4-BE49-F238E27FC236}">
                <a16:creationId xmlns:a16="http://schemas.microsoft.com/office/drawing/2014/main" id="{A724603F-374F-4C22-AA80-3660EE63B3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1875" y="3483372"/>
            <a:ext cx="0" cy="174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0" name="Line 179">
            <a:extLst>
              <a:ext uri="{FF2B5EF4-FFF2-40B4-BE49-F238E27FC236}">
                <a16:creationId xmlns:a16="http://schemas.microsoft.com/office/drawing/2014/main" id="{6F50F3D9-DC2F-450E-BC1C-49D709E86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2980" y="3321976"/>
            <a:ext cx="116152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1" name="Oval 180">
            <a:extLst>
              <a:ext uri="{FF2B5EF4-FFF2-40B4-BE49-F238E27FC236}">
                <a16:creationId xmlns:a16="http://schemas.microsoft.com/office/drawing/2014/main" id="{19013C98-2051-421A-B1F5-41E93FA07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021" y="3286258"/>
            <a:ext cx="129646" cy="1296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42333" tIns="22489" rIns="42333" bIns="22489" anchor="ctr"/>
          <a:lstStyle>
            <a:lvl1pPr defTabSz="276225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762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76225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762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762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230178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833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82" name="Line 181">
            <a:extLst>
              <a:ext uri="{FF2B5EF4-FFF2-40B4-BE49-F238E27FC236}">
                <a16:creationId xmlns:a16="http://schemas.microsoft.com/office/drawing/2014/main" id="{2612979C-33E4-4837-8B29-4242F217E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844" y="3426487"/>
            <a:ext cx="0" cy="1865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3" name="Line 182">
            <a:extLst>
              <a:ext uri="{FF2B5EF4-FFF2-40B4-BE49-F238E27FC236}">
                <a16:creationId xmlns:a16="http://schemas.microsoft.com/office/drawing/2014/main" id="{959688D2-889B-463D-9F0A-112B18858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19074" y="3618310"/>
            <a:ext cx="7487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4" name="Line 183">
            <a:extLst>
              <a:ext uri="{FF2B5EF4-FFF2-40B4-BE49-F238E27FC236}">
                <a16:creationId xmlns:a16="http://schemas.microsoft.com/office/drawing/2014/main" id="{6378244F-1A9D-4738-AA0F-8FA26F129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5845" y="3521737"/>
            <a:ext cx="424656" cy="3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5" name="Line 184">
            <a:extLst>
              <a:ext uri="{FF2B5EF4-FFF2-40B4-BE49-F238E27FC236}">
                <a16:creationId xmlns:a16="http://schemas.microsoft.com/office/drawing/2014/main" id="{B8CD7AFF-6414-4962-9EF8-E5880DBE6A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0958" y="3582591"/>
            <a:ext cx="40878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6" name="Rectangle 185">
            <a:extLst>
              <a:ext uri="{FF2B5EF4-FFF2-40B4-BE49-F238E27FC236}">
                <a16:creationId xmlns:a16="http://schemas.microsoft.com/office/drawing/2014/main" id="{A021A0C4-F51C-4833-A598-FA1C5831B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05" y="3421072"/>
            <a:ext cx="873636" cy="32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TLB hit</a:t>
            </a:r>
          </a:p>
        </p:txBody>
      </p:sp>
      <p:sp>
        <p:nvSpPr>
          <p:cNvPr id="87" name="Line 186">
            <a:extLst>
              <a:ext uri="{FF2B5EF4-FFF2-40B4-BE49-F238E27FC236}">
                <a16:creationId xmlns:a16="http://schemas.microsoft.com/office/drawing/2014/main" id="{58C010A3-64C3-4189-850D-5CDF6DC8C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2742539"/>
            <a:ext cx="0" cy="51726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8" name="Line 187">
            <a:extLst>
              <a:ext uri="{FF2B5EF4-FFF2-40B4-BE49-F238E27FC236}">
                <a16:creationId xmlns:a16="http://schemas.microsoft.com/office/drawing/2014/main" id="{1FBBD23D-97BE-4FFC-922D-6A65B0599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2755768"/>
            <a:ext cx="0" cy="7659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9" name="Line 188">
            <a:extLst>
              <a:ext uri="{FF2B5EF4-FFF2-40B4-BE49-F238E27FC236}">
                <a16:creationId xmlns:a16="http://schemas.microsoft.com/office/drawing/2014/main" id="{CBD1AF75-DBD0-43BF-AF67-C9B12B06B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0500" y="2762383"/>
            <a:ext cx="0" cy="95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4" name="Text Box 193">
            <a:extLst>
              <a:ext uri="{FF2B5EF4-FFF2-40B4-BE49-F238E27FC236}">
                <a16:creationId xmlns:a16="http://schemas.microsoft.com/office/drawing/2014/main" id="{C42994CC-0030-41C5-B31B-1DF8F80A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0698" y="2511029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5" name="Text Box 194">
            <a:extLst>
              <a:ext uri="{FF2B5EF4-FFF2-40B4-BE49-F238E27FC236}">
                <a16:creationId xmlns:a16="http://schemas.microsoft.com/office/drawing/2014/main" id="{AB2082FC-E7C8-468C-B07F-9D61CE37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698" y="2516320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6" name="Text Box 195">
            <a:extLst>
              <a:ext uri="{FF2B5EF4-FFF2-40B4-BE49-F238E27FC236}">
                <a16:creationId xmlns:a16="http://schemas.microsoft.com/office/drawing/2014/main" id="{A9CC039C-27B3-4855-90AF-FE32D406C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948" y="2516320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8" name="Rectangle 102">
            <a:extLst>
              <a:ext uri="{FF2B5EF4-FFF2-40B4-BE49-F238E27FC236}">
                <a16:creationId xmlns:a16="http://schemas.microsoft.com/office/drawing/2014/main" id="{A08840EB-08CF-4E62-BE9B-757C9FA2C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755" y="3721596"/>
            <a:ext cx="2168261" cy="3175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PPN</a:t>
            </a:r>
          </a:p>
        </p:txBody>
      </p:sp>
      <p:sp>
        <p:nvSpPr>
          <p:cNvPr id="100" name="Rectangle 7">
            <a:extLst>
              <a:ext uri="{FF2B5EF4-FFF2-40B4-BE49-F238E27FC236}">
                <a16:creationId xmlns:a16="http://schemas.microsoft.com/office/drawing/2014/main" id="{42DC0051-4B6C-224B-A2C9-AD4018662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825" y="1640288"/>
            <a:ext cx="1178207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虚拟地址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825E74B4-432A-F342-850C-870167A69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400" y="3791014"/>
            <a:ext cx="1178207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物理地址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92917223-B1B1-4741-B741-BAA21BD0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616" y="3721596"/>
            <a:ext cx="987509" cy="3175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PPO</a:t>
            </a:r>
          </a:p>
        </p:txBody>
      </p:sp>
    </p:spTree>
    <p:extLst>
      <p:ext uri="{BB962C8B-B14F-4D97-AF65-F5344CB8AC3E}">
        <p14:creationId xmlns:p14="http://schemas.microsoft.com/office/powerpoint/2010/main" val="3753428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Text Box 30">
            <a:extLst>
              <a:ext uri="{FF2B5EF4-FFF2-40B4-BE49-F238E27FC236}">
                <a16:creationId xmlns:a16="http://schemas.microsoft.com/office/drawing/2014/main" id="{A5B96251-719C-8346-A4E0-3394DD3DF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0" y="3238500"/>
            <a:ext cx="316178" cy="25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>
                <a:latin typeface="Verdana" panose="020B0604030504040204" pitchFamily="34" charset="0"/>
              </a:rPr>
              <a:t>...</a:t>
            </a:r>
          </a:p>
        </p:txBody>
      </p:sp>
      <p:sp>
        <p:nvSpPr>
          <p:cNvPr id="187394" name="灯片编号占位符 5">
            <a:extLst>
              <a:ext uri="{FF2B5EF4-FFF2-40B4-BE49-F238E27FC236}">
                <a16:creationId xmlns:a16="http://schemas.microsoft.com/office/drawing/2014/main" id="{087E8FC3-EE94-7E46-A76E-31D2019B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5BBFC9-24CD-0D4C-87B2-7D3013D9AD31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grpSp>
        <p:nvGrpSpPr>
          <p:cNvPr id="187395" name="Group 137">
            <a:extLst>
              <a:ext uri="{FF2B5EF4-FFF2-40B4-BE49-F238E27FC236}">
                <a16:creationId xmlns:a16="http://schemas.microsoft.com/office/drawing/2014/main" id="{AE9AE3CF-AFB7-324F-9798-56903CB2C92B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1143000"/>
            <a:ext cx="7588250" cy="4132791"/>
            <a:chOff x="-120" y="572"/>
            <a:chExt cx="5736" cy="3405"/>
          </a:xfrm>
        </p:grpSpPr>
        <p:sp>
          <p:nvSpPr>
            <p:cNvPr id="187473" name="Text Box 30">
              <a:extLst>
                <a:ext uri="{FF2B5EF4-FFF2-40B4-BE49-F238E27FC236}">
                  <a16:creationId xmlns:a16="http://schemas.microsoft.com/office/drawing/2014/main" id="{4DB8A372-837F-1C4F-A107-9F95676DD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298"/>
              <a:ext cx="239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50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9221" name="Rectangle 3">
              <a:extLst>
                <a:ext uri="{FF2B5EF4-FFF2-40B4-BE49-F238E27FC236}">
                  <a16:creationId xmlns:a16="http://schemas.microsoft.com/office/drawing/2014/main" id="{3C6CEB53-962F-6E40-BB64-5AC739ABE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24"/>
              <a:ext cx="384" cy="28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CPU</a:t>
              </a:r>
            </a:p>
          </p:txBody>
        </p:sp>
        <p:sp>
          <p:nvSpPr>
            <p:cNvPr id="9222" name="Rectangle 4">
              <a:extLst>
                <a:ext uri="{FF2B5EF4-FFF2-40B4-BE49-F238E27FC236}">
                  <a16:creationId xmlns:a16="http://schemas.microsoft.com/office/drawing/2014/main" id="{F86686BD-4BD8-E149-BA47-B14A38595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VPN</a:t>
              </a:r>
            </a:p>
          </p:txBody>
        </p:sp>
        <p:sp>
          <p:nvSpPr>
            <p:cNvPr id="9223" name="Rectangle 5">
              <a:extLst>
                <a:ext uri="{FF2B5EF4-FFF2-40B4-BE49-F238E27FC236}">
                  <a16:creationId xmlns:a16="http://schemas.microsoft.com/office/drawing/2014/main" id="{4EB56FCC-647F-2D46-9B68-61A77ACC3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VPO</a:t>
              </a:r>
            </a:p>
          </p:txBody>
        </p:sp>
        <p:sp>
          <p:nvSpPr>
            <p:cNvPr id="187477" name="Text Box 6">
              <a:extLst>
                <a:ext uri="{FF2B5EF4-FFF2-40B4-BE49-F238E27FC236}">
                  <a16:creationId xmlns:a16="http://schemas.microsoft.com/office/drawing/2014/main" id="{0F290353-C500-8249-8063-4EEA4BA9A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78" name="Text Box 7">
              <a:extLst>
                <a:ext uri="{FF2B5EF4-FFF2-40B4-BE49-F238E27FC236}">
                  <a16:creationId xmlns:a16="http://schemas.microsoft.com/office/drawing/2014/main" id="{90F869AF-54D8-2848-978D-FEB4A7F18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7479" name="Line 8">
              <a:extLst>
                <a:ext uri="{FF2B5EF4-FFF2-40B4-BE49-F238E27FC236}">
                  <a16:creationId xmlns:a16="http://schemas.microsoft.com/office/drawing/2014/main" id="{6DB37345-F291-2B49-A448-45F3836CF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480" name="Text Box 11">
              <a:extLst>
                <a:ext uri="{FF2B5EF4-FFF2-40B4-BE49-F238E27FC236}">
                  <a16:creationId xmlns:a16="http://schemas.microsoft.com/office/drawing/2014/main" id="{8CD30D8E-2478-C246-AFA9-AA8C9FD38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88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7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81" name="Text Box 12">
              <a:extLst>
                <a:ext uri="{FF2B5EF4-FFF2-40B4-BE49-F238E27FC236}">
                  <a16:creationId xmlns:a16="http://schemas.microsoft.com/office/drawing/2014/main" id="{F9F72876-3A39-A44E-83A0-D03AEB0BE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88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29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82" name="Text Box 13">
              <a:extLst>
                <a:ext uri="{FF2B5EF4-FFF2-40B4-BE49-F238E27FC236}">
                  <a16:creationId xmlns:a16="http://schemas.microsoft.com/office/drawing/2014/main" id="{C4EE6DC7-B5B6-3D43-9557-72EC06C6F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933"/>
              <a:ext cx="142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Virtual address (VA)</a:t>
              </a:r>
            </a:p>
          </p:txBody>
        </p:sp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4BA52B1F-E085-1849-8DEB-93C39D9DC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3" name="Rectangle 15">
              <a:extLst>
                <a:ext uri="{FF2B5EF4-FFF2-40B4-BE49-F238E27FC236}">
                  <a16:creationId xmlns:a16="http://schemas.microsoft.com/office/drawing/2014/main" id="{C4B42EB1-AE5B-F34F-8D8E-ABF0455AE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4" name="Rectangle 16">
              <a:extLst>
                <a:ext uri="{FF2B5EF4-FFF2-40B4-BE49-F238E27FC236}">
                  <a16:creationId xmlns:a16="http://schemas.microsoft.com/office/drawing/2014/main" id="{97BEE19C-6CE3-F84C-842F-8CC4A7A6F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5" name="Rectangle 17">
              <a:extLst>
                <a:ext uri="{FF2B5EF4-FFF2-40B4-BE49-F238E27FC236}">
                  <a16:creationId xmlns:a16="http://schemas.microsoft.com/office/drawing/2014/main" id="{59058490-D2EA-1F45-BBF4-B87801B0B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6" name="Rectangle 18">
              <a:extLst>
                <a:ext uri="{FF2B5EF4-FFF2-40B4-BE49-F238E27FC236}">
                  <a16:creationId xmlns:a16="http://schemas.microsoft.com/office/drawing/2014/main" id="{5B94EFCF-C791-5B46-A4CE-6161840D6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7" name="Rectangle 19">
              <a:extLst>
                <a:ext uri="{FF2B5EF4-FFF2-40B4-BE49-F238E27FC236}">
                  <a16:creationId xmlns:a16="http://schemas.microsoft.com/office/drawing/2014/main" id="{54EDC4D4-4D68-0D43-A647-A83EC2EFD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8" name="Rectangle 20">
              <a:extLst>
                <a:ext uri="{FF2B5EF4-FFF2-40B4-BE49-F238E27FC236}">
                  <a16:creationId xmlns:a16="http://schemas.microsoft.com/office/drawing/2014/main" id="{3ECA8448-1130-8042-8D50-1239CEC8B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9" name="Rectangle 21">
              <a:extLst>
                <a:ext uri="{FF2B5EF4-FFF2-40B4-BE49-F238E27FC236}">
                  <a16:creationId xmlns:a16="http://schemas.microsoft.com/office/drawing/2014/main" id="{8B9B26DD-8CC7-6847-8DBC-9652FD80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0" name="Rectangle 22">
              <a:extLst>
                <a:ext uri="{FF2B5EF4-FFF2-40B4-BE49-F238E27FC236}">
                  <a16:creationId xmlns:a16="http://schemas.microsoft.com/office/drawing/2014/main" id="{BB17317C-418F-E94F-A2BF-2FED8EC5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1" name="Rectangle 23">
              <a:extLst>
                <a:ext uri="{FF2B5EF4-FFF2-40B4-BE49-F238E27FC236}">
                  <a16:creationId xmlns:a16="http://schemas.microsoft.com/office/drawing/2014/main" id="{FD077DE9-4BD9-8842-B18F-671406183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2" name="Rectangle 24">
              <a:extLst>
                <a:ext uri="{FF2B5EF4-FFF2-40B4-BE49-F238E27FC236}">
                  <a16:creationId xmlns:a16="http://schemas.microsoft.com/office/drawing/2014/main" id="{D86B8C49-FC35-5D40-9E48-F9C2EF874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3" name="Rectangle 25">
              <a:extLst>
                <a:ext uri="{FF2B5EF4-FFF2-40B4-BE49-F238E27FC236}">
                  <a16:creationId xmlns:a16="http://schemas.microsoft.com/office/drawing/2014/main" id="{58009B70-252D-0E4C-BED6-0C369414B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4" name="Rectangle 26">
              <a:extLst>
                <a:ext uri="{FF2B5EF4-FFF2-40B4-BE49-F238E27FC236}">
                  <a16:creationId xmlns:a16="http://schemas.microsoft.com/office/drawing/2014/main" id="{32FD91D4-CDB7-914C-AA84-72E0C7B95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5" name="Rectangle 27">
              <a:extLst>
                <a:ext uri="{FF2B5EF4-FFF2-40B4-BE49-F238E27FC236}">
                  <a16:creationId xmlns:a16="http://schemas.microsoft.com/office/drawing/2014/main" id="{22B3A5A6-EEA6-D841-9D48-CB5F8503C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6" name="Rectangle 28">
              <a:extLst>
                <a:ext uri="{FF2B5EF4-FFF2-40B4-BE49-F238E27FC236}">
                  <a16:creationId xmlns:a16="http://schemas.microsoft.com/office/drawing/2014/main" id="{010C6E68-F74C-AB44-8987-F7A5F3F34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7" name="Rectangle 29">
              <a:extLst>
                <a:ext uri="{FF2B5EF4-FFF2-40B4-BE49-F238E27FC236}">
                  <a16:creationId xmlns:a16="http://schemas.microsoft.com/office/drawing/2014/main" id="{B1027E5B-6993-4646-9820-E8A149D70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187499" name="Line 31">
              <a:extLst>
                <a:ext uri="{FF2B5EF4-FFF2-40B4-BE49-F238E27FC236}">
                  <a16:creationId xmlns:a16="http://schemas.microsoft.com/office/drawing/2014/main" id="{46C0D50B-9F3C-8540-80A7-390F603AD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92"/>
              <a:ext cx="0" cy="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0" name="Line 32">
              <a:extLst>
                <a:ext uri="{FF2B5EF4-FFF2-40B4-BE49-F238E27FC236}">
                  <a16:creationId xmlns:a16="http://schemas.microsoft.com/office/drawing/2014/main" id="{7FFCDAE3-EA66-3749-B413-AD4A07C26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41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1" name="Line 33">
              <a:extLst>
                <a:ext uri="{FF2B5EF4-FFF2-40B4-BE49-F238E27FC236}">
                  <a16:creationId xmlns:a16="http://schemas.microsoft.com/office/drawing/2014/main" id="{D03243C2-A7BE-4346-86AE-781ECF546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7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2" name="Line 34">
              <a:extLst>
                <a:ext uri="{FF2B5EF4-FFF2-40B4-BE49-F238E27FC236}">
                  <a16:creationId xmlns:a16="http://schemas.microsoft.com/office/drawing/2014/main" id="{3F6E721B-FFE9-B841-8E48-FC4C7F01E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37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3" name="Line 35">
              <a:extLst>
                <a:ext uri="{FF2B5EF4-FFF2-40B4-BE49-F238E27FC236}">
                  <a16:creationId xmlns:a16="http://schemas.microsoft.com/office/drawing/2014/main" id="{FF105B29-EAF4-3541-8EA4-A9E05F2E6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3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4" name="Line 36">
              <a:extLst>
                <a:ext uri="{FF2B5EF4-FFF2-40B4-BE49-F238E27FC236}">
                  <a16:creationId xmlns:a16="http://schemas.microsoft.com/office/drawing/2014/main" id="{DF327997-B28F-3D49-B848-EFF5537EC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01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5" name="Line 37">
              <a:extLst>
                <a:ext uri="{FF2B5EF4-FFF2-40B4-BE49-F238E27FC236}">
                  <a16:creationId xmlns:a16="http://schemas.microsoft.com/office/drawing/2014/main" id="{802EEC36-321B-CD47-BE72-830CF2C7C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97"/>
              <a:ext cx="18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6" name="Line 38">
              <a:extLst>
                <a:ext uri="{FF2B5EF4-FFF2-40B4-BE49-F238E27FC236}">
                  <a16:creationId xmlns:a16="http://schemas.microsoft.com/office/drawing/2014/main" id="{580B50FB-471E-BD4F-8542-E5630DC9D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7" name="Line 39">
              <a:extLst>
                <a:ext uri="{FF2B5EF4-FFF2-40B4-BE49-F238E27FC236}">
                  <a16:creationId xmlns:a16="http://schemas.microsoft.com/office/drawing/2014/main" id="{6ACCCDFE-F7F2-F449-BF46-76963D743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8" name="Line 40">
              <a:extLst>
                <a:ext uri="{FF2B5EF4-FFF2-40B4-BE49-F238E27FC236}">
                  <a16:creationId xmlns:a16="http://schemas.microsoft.com/office/drawing/2014/main" id="{1FD391AA-888D-6745-AF55-6215CED4F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9" name="Line 41">
              <a:extLst>
                <a:ext uri="{FF2B5EF4-FFF2-40B4-BE49-F238E27FC236}">
                  <a16:creationId xmlns:a16="http://schemas.microsoft.com/office/drawing/2014/main" id="{0220DF28-B5E9-294C-97FB-5376C0E4A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0" name="Line 43">
              <a:extLst>
                <a:ext uri="{FF2B5EF4-FFF2-40B4-BE49-F238E27FC236}">
                  <a16:creationId xmlns:a16="http://schemas.microsoft.com/office/drawing/2014/main" id="{AEA006FD-2389-DB4C-A041-498EB838F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1" name="Text Box 44">
              <a:extLst>
                <a:ext uri="{FF2B5EF4-FFF2-40B4-BE49-F238E27FC236}">
                  <a16:creationId xmlns:a16="http://schemas.microsoft.com/office/drawing/2014/main" id="{327DF511-7DFF-134A-8442-B66AA0803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629"/>
              <a:ext cx="234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Main</a:t>
              </a:r>
              <a:r>
                <a:rPr lang="zh-CN" altLang="en-US" sz="1333">
                  <a:solidFill>
                    <a:schemeClr val="tx2"/>
                  </a:solidFill>
                  <a:latin typeface="Verdana" panose="020B0604030504040204" pitchFamily="34" charset="0"/>
                </a:rPr>
                <a:t> </a:t>
              </a: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(128 sets, 4 entries/set)</a:t>
              </a:r>
            </a:p>
          </p:txBody>
        </p:sp>
        <p:sp>
          <p:nvSpPr>
            <p:cNvPr id="9278" name="Rectangle 60">
              <a:extLst>
                <a:ext uri="{FF2B5EF4-FFF2-40B4-BE49-F238E27FC236}">
                  <a16:creationId xmlns:a16="http://schemas.microsoft.com/office/drawing/2014/main" id="{A26569BD-8A9B-4B4A-BC33-6E030C257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2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PPN</a:t>
              </a:r>
            </a:p>
          </p:txBody>
        </p:sp>
        <p:sp>
          <p:nvSpPr>
            <p:cNvPr id="9279" name="Rectangle 61">
              <a:extLst>
                <a:ext uri="{FF2B5EF4-FFF2-40B4-BE49-F238E27FC236}">
                  <a16:creationId xmlns:a16="http://schemas.microsoft.com/office/drawing/2014/main" id="{D094A695-0AE1-6941-82F8-6CAB339A0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28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PPO</a:t>
              </a:r>
            </a:p>
          </p:txBody>
        </p:sp>
        <p:sp>
          <p:nvSpPr>
            <p:cNvPr id="187514" name="Text Box 62">
              <a:extLst>
                <a:ext uri="{FF2B5EF4-FFF2-40B4-BE49-F238E27FC236}">
                  <a16:creationId xmlns:a16="http://schemas.microsoft.com/office/drawing/2014/main" id="{BFD0E9F2-EDB9-7F4A-98E1-32E55450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15" name="Text Box 63">
              <a:extLst>
                <a:ext uri="{FF2B5EF4-FFF2-40B4-BE49-F238E27FC236}">
                  <a16:creationId xmlns:a16="http://schemas.microsoft.com/office/drawing/2014/main" id="{EF71DEEC-B074-674C-BAF6-0A0ACE149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7516" name="Line 64">
              <a:extLst>
                <a:ext uri="{FF2B5EF4-FFF2-40B4-BE49-F238E27FC236}">
                  <a16:creationId xmlns:a16="http://schemas.microsoft.com/office/drawing/2014/main" id="{310427BB-64E9-7247-853F-EE3475124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4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7" name="Line 65">
              <a:extLst>
                <a:ext uri="{FF2B5EF4-FFF2-40B4-BE49-F238E27FC236}">
                  <a16:creationId xmlns:a16="http://schemas.microsoft.com/office/drawing/2014/main" id="{141D2B53-A991-F548-AF03-9BCE0040A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46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8" name="Line 66">
              <a:extLst>
                <a:ext uri="{FF2B5EF4-FFF2-40B4-BE49-F238E27FC236}">
                  <a16:creationId xmlns:a16="http://schemas.microsoft.com/office/drawing/2014/main" id="{52B897A7-BC79-A94A-B704-EAA4A0ED5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06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9" name="Line 67">
              <a:extLst>
                <a:ext uri="{FF2B5EF4-FFF2-40B4-BE49-F238E27FC236}">
                  <a16:creationId xmlns:a16="http://schemas.microsoft.com/office/drawing/2014/main" id="{B526E564-4FE8-084D-8CCD-45E13682E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0" name="Text Box 73">
              <a:extLst>
                <a:ext uri="{FF2B5EF4-FFF2-40B4-BE49-F238E27FC236}">
                  <a16:creationId xmlns:a16="http://schemas.microsoft.com/office/drawing/2014/main" id="{1A9D9888-3EF4-D84B-ADBD-AC5874F14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0" y="2268"/>
              <a:ext cx="41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TLBmiss</a:t>
              </a:r>
            </a:p>
          </p:txBody>
        </p:sp>
        <p:sp>
          <p:nvSpPr>
            <p:cNvPr id="187521" name="Text Box 74">
              <a:extLst>
                <a:ext uri="{FF2B5EF4-FFF2-40B4-BE49-F238E27FC236}">
                  <a16:creationId xmlns:a16="http://schemas.microsoft.com/office/drawing/2014/main" id="{4466824C-EBD1-4745-A77F-7229F885A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80"/>
              <a:ext cx="4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hit</a:t>
              </a:r>
            </a:p>
          </p:txBody>
        </p:sp>
        <p:sp>
          <p:nvSpPr>
            <p:cNvPr id="187522" name="Line 75">
              <a:extLst>
                <a:ext uri="{FF2B5EF4-FFF2-40B4-BE49-F238E27FC236}">
                  <a16:creationId xmlns:a16="http://schemas.microsoft.com/office/drawing/2014/main" id="{BF601597-CE39-EF44-8D5E-31C45344B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7"/>
              <a:ext cx="20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3" name="Line 76">
              <a:extLst>
                <a:ext uri="{FF2B5EF4-FFF2-40B4-BE49-F238E27FC236}">
                  <a16:creationId xmlns:a16="http://schemas.microsoft.com/office/drawing/2014/main" id="{932F9394-90EB-1245-BBE2-1A7938363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0" cy="1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4" name="Text Box 77">
              <a:extLst>
                <a:ext uri="{FF2B5EF4-FFF2-40B4-BE49-F238E27FC236}">
                  <a16:creationId xmlns:a16="http://schemas.microsoft.com/office/drawing/2014/main" id="{9641B72C-8BD8-8147-BDBD-0068F052F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408"/>
              <a:ext cx="666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physical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address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(PA)</a:t>
              </a:r>
            </a:p>
          </p:txBody>
        </p:sp>
        <p:sp>
          <p:nvSpPr>
            <p:cNvPr id="9296" name="Rectangle 78">
              <a:extLst>
                <a:ext uri="{FF2B5EF4-FFF2-40B4-BE49-F238E27FC236}">
                  <a16:creationId xmlns:a16="http://schemas.microsoft.com/office/drawing/2014/main" id="{2AB4E4E0-DAEC-4549-B7D4-8B8E4C47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result</a:t>
              </a:r>
            </a:p>
          </p:txBody>
        </p:sp>
        <p:sp>
          <p:nvSpPr>
            <p:cNvPr id="187526" name="Text Box 79">
              <a:extLst>
                <a:ext uri="{FF2B5EF4-FFF2-40B4-BE49-F238E27FC236}">
                  <a16:creationId xmlns:a16="http://schemas.microsoft.com/office/drawing/2014/main" id="{2F24A66D-97AA-DE46-A9DD-08373A79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8" y="572"/>
              <a:ext cx="33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  64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27" name="Line 97">
              <a:extLst>
                <a:ext uri="{FF2B5EF4-FFF2-40B4-BE49-F238E27FC236}">
                  <a16:creationId xmlns:a16="http://schemas.microsoft.com/office/drawing/2014/main" id="{30F19789-4CA5-CC48-971E-DC72C0DD6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16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8" name="Line 98">
              <a:extLst>
                <a:ext uri="{FF2B5EF4-FFF2-40B4-BE49-F238E27FC236}">
                  <a16:creationId xmlns:a16="http://schemas.microsoft.com/office/drawing/2014/main" id="{27EA3B1C-BD59-8C4F-A76F-F51A44466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880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9" name="Line 99">
              <a:extLst>
                <a:ext uri="{FF2B5EF4-FFF2-40B4-BE49-F238E27FC236}">
                  <a16:creationId xmlns:a16="http://schemas.microsoft.com/office/drawing/2014/main" id="{B479FECD-B002-BA49-A60E-966BB62EB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0"/>
              <a:ext cx="0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0" name="Line 100">
              <a:extLst>
                <a:ext uri="{FF2B5EF4-FFF2-40B4-BE49-F238E27FC236}">
                  <a16:creationId xmlns:a16="http://schemas.microsoft.com/office/drawing/2014/main" id="{16C67C90-016F-E847-9CDD-D1728508A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2873"/>
              <a:ext cx="17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1" name="Line 101">
              <a:extLst>
                <a:ext uri="{FF2B5EF4-FFF2-40B4-BE49-F238E27FC236}">
                  <a16:creationId xmlns:a16="http://schemas.microsoft.com/office/drawing/2014/main" id="{3B91B86B-9623-8945-83DF-9D5F0BB95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2" name="Line 102">
              <a:extLst>
                <a:ext uri="{FF2B5EF4-FFF2-40B4-BE49-F238E27FC236}">
                  <a16:creationId xmlns:a16="http://schemas.microsoft.com/office/drawing/2014/main" id="{979ECE38-D6CE-C141-8242-C3A622091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3" name="Line 103">
              <a:extLst>
                <a:ext uri="{FF2B5EF4-FFF2-40B4-BE49-F238E27FC236}">
                  <a16:creationId xmlns:a16="http://schemas.microsoft.com/office/drawing/2014/main" id="{7D692202-FE23-164D-AC49-56DCFAA79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4" name="Line 104">
              <a:extLst>
                <a:ext uri="{FF2B5EF4-FFF2-40B4-BE49-F238E27FC236}">
                  <a16:creationId xmlns:a16="http://schemas.microsoft.com/office/drawing/2014/main" id="{9F5F823B-2303-4D4F-97A5-B0E0B4500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5" name="Line 105">
              <a:extLst>
                <a:ext uri="{FF2B5EF4-FFF2-40B4-BE49-F238E27FC236}">
                  <a16:creationId xmlns:a16="http://schemas.microsoft.com/office/drawing/2014/main" id="{9517CFAC-7A35-8C43-A260-1408B5000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2141"/>
              <a:ext cx="0" cy="10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6" name="Line 106">
              <a:extLst>
                <a:ext uri="{FF2B5EF4-FFF2-40B4-BE49-F238E27FC236}">
                  <a16:creationId xmlns:a16="http://schemas.microsoft.com/office/drawing/2014/main" id="{9F01F7F5-9522-B041-8DFA-6F39C0EF1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37"/>
              <a:ext cx="240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7" name="Line 107">
              <a:extLst>
                <a:ext uri="{FF2B5EF4-FFF2-40B4-BE49-F238E27FC236}">
                  <a16:creationId xmlns:a16="http://schemas.microsoft.com/office/drawing/2014/main" id="{D005360B-3C40-F54C-8E28-E15AC32E2C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237"/>
              <a:ext cx="2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8" name="Line 108">
              <a:extLst>
                <a:ext uri="{FF2B5EF4-FFF2-40B4-BE49-F238E27FC236}">
                  <a16:creationId xmlns:a16="http://schemas.microsoft.com/office/drawing/2014/main" id="{AE808420-986D-0549-B6FC-447B5E96D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2" y="233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9" name="Line 109">
              <a:extLst>
                <a:ext uri="{FF2B5EF4-FFF2-40B4-BE49-F238E27FC236}">
                  <a16:creationId xmlns:a16="http://schemas.microsoft.com/office/drawing/2014/main" id="{F027B6A3-DB98-E047-8856-7B06AAD0D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57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0" name="Line 115">
              <a:extLst>
                <a:ext uri="{FF2B5EF4-FFF2-40B4-BE49-F238E27FC236}">
                  <a16:creationId xmlns:a16="http://schemas.microsoft.com/office/drawing/2014/main" id="{5D9F3C5B-2FDB-AF46-9D88-CAEA75904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960"/>
              <a:ext cx="0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34" name="Rectangle 116">
              <a:extLst>
                <a:ext uri="{FF2B5EF4-FFF2-40B4-BE49-F238E27FC236}">
                  <a16:creationId xmlns:a16="http://schemas.microsoft.com/office/drawing/2014/main" id="{89937DCC-BF7C-1941-8093-A33334B77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34"/>
              <a:ext cx="672" cy="19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CT</a:t>
              </a:r>
            </a:p>
          </p:txBody>
        </p:sp>
        <p:sp>
          <p:nvSpPr>
            <p:cNvPr id="187542" name="Text Box 119">
              <a:extLst>
                <a:ext uri="{FF2B5EF4-FFF2-40B4-BE49-F238E27FC236}">
                  <a16:creationId xmlns:a16="http://schemas.microsoft.com/office/drawing/2014/main" id="{5BC2BA91-927E-FC41-A8CE-184E552F0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3" y="2976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43" name="Line 125">
              <a:extLst>
                <a:ext uri="{FF2B5EF4-FFF2-40B4-BE49-F238E27FC236}">
                  <a16:creationId xmlns:a16="http://schemas.microsoft.com/office/drawing/2014/main" id="{AB58D129-76D2-D84B-B47C-34F6E05CD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552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4" name="Line 126">
              <a:extLst>
                <a:ext uri="{FF2B5EF4-FFF2-40B4-BE49-F238E27FC236}">
                  <a16:creationId xmlns:a16="http://schemas.microsoft.com/office/drawing/2014/main" id="{73E409AF-459E-2344-B859-85706D556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1584"/>
              <a:ext cx="0" cy="19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45" name="Rectangle 127">
              <a:extLst>
                <a:ext uri="{FF2B5EF4-FFF2-40B4-BE49-F238E27FC236}">
                  <a16:creationId xmlns:a16="http://schemas.microsoft.com/office/drawing/2014/main" id="{184A8677-0AF1-9A47-9EE4-818560AB0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624"/>
              <a:ext cx="960" cy="52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L2</a:t>
              </a:r>
              <a:r>
                <a:rPr lang="zh-CN" altLang="en-US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and </a:t>
              </a:r>
              <a:b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main memory</a:t>
              </a:r>
            </a:p>
          </p:txBody>
        </p:sp>
        <p:sp>
          <p:nvSpPr>
            <p:cNvPr id="187546" name="Text Box 128">
              <a:extLst>
                <a:ext uri="{FF2B5EF4-FFF2-40B4-BE49-F238E27FC236}">
                  <a16:creationId xmlns:a16="http://schemas.microsoft.com/office/drawing/2014/main" id="{8040704F-9565-F04D-9940-D92615B0B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23"/>
              <a:ext cx="158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d-cache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(64 B/line, 4 lines/set)</a:t>
              </a:r>
            </a:p>
          </p:txBody>
        </p:sp>
        <p:sp>
          <p:nvSpPr>
            <p:cNvPr id="187547" name="Line 129">
              <a:extLst>
                <a:ext uri="{FF2B5EF4-FFF2-40B4-BE49-F238E27FC236}">
                  <a16:creationId xmlns:a16="http://schemas.microsoft.com/office/drawing/2014/main" id="{F5E6B665-832D-A741-89E8-55C250852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96" y="1584"/>
              <a:ext cx="62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8" name="Line 130">
              <a:extLst>
                <a:ext uri="{FF2B5EF4-FFF2-40B4-BE49-F238E27FC236}">
                  <a16:creationId xmlns:a16="http://schemas.microsoft.com/office/drawing/2014/main" id="{FFD0919C-34DE-9148-A4E9-C1C399294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152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9" name="Line 131">
              <a:extLst>
                <a:ext uri="{FF2B5EF4-FFF2-40B4-BE49-F238E27FC236}">
                  <a16:creationId xmlns:a16="http://schemas.microsoft.com/office/drawing/2014/main" id="{89FBFCD1-3528-2246-A166-D294BD89C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0" name="Text Box 132">
              <a:extLst>
                <a:ext uri="{FF2B5EF4-FFF2-40B4-BE49-F238E27FC236}">
                  <a16:creationId xmlns:a16="http://schemas.microsoft.com/office/drawing/2014/main" id="{11CFB7D1-F4CA-3145-840D-794B2DCC4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1247"/>
              <a:ext cx="55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hit</a:t>
              </a:r>
            </a:p>
          </p:txBody>
        </p:sp>
        <p:sp>
          <p:nvSpPr>
            <p:cNvPr id="187551" name="Text Box 133">
              <a:extLst>
                <a:ext uri="{FF2B5EF4-FFF2-40B4-BE49-F238E27FC236}">
                  <a16:creationId xmlns:a16="http://schemas.microsoft.com/office/drawing/2014/main" id="{0FA2D449-D0FB-9B49-8D7D-6A4C64948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1356"/>
              <a:ext cx="69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miss</a:t>
              </a:r>
            </a:p>
          </p:txBody>
        </p:sp>
        <p:sp>
          <p:nvSpPr>
            <p:cNvPr id="187552" name="Line 134">
              <a:extLst>
                <a:ext uri="{FF2B5EF4-FFF2-40B4-BE49-F238E27FC236}">
                  <a16:creationId xmlns:a16="http://schemas.microsoft.com/office/drawing/2014/main" id="{6D6609FA-EFE9-EA41-8348-69E2BF9FD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864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3" name="Line 135">
              <a:extLst>
                <a:ext uri="{FF2B5EF4-FFF2-40B4-BE49-F238E27FC236}">
                  <a16:creationId xmlns:a16="http://schemas.microsoft.com/office/drawing/2014/main" id="{45A40A70-6B6C-2340-8971-A2B519780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340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4" name="Line 136">
              <a:extLst>
                <a:ext uri="{FF2B5EF4-FFF2-40B4-BE49-F238E27FC236}">
                  <a16:creationId xmlns:a16="http://schemas.microsoft.com/office/drawing/2014/main" id="{468E3500-2968-3340-8205-CCB3C070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40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227" name="Rectangle 9">
              <a:extLst>
                <a:ext uri="{FF2B5EF4-FFF2-40B4-BE49-F238E27FC236}">
                  <a16:creationId xmlns:a16="http://schemas.microsoft.com/office/drawing/2014/main" id="{B4121F8D-E3B8-5049-A8BD-315DAA52D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TLBT</a:t>
              </a:r>
            </a:p>
          </p:txBody>
        </p:sp>
        <p:sp>
          <p:nvSpPr>
            <p:cNvPr id="9228" name="Rectangle 10">
              <a:extLst>
                <a:ext uri="{FF2B5EF4-FFF2-40B4-BE49-F238E27FC236}">
                  <a16:creationId xmlns:a16="http://schemas.microsoft.com/office/drawing/2014/main" id="{15B3E942-43A4-EF43-817D-DC1F8D176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TLBI</a:t>
              </a:r>
            </a:p>
          </p:txBody>
        </p:sp>
      </p:grpSp>
      <p:sp>
        <p:nvSpPr>
          <p:cNvPr id="187396" name="Rectangle 138">
            <a:extLst>
              <a:ext uri="{FF2B5EF4-FFF2-40B4-BE49-F238E27FC236}">
                <a16:creationId xmlns:a16="http://schemas.microsoft.com/office/drawing/2014/main" id="{E94C7EFB-4751-D143-A63A-6A4D5F384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Cortex-A53</a:t>
            </a:r>
            <a:r>
              <a:rPr lang="zh-CN" altLang="en-US" dirty="0">
                <a:latin typeface="+mj-ea"/>
              </a:rPr>
              <a:t> </a:t>
            </a:r>
            <a:r>
              <a:rPr lang="en-US" altLang="zh-CN" dirty="0">
                <a:latin typeface="+mj-ea"/>
              </a:rPr>
              <a:t>CPU</a:t>
            </a:r>
            <a:r>
              <a:rPr lang="zh-CN" altLang="en-US" dirty="0">
                <a:latin typeface="+mj-ea"/>
              </a:rPr>
              <a:t>实例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9" name="Rectangle 80">
            <a:extLst>
              <a:ext uri="{FF2B5EF4-FFF2-40B4-BE49-F238E27FC236}">
                <a16:creationId xmlns:a16="http://schemas.microsoft.com/office/drawing/2014/main" id="{2941BEB3-F775-E84A-AF5E-42813C345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0" name="Rectangle 84">
            <a:extLst>
              <a:ext uri="{FF2B5EF4-FFF2-40B4-BE49-F238E27FC236}">
                <a16:creationId xmlns:a16="http://schemas.microsoft.com/office/drawing/2014/main" id="{95A0898F-29C7-D24D-B2F5-D10EF5F1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1" name="Rectangle 88">
            <a:extLst>
              <a:ext uri="{FF2B5EF4-FFF2-40B4-BE49-F238E27FC236}">
                <a16:creationId xmlns:a16="http://schemas.microsoft.com/office/drawing/2014/main" id="{AE0A27DC-86FD-E347-B381-76D3F576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2" name="Rectangle 92">
            <a:extLst>
              <a:ext uri="{FF2B5EF4-FFF2-40B4-BE49-F238E27FC236}">
                <a16:creationId xmlns:a16="http://schemas.microsoft.com/office/drawing/2014/main" id="{72DA31BB-9001-B84E-B661-47FA156F7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7" name="Rectangle 80">
            <a:extLst>
              <a:ext uri="{FF2B5EF4-FFF2-40B4-BE49-F238E27FC236}">
                <a16:creationId xmlns:a16="http://schemas.microsoft.com/office/drawing/2014/main" id="{796DDF49-24CE-6C4D-8565-E4D17780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8" name="Rectangle 84">
            <a:extLst>
              <a:ext uri="{FF2B5EF4-FFF2-40B4-BE49-F238E27FC236}">
                <a16:creationId xmlns:a16="http://schemas.microsoft.com/office/drawing/2014/main" id="{B653CD91-6DCD-1542-AE5E-63876994D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9" name="Rectangle 88">
            <a:extLst>
              <a:ext uri="{FF2B5EF4-FFF2-40B4-BE49-F238E27FC236}">
                <a16:creationId xmlns:a16="http://schemas.microsoft.com/office/drawing/2014/main" id="{B2205C79-1E88-8A4E-9661-EEE77D9DF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0" name="Rectangle 92">
            <a:extLst>
              <a:ext uri="{FF2B5EF4-FFF2-40B4-BE49-F238E27FC236}">
                <a16:creationId xmlns:a16="http://schemas.microsoft.com/office/drawing/2014/main" id="{09CC6BB1-D657-0A4A-B3DB-65282A50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1" name="Rectangle 80">
            <a:extLst>
              <a:ext uri="{FF2B5EF4-FFF2-40B4-BE49-F238E27FC236}">
                <a16:creationId xmlns:a16="http://schemas.microsoft.com/office/drawing/2014/main" id="{9691A7AE-ED35-7A49-BA01-9FF65917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2" name="Rectangle 84">
            <a:extLst>
              <a:ext uri="{FF2B5EF4-FFF2-40B4-BE49-F238E27FC236}">
                <a16:creationId xmlns:a16="http://schemas.microsoft.com/office/drawing/2014/main" id="{3D88DEED-E17E-0D4F-8E31-76CB274B3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3" name="Rectangle 88">
            <a:extLst>
              <a:ext uri="{FF2B5EF4-FFF2-40B4-BE49-F238E27FC236}">
                <a16:creationId xmlns:a16="http://schemas.microsoft.com/office/drawing/2014/main" id="{9317A8E3-8B94-0A4D-9D0F-54CB22EFD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4" name="Rectangle 92">
            <a:extLst>
              <a:ext uri="{FF2B5EF4-FFF2-40B4-BE49-F238E27FC236}">
                <a16:creationId xmlns:a16="http://schemas.microsoft.com/office/drawing/2014/main" id="{C086F998-D6E4-954A-A84D-16812A34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5" name="Rectangle 80">
            <a:extLst>
              <a:ext uri="{FF2B5EF4-FFF2-40B4-BE49-F238E27FC236}">
                <a16:creationId xmlns:a16="http://schemas.microsoft.com/office/drawing/2014/main" id="{A5FE29B7-ED96-CF4E-B345-08C8059C0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CDAECFB2-F058-9F48-9223-5B9610356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7" name="Rectangle 88">
            <a:extLst>
              <a:ext uri="{FF2B5EF4-FFF2-40B4-BE49-F238E27FC236}">
                <a16:creationId xmlns:a16="http://schemas.microsoft.com/office/drawing/2014/main" id="{9602D43E-6DEB-B646-AA5E-F65C1DF6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8" name="Rectangle 92">
            <a:extLst>
              <a:ext uri="{FF2B5EF4-FFF2-40B4-BE49-F238E27FC236}">
                <a16:creationId xmlns:a16="http://schemas.microsoft.com/office/drawing/2014/main" id="{3BEDFB5D-2B3B-A74C-80C5-BEA48D5CC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9" name="Rectangle 80">
            <a:extLst>
              <a:ext uri="{FF2B5EF4-FFF2-40B4-BE49-F238E27FC236}">
                <a16:creationId xmlns:a16="http://schemas.microsoft.com/office/drawing/2014/main" id="{4B6443FF-DC85-7347-BB59-070D2039E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8E5E7802-44E2-E04D-967F-DFE957A9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1" name="Rectangle 88">
            <a:extLst>
              <a:ext uri="{FF2B5EF4-FFF2-40B4-BE49-F238E27FC236}">
                <a16:creationId xmlns:a16="http://schemas.microsoft.com/office/drawing/2014/main" id="{382F915D-340E-E04E-9F3A-4BCEC1201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2" name="Rectangle 92">
            <a:extLst>
              <a:ext uri="{FF2B5EF4-FFF2-40B4-BE49-F238E27FC236}">
                <a16:creationId xmlns:a16="http://schemas.microsoft.com/office/drawing/2014/main" id="{726DF143-561E-8D41-830B-F891D5B0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3" name="Rectangle 80">
            <a:extLst>
              <a:ext uri="{FF2B5EF4-FFF2-40B4-BE49-F238E27FC236}">
                <a16:creationId xmlns:a16="http://schemas.microsoft.com/office/drawing/2014/main" id="{EC0950AA-5453-6947-B17B-FC07FC2B1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4" name="Rectangle 84">
            <a:extLst>
              <a:ext uri="{FF2B5EF4-FFF2-40B4-BE49-F238E27FC236}">
                <a16:creationId xmlns:a16="http://schemas.microsoft.com/office/drawing/2014/main" id="{522BE330-C8B1-E744-ACBE-E6B35447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338CDA5B-655B-AF4C-8FD1-10812584B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6" name="Rectangle 92">
            <a:extLst>
              <a:ext uri="{FF2B5EF4-FFF2-40B4-BE49-F238E27FC236}">
                <a16:creationId xmlns:a16="http://schemas.microsoft.com/office/drawing/2014/main" id="{04C7E9EC-32C9-FF42-A457-F1F78169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7" name="Rectangle 80">
            <a:extLst>
              <a:ext uri="{FF2B5EF4-FFF2-40B4-BE49-F238E27FC236}">
                <a16:creationId xmlns:a16="http://schemas.microsoft.com/office/drawing/2014/main" id="{BF89900E-7FBA-C646-A899-2B14C703F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8" name="Rectangle 84">
            <a:extLst>
              <a:ext uri="{FF2B5EF4-FFF2-40B4-BE49-F238E27FC236}">
                <a16:creationId xmlns:a16="http://schemas.microsoft.com/office/drawing/2014/main" id="{AED5FA79-7D5D-9D45-923C-67FC352D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D06FAAEA-2497-5447-A71D-98898021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0" name="Rectangle 92">
            <a:extLst>
              <a:ext uri="{FF2B5EF4-FFF2-40B4-BE49-F238E27FC236}">
                <a16:creationId xmlns:a16="http://schemas.microsoft.com/office/drawing/2014/main" id="{EEAB60F2-B902-D940-AE8E-789B0C45F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1" name="Rectangle 80">
            <a:extLst>
              <a:ext uri="{FF2B5EF4-FFF2-40B4-BE49-F238E27FC236}">
                <a16:creationId xmlns:a16="http://schemas.microsoft.com/office/drawing/2014/main" id="{DAD8B37B-273D-C546-8C71-EF7D1BB6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D73DFF6C-48D6-2A45-973C-8145C7187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94A50B72-3FF6-1B44-BEAA-C62FF0EC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4" name="Rectangle 92">
            <a:extLst>
              <a:ext uri="{FF2B5EF4-FFF2-40B4-BE49-F238E27FC236}">
                <a16:creationId xmlns:a16="http://schemas.microsoft.com/office/drawing/2014/main" id="{5328C361-EF9B-5147-AE96-D1645409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6" name="Rectangle 117">
            <a:extLst>
              <a:ext uri="{FF2B5EF4-FFF2-40B4-BE49-F238E27FC236}">
                <a16:creationId xmlns:a16="http://schemas.microsoft.com/office/drawing/2014/main" id="{77A3FF45-6EEB-1346-865B-49FE5F4EC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254500"/>
            <a:ext cx="39819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CI</a:t>
            </a:r>
          </a:p>
        </p:txBody>
      </p:sp>
      <p:sp>
        <p:nvSpPr>
          <p:cNvPr id="177" name="Rectangle 117">
            <a:extLst>
              <a:ext uri="{FF2B5EF4-FFF2-40B4-BE49-F238E27FC236}">
                <a16:creationId xmlns:a16="http://schemas.microsoft.com/office/drawing/2014/main" id="{593F8BD0-DAC2-8847-8EF4-70023D5A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53" y="4254500"/>
            <a:ext cx="36644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CO</a:t>
            </a:r>
          </a:p>
        </p:txBody>
      </p:sp>
      <p:sp>
        <p:nvSpPr>
          <p:cNvPr id="187431" name="Line 101">
            <a:extLst>
              <a:ext uri="{FF2B5EF4-FFF2-40B4-BE49-F238E27FC236}">
                <a16:creationId xmlns:a16="http://schemas.microsoft.com/office/drawing/2014/main" id="{F88302C6-CF1C-274E-B016-C1CB1D776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3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2" name="Line 102">
            <a:extLst>
              <a:ext uri="{FF2B5EF4-FFF2-40B4-BE49-F238E27FC236}">
                <a16:creationId xmlns:a16="http://schemas.microsoft.com/office/drawing/2014/main" id="{3D309C08-5577-F94B-BF81-C214407DC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4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3" name="Line 103">
            <a:extLst>
              <a:ext uri="{FF2B5EF4-FFF2-40B4-BE49-F238E27FC236}">
                <a16:creationId xmlns:a16="http://schemas.microsoft.com/office/drawing/2014/main" id="{BAF7BDDE-566A-AA4F-AA5F-249455CF2F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4" name="Line 104">
            <a:extLst>
              <a:ext uri="{FF2B5EF4-FFF2-40B4-BE49-F238E27FC236}">
                <a16:creationId xmlns:a16="http://schemas.microsoft.com/office/drawing/2014/main" id="{A9F472E6-4368-DD4F-808A-9F5E329C21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2" name="Rectangle 45">
            <a:extLst>
              <a:ext uri="{FF2B5EF4-FFF2-40B4-BE49-F238E27FC236}">
                <a16:creationId xmlns:a16="http://schemas.microsoft.com/office/drawing/2014/main" id="{6349199D-CC61-4647-96B9-080989F2D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VPN1</a:t>
            </a:r>
          </a:p>
        </p:txBody>
      </p:sp>
      <p:sp>
        <p:nvSpPr>
          <p:cNvPr id="183" name="Rectangle 46">
            <a:extLst>
              <a:ext uri="{FF2B5EF4-FFF2-40B4-BE49-F238E27FC236}">
                <a16:creationId xmlns:a16="http://schemas.microsoft.com/office/drawing/2014/main" id="{7AD4A949-2A37-2547-9E3E-44DB2F800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VPN2</a:t>
            </a:r>
          </a:p>
        </p:txBody>
      </p:sp>
      <p:sp>
        <p:nvSpPr>
          <p:cNvPr id="184" name="Rectangle 45">
            <a:extLst>
              <a:ext uri="{FF2B5EF4-FFF2-40B4-BE49-F238E27FC236}">
                <a16:creationId xmlns:a16="http://schemas.microsoft.com/office/drawing/2014/main" id="{986B03DC-747F-E144-BD4C-3B64F6353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VPN3</a:t>
            </a:r>
          </a:p>
        </p:txBody>
      </p:sp>
      <p:sp>
        <p:nvSpPr>
          <p:cNvPr id="185" name="Rectangle 46">
            <a:extLst>
              <a:ext uri="{FF2B5EF4-FFF2-40B4-BE49-F238E27FC236}">
                <a16:creationId xmlns:a16="http://schemas.microsoft.com/office/drawing/2014/main" id="{6FA546C1-ED51-414B-8A79-88145222C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VPN4</a:t>
            </a:r>
          </a:p>
        </p:txBody>
      </p:sp>
      <p:sp>
        <p:nvSpPr>
          <p:cNvPr id="187439" name="Line 53">
            <a:extLst>
              <a:ext uri="{FF2B5EF4-FFF2-40B4-BE49-F238E27FC236}">
                <a16:creationId xmlns:a16="http://schemas.microsoft.com/office/drawing/2014/main" id="{263BC5DE-6F45-7B4F-88F1-B76637E13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0" name="Line 54">
            <a:extLst>
              <a:ext uri="{FF2B5EF4-FFF2-40B4-BE49-F238E27FC236}">
                <a16:creationId xmlns:a16="http://schemas.microsoft.com/office/drawing/2014/main" id="{D0B532B9-B1D4-CE4A-AFD8-3A8D1B267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78" name="Rectangle 51">
            <a:extLst>
              <a:ext uri="{FF2B5EF4-FFF2-40B4-BE49-F238E27FC236}">
                <a16:creationId xmlns:a16="http://schemas.microsoft.com/office/drawing/2014/main" id="{8E401673-793F-F141-83A9-A64C628CF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42" name="Rectangle 9">
            <a:extLst>
              <a:ext uri="{FF2B5EF4-FFF2-40B4-BE49-F238E27FC236}">
                <a16:creationId xmlns:a16="http://schemas.microsoft.com/office/drawing/2014/main" id="{B32F731A-2433-8A4A-9ACF-1A9FA4A6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43" name="Line 53">
            <a:extLst>
              <a:ext uri="{FF2B5EF4-FFF2-40B4-BE49-F238E27FC236}">
                <a16:creationId xmlns:a16="http://schemas.microsoft.com/office/drawing/2014/main" id="{F2F25FD0-175A-7B46-BD2A-ABABB3FE3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4" name="Line 54">
            <a:extLst>
              <a:ext uri="{FF2B5EF4-FFF2-40B4-BE49-F238E27FC236}">
                <a16:creationId xmlns:a16="http://schemas.microsoft.com/office/drawing/2014/main" id="{158BF596-EA44-D341-92E6-6BE4B50C9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6" name="Rectangle 51">
            <a:extLst>
              <a:ext uri="{FF2B5EF4-FFF2-40B4-BE49-F238E27FC236}">
                <a16:creationId xmlns:a16="http://schemas.microsoft.com/office/drawing/2014/main" id="{E936B773-F3E5-9544-851F-2C6E5746B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46" name="Rectangle 9">
            <a:extLst>
              <a:ext uri="{FF2B5EF4-FFF2-40B4-BE49-F238E27FC236}">
                <a16:creationId xmlns:a16="http://schemas.microsoft.com/office/drawing/2014/main" id="{5DD6A5A3-665A-4247-B0D2-F7B83D0CD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47" name="Line 53">
            <a:extLst>
              <a:ext uri="{FF2B5EF4-FFF2-40B4-BE49-F238E27FC236}">
                <a16:creationId xmlns:a16="http://schemas.microsoft.com/office/drawing/2014/main" id="{9A6742BA-8501-7146-B21D-2834E44D8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8" name="Line 54">
            <a:extLst>
              <a:ext uri="{FF2B5EF4-FFF2-40B4-BE49-F238E27FC236}">
                <a16:creationId xmlns:a16="http://schemas.microsoft.com/office/drawing/2014/main" id="{CB23CBF8-D46C-BE43-9322-7E9AB970B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" name="Rectangle 51">
            <a:extLst>
              <a:ext uri="{FF2B5EF4-FFF2-40B4-BE49-F238E27FC236}">
                <a16:creationId xmlns:a16="http://schemas.microsoft.com/office/drawing/2014/main" id="{00FD00AB-37A7-A64E-9FF6-41139AFA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50" name="Rectangle 9">
            <a:extLst>
              <a:ext uri="{FF2B5EF4-FFF2-40B4-BE49-F238E27FC236}">
                <a16:creationId xmlns:a16="http://schemas.microsoft.com/office/drawing/2014/main" id="{893EC694-C179-DB43-8F4C-647362E39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51" name="Line 53">
            <a:extLst>
              <a:ext uri="{FF2B5EF4-FFF2-40B4-BE49-F238E27FC236}">
                <a16:creationId xmlns:a16="http://schemas.microsoft.com/office/drawing/2014/main" id="{1412A3A6-D2B2-A941-9296-1BB3320EC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52" name="Line 54">
            <a:extLst>
              <a:ext uri="{FF2B5EF4-FFF2-40B4-BE49-F238E27FC236}">
                <a16:creationId xmlns:a16="http://schemas.microsoft.com/office/drawing/2014/main" id="{2610DB7A-54F8-C149-A46B-F46072E02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" name="Rectangle 51">
            <a:extLst>
              <a:ext uri="{FF2B5EF4-FFF2-40B4-BE49-F238E27FC236}">
                <a16:creationId xmlns:a16="http://schemas.microsoft.com/office/drawing/2014/main" id="{1527FE8F-6FB8-6D4C-A567-DDC2660E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54" name="Rectangle 9">
            <a:extLst>
              <a:ext uri="{FF2B5EF4-FFF2-40B4-BE49-F238E27FC236}">
                <a16:creationId xmlns:a16="http://schemas.microsoft.com/office/drawing/2014/main" id="{5D7A57A5-47E7-6442-8B65-C4F4689F6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55" name="Line 54">
            <a:extLst>
              <a:ext uri="{FF2B5EF4-FFF2-40B4-BE49-F238E27FC236}">
                <a16:creationId xmlns:a16="http://schemas.microsoft.com/office/drawing/2014/main" id="{6FDAB645-5C11-1041-9EA7-50AF0A12C7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3417" y="4544219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56" name="Text Box 7">
            <a:extLst>
              <a:ext uri="{FF2B5EF4-FFF2-40B4-BE49-F238E27FC236}">
                <a16:creationId xmlns:a16="http://schemas.microsoft.com/office/drawing/2014/main" id="{467CBE9F-DE2A-E344-813B-5554B9E47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2" y="4426479"/>
            <a:ext cx="905696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TTBR_ELx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57" name="Text Box 44">
            <a:extLst>
              <a:ext uri="{FF2B5EF4-FFF2-40B4-BE49-F238E27FC236}">
                <a16:creationId xmlns:a16="http://schemas.microsoft.com/office/drawing/2014/main" id="{0E42E802-2D9B-6B42-A74B-8C7BF3FE8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011" y="5381625"/>
            <a:ext cx="1154034" cy="25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Verdana" panose="020B0604030504040204" pitchFamily="34" charset="0"/>
              </a:rPr>
              <a:t>Page Tables</a:t>
            </a:r>
          </a:p>
        </p:txBody>
      </p:sp>
      <p:sp>
        <p:nvSpPr>
          <p:cNvPr id="187458" name="Text Box 11">
            <a:extLst>
              <a:ext uri="{FF2B5EF4-FFF2-40B4-BE49-F238E27FC236}">
                <a16:creationId xmlns:a16="http://schemas.microsoft.com/office/drawing/2014/main" id="{4CF843D2-78AF-2345-B0F5-E68FD77E9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532" y="3947584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59" name="Text Box 11">
            <a:extLst>
              <a:ext uri="{FF2B5EF4-FFF2-40B4-BE49-F238E27FC236}">
                <a16:creationId xmlns:a16="http://schemas.microsoft.com/office/drawing/2014/main" id="{EE56B370-B0B1-E949-A346-0678C30D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0" name="Text Box 11">
            <a:extLst>
              <a:ext uri="{FF2B5EF4-FFF2-40B4-BE49-F238E27FC236}">
                <a16:creationId xmlns:a16="http://schemas.microsoft.com/office/drawing/2014/main" id="{4CECFB2D-2A7A-FB4C-B3E2-4AD3C24E6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1" name="Text Box 11">
            <a:extLst>
              <a:ext uri="{FF2B5EF4-FFF2-40B4-BE49-F238E27FC236}">
                <a16:creationId xmlns:a16="http://schemas.microsoft.com/office/drawing/2014/main" id="{10A3F894-CF65-4441-904F-841FF477D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2" name="Line 24">
            <a:extLst>
              <a:ext uri="{FF2B5EF4-FFF2-40B4-BE49-F238E27FC236}">
                <a16:creationId xmlns:a16="http://schemas.microsoft.com/office/drawing/2014/main" id="{AE5AF48F-FABE-A447-BA35-1D2E04EE4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771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3" name="Line 25">
            <a:extLst>
              <a:ext uri="{FF2B5EF4-FFF2-40B4-BE49-F238E27FC236}">
                <a16:creationId xmlns:a16="http://schemas.microsoft.com/office/drawing/2014/main" id="{93419B7D-A3F1-F44B-A5DB-3F7838213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4" name="Line 8">
            <a:extLst>
              <a:ext uri="{FF2B5EF4-FFF2-40B4-BE49-F238E27FC236}">
                <a16:creationId xmlns:a16="http://schemas.microsoft.com/office/drawing/2014/main" id="{03626213-FDEB-7847-908F-6248CCCBC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19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5" name="Line 24">
            <a:extLst>
              <a:ext uri="{FF2B5EF4-FFF2-40B4-BE49-F238E27FC236}">
                <a16:creationId xmlns:a16="http://schemas.microsoft.com/office/drawing/2014/main" id="{D0AB4ACD-E682-2B47-BF86-32EADDEA8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1667" y="4878917"/>
            <a:ext cx="912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6" name="Line 25">
            <a:extLst>
              <a:ext uri="{FF2B5EF4-FFF2-40B4-BE49-F238E27FC236}">
                <a16:creationId xmlns:a16="http://schemas.microsoft.com/office/drawing/2014/main" id="{D38A60A0-F5A5-4840-80D2-8C8C62BE9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7" name="Line 8">
            <a:extLst>
              <a:ext uri="{FF2B5EF4-FFF2-40B4-BE49-F238E27FC236}">
                <a16:creationId xmlns:a16="http://schemas.microsoft.com/office/drawing/2014/main" id="{3904A74A-A47E-9649-84F3-B012BF213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2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8" name="Line 24">
            <a:extLst>
              <a:ext uri="{FF2B5EF4-FFF2-40B4-BE49-F238E27FC236}">
                <a16:creationId xmlns:a16="http://schemas.microsoft.com/office/drawing/2014/main" id="{280FB5F6-3DDA-B54F-B368-85BEB17D2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03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9" name="Line 25">
            <a:extLst>
              <a:ext uri="{FF2B5EF4-FFF2-40B4-BE49-F238E27FC236}">
                <a16:creationId xmlns:a16="http://schemas.microsoft.com/office/drawing/2014/main" id="{63C344DF-240B-1A4D-9481-16FBB5994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7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70" name="Line 8">
            <a:extLst>
              <a:ext uri="{FF2B5EF4-FFF2-40B4-BE49-F238E27FC236}">
                <a16:creationId xmlns:a16="http://schemas.microsoft.com/office/drawing/2014/main" id="{442931C2-DA2D-6148-99C3-72339F994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7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cxnSp>
        <p:nvCxnSpPr>
          <p:cNvPr id="187471" name="肘形连接符 2">
            <a:extLst>
              <a:ext uri="{FF2B5EF4-FFF2-40B4-BE49-F238E27FC236}">
                <a16:creationId xmlns:a16="http://schemas.microsoft.com/office/drawing/2014/main" id="{D262F49C-BF88-5546-A84F-54AD23DC3547}"/>
              </a:ext>
            </a:extLst>
          </p:cNvPr>
          <p:cNvCxnSpPr>
            <a:cxnSpLocks/>
            <a:endCxn id="182" idx="1"/>
          </p:cNvCxnSpPr>
          <p:nvPr/>
        </p:nvCxnSpPr>
        <p:spPr bwMode="auto">
          <a:xfrm rot="16200000" flipH="1">
            <a:off x="346604" y="3087688"/>
            <a:ext cx="2095500" cy="2381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7472" name="文本框 6">
            <a:extLst>
              <a:ext uri="{FF2B5EF4-FFF2-40B4-BE49-F238E27FC236}">
                <a16:creationId xmlns:a16="http://schemas.microsoft.com/office/drawing/2014/main" id="{41EF260D-071F-FB4A-9BAD-138111756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032" y="5289021"/>
            <a:ext cx="3238500" cy="451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167"/>
              <a:t>Note: L1 d-cache can be 8 KiB to 64 KiB </a:t>
            </a:r>
            <a:r>
              <a:rPr lang="zh-CN" altLang="zh-CN" sz="1167"/>
              <a:t>4-way set associative</a:t>
            </a:r>
            <a:r>
              <a:rPr lang="zh-CN" altLang="zh-CN" sz="833"/>
              <a:t>.</a:t>
            </a:r>
            <a:endParaRPr kumimoji="1" lang="zh-CN" altLang="en-US" sz="833"/>
          </a:p>
        </p:txBody>
      </p:sp>
      <p:sp>
        <p:nvSpPr>
          <p:cNvPr id="2" name="Oval 137">
            <a:extLst>
              <a:ext uri="{FF2B5EF4-FFF2-40B4-BE49-F238E27FC236}">
                <a16:creationId xmlns:a16="http://schemas.microsoft.com/office/drawing/2014/main" id="{DDBB0155-5375-2F31-E2DC-9C4CA632F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2051844"/>
            <a:ext cx="4302125" cy="1924843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667"/>
          </a:p>
        </p:txBody>
      </p:sp>
      <p:sp>
        <p:nvSpPr>
          <p:cNvPr id="3" name="Oval 137">
            <a:extLst>
              <a:ext uri="{FF2B5EF4-FFF2-40B4-BE49-F238E27FC236}">
                <a16:creationId xmlns:a16="http://schemas.microsoft.com/office/drawing/2014/main" id="{BB8BBC7B-323E-34DB-D406-4060E8C0E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722687"/>
            <a:ext cx="3376083" cy="187854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667"/>
          </a:p>
        </p:txBody>
      </p:sp>
    </p:spTree>
    <p:extLst>
      <p:ext uri="{BB962C8B-B14F-4D97-AF65-F5344CB8AC3E}">
        <p14:creationId xmlns:p14="http://schemas.microsoft.com/office/powerpoint/2010/main" val="18777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思考：引入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会引起翻译错误吗？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9D228-4A74-1541-AEBC-525E5260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26" y="1969725"/>
            <a:ext cx="1663163" cy="226999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7587F8A-E1FB-9840-B690-2B3124BE9EF1}"/>
              </a:ext>
            </a:extLst>
          </p:cNvPr>
          <p:cNvSpPr txBox="1"/>
          <p:nvPr/>
        </p:nvSpPr>
        <p:spPr>
          <a:xfrm>
            <a:off x="424092" y="156135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547E-F1E3-1741-99A1-706F58D67DCD}"/>
              </a:ext>
            </a:extLst>
          </p:cNvPr>
          <p:cNvSpPr txBox="1"/>
          <p:nvPr/>
        </p:nvSpPr>
        <p:spPr>
          <a:xfrm>
            <a:off x="2422807" y="1556379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EE806BF-BBA8-30FD-2CDD-4B3AD31C2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62" y="1941317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48B9FDCC-FC2D-02EB-A876-BD67C499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301" y="2986421"/>
            <a:ext cx="889000" cy="1031875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577D2AD8-988B-1335-E67C-5934803F9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918" y="2772770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E1CB9EE8-D5D8-1573-2BA4-CC4A8547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300" y="3262076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14" name="Text Box 32">
            <a:extLst>
              <a:ext uri="{FF2B5EF4-FFF2-40B4-BE49-F238E27FC236}">
                <a16:creationId xmlns:a16="http://schemas.microsoft.com/office/drawing/2014/main" id="{15D693DB-2723-AA0D-0FCD-66E892348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812" y="4449394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5" name="Straight Arrow Connector 8">
            <a:extLst>
              <a:ext uri="{FF2B5EF4-FFF2-40B4-BE49-F238E27FC236}">
                <a16:creationId xmlns:a16="http://schemas.microsoft.com/office/drawing/2014/main" id="{906B9D50-478F-52F9-BA1C-3E9F5BA075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39301" y="3486484"/>
            <a:ext cx="911617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10">
            <a:extLst>
              <a:ext uri="{FF2B5EF4-FFF2-40B4-BE49-F238E27FC236}">
                <a16:creationId xmlns:a16="http://schemas.microsoft.com/office/drawing/2014/main" id="{C7F9CD18-AE67-8CD4-7205-A5BD49D61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301" y="3280109"/>
            <a:ext cx="889000" cy="4445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22" name="Straight Arrow Connector 10">
            <a:extLst>
              <a:ext uri="{FF2B5EF4-FFF2-40B4-BE49-F238E27FC236}">
                <a16:creationId xmlns:a16="http://schemas.microsoft.com/office/drawing/2014/main" id="{3A1A97F0-B1A4-F7D2-4FA7-8B554CBDE7D8}"/>
              </a:ext>
            </a:extLst>
          </p:cNvPr>
          <p:cNvCxnSpPr>
            <a:cxnSpLocks noChangeShapeType="1"/>
            <a:stCxn id="21" idx="3"/>
            <a:endCxn id="8" idx="1"/>
          </p:cNvCxnSpPr>
          <p:nvPr/>
        </p:nvCxnSpPr>
        <p:spPr bwMode="auto">
          <a:xfrm flipV="1">
            <a:off x="5407301" y="3502359"/>
            <a:ext cx="11430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D45ECB13-C5F9-18D2-010F-2854557FE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372" y="3263400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2832610D-9C11-B2F6-5C79-20882C0F139F}"/>
              </a:ext>
            </a:extLst>
          </p:cNvPr>
          <p:cNvSpPr txBox="1"/>
          <p:nvPr/>
        </p:nvSpPr>
        <p:spPr>
          <a:xfrm>
            <a:off x="4405853" y="1941317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B75AEC31-5C9D-B08D-400D-138B483E3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035" y="2394243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40" name="Shape 49">
            <a:extLst>
              <a:ext uri="{FF2B5EF4-FFF2-40B4-BE49-F238E27FC236}">
                <a16:creationId xmlns:a16="http://schemas.microsoft.com/office/drawing/2014/main" id="{A768595A-37CF-7762-B89A-E31597FB8AB2}"/>
              </a:ext>
            </a:extLst>
          </p:cNvPr>
          <p:cNvCxnSpPr>
            <a:cxnSpLocks noChangeShapeType="1"/>
            <a:endCxn id="21" idx="2"/>
          </p:cNvCxnSpPr>
          <p:nvPr/>
        </p:nvCxnSpPr>
        <p:spPr bwMode="auto">
          <a:xfrm rot="10800000">
            <a:off x="4962802" y="3724609"/>
            <a:ext cx="3388117" cy="667810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Oval 4">
            <a:extLst>
              <a:ext uri="{FF2B5EF4-FFF2-40B4-BE49-F238E27FC236}">
                <a16:creationId xmlns:a16="http://schemas.microsoft.com/office/drawing/2014/main" id="{3731F0CC-1262-EE1A-3716-494DC31FF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927" y="308034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2" name="Oval 18">
            <a:extLst>
              <a:ext uri="{FF2B5EF4-FFF2-40B4-BE49-F238E27FC236}">
                <a16:creationId xmlns:a16="http://schemas.microsoft.com/office/drawing/2014/main" id="{F10E3166-962A-1217-49CC-A45F1FE7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2478" y="2449317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3" name="Oval 20">
            <a:extLst>
              <a:ext uri="{FF2B5EF4-FFF2-40B4-BE49-F238E27FC236}">
                <a16:creationId xmlns:a16="http://schemas.microsoft.com/office/drawing/2014/main" id="{FF4852A4-411B-E989-255E-3B438E95D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531" y="354072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4" name="Oval 21">
            <a:extLst>
              <a:ext uri="{FF2B5EF4-FFF2-40B4-BE49-F238E27FC236}">
                <a16:creationId xmlns:a16="http://schemas.microsoft.com/office/drawing/2014/main" id="{335B496B-5E1E-81DE-DC76-816B2715C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927" y="469959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28FB7A86-9EDB-2FA7-E88E-3DBD48C9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978" y="2068317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46" name="Straight Arrow Connector 20">
            <a:extLst>
              <a:ext uri="{FF2B5EF4-FFF2-40B4-BE49-F238E27FC236}">
                <a16:creationId xmlns:a16="http://schemas.microsoft.com/office/drawing/2014/main" id="{38230019-10DD-8869-01E2-4C72613C135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629015" y="2685458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Arrow Connector 21">
            <a:extLst>
              <a:ext uri="{FF2B5EF4-FFF2-40B4-BE49-F238E27FC236}">
                <a16:creationId xmlns:a16="http://schemas.microsoft.com/office/drawing/2014/main" id="{FB5A125B-ABE4-1D4E-8DC1-2EAEF20533D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819515" y="2685458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ext Box 9">
            <a:extLst>
              <a:ext uri="{FF2B5EF4-FFF2-40B4-BE49-F238E27FC236}">
                <a16:creationId xmlns:a16="http://schemas.microsoft.com/office/drawing/2014/main" id="{F3F6CD98-9366-190D-345F-403AE8723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598" y="2689915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49" name="Oval 19">
            <a:extLst>
              <a:ext uri="{FF2B5EF4-FFF2-40B4-BE49-F238E27FC236}">
                <a16:creationId xmlns:a16="http://schemas.microsoft.com/office/drawing/2014/main" id="{28A50E44-6FD5-083E-D3D5-13627568A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561" y="2675537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D62FE264-CEDD-D0AB-1490-A3A97A9B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36" y="1969725"/>
            <a:ext cx="1663163" cy="2269992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77B8F51F-A72E-EFCF-E8C4-708FB4712719}"/>
              </a:ext>
            </a:extLst>
          </p:cNvPr>
          <p:cNvSpPr txBox="1"/>
          <p:nvPr/>
        </p:nvSpPr>
        <p:spPr>
          <a:xfrm>
            <a:off x="5852776" y="1236223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TLB</a:t>
            </a:r>
            <a:r>
              <a:rPr kumimoji="1" lang="zh-CN" altLang="en-US" dirty="0"/>
              <a:t>通过虚拟地址索引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命中后不查询页表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7E2B659-8C86-5159-75C9-BC2A90B63D59}"/>
              </a:ext>
            </a:extLst>
          </p:cNvPr>
          <p:cNvSpPr txBox="1"/>
          <p:nvPr/>
        </p:nvSpPr>
        <p:spPr>
          <a:xfrm>
            <a:off x="714647" y="444939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应用程序会使用相同的虚拟地址</a:t>
            </a:r>
          </a:p>
        </p:txBody>
      </p:sp>
    </p:spTree>
    <p:extLst>
      <p:ext uri="{BB962C8B-B14F-4D97-AF65-F5344CB8AC3E}">
        <p14:creationId xmlns:p14="http://schemas.microsoft.com/office/powerpoint/2010/main" val="4199122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CC6A7-CA74-DD40-BF2B-282C000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刷新（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F5BF3-1C48-7240-A293-4F03406D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TLB</a:t>
            </a:r>
            <a:r>
              <a:rPr kumimoji="1" lang="zh-CN" altLang="en-US" sz="2000" dirty="0"/>
              <a:t> 使用虚拟地址索引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当</a:t>
            </a:r>
            <a:r>
              <a:rPr kumimoji="1" lang="en-US" altLang="zh-CN" sz="2000" dirty="0"/>
              <a:t>OS</a:t>
            </a:r>
            <a:r>
              <a:rPr kumimoji="1" lang="zh-CN" altLang="en-US" sz="2000" dirty="0"/>
              <a:t>切换进程页表时需要全部刷新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上内核和应用程序使用不同的页表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分别存在</a:t>
            </a:r>
            <a:r>
              <a:rPr kumimoji="1" lang="en-US" altLang="zh-CN" sz="2000" dirty="0"/>
              <a:t>TTBR0_EL1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TTBR1_EL1</a:t>
            </a:r>
          </a:p>
          <a:p>
            <a:pPr lvl="1"/>
            <a:r>
              <a:rPr kumimoji="1" lang="zh-CN" altLang="en-US" sz="2000" dirty="0"/>
              <a:t>使用的虚拟地址范围不同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系统调用过程不用切换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07646-92A0-3148-997F-8B1E0C03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3739BE-1341-524C-A177-32C9FA716B68}"/>
              </a:ext>
            </a:extLst>
          </p:cNvPr>
          <p:cNvSpPr txBox="1">
            <a:spLocks/>
          </p:cNvSpPr>
          <p:nvPr/>
        </p:nvSpPr>
        <p:spPr>
          <a:xfrm>
            <a:off x="6012160" y="1321133"/>
            <a:ext cx="2952328" cy="24004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刷新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的相关指令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400" dirty="0"/>
              <a:t>TLBI VMALLEL1IS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ASID</a:t>
            </a:r>
            <a:r>
              <a:rPr kumimoji="1" lang="zh-CN" altLang="en-US" sz="1600" dirty="0"/>
              <a:t>相关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ASIDE1IS</a:t>
            </a:r>
            <a:endParaRPr kumimoji="1" lang="en-US" altLang="zh-CN" sz="1400" dirty="0"/>
          </a:p>
          <a:p>
            <a:pPr lvl="1"/>
            <a:r>
              <a:rPr kumimoji="1" lang="zh-CN" altLang="en-US" sz="1600" dirty="0"/>
              <a:t>清空指定虚拟地址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VAE1IS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0829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9131-2CC9-E548-87BB-EBA49BF9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如何降低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刷新导致的开销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E54D8-92BB-1248-A83F-D424C643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7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硬件特性</a:t>
            </a:r>
            <a:r>
              <a:rPr kumimoji="1" lang="en-US" altLang="zh-CN" sz="2000" dirty="0"/>
              <a:t>ASID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）：</a:t>
            </a:r>
            <a:r>
              <a:rPr lang="en-US" altLang="zh-CN" sz="2000" dirty="0"/>
              <a:t> Address</a:t>
            </a:r>
            <a:r>
              <a:rPr lang="zh-CN" altLang="en-US" sz="2000" dirty="0"/>
              <a:t> </a:t>
            </a:r>
            <a:r>
              <a:rPr lang="en-US" altLang="zh-CN" sz="2000" dirty="0"/>
              <a:t>Space</a:t>
            </a:r>
            <a:r>
              <a:rPr lang="zh-CN" altLang="en-US" sz="2000" dirty="0"/>
              <a:t> </a:t>
            </a:r>
            <a:r>
              <a:rPr lang="en-US" altLang="zh-CN" sz="2000" dirty="0"/>
              <a:t>ID</a:t>
            </a:r>
            <a:endParaRPr kumimoji="1" lang="en-US" altLang="zh-CN" sz="2000" dirty="0"/>
          </a:p>
          <a:p>
            <a:pPr lvl="1"/>
            <a:r>
              <a:rPr lang="en-US" altLang="zh-CN" sz="1800" dirty="0"/>
              <a:t>OS</a:t>
            </a:r>
            <a:r>
              <a:rPr lang="zh-CN" altLang="en-US" sz="1800" dirty="0"/>
              <a:t>为不同进程分配</a:t>
            </a:r>
            <a:r>
              <a:rPr lang="en-US" altLang="zh-CN" sz="1800" dirty="0"/>
              <a:t>8</a:t>
            </a:r>
            <a:r>
              <a:rPr lang="zh-CN" altLang="en-US" sz="1800" dirty="0"/>
              <a:t>位或</a:t>
            </a:r>
            <a:r>
              <a:rPr lang="en-US" altLang="zh-CN" sz="1800" dirty="0"/>
              <a:t>16</a:t>
            </a:r>
            <a:r>
              <a:rPr lang="zh-CN" altLang="en-US" sz="1800" dirty="0"/>
              <a:t>位 </a:t>
            </a:r>
            <a:r>
              <a:rPr lang="en-US" altLang="zh-CN" sz="1800" dirty="0"/>
              <a:t>ASID</a:t>
            </a:r>
          </a:p>
          <a:p>
            <a:pPr lvl="2"/>
            <a:r>
              <a:rPr lang="en-US" altLang="zh-CN" sz="1600" dirty="0"/>
              <a:t>ASID</a:t>
            </a:r>
            <a:r>
              <a:rPr lang="zh-CN" altLang="en-US" sz="1600" dirty="0"/>
              <a:t>的位数由</a:t>
            </a:r>
            <a:r>
              <a:rPr lang="en-US" altLang="zh-CN" sz="1600" dirty="0"/>
              <a:t>TCR_EL1</a:t>
            </a:r>
            <a:r>
              <a:rPr lang="zh-CN" altLang="en-US" sz="1600" dirty="0"/>
              <a:t>的第</a:t>
            </a:r>
            <a:r>
              <a:rPr lang="en-US" altLang="zh-CN" sz="1600" dirty="0"/>
              <a:t>36</a:t>
            </a:r>
            <a:r>
              <a:rPr lang="zh-CN" altLang="en-US" sz="1600" dirty="0"/>
              <a:t>位（</a:t>
            </a:r>
            <a:r>
              <a:rPr lang="en-US" altLang="zh-CN" sz="1600" dirty="0"/>
              <a:t>AS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2"/>
            <a:r>
              <a:rPr lang="en-US" altLang="zh-CN" sz="1600" dirty="0"/>
              <a:t>OS</a:t>
            </a:r>
            <a:r>
              <a:rPr lang="zh-CN" altLang="en-US" sz="1600" dirty="0"/>
              <a:t>负责将</a:t>
            </a:r>
            <a:r>
              <a:rPr lang="en-US" altLang="zh-CN" sz="1600" dirty="0"/>
              <a:t>ASID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的高</a:t>
            </a:r>
            <a:r>
              <a:rPr lang="en-US" altLang="zh-CN" sz="1600" dirty="0"/>
              <a:t>8</a:t>
            </a:r>
            <a:r>
              <a:rPr lang="zh-CN" altLang="en-US" sz="1600" dirty="0"/>
              <a:t>位或高</a:t>
            </a:r>
            <a:r>
              <a:rPr lang="en-US" altLang="zh-CN" sz="1600" dirty="0"/>
              <a:t>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800" dirty="0"/>
              <a:t>TLB</a:t>
            </a:r>
            <a:r>
              <a:rPr lang="zh-CN" altLang="en-US" sz="1800" dirty="0"/>
              <a:t>的每一项也会缓存</a:t>
            </a:r>
            <a:r>
              <a:rPr lang="en-US" altLang="zh-CN" sz="1800" dirty="0"/>
              <a:t>ASID</a:t>
            </a:r>
          </a:p>
          <a:p>
            <a:pPr lvl="2"/>
            <a:r>
              <a:rPr lang="zh-CN" altLang="en-US" sz="1600" dirty="0"/>
              <a:t>地址翻译时，硬件会将</a:t>
            </a:r>
            <a:r>
              <a:rPr lang="en-US" altLang="zh-CN" sz="1600" dirty="0"/>
              <a:t>TLB</a:t>
            </a:r>
            <a:r>
              <a:rPr lang="zh-CN" altLang="en-US" sz="1600" dirty="0"/>
              <a:t>项的</a:t>
            </a:r>
            <a:r>
              <a:rPr lang="en-US" altLang="zh-CN" sz="1600" dirty="0"/>
              <a:t>ASID</a:t>
            </a:r>
            <a:r>
              <a:rPr lang="zh-CN" altLang="en-US" sz="1600" dirty="0"/>
              <a:t>与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</a:t>
            </a:r>
            <a:r>
              <a:rPr lang="en-US" altLang="zh-CN" sz="1600" dirty="0"/>
              <a:t>ASID</a:t>
            </a:r>
            <a:r>
              <a:rPr lang="zh-CN" altLang="en-US" sz="1600" dirty="0"/>
              <a:t>对比</a:t>
            </a:r>
            <a:endParaRPr lang="en-US" altLang="zh-CN" sz="1600" dirty="0"/>
          </a:p>
          <a:p>
            <a:pPr lvl="2"/>
            <a:r>
              <a:rPr lang="zh-CN" altLang="en-US" sz="1600" dirty="0"/>
              <a:t>若不匹配，则</a:t>
            </a:r>
            <a:r>
              <a:rPr lang="en-US" altLang="zh-CN" sz="1600" dirty="0"/>
              <a:t>TLB</a:t>
            </a:r>
            <a:r>
              <a:rPr lang="zh-CN" altLang="en-US" sz="1600" dirty="0"/>
              <a:t> </a:t>
            </a:r>
            <a:r>
              <a:rPr lang="en-US" altLang="zh-CN" sz="1600" dirty="0"/>
              <a:t>miss</a:t>
            </a:r>
          </a:p>
          <a:p>
            <a:r>
              <a:rPr kumimoji="1" lang="zh-CN" altLang="en-US" sz="2100" dirty="0"/>
              <a:t>使用了</a:t>
            </a:r>
            <a:r>
              <a:rPr kumimoji="1" lang="en-US" altLang="zh-CN" sz="2100" dirty="0"/>
              <a:t>ASID</a:t>
            </a:r>
            <a:r>
              <a:rPr kumimoji="1" lang="zh-CN" altLang="en-US" sz="2100" dirty="0"/>
              <a:t>之后</a:t>
            </a:r>
            <a:endParaRPr kumimoji="1" lang="en-US" altLang="zh-CN" sz="2100" dirty="0"/>
          </a:p>
          <a:p>
            <a:pPr lvl="1"/>
            <a:r>
              <a:rPr lang="zh-CN" altLang="en-US" sz="1800" dirty="0"/>
              <a:t>切换页表（即切换进程）后，不再需要刷新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，提高性能</a:t>
            </a:r>
            <a:endParaRPr lang="en-US" altLang="zh-CN" sz="1800" dirty="0"/>
          </a:p>
          <a:p>
            <a:pPr lvl="1"/>
            <a:r>
              <a:rPr lang="zh-CN" altLang="en-US" sz="1800" dirty="0"/>
              <a:t>修改页表映射后，仍需刷新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（为什么？）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19CFB-A39C-7E44-9E48-99F26F50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576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修改页表后，需要刷新其它核的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吗？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需要，因为一个进程可能在多个核上运行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如何知道需要刷新哪些核的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操作系统知道进程调度信息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如何刷新其他核的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x86_64: </a:t>
            </a:r>
            <a:r>
              <a:rPr kumimoji="1" lang="zh-CN" altLang="en-US" sz="2000" dirty="0"/>
              <a:t>发送</a:t>
            </a:r>
            <a:r>
              <a:rPr kumimoji="1" lang="en-US" altLang="zh-CN" sz="2000" dirty="0"/>
              <a:t>IPI</a:t>
            </a:r>
            <a:r>
              <a:rPr kumimoji="1" lang="zh-CN" altLang="en-US" sz="2000" dirty="0"/>
              <a:t>中断某个核，通知它主动刷新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AARCH64: </a:t>
            </a:r>
            <a:r>
              <a:rPr kumimoji="1" lang="zh-CN" altLang="en-US" sz="2000" dirty="0"/>
              <a:t>可在</a:t>
            </a:r>
            <a:r>
              <a:rPr kumimoji="1" lang="en-US" altLang="zh-CN" sz="2000" dirty="0"/>
              <a:t>local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上刷新其它核</a:t>
            </a:r>
            <a:r>
              <a:rPr kumimoji="1" lang="en-US" altLang="zh-CN" sz="2000" dirty="0"/>
              <a:t>TLB</a:t>
            </a:r>
          </a:p>
          <a:p>
            <a:pPr lvl="2"/>
            <a:r>
              <a:rPr lang="zh-CN" altLang="en-US" sz="1600" dirty="0"/>
              <a:t>调用的</a:t>
            </a:r>
            <a:r>
              <a:rPr lang="en-US" altLang="zh-CN" sz="1600" dirty="0"/>
              <a:t>ARM</a:t>
            </a:r>
            <a:r>
              <a:rPr lang="zh-CN" altLang="en-US" sz="1600" dirty="0"/>
              <a:t>指令：</a:t>
            </a:r>
            <a:r>
              <a:rPr lang="en-US" altLang="zh-CN" sz="1600" dirty="0"/>
              <a:t>TLBI ASIDE1IS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5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小结：虚拟内存机制的优势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284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>
            <a:extLst>
              <a:ext uri="{FF2B5EF4-FFF2-40B4-BE49-F238E27FC236}">
                <a16:creationId xmlns:a16="http://schemas.microsoft.com/office/drawing/2014/main" id="{B14A3D75-2795-DB4F-8B28-D42EA854E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8989" y="297656"/>
            <a:ext cx="6902979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每个进程拥有独立的虚拟地址空间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5AF2E9A-B820-D941-8C49-A2F8B006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180982"/>
            <a:ext cx="2324364" cy="40613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用户</a:t>
            </a: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不可访问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的空间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508DE43-E90D-F942-9E72-2DE9A077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2599149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共享库（</a:t>
            </a:r>
            <a:r>
              <a:rPr lang="en-US" altLang="zh-CN" sz="1333" b="1" dirty="0" err="1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mmap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1CE50B2-D5C5-5B41-BF72-AE7C29E04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145896"/>
            <a:ext cx="2324364" cy="418042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DC7CF5A6-6272-1149-AD34-0B8A07AC8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562615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堆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 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malloc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B616056C-B25D-5847-8F9E-90C1FB53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841118"/>
            <a:ext cx="2324364" cy="755386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9F9C126-B07B-A74D-AC32-EAA631920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3234532"/>
            <a:ext cx="1323" cy="320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B9DE4179-2FEE-CD42-896C-407CB657E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561982"/>
            <a:ext cx="2324364" cy="46963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栈 （运行时创建）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2" name="Line 21">
            <a:extLst>
              <a:ext uri="{FF2B5EF4-FFF2-40B4-BE49-F238E27FC236}">
                <a16:creationId xmlns:a16="http://schemas.microsoft.com/office/drawing/2014/main" id="{28E3C15C-5D4F-2F44-93BE-D63466E43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2411295"/>
            <a:ext cx="1323" cy="193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2CDF1F02-9387-CC4C-AB19-D8D193A1B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1441" y="2031617"/>
            <a:ext cx="1323" cy="1905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3C70B303-430B-2A47-897B-271975F5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5197741"/>
            <a:ext cx="2324364" cy="330729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E28CFA04-0359-7845-AA79-EC0D85D1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5378980"/>
            <a:ext cx="383901" cy="229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</a:t>
            </a: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2F2E2E7D-CB93-F04D-9AC0-89DFE18A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10" y="1886097"/>
            <a:ext cx="1198578" cy="47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%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SP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(stack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pointer)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269B83DB-CB4A-B04B-967C-0919726C4E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587" y="2030295"/>
            <a:ext cx="320146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20C942E2-59D8-A24A-A7C9-84C055300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816" y="1057300"/>
            <a:ext cx="866404" cy="4807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内核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地址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非法地址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9BAAE857-30FA-E145-BB6F-559A823AE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816" y="1177013"/>
            <a:ext cx="1323" cy="3836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75A4C2FE-5DD7-5844-A70B-0E4A71FC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9" y="3414448"/>
            <a:ext cx="459241" cy="27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brk</a:t>
            </a:r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4B0D83EA-039D-2C46-BDBE-2EAFD1033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0743" y="3554678"/>
            <a:ext cx="275167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1544BB3D-7E36-5544-AE85-9A2166955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54" y="5092645"/>
            <a:ext cx="776636" cy="22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0x400000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941FA5F5-5985-5947-9699-5C5BE6AA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118240"/>
            <a:ext cx="2324364" cy="55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读写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段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（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333" b="1" dirty="0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333" b="1" dirty="0" err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3052F793-5C6C-7643-8DBB-DF5D6CFB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639470"/>
            <a:ext cx="2324364" cy="55827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只读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段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init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.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text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rodata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6" name="AutoShape 36">
            <a:extLst>
              <a:ext uri="{FF2B5EF4-FFF2-40B4-BE49-F238E27FC236}">
                <a16:creationId xmlns:a16="http://schemas.microsoft.com/office/drawing/2014/main" id="{39B4B089-6DA8-AA41-8FBE-C2B163579554}"/>
              </a:ext>
            </a:extLst>
          </p:cNvPr>
          <p:cNvSpPr>
            <a:spLocks/>
          </p:cNvSpPr>
          <p:nvPr/>
        </p:nvSpPr>
        <p:spPr bwMode="auto">
          <a:xfrm>
            <a:off x="7518524" y="4124854"/>
            <a:ext cx="63500" cy="10795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288CB4CC-D411-7344-B2AE-CF402E81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12" y="4424206"/>
            <a:ext cx="1180593" cy="48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从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可执行文件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中加载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7820F9BF-D7B1-FF44-B25A-0E74C515B4DF}"/>
              </a:ext>
            </a:extLst>
          </p:cNvPr>
          <p:cNvSpPr txBox="1">
            <a:spLocks noChangeArrowheads="1"/>
          </p:cNvSpPr>
          <p:nvPr/>
        </p:nvSpPr>
        <p:spPr>
          <a:xfrm>
            <a:off x="487847" y="1255572"/>
            <a:ext cx="6985000" cy="412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不同进程互不干扰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</a:rPr>
              <a:t>仿佛独占所有内存</a:t>
            </a:r>
            <a:endParaRPr lang="en-US" altLang="zh-CN" sz="2000" dirty="0">
              <a:latin typeface="+mn-ea"/>
            </a:endParaRPr>
          </a:p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绝大部分地址段均可用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除了</a:t>
            </a:r>
            <a:r>
              <a:rPr lang="zh-CN" altLang="en-US" sz="2000" dirty="0">
                <a:latin typeface="+mn-ea"/>
                <a:ea typeface="+mn-ea"/>
              </a:rPr>
              <a:t>顶部的内核地址区域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9701149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C8203C7-CEF0-D543-A67B-A9769D70F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488" y="1331516"/>
            <a:ext cx="7537896" cy="1587500"/>
          </a:xfrm>
        </p:spPr>
        <p:txBody>
          <a:bodyPr/>
          <a:lstStyle/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8598039-5A0A-1A43-B82B-4C4A3C72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0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5C77E6BF-1027-B64D-92A4-4DBE4393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70661" name="Rectangle 24">
            <a:extLst>
              <a:ext uri="{FF2B5EF4-FFF2-40B4-BE49-F238E27FC236}">
                <a16:creationId xmlns:a16="http://schemas.microsoft.com/office/drawing/2014/main" id="{FFF06AD0-BC1E-7A4F-9502-F4DFA12E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62" name="Rectangle 26">
            <a:extLst>
              <a:ext uri="{FF2B5EF4-FFF2-40B4-BE49-F238E27FC236}">
                <a16:creationId xmlns:a16="http://schemas.microsoft.com/office/drawing/2014/main" id="{6FCD2DF8-19DA-5940-9FEB-583E5135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FF98FEE-74BA-2841-A9C5-7844ABBDCD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795846-9ECA-1F43-A0A3-B3D69E86618A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B2327F-614C-AB46-BC81-7AECB22DF839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C8AF36-CD13-1747-8012-7FD70EFFFC08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67" name="Text Box 38">
            <a:extLst>
              <a:ext uri="{FF2B5EF4-FFF2-40B4-BE49-F238E27FC236}">
                <a16:creationId xmlns:a16="http://schemas.microsoft.com/office/drawing/2014/main" id="{AFC46D86-89C1-F74C-A80A-69E1CF7C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68C415-2A4B-494A-8721-D9984D68D910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657A6A-570A-C947-87E8-528155DFFCC9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F036EAC-539B-154B-B967-765923DF57A4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71C0098-8139-C04E-8FEF-4E1BD2A910BA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FF6A1-A06C-9946-B453-82BAA70E8F48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675811-FFEA-AA49-80DC-EAA6BA592FD7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86CDA7-9FD6-1F4E-BC03-2698F7A585DE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3BA61D-7C98-5648-8D71-7CD6A3B6B39A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FC6AC41-5E72-1D46-83EB-CEC0AE2AF63F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63B94E-231E-3943-9B1B-91F44B519C27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63F2B3-6810-FC49-95CE-CB5CFCEC7C48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79" name="Text Box 38">
            <a:extLst>
              <a:ext uri="{FF2B5EF4-FFF2-40B4-BE49-F238E27FC236}">
                <a16:creationId xmlns:a16="http://schemas.microsoft.com/office/drawing/2014/main" id="{49E5794B-B236-BD44-A1D9-5BE9A96D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B2F144AF-3B20-A940-9DF8-A7F1D2EE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81" name="Rectangle 26">
            <a:extLst>
              <a:ext uri="{FF2B5EF4-FFF2-40B4-BE49-F238E27FC236}">
                <a16:creationId xmlns:a16="http://schemas.microsoft.com/office/drawing/2014/main" id="{7190AC94-9FF8-2B48-B4C2-27720C4F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0682" name="Straight Arrow Connector 103">
            <a:extLst>
              <a:ext uri="{FF2B5EF4-FFF2-40B4-BE49-F238E27FC236}">
                <a16:creationId xmlns:a16="http://schemas.microsoft.com/office/drawing/2014/main" id="{4A7C5DA1-58FD-0744-9A2F-B73C494AD1F3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3" name="Straight Arrow Connector 104">
            <a:extLst>
              <a:ext uri="{FF2B5EF4-FFF2-40B4-BE49-F238E27FC236}">
                <a16:creationId xmlns:a16="http://schemas.microsoft.com/office/drawing/2014/main" id="{762112BA-43CD-614E-8FD8-3017A139A5E9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4" name="Rectangle 107">
            <a:extLst>
              <a:ext uri="{FF2B5EF4-FFF2-40B4-BE49-F238E27FC236}">
                <a16:creationId xmlns:a16="http://schemas.microsoft.com/office/drawing/2014/main" id="{B0061E5C-A41A-6A42-A232-583B13EA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solidFill>
                <a:srgbClr val="BF37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91186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06755"/>
            <a:ext cx="7175500" cy="762000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8CC1FA61-9603-6A4E-8832-978FEF446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ABD7EC51-3421-664E-8DCF-2030D7DE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35" name="Rectangle 72">
            <a:extLst>
              <a:ext uri="{FF2B5EF4-FFF2-40B4-BE49-F238E27FC236}">
                <a16:creationId xmlns:a16="http://schemas.microsoft.com/office/drawing/2014/main" id="{A3A9E13A-D28B-0C42-B09B-AAC441C23DE0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6" name="Rectangle 74">
            <a:extLst>
              <a:ext uri="{FF2B5EF4-FFF2-40B4-BE49-F238E27FC236}">
                <a16:creationId xmlns:a16="http://schemas.microsoft.com/office/drawing/2014/main" id="{91D7B399-263A-DD42-B80F-5D727CB1BE7D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37" name="Rectangle 76">
            <a:extLst>
              <a:ext uri="{FF2B5EF4-FFF2-40B4-BE49-F238E27FC236}">
                <a16:creationId xmlns:a16="http://schemas.microsoft.com/office/drawing/2014/main" id="{4DE6EC29-44B7-7842-98E9-916FA7465258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D43CDAA8-67B8-9949-8770-2B10E16E031C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1FB308FB-D14F-B340-97EF-997F83CA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C52B74CF-6BAC-7040-9250-15A2A2E7607B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1" name="Rectangle 90">
            <a:extLst>
              <a:ext uri="{FF2B5EF4-FFF2-40B4-BE49-F238E27FC236}">
                <a16:creationId xmlns:a16="http://schemas.microsoft.com/office/drawing/2014/main" id="{70B6880B-B049-A740-A260-E7EF93C6618B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2" name="Rectangle 91">
            <a:extLst>
              <a:ext uri="{FF2B5EF4-FFF2-40B4-BE49-F238E27FC236}">
                <a16:creationId xmlns:a16="http://schemas.microsoft.com/office/drawing/2014/main" id="{28D27F24-87B9-AB45-939A-BB6868E14FE5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3" name="Rectangle 92">
            <a:extLst>
              <a:ext uri="{FF2B5EF4-FFF2-40B4-BE49-F238E27FC236}">
                <a16:creationId xmlns:a16="http://schemas.microsoft.com/office/drawing/2014/main" id="{1EA97CD3-00DD-1940-BCBA-1E25A20B64DB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60CB1A7C-3651-B14B-B4EA-A773A18D9DA6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B7184DD2-3263-9F40-96FB-23587127856B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6" name="Rectangle 95">
            <a:extLst>
              <a:ext uri="{FF2B5EF4-FFF2-40B4-BE49-F238E27FC236}">
                <a16:creationId xmlns:a16="http://schemas.microsoft.com/office/drawing/2014/main" id="{87FC22CC-92B1-6247-A553-8871B7C8E897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47" name="Rectangle 96">
            <a:extLst>
              <a:ext uri="{FF2B5EF4-FFF2-40B4-BE49-F238E27FC236}">
                <a16:creationId xmlns:a16="http://schemas.microsoft.com/office/drawing/2014/main" id="{1F13B784-18A4-CC4D-85C5-30008906E94F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8" name="Rectangle 97">
            <a:extLst>
              <a:ext uri="{FF2B5EF4-FFF2-40B4-BE49-F238E27FC236}">
                <a16:creationId xmlns:a16="http://schemas.microsoft.com/office/drawing/2014/main" id="{FC2A985F-2C0A-BB40-A072-F940E6CB1D1B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49" name="Rectangle 98">
            <a:extLst>
              <a:ext uri="{FF2B5EF4-FFF2-40B4-BE49-F238E27FC236}">
                <a16:creationId xmlns:a16="http://schemas.microsoft.com/office/drawing/2014/main" id="{1FE676FE-30B6-8346-9D2D-957BBBA436B3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0" name="Rectangle 99">
            <a:extLst>
              <a:ext uri="{FF2B5EF4-FFF2-40B4-BE49-F238E27FC236}">
                <a16:creationId xmlns:a16="http://schemas.microsoft.com/office/drawing/2014/main" id="{9DF6CF5C-F9B3-F945-898F-608D091C2375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1" name="Text Box 38">
            <a:extLst>
              <a:ext uri="{FF2B5EF4-FFF2-40B4-BE49-F238E27FC236}">
                <a16:creationId xmlns:a16="http://schemas.microsoft.com/office/drawing/2014/main" id="{54561322-8E28-5F40-9337-D4FDEE9D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52" name="Rectangle 24">
            <a:extLst>
              <a:ext uri="{FF2B5EF4-FFF2-40B4-BE49-F238E27FC236}">
                <a16:creationId xmlns:a16="http://schemas.microsoft.com/office/drawing/2014/main" id="{E4DDB990-0FB4-E642-8DEC-1855413F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7367B18-283E-2542-8F70-E9FCD9F0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54" name="Straight Arrow Connector 104">
            <a:extLst>
              <a:ext uri="{FF2B5EF4-FFF2-40B4-BE49-F238E27FC236}">
                <a16:creationId xmlns:a16="http://schemas.microsoft.com/office/drawing/2014/main" id="{46F30575-62C9-A445-A6AC-9324549C188B}"/>
              </a:ext>
            </a:extLst>
          </p:cNvPr>
          <p:cNvCxnSpPr>
            <a:cxnSpLocks noChangeShapeType="1"/>
            <a:stCxn id="37" idx="3"/>
            <a:endCxn id="4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106">
            <a:extLst>
              <a:ext uri="{FF2B5EF4-FFF2-40B4-BE49-F238E27FC236}">
                <a16:creationId xmlns:a16="http://schemas.microsoft.com/office/drawing/2014/main" id="{83D932DD-BF79-4448-859C-7B8253E638B3}"/>
              </a:ext>
            </a:extLst>
          </p:cNvPr>
          <p:cNvCxnSpPr>
            <a:cxnSpLocks noChangeShapeType="1"/>
            <a:endCxn id="48" idx="1"/>
          </p:cNvCxnSpPr>
          <p:nvPr/>
        </p:nvCxnSpPr>
        <p:spPr bwMode="auto">
          <a:xfrm>
            <a:off x="3708136" y="3243792"/>
            <a:ext cx="1816364" cy="1431396"/>
          </a:xfrm>
          <a:prstGeom prst="straightConnector1">
            <a:avLst/>
          </a:prstGeom>
          <a:noFill/>
          <a:ln w="2540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Rectangle 4">
            <a:extLst>
              <a:ext uri="{FF2B5EF4-FFF2-40B4-BE49-F238E27FC236}">
                <a16:creationId xmlns:a16="http://schemas.microsoft.com/office/drawing/2014/main" id="{540353D4-11B0-8244-8C5A-8595B1117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62" name="Rectangle 107">
            <a:extLst>
              <a:ext uri="{FF2B5EF4-FFF2-40B4-BE49-F238E27FC236}">
                <a16:creationId xmlns:a16="http://schemas.microsoft.com/office/drawing/2014/main" id="{9CC76BF7-D4FF-0340-984F-D7924767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DC98290C-12BA-BD43-9395-6EF14AACBFA9}"/>
              </a:ext>
            </a:extLst>
          </p:cNvPr>
          <p:cNvSpPr txBox="1">
            <a:spLocks noChangeArrowheads="1"/>
          </p:cNvSpPr>
          <p:nvPr/>
        </p:nvSpPr>
        <p:spPr>
          <a:xfrm>
            <a:off x="490488" y="1331516"/>
            <a:ext cx="7537896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B5CD4D1F-1963-1345-AF8A-7FB1AFE3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12451904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3019875-C128-1744-8831-57C0B7962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615" y="1356793"/>
            <a:ext cx="8146770" cy="1587500"/>
          </a:xfrm>
        </p:spPr>
        <p:txBody>
          <a:bodyPr/>
          <a:lstStyle/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不同虚拟地址空间的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内存页可映射到相同的物理页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F0CC133-686E-FD46-A981-7C48F8CE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2794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757" name="Rectangle 24">
            <a:extLst>
              <a:ext uri="{FF2B5EF4-FFF2-40B4-BE49-F238E27FC236}">
                <a16:creationId xmlns:a16="http://schemas.microsoft.com/office/drawing/2014/main" id="{9268ADDE-EF99-9F41-B31D-352BEED8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58" name="Rectangle 26">
            <a:extLst>
              <a:ext uri="{FF2B5EF4-FFF2-40B4-BE49-F238E27FC236}">
                <a16:creationId xmlns:a16="http://schemas.microsoft.com/office/drawing/2014/main" id="{14B3C422-BE8D-6743-969A-B407CA06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4759" name="Rectangle 37">
            <a:extLst>
              <a:ext uri="{FF2B5EF4-FFF2-40B4-BE49-F238E27FC236}">
                <a16:creationId xmlns:a16="http://schemas.microsoft.com/office/drawing/2014/main" id="{8062D3D0-92AE-6E4E-9AB1-8B652087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3804297"/>
            <a:ext cx="2029916" cy="88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(e.g.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只读的库代码，全系统可只存一份，节约内存空间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4760" name="Rectangle 40">
            <a:extLst>
              <a:ext uri="{FF2B5EF4-FFF2-40B4-BE49-F238E27FC236}">
                <a16:creationId xmlns:a16="http://schemas.microsoft.com/office/drawing/2014/main" id="{F5FBA2D5-1B2A-5040-B676-59DB6AF2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4445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004DA7-186D-3745-A50C-32A9A86EF2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2225892-658D-4043-B860-8C1A80CE6CFF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595C0D-86E4-484B-B1DD-8A6795D1D54D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1FCAA2-5920-4048-8D4F-0601BF900CA0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65" name="Text Box 38">
            <a:extLst>
              <a:ext uri="{FF2B5EF4-FFF2-40B4-BE49-F238E27FC236}">
                <a16:creationId xmlns:a16="http://schemas.microsoft.com/office/drawing/2014/main" id="{90680B38-3E46-7C40-92BD-37883F3A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66" name="Rectangle 24">
            <a:extLst>
              <a:ext uri="{FF2B5EF4-FFF2-40B4-BE49-F238E27FC236}">
                <a16:creationId xmlns:a16="http://schemas.microsoft.com/office/drawing/2014/main" id="{BF4F02DB-CB19-BB42-8C94-4CA23E3A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4381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67" name="Rectangle 26">
            <a:extLst>
              <a:ext uri="{FF2B5EF4-FFF2-40B4-BE49-F238E27FC236}">
                <a16:creationId xmlns:a16="http://schemas.microsoft.com/office/drawing/2014/main" id="{FECDC9BB-3C35-1E4E-9930-1B21FB0D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5464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AF53724-DE09-424D-B8FB-D53AD70A20A7}"/>
              </a:ext>
            </a:extLst>
          </p:cNvPr>
          <p:cNvSpPr/>
          <p:nvPr/>
        </p:nvSpPr>
        <p:spPr bwMode="auto">
          <a:xfrm>
            <a:off x="2942167" y="4507178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AA23F6-F418-CF46-BA43-9AF2BBE32166}"/>
              </a:ext>
            </a:extLst>
          </p:cNvPr>
          <p:cNvSpPr/>
          <p:nvPr/>
        </p:nvSpPr>
        <p:spPr bwMode="auto">
          <a:xfrm>
            <a:off x="2942167" y="47201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B8993F4-FF97-354F-86B3-DBB494603450}"/>
              </a:ext>
            </a:extLst>
          </p:cNvPr>
          <p:cNvSpPr/>
          <p:nvPr/>
        </p:nvSpPr>
        <p:spPr bwMode="auto">
          <a:xfrm>
            <a:off x="2942167" y="4930511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91EC6AD-BA6E-B44C-81C2-989BFD6528A2}"/>
              </a:ext>
            </a:extLst>
          </p:cNvPr>
          <p:cNvSpPr/>
          <p:nvPr/>
        </p:nvSpPr>
        <p:spPr bwMode="auto">
          <a:xfrm>
            <a:off x="2942167" y="5355167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72" name="Text Box 38">
            <a:extLst>
              <a:ext uri="{FF2B5EF4-FFF2-40B4-BE49-F238E27FC236}">
                <a16:creationId xmlns:a16="http://schemas.microsoft.com/office/drawing/2014/main" id="{C0E47A59-C156-CA41-80A9-B93496F9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5037667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4DF5C91-9535-4C4D-B8D4-1DD16BFEB42E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3C7C1D-7F80-5246-BA06-3D530EAB08F0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D8FED-8AF6-1343-9B50-7A9C5D61BD12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0986169-1694-514C-A671-01101FBDFB94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CEB65F6-973A-2546-8BB5-8FA620A16A8B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32262EA-CF3B-0A44-977F-872989EB2CB2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FDEB145-E8DD-694C-AB9D-960A74218256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671F78-33D6-DE4E-9B42-D8DE62EAA957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5235C81-3B2C-2347-A9D2-148D48A01088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CADF18-2A25-FE44-8EB4-12ADA4BB815C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B862CC-1791-3444-BD1A-82FCE02297EF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84" name="Text Box 38">
            <a:extLst>
              <a:ext uri="{FF2B5EF4-FFF2-40B4-BE49-F238E27FC236}">
                <a16:creationId xmlns:a16="http://schemas.microsoft.com/office/drawing/2014/main" id="{E4EC53F1-C6F1-844E-8418-E8DE7D9B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85" name="Rectangle 24">
            <a:extLst>
              <a:ext uri="{FF2B5EF4-FFF2-40B4-BE49-F238E27FC236}">
                <a16:creationId xmlns:a16="http://schemas.microsoft.com/office/drawing/2014/main" id="{774A3A78-5752-5F40-8091-B8D5064B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86" name="Rectangle 26">
            <a:extLst>
              <a:ext uri="{FF2B5EF4-FFF2-40B4-BE49-F238E27FC236}">
                <a16:creationId xmlns:a16="http://schemas.microsoft.com/office/drawing/2014/main" id="{C0D4E5A8-F83A-9A47-8008-D104A076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4787" name="Straight Arrow Connector 103">
            <a:extLst>
              <a:ext uri="{FF2B5EF4-FFF2-40B4-BE49-F238E27FC236}">
                <a16:creationId xmlns:a16="http://schemas.microsoft.com/office/drawing/2014/main" id="{C245A5D2-7191-AF48-BCB2-91F82DE08A65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8" name="Straight Arrow Connector 104">
            <a:extLst>
              <a:ext uri="{FF2B5EF4-FFF2-40B4-BE49-F238E27FC236}">
                <a16:creationId xmlns:a16="http://schemas.microsoft.com/office/drawing/2014/main" id="{EE4FD27F-F8EC-AE4C-8A02-DD67A83D4EC4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9" name="Straight Arrow Connector 105">
            <a:extLst>
              <a:ext uri="{FF2B5EF4-FFF2-40B4-BE49-F238E27FC236}">
                <a16:creationId xmlns:a16="http://schemas.microsoft.com/office/drawing/2014/main" id="{97908628-6FD8-ED48-A2DB-C70A63CAFE49}"/>
              </a:ext>
            </a:extLst>
          </p:cNvPr>
          <p:cNvCxnSpPr>
            <a:cxnSpLocks noChangeShapeType="1"/>
            <a:stCxn id="87" idx="3"/>
            <a:endCxn id="96" idx="1"/>
          </p:cNvCxnSpPr>
          <p:nvPr/>
        </p:nvCxnSpPr>
        <p:spPr bwMode="auto">
          <a:xfrm flipV="1">
            <a:off x="3704167" y="4245240"/>
            <a:ext cx="1820333" cy="79242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90" name="Straight Arrow Connector 106">
            <a:extLst>
              <a:ext uri="{FF2B5EF4-FFF2-40B4-BE49-F238E27FC236}">
                <a16:creationId xmlns:a16="http://schemas.microsoft.com/office/drawing/2014/main" id="{1EEB4F12-3CF8-1144-AAD4-71DA2C63CFA3}"/>
              </a:ext>
            </a:extLst>
          </p:cNvPr>
          <p:cNvCxnSpPr>
            <a:cxnSpLocks noChangeShapeType="1"/>
            <a:stCxn id="86" idx="3"/>
            <a:endCxn id="98" idx="1"/>
          </p:cNvCxnSpPr>
          <p:nvPr/>
        </p:nvCxnSpPr>
        <p:spPr bwMode="auto">
          <a:xfrm flipV="1">
            <a:off x="3704167" y="4673865"/>
            <a:ext cx="1820333" cy="15345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C6252AC5-F24A-B743-82B7-2A0CC2735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不同进程之间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6B7CC183-8BA1-CF4C-B3A5-97741E8F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41" name="Rectangle 107">
            <a:extLst>
              <a:ext uri="{FF2B5EF4-FFF2-40B4-BE49-F238E27FC236}">
                <a16:creationId xmlns:a16="http://schemas.microsoft.com/office/drawing/2014/main" id="{1203F93B-4CBE-7044-98A7-A50DE5BB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8603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>
            <a:extLst>
              <a:ext uri="{FF2B5EF4-FFF2-40B4-BE49-F238E27FC236}">
                <a16:creationId xmlns:a16="http://schemas.microsoft.com/office/drawing/2014/main" id="{7CAB4E12-1122-614D-BDCB-C5126DAF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402709"/>
            <a:ext cx="6921500" cy="77919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4D04310-1DF3-724C-8F12-73B75AFF0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646" y="1331001"/>
            <a:ext cx="6922823" cy="1060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不同的进程对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相同的物理页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拥有不同的权限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通过页表项中的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来控制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CE315FC5-F6BB-6B4C-804A-E490F76A8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967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AF21EC58-1344-3F49-AD3E-E26992F5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49" name="Text Box 6">
            <a:extLst>
              <a:ext uri="{FF2B5EF4-FFF2-40B4-BE49-F238E27FC236}">
                <a16:creationId xmlns:a16="http://schemas.microsoft.com/office/drawing/2014/main" id="{45C6AD9C-C936-ED4D-9497-B27F7CAB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50" name="Text Box 7">
            <a:extLst>
              <a:ext uri="{FF2B5EF4-FFF2-40B4-BE49-F238E27FC236}">
                <a16:creationId xmlns:a16="http://schemas.microsoft.com/office/drawing/2014/main" id="{B8F6FD8A-50B6-B74E-B3E2-5FF07ED2C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C09B66C-DABE-3D45-8E94-53963BF0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52" name="Rectangle 9">
            <a:extLst>
              <a:ext uri="{FF2B5EF4-FFF2-40B4-BE49-F238E27FC236}">
                <a16:creationId xmlns:a16="http://schemas.microsoft.com/office/drawing/2014/main" id="{7D641C68-81DE-2040-A863-7191DAF0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3" name="Rectangle 10">
            <a:extLst>
              <a:ext uri="{FF2B5EF4-FFF2-40B4-BE49-F238E27FC236}">
                <a16:creationId xmlns:a16="http://schemas.microsoft.com/office/drawing/2014/main" id="{AC1F70B0-CA86-6245-9887-5B70F375F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2783D4D0-BEC0-2445-84E6-6862A127D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82955" name="Rectangle 12">
            <a:extLst>
              <a:ext uri="{FF2B5EF4-FFF2-40B4-BE49-F238E27FC236}">
                <a16:creationId xmlns:a16="http://schemas.microsoft.com/office/drawing/2014/main" id="{E35DFB18-C7EA-B94E-8B8F-014B27B5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6" name="Rectangle 13">
            <a:extLst>
              <a:ext uri="{FF2B5EF4-FFF2-40B4-BE49-F238E27FC236}">
                <a16:creationId xmlns:a16="http://schemas.microsoft.com/office/drawing/2014/main" id="{0EB06FC2-4248-6A44-9EB3-046CCE2F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590" name="Rectangle 14">
            <a:extLst>
              <a:ext uri="{FF2B5EF4-FFF2-40B4-BE49-F238E27FC236}">
                <a16:creationId xmlns:a16="http://schemas.microsoft.com/office/drawing/2014/main" id="{B280287C-3ED0-1D49-B1CE-65699BE1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82958" name="Rectangle 15">
            <a:extLst>
              <a:ext uri="{FF2B5EF4-FFF2-40B4-BE49-F238E27FC236}">
                <a16:creationId xmlns:a16="http://schemas.microsoft.com/office/drawing/2014/main" id="{1C850826-EF6B-F044-810B-30930A06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9" name="Text Box 16">
            <a:extLst>
              <a:ext uri="{FF2B5EF4-FFF2-40B4-BE49-F238E27FC236}">
                <a16:creationId xmlns:a16="http://schemas.microsoft.com/office/drawing/2014/main" id="{68DC7A3C-480E-F245-9ED7-52C5E5A7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60" name="Text Box 17">
            <a:extLst>
              <a:ext uri="{FF2B5EF4-FFF2-40B4-BE49-F238E27FC236}">
                <a16:creationId xmlns:a16="http://schemas.microsoft.com/office/drawing/2014/main" id="{E3756C2A-2284-EF45-8505-0BF229CA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61" name="Text Box 18">
            <a:extLst>
              <a:ext uri="{FF2B5EF4-FFF2-40B4-BE49-F238E27FC236}">
                <a16:creationId xmlns:a16="http://schemas.microsoft.com/office/drawing/2014/main" id="{337A603A-A64F-5342-8EEA-58CC07D4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863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62" name="Rectangle 19">
            <a:extLst>
              <a:ext uri="{FF2B5EF4-FFF2-40B4-BE49-F238E27FC236}">
                <a16:creationId xmlns:a16="http://schemas.microsoft.com/office/drawing/2014/main" id="{D1FFA15E-C46B-6545-9DF8-185051C8C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2963" name="Text Box 20">
            <a:extLst>
              <a:ext uri="{FF2B5EF4-FFF2-40B4-BE49-F238E27FC236}">
                <a16:creationId xmlns:a16="http://schemas.microsoft.com/office/drawing/2014/main" id="{EFC49994-F65E-284E-A61A-6718ABD1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967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82964" name="Rectangle 35">
            <a:extLst>
              <a:ext uri="{FF2B5EF4-FFF2-40B4-BE49-F238E27FC236}">
                <a16:creationId xmlns:a16="http://schemas.microsoft.com/office/drawing/2014/main" id="{3B694D6A-0C16-F84C-9D67-2DC76038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9" name="Text Box 46">
            <a:extLst>
              <a:ext uri="{FF2B5EF4-FFF2-40B4-BE49-F238E27FC236}">
                <a16:creationId xmlns:a16="http://schemas.microsoft.com/office/drawing/2014/main" id="{2F06D16D-708D-8747-826E-1A46541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70" name="Text Box 47">
            <a:extLst>
              <a:ext uri="{FF2B5EF4-FFF2-40B4-BE49-F238E27FC236}">
                <a16:creationId xmlns:a16="http://schemas.microsoft.com/office/drawing/2014/main" id="{BC0BCB5C-ABFC-BB46-9FE8-29A9BEB4B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71" name="Text Box 48">
            <a:extLst>
              <a:ext uri="{FF2B5EF4-FFF2-40B4-BE49-F238E27FC236}">
                <a16:creationId xmlns:a16="http://schemas.microsoft.com/office/drawing/2014/main" id="{949CADA5-3515-3948-9192-525902C9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625" name="Rectangle 49">
            <a:extLst>
              <a:ext uri="{FF2B5EF4-FFF2-40B4-BE49-F238E27FC236}">
                <a16:creationId xmlns:a16="http://schemas.microsoft.com/office/drawing/2014/main" id="{2F79A7D0-5AB8-AE49-A3F1-74F298F3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82973" name="Rectangle 50">
            <a:extLst>
              <a:ext uri="{FF2B5EF4-FFF2-40B4-BE49-F238E27FC236}">
                <a16:creationId xmlns:a16="http://schemas.microsoft.com/office/drawing/2014/main" id="{B7E803CE-5A07-F844-92E9-B9B174D4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4" name="Rectangle 51">
            <a:extLst>
              <a:ext uri="{FF2B5EF4-FFF2-40B4-BE49-F238E27FC236}">
                <a16:creationId xmlns:a16="http://schemas.microsoft.com/office/drawing/2014/main" id="{CB98D4AE-2D36-EA4E-9823-669D65B4A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3C05E28B-59F7-EE4A-A9E1-5389759B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76" name="Rectangle 53">
            <a:extLst>
              <a:ext uri="{FF2B5EF4-FFF2-40B4-BE49-F238E27FC236}">
                <a16:creationId xmlns:a16="http://schemas.microsoft.com/office/drawing/2014/main" id="{8B358005-39D8-CB41-A45D-A91711C6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7" name="Rectangle 54">
            <a:extLst>
              <a:ext uri="{FF2B5EF4-FFF2-40B4-BE49-F238E27FC236}">
                <a16:creationId xmlns:a16="http://schemas.microsoft.com/office/drawing/2014/main" id="{306B0966-A37F-7247-99A8-87C61CF06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631" name="Rectangle 55">
            <a:extLst>
              <a:ext uri="{FF2B5EF4-FFF2-40B4-BE49-F238E27FC236}">
                <a16:creationId xmlns:a16="http://schemas.microsoft.com/office/drawing/2014/main" id="{4536F46E-5371-F848-8874-3BF30AC9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82979" name="Rectangle 56">
            <a:extLst>
              <a:ext uri="{FF2B5EF4-FFF2-40B4-BE49-F238E27FC236}">
                <a16:creationId xmlns:a16="http://schemas.microsoft.com/office/drawing/2014/main" id="{50B37470-3DC7-3545-8824-8B79426A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0" name="Rectangle 57">
            <a:extLst>
              <a:ext uri="{FF2B5EF4-FFF2-40B4-BE49-F238E27FC236}">
                <a16:creationId xmlns:a16="http://schemas.microsoft.com/office/drawing/2014/main" id="{14351AFF-F3F7-9641-BE32-7BBFB209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5" name="Text Box 62">
            <a:extLst>
              <a:ext uri="{FF2B5EF4-FFF2-40B4-BE49-F238E27FC236}">
                <a16:creationId xmlns:a16="http://schemas.microsoft.com/office/drawing/2014/main" id="{E6516ED4-E050-834C-BDD4-F0A48DE2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86" name="Text Box 63">
            <a:extLst>
              <a:ext uri="{FF2B5EF4-FFF2-40B4-BE49-F238E27FC236}">
                <a16:creationId xmlns:a16="http://schemas.microsoft.com/office/drawing/2014/main" id="{67759ECB-39ED-F44E-8410-5D4F92B7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87" name="Text Box 64">
            <a:extLst>
              <a:ext uri="{FF2B5EF4-FFF2-40B4-BE49-F238E27FC236}">
                <a16:creationId xmlns:a16="http://schemas.microsoft.com/office/drawing/2014/main" id="{4BAD3EC0-6C20-9B42-ABDD-186DF9A2C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863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88" name="Rectangle 4">
            <a:extLst>
              <a:ext uri="{FF2B5EF4-FFF2-40B4-BE49-F238E27FC236}">
                <a16:creationId xmlns:a16="http://schemas.microsoft.com/office/drawing/2014/main" id="{CA67B6FB-F096-F94A-9862-E428457FF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1E837F-A384-1849-A2FF-C52637B7F9A1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8481E9-9F47-514A-94E4-9AD0C7161F81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15321CF-AB9A-614A-9070-C781EA6750C3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0625D73-D10B-AE45-8F66-FF458FFA1EB8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194F01-3CE4-0449-AE2E-A4761F92802E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D6B39C-0F3C-5744-8F5D-B2E0235E27A0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7ED3E40-BC7B-1C4D-AE20-66583E1B5C5B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2C1B4-FE8D-9D48-8C5F-8EEF22098E63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23CE60-F64F-B643-A48A-45D4C3D02CE3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B28C2A2-1C58-4D4C-AA5F-5F2A7E063C19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3C1CB2-F91F-4D4E-B3A5-82373E6ADC61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E9568EB-1ECE-C148-9F82-C4BC9A296D2F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83001" name="Straight Arrow Connector 113">
            <a:extLst>
              <a:ext uri="{FF2B5EF4-FFF2-40B4-BE49-F238E27FC236}">
                <a16:creationId xmlns:a16="http://schemas.microsoft.com/office/drawing/2014/main" id="{B91B5F63-C23F-594E-B39E-0F31B6A28A5A}"/>
              </a:ext>
            </a:extLst>
          </p:cNvPr>
          <p:cNvCxnSpPr>
            <a:cxnSpLocks noChangeShapeType="1"/>
            <a:stCxn id="24584" idx="3"/>
            <a:endCxn id="101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2" name="Straight Arrow Connector 115">
            <a:extLst>
              <a:ext uri="{FF2B5EF4-FFF2-40B4-BE49-F238E27FC236}">
                <a16:creationId xmlns:a16="http://schemas.microsoft.com/office/drawing/2014/main" id="{F0D08193-14E4-1D46-B08E-E61B533BF402}"/>
              </a:ext>
            </a:extLst>
          </p:cNvPr>
          <p:cNvCxnSpPr>
            <a:cxnSpLocks noChangeShapeType="1"/>
            <a:stCxn id="24587" idx="3"/>
            <a:endCxn id="99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3" name="Straight Arrow Connector 117">
            <a:extLst>
              <a:ext uri="{FF2B5EF4-FFF2-40B4-BE49-F238E27FC236}">
                <a16:creationId xmlns:a16="http://schemas.microsoft.com/office/drawing/2014/main" id="{8F431454-0DDD-0444-A4D2-BEE628994FD8}"/>
              </a:ext>
            </a:extLst>
          </p:cNvPr>
          <p:cNvCxnSpPr>
            <a:cxnSpLocks noChangeShapeType="1"/>
            <a:stCxn id="24590" idx="3"/>
            <a:endCxn id="97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4" name="Straight Arrow Connector 119">
            <a:extLst>
              <a:ext uri="{FF2B5EF4-FFF2-40B4-BE49-F238E27FC236}">
                <a16:creationId xmlns:a16="http://schemas.microsoft.com/office/drawing/2014/main" id="{2EF15C0F-D25D-D94F-9CF1-C4145C675DF9}"/>
              </a:ext>
            </a:extLst>
          </p:cNvPr>
          <p:cNvCxnSpPr>
            <a:cxnSpLocks noChangeShapeType="1"/>
            <a:stCxn id="24625" idx="3"/>
            <a:endCxn id="104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5" name="Straight Arrow Connector 121">
            <a:extLst>
              <a:ext uri="{FF2B5EF4-FFF2-40B4-BE49-F238E27FC236}">
                <a16:creationId xmlns:a16="http://schemas.microsoft.com/office/drawing/2014/main" id="{D4199C5B-1ED8-A24D-9766-AA995CC68723}"/>
              </a:ext>
            </a:extLst>
          </p:cNvPr>
          <p:cNvCxnSpPr>
            <a:cxnSpLocks noChangeShapeType="1"/>
            <a:stCxn id="24628" idx="3"/>
            <a:endCxn id="101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6" name="Straight Arrow Connector 123">
            <a:extLst>
              <a:ext uri="{FF2B5EF4-FFF2-40B4-BE49-F238E27FC236}">
                <a16:creationId xmlns:a16="http://schemas.microsoft.com/office/drawing/2014/main" id="{033A34BB-A655-5745-BC45-A8CB3432CCF6}"/>
              </a:ext>
            </a:extLst>
          </p:cNvPr>
          <p:cNvCxnSpPr>
            <a:cxnSpLocks noChangeShapeType="1"/>
            <a:stCxn id="24631" idx="3"/>
            <a:endCxn id="112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9709822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41919</TotalTime>
  <Words>4074</Words>
  <Application>Microsoft Office PowerPoint</Application>
  <PresentationFormat>全屏显示(16:10)</PresentationFormat>
  <Paragraphs>990</Paragraphs>
  <Slides>56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0" baseType="lpstr">
      <vt:lpstr>DengXian</vt:lpstr>
      <vt:lpstr>宋体</vt:lpstr>
      <vt:lpstr>Microsoft YaHei</vt:lpstr>
      <vt:lpstr>Microsoft YaHei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Verdana</vt:lpstr>
      <vt:lpstr>Office 主题​​</vt:lpstr>
      <vt:lpstr>1_Office 主题​​</vt:lpstr>
      <vt:lpstr>内存地址翻译</vt:lpstr>
      <vt:lpstr>内存管理</vt:lpstr>
      <vt:lpstr>内容提纲</vt:lpstr>
      <vt:lpstr>物理内存</vt:lpstr>
      <vt:lpstr>多重编程时代</vt:lpstr>
      <vt:lpstr>回顾：可执行程序中的内存地址</vt:lpstr>
      <vt:lpstr>虚拟地址空间易于程序开发</vt:lpstr>
      <vt:lpstr>物理地址（physical address, pa）</vt:lpstr>
      <vt:lpstr>虚拟地址（virtual address, va）</vt:lpstr>
      <vt:lpstr>主流翻译规则：分页机制</vt:lpstr>
      <vt:lpstr>页表：分页机制的核心数据结构</vt:lpstr>
      <vt:lpstr>分页机制的特点</vt:lpstr>
      <vt:lpstr>基于分页的地址翻译</vt:lpstr>
      <vt:lpstr>思考：MMU怎么知道页表位置？</vt:lpstr>
      <vt:lpstr>通过页表进行地址翻译</vt:lpstr>
      <vt:lpstr>内存地址翻译简单示例</vt:lpstr>
      <vt:lpstr>内存地址翻译简单示例</vt:lpstr>
      <vt:lpstr>内存地址翻译简单示例</vt:lpstr>
      <vt:lpstr>多级页表</vt:lpstr>
      <vt:lpstr>单级页表的问题</vt:lpstr>
      <vt:lpstr>多级页表</vt:lpstr>
      <vt:lpstr>AARCH64体系结构下4级页表</vt:lpstr>
      <vt:lpstr>64位虚拟地址解析</vt:lpstr>
      <vt:lpstr>示例</vt:lpstr>
      <vt:lpstr>示例</vt:lpstr>
      <vt:lpstr>多级页表节省内存示例</vt:lpstr>
      <vt:lpstr>小练习</vt:lpstr>
      <vt:lpstr>页表基地址寄存器</vt:lpstr>
      <vt:lpstr>页表使能</vt:lpstr>
      <vt:lpstr>AArch64中的两个页表基地址寄存器</vt:lpstr>
      <vt:lpstr>页表项</vt:lpstr>
      <vt:lpstr>页表页</vt:lpstr>
      <vt:lpstr>页表项中的属性位</vt:lpstr>
      <vt:lpstr>页表项中的属性位</vt:lpstr>
      <vt:lpstr>页表项与大页</vt:lpstr>
      <vt:lpstr>使用大页时的页表项</vt:lpstr>
      <vt:lpstr>TLB：缓存页表项</vt:lpstr>
      <vt:lpstr>多级页表不是完美的</vt:lpstr>
      <vt:lpstr>TLB：地址翻译的加速器</vt:lpstr>
      <vt:lpstr>TLB：地址翻译的加速器</vt:lpstr>
      <vt:lpstr>TLB 命中</vt:lpstr>
      <vt:lpstr>TLB 不命中</vt:lpstr>
      <vt:lpstr>地址翻译</vt:lpstr>
      <vt:lpstr>通过 TLB 加速地址翻译</vt:lpstr>
      <vt:lpstr>Cortex-A53 CPU实例</vt:lpstr>
      <vt:lpstr>思考：引入TLB会引起翻译错误吗？</vt:lpstr>
      <vt:lpstr>TLB刷新（TLB Flush）</vt:lpstr>
      <vt:lpstr>如何降低TLB刷新导致的开销</vt:lpstr>
      <vt:lpstr>TLB与多核</vt:lpstr>
      <vt:lpstr>小结：虚拟内存机制的优势</vt:lpstr>
      <vt:lpstr>虚拟内存机制的优势</vt:lpstr>
      <vt:lpstr>每个进程拥有独立的虚拟地址空间</vt:lpstr>
      <vt:lpstr>灵活的虚拟内存-物理内存映射</vt:lpstr>
      <vt:lpstr>灵活的虚拟内存-物理内存映射</vt:lpstr>
      <vt:lpstr>可在不同进程之间共享内存</vt:lpstr>
      <vt:lpstr>基于虚拟内存实现内存保护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1331</cp:revision>
  <cp:lastPrinted>2020-03-02T13:38:09Z</cp:lastPrinted>
  <dcterms:created xsi:type="dcterms:W3CDTF">2017-11-24T09:35:45Z</dcterms:created>
  <dcterms:modified xsi:type="dcterms:W3CDTF">2025-11-17T08:07:51Z</dcterms:modified>
</cp:coreProperties>
</file>